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3452bff7514aaf" /><Relationship Type="http://schemas.openxmlformats.org/officeDocument/2006/relationships/extended-properties" Target="/docProps/app.xml" Id="Rd1001515e5cb4c04" /><Relationship Type="http://schemas.openxmlformats.org/officeDocument/2006/relationships/officeDocument" Target="/ppt/presentation.xml" Id="Rd0293f1adca645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e5dfd8c56e4c44"/>
  </p:sldMasterIdLst>
  <p:notesMasterIdLst>
    <p:notesMasterId xmlns:r="http://schemas.openxmlformats.org/officeDocument/2006/relationships" r:id="R276c4baf81294f99"/>
  </p:notesMasterIdLst>
  <p:sldIdLst>
    <p:sldId xmlns:r="http://schemas.openxmlformats.org/officeDocument/2006/relationships" id="256" r:id="R06c4af56dbb444ad"/>
    <p:sldId xmlns:r="http://schemas.openxmlformats.org/officeDocument/2006/relationships" id="257" r:id="R2c2ce2e954094451"/>
    <p:sldId xmlns:r="http://schemas.openxmlformats.org/officeDocument/2006/relationships" id="258" r:id="Rec07813967b54c9a"/>
    <p:sldId xmlns:r="http://schemas.openxmlformats.org/officeDocument/2006/relationships" id="259" r:id="Ra7159e80f7b942e7"/>
    <p:sldId xmlns:r="http://schemas.openxmlformats.org/officeDocument/2006/relationships" id="260" r:id="R3b44f0b0b3c74eea"/>
    <p:sldId xmlns:r="http://schemas.openxmlformats.org/officeDocument/2006/relationships" id="261" r:id="Rfcdb7b04bd5d4a64"/>
    <p:sldId xmlns:r="http://schemas.openxmlformats.org/officeDocument/2006/relationships" id="262" r:id="Rbb466663253e405c"/>
    <p:sldId xmlns:r="http://schemas.openxmlformats.org/officeDocument/2006/relationships" id="263" r:id="R695f50f78e5043be"/>
    <p:sldId xmlns:r="http://schemas.openxmlformats.org/officeDocument/2006/relationships" id="264" r:id="Rb22ea0143efb4c57"/>
    <p:sldId xmlns:r="http://schemas.openxmlformats.org/officeDocument/2006/relationships" id="265" r:id="R964ec530a00a46e8"/>
    <p:sldId xmlns:r="http://schemas.openxmlformats.org/officeDocument/2006/relationships" id="266" r:id="R930b672f26a342be"/>
    <p:sldId xmlns:r="http://schemas.openxmlformats.org/officeDocument/2006/relationships" id="267" r:id="R385a025d80864344"/>
    <p:sldId xmlns:r="http://schemas.openxmlformats.org/officeDocument/2006/relationships" id="268" r:id="R8f7dc151224c43c1"/>
    <p:sldId xmlns:r="http://schemas.openxmlformats.org/officeDocument/2006/relationships" id="269" r:id="Rd64e8cf6e9914fc0"/>
    <p:sldId xmlns:r="http://schemas.openxmlformats.org/officeDocument/2006/relationships" id="270" r:id="Re862389a70154171"/>
    <p:sldId xmlns:r="http://schemas.openxmlformats.org/officeDocument/2006/relationships" id="271" r:id="R5fb83abaa1c24b7f"/>
    <p:sldId xmlns:r="http://schemas.openxmlformats.org/officeDocument/2006/relationships" id="272" r:id="R4e91722ba60a4321"/>
    <p:sldId xmlns:r="http://schemas.openxmlformats.org/officeDocument/2006/relationships" id="273" r:id="R35263aacd5c94335"/>
    <p:sldId xmlns:r="http://schemas.openxmlformats.org/officeDocument/2006/relationships" id="274" r:id="R31732087174e4968"/>
    <p:sldId xmlns:r="http://schemas.openxmlformats.org/officeDocument/2006/relationships" id="275" r:id="R6f25a230ebbf43b9"/>
    <p:sldId xmlns:r="http://schemas.openxmlformats.org/officeDocument/2006/relationships" id="276" r:id="R4ec54e32226b46f3"/>
    <p:sldId xmlns:r="http://schemas.openxmlformats.org/officeDocument/2006/relationships" id="277" r:id="R9c06105d27ac402e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5d85cee1384ac5" /><Relationship Type="http://schemas.openxmlformats.org/officeDocument/2006/relationships/slideMaster" Target="/ppt/slideMasters/slideMaster1.xml" Id="R8ae5dfd8c56e4c44" /><Relationship Type="http://schemas.openxmlformats.org/officeDocument/2006/relationships/notesMaster" Target="/ppt/notesMasters/notesMaster1.xml" Id="R276c4baf81294f99" /><Relationship Type="http://schemas.openxmlformats.org/officeDocument/2006/relationships/presProps" Target="/ppt/presProps.xml" Id="R828e7c8cbce84b89" /><Relationship Type="http://schemas.openxmlformats.org/officeDocument/2006/relationships/viewProps" Target="/ppt/viewProps.xml" Id="Rc08b0a7deee84d0d" /><Relationship Type="http://schemas.openxmlformats.org/officeDocument/2006/relationships/tableStyles" Target="/ppt/tableStyles.xml" Id="Re77526c4c16b45b7" /><Relationship Type="http://schemas.openxmlformats.org/officeDocument/2006/relationships/slide" Target="/ppt/slides/slide1.xml" Id="R06c4af56dbb444ad" /><Relationship Type="http://schemas.openxmlformats.org/officeDocument/2006/relationships/slide" Target="/ppt/slides/slide2.xml" Id="R2c2ce2e954094451" /><Relationship Type="http://schemas.openxmlformats.org/officeDocument/2006/relationships/slide" Target="/ppt/slides/slide3.xml" Id="Rec07813967b54c9a" /><Relationship Type="http://schemas.openxmlformats.org/officeDocument/2006/relationships/slide" Target="/ppt/slides/slide4.xml" Id="Ra7159e80f7b942e7" /><Relationship Type="http://schemas.openxmlformats.org/officeDocument/2006/relationships/slide" Target="/ppt/slides/slide5.xml" Id="R3b44f0b0b3c74eea" /><Relationship Type="http://schemas.openxmlformats.org/officeDocument/2006/relationships/slide" Target="/ppt/slides/slide6.xml" Id="Rfcdb7b04bd5d4a64" /><Relationship Type="http://schemas.openxmlformats.org/officeDocument/2006/relationships/slide" Target="/ppt/slides/slide7.xml" Id="Rbb466663253e405c" /><Relationship Type="http://schemas.openxmlformats.org/officeDocument/2006/relationships/slide" Target="/ppt/slides/slide8.xml" Id="R695f50f78e5043be" /><Relationship Type="http://schemas.openxmlformats.org/officeDocument/2006/relationships/slide" Target="/ppt/slides/slide9.xml" Id="Rb22ea0143efb4c57" /><Relationship Type="http://schemas.openxmlformats.org/officeDocument/2006/relationships/slide" Target="/ppt/slides/slide10.xml" Id="R964ec530a00a46e8" /><Relationship Type="http://schemas.openxmlformats.org/officeDocument/2006/relationships/slide" Target="/ppt/slides/slide11.xml" Id="R930b672f26a342be" /><Relationship Type="http://schemas.openxmlformats.org/officeDocument/2006/relationships/slide" Target="/ppt/slides/slide12.xml" Id="R385a025d80864344" /><Relationship Type="http://schemas.openxmlformats.org/officeDocument/2006/relationships/slide" Target="/ppt/slides/slide13.xml" Id="R8f7dc151224c43c1" /><Relationship Type="http://schemas.openxmlformats.org/officeDocument/2006/relationships/slide" Target="/ppt/slides/slide14.xml" Id="Rd64e8cf6e9914fc0" /><Relationship Type="http://schemas.openxmlformats.org/officeDocument/2006/relationships/slide" Target="/ppt/slides/slide15.xml" Id="Re862389a70154171" /><Relationship Type="http://schemas.openxmlformats.org/officeDocument/2006/relationships/slide" Target="/ppt/slides/slide16.xml" Id="R5fb83abaa1c24b7f" /><Relationship Type="http://schemas.openxmlformats.org/officeDocument/2006/relationships/slide" Target="/ppt/slides/slide17.xml" Id="R4e91722ba60a4321" /><Relationship Type="http://schemas.openxmlformats.org/officeDocument/2006/relationships/slide" Target="/ppt/slides/slide18.xml" Id="R35263aacd5c94335" /><Relationship Type="http://schemas.openxmlformats.org/officeDocument/2006/relationships/slide" Target="/ppt/slides/slide19.xml" Id="R31732087174e4968" /><Relationship Type="http://schemas.openxmlformats.org/officeDocument/2006/relationships/slide" Target="/ppt/slides/slide20.xml" Id="R6f25a230ebbf43b9" /><Relationship Type="http://schemas.openxmlformats.org/officeDocument/2006/relationships/slide" Target="/ppt/slides/slide21.xml" Id="R4ec54e32226b46f3" /><Relationship Type="http://schemas.openxmlformats.org/officeDocument/2006/relationships/slide" Target="/ppt/slides/slide22.xml" Id="R9c06105d27ac402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35962af2f264b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c1a3eb8897b4382" /><Relationship Type="http://schemas.openxmlformats.org/officeDocument/2006/relationships/notesMaster" Target="/ppt/notesMasters/notesMaster1.xml" Id="Rc77656b9188540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03bea11c29e43b3" /><Relationship Type="http://schemas.openxmlformats.org/officeDocument/2006/relationships/notesMaster" Target="/ppt/notesMasters/notesMaster1.xml" Id="R9e1d2e3b56fb49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579a77255645dd" /><Relationship Type="http://schemas.openxmlformats.org/officeDocument/2006/relationships/notesMaster" Target="/ppt/notesMasters/notesMaster1.xml" Id="R2b77278016b546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01f7c0ac0114b4a" /><Relationship Type="http://schemas.openxmlformats.org/officeDocument/2006/relationships/notesMaster" Target="/ppt/notesMasters/notesMaster1.xml" Id="R0140576d851040c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8c8ddba5244ea2" /><Relationship Type="http://schemas.openxmlformats.org/officeDocument/2006/relationships/notesMaster" Target="/ppt/notesMasters/notesMaster1.xml" Id="R4b3ef548325345d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8262c4a65d3440e" /><Relationship Type="http://schemas.openxmlformats.org/officeDocument/2006/relationships/notesMaster" Target="/ppt/notesMasters/notesMaster1.xml" Id="R771a7c5579db403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6cb81b5b86434e" /><Relationship Type="http://schemas.openxmlformats.org/officeDocument/2006/relationships/notesMaster" Target="/ppt/notesMasters/notesMaster1.xml" Id="Ra94f87e9809a40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7c30c65ea964f72" /><Relationship Type="http://schemas.openxmlformats.org/officeDocument/2006/relationships/notesMaster" Target="/ppt/notesMasters/notesMaster1.xml" Id="R15fc2cebf19a4b0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0fe388160474400" /><Relationship Type="http://schemas.openxmlformats.org/officeDocument/2006/relationships/notesMaster" Target="/ppt/notesMasters/notesMaster1.xml" Id="Rbee47c776dcf449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11b9f52313643c5" /><Relationship Type="http://schemas.openxmlformats.org/officeDocument/2006/relationships/notesMaster" Target="/ppt/notesMasters/notesMaster1.xml" Id="R122c7e0417754d9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7bf2aabc69544fb" /><Relationship Type="http://schemas.openxmlformats.org/officeDocument/2006/relationships/notesMaster" Target="/ppt/notesMasters/notesMaster1.xml" Id="Raff8da2ef3a6417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c2fb25335c14602" /><Relationship Type="http://schemas.openxmlformats.org/officeDocument/2006/relationships/notesMaster" Target="/ppt/notesMasters/notesMaster1.xml" Id="Rcbb9182e87a9421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6e8a9a99c334433" /><Relationship Type="http://schemas.openxmlformats.org/officeDocument/2006/relationships/notesMaster" Target="/ppt/notesMasters/notesMaster1.xml" Id="Re1e7372dbcd9451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2a6b0e8da65462a" /><Relationship Type="http://schemas.openxmlformats.org/officeDocument/2006/relationships/notesMaster" Target="/ppt/notesMasters/notesMaster1.xml" Id="R28d471d1270d484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90324b16bd84d7e" /><Relationship Type="http://schemas.openxmlformats.org/officeDocument/2006/relationships/notesMaster" Target="/ppt/notesMasters/notesMaster1.xml" Id="R1f9d4ae607a34fb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1d83afe3e3043ba" /><Relationship Type="http://schemas.openxmlformats.org/officeDocument/2006/relationships/notesMaster" Target="/ppt/notesMasters/notesMaster1.xml" Id="Rdf8fcd3e21854ad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510f16916e445f7" /><Relationship Type="http://schemas.openxmlformats.org/officeDocument/2006/relationships/notesMaster" Target="/ppt/notesMasters/notesMaster1.xml" Id="R0e5bfc0b373f4c9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4b67c99c5214f49" /><Relationship Type="http://schemas.openxmlformats.org/officeDocument/2006/relationships/notesMaster" Target="/ppt/notesMasters/notesMaster1.xml" Id="R6a813b0fb8234b0d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3c75c08e6904256" /><Relationship Type="http://schemas.openxmlformats.org/officeDocument/2006/relationships/notesMaster" Target="/ppt/notesMasters/notesMaster1.xml" Id="R5ec343c55ed34c0a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e055623729840b2" /><Relationship Type="http://schemas.openxmlformats.org/officeDocument/2006/relationships/notesMaster" Target="/ppt/notesMasters/notesMaster1.xml" Id="Raf97f466efe5428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eb20770181e432e" /><Relationship Type="http://schemas.openxmlformats.org/officeDocument/2006/relationships/notesMaster" Target="/ppt/notesMasters/notesMaster1.xml" Id="R8739925115ae407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1abe8e76fed4676" /><Relationship Type="http://schemas.openxmlformats.org/officeDocument/2006/relationships/notesMaster" Target="/ppt/notesMasters/notesMaster1.xml" Id="Rfa89e53700c24b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本次汇报讨论最终如何落地。顺序是流程设计、技术选型、测试设计、时间节点。P3 面向应用、Agent 和 P4 提供保存与召回；内部持续维护和调度。目标是到 12 月 1 日交付约定环境中的 MVP，并用业务结果、真实依赖执行证据及运行交接判定完成。细分排期为本方案建议，沿用 PRD 的 MVP 目标。本材料是一份落地设计，不报告完成百分比，也不把代码存在或模拟测试作为最终验收。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讲述时间建议：0.5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E:/projects/codex/aether/交付成果/PRD版本/AetherBrain_P3_PRD_租户补全版_V1.3.docx</a:t>
            </a:r>
          </a:p>
          <a:p xmlns:a="http://schemas.openxmlformats.org/drawingml/2006/main">
            <a:r>
              <a:t>E:/projects/codex/aether/交付成果/ADR版本/ADR-P2P3-001_总体架构决策.md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第一部分保留已有流程图，补充 P2 的能力契约及没有 P2 时的开发路径。第二部分沿 Remember、Recall、Operate 和公共接入选择具体技术，列出比较路径与官方地址。第三部分先规定怎样生成和组织测试，不假装已经有完整 TC，再给代表性场景、真实 P2 验证及验收要求。第四部分用时间规划图说明实现和测试并行、联调前置、验收修复留足时间，并将任务分工单独讲清。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讲述时间建议：0.5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P3 对外提供 Remember 和 Recall。应用决定何时存、何时取，并用返回的记忆生成回答。Remember 维护来源、正文、当前版本与生命周期；Recall 只交付当前有效且获准的上下文。存储和实际读取形成事件，通过公共底座交给内部 Operate。Operate 据当前状态判断、执行并核对结果。公共底座负责身份、可靠任务、事务与事件，P2 负责契约内的底层存取和动作。后续都用预算 20 万更正为 15 万这一条场景解释。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讲述时间建议：1.2 分钟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E:/projects/codex/aether/交付成果/PRD版本/AetherBrain_P3_PRD_租户补全版_V1.3.docx</a:t>
            </a:r>
            <a:endParaRPr/>
          </a:p>
          <a:p xmlns:a="http://schemas.openxmlformats.org/drawingml/2006/main">
            <a:r>
              <a:t>E:/projects/codex/aether/交付成果/ADR版本/ADR-P2P3-001_总体架构决策.md</a:t>
            </a:r>
          </a:p>
          <a:p xmlns:a="http://schemas.openxmlformats.org/drawingml/2006/main">
            <a:r>
              <a:t>E:/projects/codex/aether/交付成果/架构设计/P3全景流程_Excalidraw/P3_整体架构与完整流程.excalidraw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输入先做身份、来源和请求去重，再可靠保存。适用的当前任务内容可先进入 Working。长期链路通过持久任务获取固定版本、解析和分块，按需要压缩、提取和核验。模型输出只是候选；Remember 审查来源、冲突和版本，再形成正式记忆。所有预期块写入并核验后才能发布长期就绪。更正和删除先更新有效资格，阻断旧内容，再跟踪派生清理。后台失败不得让已确认事实消失，也不得提前宣称长期可检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讲述时间建议：1.2 分钟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E:/projects/codex/aether/交付成果/PRD版本/AetherBrain_P3_PRD_租户补全版_V1.3.docx</a:t>
            </a:r>
            <a:endParaRPr/>
          </a:p>
          <a:p xmlns:a="http://schemas.openxmlformats.org/drawingml/2006/main">
            <a:r>
              <a:t>E:/projects/codex/aether/交付成果/ADR版本/ADR-P2P3-001_总体架构决策.md</a:t>
            </a:r>
          </a:p>
          <a:p xmlns:a="http://schemas.openxmlformats.org/drawingml/2006/main">
            <a:r>
              <a:t>E:/projects/codex/aether/交付成果/架构设计/P3全景流程_Excalidraw/P3_整体架构与完整流程.excalidraw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Recall 接收问题、范围与预算，先决定使用当前记忆、长期记忆还是两者。长期路径完成编码、块检索和记忆级聚合，再由 B 审查资格并读完整正文。之后处理关系与排序、完整组预算和最终复核。只使用 Working 的路径可以跳过长期检索，但仍须核验和组包。结果区分完整、正常空、降级可用和不可用。来源失败不是没有命中；权限或当前版本无法确认时不得交付正文。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讲述时间建议：1.2 分钟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E:/projects/codex/aether/交付成果/PRD版本/AetherBrain_P3_PRD_租户补全版_V1.3.docx</a:t>
            </a:r>
            <a:endParaRPr/>
          </a:p>
          <a:p xmlns:a="http://schemas.openxmlformats.org/drawingml/2006/main">
            <a:r>
              <a:t>E:/projects/codex/aether/交付成果/ADR版本/ADR-P2P3-001_总体架构决策.md</a:t>
            </a:r>
          </a:p>
          <a:p xmlns:a="http://schemas.openxmlformats.org/drawingml/2006/main">
            <a:r>
              <a:t>E:/projects/codex/aether/交付成果/架构设计/P3全景流程_Excalidraw/P3_整体架构与完整流程.excalidraw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Operate 消费存储与读取事件、更新输入视图，再结合当前资格、容量、既有动作和规则产生决策。发起外部动作前持久化动作编号与目标。回执丢失时保留原编号，查询原动作并读取目标，而不是新建一次副作用。只有目标内容、版本和可读性得到核对，才能向 Remember 完成地址交接。交接前保留有效读取路径。MVP 保留 PRD 要求的基础规则和真实执行；具体介质与允许动作在最小契约基线中固定。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讲述时间建议：1.2 分钟</a:t>
            </a:r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E:/projects/codex/aether/交付成果/PRD版本/AetherBrain_P3_PRD_租户补全版_V1.3.docx</a:t>
            </a:r>
            <a:endParaRPr/>
          </a:p>
          <a:p xmlns:a="http://schemas.openxmlformats.org/drawingml/2006/main">
            <a:r>
              <a:t>E:/projects/codex/aether/交付成果/ADR版本/ADR-P2P3-001_总体架构决策.md</a:t>
            </a:r>
          </a:p>
          <a:p xmlns:a="http://schemas.openxmlformats.org/drawingml/2006/main">
            <a:r>
              <a:t>E:/projects/codex/aether/交付成果/架构设计/P3全景流程_Excalidraw/P3_整体架构与完整流程.excalidraw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P2 接口不能只按函数名或 HTTP/gRPC 成功码验收。正文路径要核对实际字节及当前内容绑定；向量路径要区分受理、持久写入与可检索，长期就绪由 B 发布。Recall 不因 P2 命中就绕开 B 的资格、关系和正文审查。关系能力与远程映射需要进入同一份契约，不能假定所有引擎入口都已可用。动作按原编号查询和独立读回。P2 负责其服务实现，对应 P3 开发负责适配；接口测试与对接人负责样例和差异记录。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讲述时间建议：1.5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E:/projects/codex/aether/交付成果/ADR版本/ADR-P2P3-001_总体架构决策.md</a:t>
            </a:r>
          </a:p>
          <a:p xmlns:a="http://schemas.openxmlformats.org/drawingml/2006/main">
            <a:r>
              <a:t>E:/projects/codex/aether/AgentJYS-main/src/aether_agent_memory/p2/client.py</a:t>
            </a:r>
          </a:p>
          <a:p xmlns:a="http://schemas.openxmlformats.org/drawingml/2006/main">
            <a:r>
              <a:t>E:/projects/codex/aether/AgentJYS-main/src/aether_agent_memory/p2/contracts.py</a:t>
            </a:r>
          </a:p>
          <a:p xmlns:a="http://schemas.openxmlformats.org/drawingml/2006/main">
            <a:r>
              <a:t>E:/projects/codex/aether/交付成果/开发协作/13_项目任务分工表_20260923.md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没有 P2 时不阻塞 P3 内部实现。第一层使用真实本地文件、SQLite 向量和本地缓存执行器，跑保存、后台加工、召回、更正、删除与重启恢复。第二层使用 StatefulVectorSimulator 和客户端桩，专门控制受理但不可检索、落盘后丢回执、删除后迟到写入等状态。现有源码提供这些可复用起点，但两者不等于完整 P2 服务。目标测试结构让本地、模拟和真实 Provider 共享业务预期、数据集与证据格式。切到真实 P2 后核对协议映射，并在真实读写、隔离、并发和物理动作上重跑。真实项缺环境就记录 not_run，不自动判通过；正式配置不能静默退回模拟器。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讲述时间建议：1.5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E:/projects/codex/aether/AgentJYS-main/src/aether_agent_memory/runtime/flows/host.py</a:t>
            </a:r>
          </a:p>
          <a:p xmlns:a="http://schemas.openxmlformats.org/drawingml/2006/main">
            <a:r>
              <a:t>E:/projects/codex/aether/AgentJYS-main/src/aether_agent_memory/remember/basic/content.py</a:t>
            </a:r>
          </a:p>
          <a:p xmlns:a="http://schemas.openxmlformats.org/drawingml/2006/main">
            <a:r>
              <a:t>E:/projects/codex/aether/AgentJYS-main/src/aether_agent_memory/p2/simulator.py</a:t>
            </a:r>
          </a:p>
          <a:p xmlns:a="http://schemas.openxmlformats.org/drawingml/2006/main">
            <a:r>
              <a:t>E:/projects/codex/aether/AgentJYS-main/tests/unit/recall/test_provider.py</a:t>
            </a:r>
          </a:p>
          <a:p xmlns:a="http://schemas.openxmlformats.org/drawingml/2006/main">
            <a:r>
              <a:t>E:/projects/codex/aether/AgentJYS-main/src/aether_agent_memory/p2/client.py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这是面向 MVP 的采用路线。Python 领域步骤负责加工顺序，Pydantic 固定数据结构，HTTPX 负责受限模型请求。当前适配器虽使用 LangMemBatchExtraction 等类名，实际 ModelProvider 是自有 HTTPX 调用，不应写成 LangMem 库全栈已经接管。比较 LangMem 的 Core 与全栈路线后，保留结构化候选与来源审核机制，事实、版本、授权及事务提交由 P3 管理。解析采用按类型注册的适配器，pypdf 和 python-docx 是文档依赖。正式聊天模型通过受控端点接入，按中文事实、否定、条件、引用和压缩样本冻结模型版本；此处不虚构已经选定某个具体 LLM。框架比较来自 ADR 与接口适配分析，不是性能排名。 本轮补充比较 Unstructured 通用文档处理路线；当前文档类型优先通过专用解析器接入，复杂版式作为解析规则与失败处理设计，不声称专用解析器质量一定更高。比较依据：https://docs.unstructured.io/open-source/introduction/overview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讲述时间建议：1.5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E:/projects/codex/aether/交付成果/ADR版本/ADR-P2P3-001_总体架构决策.md</a:t>
            </a:r>
          </a:p>
          <a:p xmlns:a="http://schemas.openxmlformats.org/drawingml/2006/main">
            <a:r>
              <a:t>E:/projects/codex/aether/AgentJYS-main/src/aether_agent_memory/remember/model_provider.py</a:t>
            </a:r>
          </a:p>
          <a:p xmlns:a="http://schemas.openxmlformats.org/drawingml/2006/main">
            <a:r>
              <a:t>E:/projects/codex/aether/AgentJYS-main/pyproject.toml</a:t>
            </a:r>
          </a:p>
          <a:p xmlns:a="http://schemas.openxmlformats.org/drawingml/2006/main">
            <a:r>
              <a:t>E:/projects/codex/aether/AgentJYS-main/src/aether_agent_memory/remember/basic/content.py</a:t>
            </a:r>
          </a:p>
          <a:p xmlns:a="http://schemas.openxmlformats.org/drawingml/2006/main">
            <a:r>
              <a:t>Pydantic：https://docs.pydantic.dev/latest/</a:t>
            </a:r>
          </a:p>
          <a:p xmlns:a="http://schemas.openxmlformats.org/drawingml/2006/main">
            <a:r>
              <a:t>HTTPX：https://www.python-httpx.org/</a:t>
            </a:r>
          </a:p>
          <a:p xmlns:a="http://schemas.openxmlformats.org/drawingml/2006/main">
            <a:r>
              <a:t>pypdf：https://pypdf.readthedocs.io/en/stable/</a:t>
            </a:r>
          </a:p>
          <a:p xmlns:a="http://schemas.openxmlformats.org/drawingml/2006/main">
            <a:r>
              <a:t>python-docx：https://python-docx.readthedocs.io/en/latest/</a:t>
            </a:r>
          </a:p>
          <a:p xmlns:a="http://schemas.openxmlformats.org/drawingml/2006/main">
            <a:r>
              <a:t>参考 LangMem：https://langchain-ai.github.io/langmem/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编码基线选择 BAAI/bge-small-zh-v1.5，经 FastEmbed/ONNX Runtime 本地运行。OpenVINO、IPEX 与远程编码属于比较和后续实测路线，不因存在后端就宣称更快。检索采用 P3 的分段契约和 RRF；LlamaIndex 提供 Retriever、融合和后处理的研读参考，P3 不让通用节点去重或 Query Engine 代替记忆版本、完整冲突组及最终授权。CrossEncoder 按 required/fallback 配置和质量收益启用，不能默认所有请求都已精排。tiktoken 适用于匹配编码的目标模型；其他模型使用其 tokenizer。正式冻结模型、预处理、维度、精度、分词器及版本，并用同一评测集比较质量、时延与资源成本。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讲述时间建议：1.5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E:/projects/codex/aether/交付成果/ADR版本/ADR-P2P3-001_总体架构决策.md</a:t>
            </a:r>
          </a:p>
          <a:p xmlns:a="http://schemas.openxmlformats.org/drawingml/2006/main">
            <a:r>
              <a:t>E:/projects/codex/aether/AgentJYS-main/src/aether_agent_memory/recall/embedding/backends.py</a:t>
            </a:r>
          </a:p>
          <a:p xmlns:a="http://schemas.openxmlformats.org/drawingml/2006/main">
            <a:r>
              <a:t>E:/projects/codex/aether/AgentJYS-main/src/aether_agent_memory/runtime/flows/host.py</a:t>
            </a:r>
          </a:p>
          <a:p xmlns:a="http://schemas.openxmlformats.org/drawingml/2006/main">
            <a:r>
              <a:t>E:/projects/codex/aether/AgentJYS-main/src/aether_agent_memory/recall/basic/config.py</a:t>
            </a:r>
          </a:p>
          <a:p xmlns:a="http://schemas.openxmlformats.org/drawingml/2006/main">
            <a:r>
              <a:t>BGE 模型：https://huggingface.co/BAAI/bge-small-zh-v1.5</a:t>
            </a:r>
          </a:p>
          <a:p xmlns:a="http://schemas.openxmlformats.org/drawingml/2006/main">
            <a:r>
              <a:t>FastEmbed：https://qdrant.github.io/fastembed/</a:t>
            </a:r>
          </a:p>
          <a:p xmlns:a="http://schemas.openxmlformats.org/drawingml/2006/main">
            <a:r>
              <a:t>ONNX Runtime：https://onnxruntime.ai/</a:t>
            </a:r>
          </a:p>
          <a:p xmlns:a="http://schemas.openxmlformats.org/drawingml/2006/main">
            <a:r>
              <a:t>CrossEncoder：https://www.sbert.net/</a:t>
            </a:r>
          </a:p>
          <a:p xmlns:a="http://schemas.openxmlformats.org/drawingml/2006/main">
            <a:r>
              <a:t>tiktoken：https://github.com/openai/tiktoken</a:t>
            </a:r>
          </a:p>
          <a:p xmlns:a="http://schemas.openxmlformats.org/drawingml/2006/main">
            <a:r>
              <a:t>参考 LlamaIndex：https://developers.llamaindex.ai/python/framework/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Operate 参考 Kubernetes controller-runtime 的 Reconcile 思路，但采用 Python 领域控制器，不把每条记忆变成 CRD。公共底座使用 SQLite、Task、Outbox/Inbox，在单实例 MVP 中把事实提交和后续交接放入同一事务。外部 P2 操作不属于本地事务，必须单独核对。Temporal 或队列加独立数据库是演进选项，需要迁移任务历史、租约和业务身份；依赖清单包含 Celery/Redis 不等于当前统一主链由 Celery 调度。身份、租户范围、授权和当前版本在发起与返回前复核。多副本、高写并发和跨实例恢复应重新评估存储与调度方案。日志和 Trace 服务诊断，不能替代持久事实。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讲述时间建议：1.5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E:/projects/codex/aether/交付成果/ADR版本/ADR-P2P3-001_总体架构决策.md</a:t>
            </a:r>
          </a:p>
          <a:p xmlns:a="http://schemas.openxmlformats.org/drawingml/2006/main">
            <a:r>
              <a:t>E:/projects/codex/aether/AgentJYS-main/src/aether_agent_memory/runtime/flows/host.py</a:t>
            </a:r>
          </a:p>
          <a:p xmlns:a="http://schemas.openxmlformats.org/drawingml/2006/main">
            <a:r>
              <a:t>E:/projects/codex/aether/AgentJYS-main/src/aether_agent_memory/runtime/foundation/tasks.py</a:t>
            </a:r>
          </a:p>
          <a:p xmlns:a="http://schemas.openxmlformats.org/drawingml/2006/main">
            <a:r>
              <a:t>E:/projects/codex/aether/AgentJYS-main/src/aether_agent_memory/runtime/foundation/storage.py</a:t>
            </a:r>
          </a:p>
          <a:p xmlns:a="http://schemas.openxmlformats.org/drawingml/2006/main">
            <a:r>
              <a:t>采用 SQLite：https://www.sqlite.org/</a:t>
            </a:r>
          </a:p>
          <a:p xmlns:a="http://schemas.openxmlformats.org/drawingml/2006/main">
            <a:r>
              <a:t>参考控制器模式：https://github.com/kubernetes-sigs/controller-runtime</a:t>
            </a:r>
          </a:p>
          <a:p xmlns:a="http://schemas.openxmlformats.org/drawingml/2006/main">
            <a:r>
              <a:t>备选 Temporal：https://docs.temporal.io/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应用侧采用统一 FastAPI 入口，由 Uvicorn 运行。P2 侧共享 Protobuf 并生成 gRPC 客户端，具体方法不能绕过业务租户、内容版本、模型空间和原操作查询契约。正文经 P2 对象能力，向量通过 P2 约定的正式路径；SQLiteVectors 是本地替代，Milvus 是适配和独立验证路线，不能未经范围确认替换 P2。关系远程接口需要显式映射。MVP 交付采用约定环境中的单实例与持久卷，以 Compose 固定启动和依赖配置。现有 Compose 冒烟入口与新的统一服务仍应做一致性核对，本方案不把旧脚本存在视为可直接上线。身份提供方按公司入口接入，P3 自己维护业务租户与授权规则。 本轮补充比较 Flask。统一结构校验、异步请求和接口文档采用 FastAPI 路线；这属于工程适配取舍，不是与 Flask 的吞吐实测排名。比较依据：https://flask.palletsprojects.com/en/stable/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讲述时间建议：1.5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E:/projects/codex/aether/AgentJYS-main/src/aether_agent_memory/runtime/flows/application.py</a:t>
            </a:r>
          </a:p>
          <a:p xmlns:a="http://schemas.openxmlformats.org/drawingml/2006/main">
            <a:r>
              <a:t>E:/projects/codex/aether/AgentJYS-main/src/aether_agent_memory/p2/client.py</a:t>
            </a:r>
          </a:p>
          <a:p xmlns:a="http://schemas.openxmlformats.org/drawingml/2006/main">
            <a:r>
              <a:t>E:/projects/codex/aether/AgentJYS-main/src/aether_agent_memory/runtime/flows/host.py</a:t>
            </a:r>
          </a:p>
          <a:p xmlns:a="http://schemas.openxmlformats.org/drawingml/2006/main">
            <a:r>
              <a:t>E:/projects/codex/aether/交付成果/ADR版本/ADR-P2P3-001_总体架构决策.md</a:t>
            </a:r>
          </a:p>
          <a:p xmlns:a="http://schemas.openxmlformats.org/drawingml/2006/main">
            <a:r>
              <a:t>E:/projects/codex/aether/交付成果/部署运行/P3_统一服务运行指南_20260926.md</a:t>
            </a:r>
          </a:p>
          <a:p xmlns:a="http://schemas.openxmlformats.org/drawingml/2006/main">
            <a:r>
              <a:t>E:/projects/codex/aether/AgentJYS-main/tests/integration/test_compose_stack.py</a:t>
            </a:r>
          </a:p>
          <a:p xmlns:a="http://schemas.openxmlformats.org/drawingml/2006/main">
            <a:r>
              <a:t>FastAPI：https://fastapi.tiangolo.com/</a:t>
            </a:r>
          </a:p>
          <a:p xmlns:a="http://schemas.openxmlformats.org/drawingml/2006/main">
            <a:r>
              <a:t>Uvicorn：https://github.com/Kludex/uvicorn</a:t>
            </a:r>
          </a:p>
          <a:p xmlns:a="http://schemas.openxmlformats.org/drawingml/2006/main">
            <a:r>
              <a:t>gRPC：https://grpc.io/docs/languages/python/</a:t>
            </a:r>
          </a:p>
          <a:p xmlns:a="http://schemas.openxmlformats.org/drawingml/2006/main">
            <a:r>
              <a:t>Protobuf：https://protobuf.dev/</a:t>
            </a:r>
          </a:p>
          <a:p xmlns:a="http://schemas.openxmlformats.org/drawingml/2006/main">
            <a:r>
              <a:t>Docker Compose：https://docs.docker.com/compose/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这里给出测试设计原则，不把完整 TC 清单当作已经完成。开发与测试先把 FR 对应到流程状态和业务不变量，再拆正常、边界、故障、恢复和权限变化组合。预期来自 PRD、契约和经评审的规则，不能复制代码当前行为当标准。每条用例有前置状态、输入动作、可观察结果、失败条件、清理与证据关联。断言同时覆盖输出内容、持久状态和任务副作用。用例按风险优先：越权、数据丢失、旧事实返回和未知动作重复执行优先于一般体验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讲述时间建议：1.5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E:/projects/codex/aether/交付成果/PRD版本/AetherBrain_P3_PRD_租户补全版_V1.3.docx</a:t>
            </a:r>
          </a:p>
          <a:p xmlns:a="http://schemas.openxmlformats.org/drawingml/2006/main">
            <a:r>
              <a:t>E:/projects/codex/aether/交付成果/测试与验收/UAT计划与记录.md</a:t>
            </a:r>
          </a:p>
          <a:p xmlns:a="http://schemas.openxmlformats.org/drawingml/2006/main">
            <a:r>
              <a:t>E:/projects/codex/aether/AgentJYS-main/tests/contracts/p3/test_qualification_contracts.py</a:t>
            </a:r>
          </a:p>
          <a:p xmlns:a="http://schemas.openxmlformats.org/drawingml/2006/main">
            <a:r>
              <a:t>E:/projects/codex/aether/交付成果/开发协作/13_项目任务分工表_20260923.md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实施上沿用 pytest、pytest-asyncio、Ruff、Mypy 与 GitHub Actions。相比逐次手工演示和独立临时脚本，统一 fixture、参数化用例和报告更易复现和回归；仍需维护数据与预期。已有 contracts、runtime/flows、integration 目录、StatefulVectorSimulator 和客户端桩是可复用素材。下一步把 Provider 一致性场景抽为公共业务断言，分别传入 local、simulated、real 适配。真实配置缺失时生成明确 not_run 清单，不能借助全局 skip 把发布门槛变绿。现有 CI 工作流不等于这些新增分层门槛已经配置完成。质量和吞吐由专用脚本测量，pytest 负责可重复组织，不能拿单元测试数量替代质量。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讲述时间建议：1.5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E:/projects/codex/aether/AgentJYS-main/pyproject.toml</a:t>
            </a:r>
          </a:p>
          <a:p xmlns:a="http://schemas.openxmlformats.org/drawingml/2006/main">
            <a:r>
              <a:t>E:/projects/codex/aether/AgentJYS-main/.github/workflows/ci.yml</a:t>
            </a:r>
          </a:p>
          <a:p xmlns:a="http://schemas.openxmlformats.org/drawingml/2006/main">
            <a:r>
              <a:t>E:/projects/codex/aether/AgentJYS-main/tests/integration/test_continuous_service.py</a:t>
            </a:r>
          </a:p>
          <a:p xmlns:a="http://schemas.openxmlformats.org/drawingml/2006/main">
            <a:r>
              <a:t>E:/projects/codex/aether/AgentJYS-main/tests/unit/recall/test_provider.py</a:t>
            </a:r>
          </a:p>
          <a:p xmlns:a="http://schemas.openxmlformats.org/drawingml/2006/main">
            <a:r>
              <a:t>E:/projects/codex/aether/AgentJYS-main/tests/contracts/p3/test_qualification_contracts.py</a:t>
            </a:r>
          </a:p>
          <a:p xmlns:a="http://schemas.openxmlformats.org/drawingml/2006/main">
            <a:r>
              <a:t>pytest：https://docs.pytest.org/en/stable/</a:t>
            </a:r>
          </a:p>
          <a:p xmlns:a="http://schemas.openxmlformats.org/drawingml/2006/main">
            <a:r>
              <a:t>持续集成 GitHub Actions：https://docs.github.com/en/actions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准备 tenant-a 与 tenant-b、两个用户和两个会话。第一会话保存预算 20 万，分别观察保存结果、Working 当前可用和长期就绪。只有达到对应就绪状态，第二会话才验证长期召回及来源版本。随后明确更正为 15 万，新召回应使用新值，旧召回结果再次获取也要按当前状态复核。删除后新查询、旧结果重放和迟到任务都不能交付正文。并行插入未授权身份、索引未就绪和提交前撤权等条件。稳定事实提取质量与规则正确性分层验证：先用受控输出验证流程，再用真实模型验证中文含义，不用 Mock 的正确句子证明模型理解正确。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讲述时间建议：1.5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E:/projects/codex/aether/交付成果/测试与验收/UAT计划与记录.md</a:t>
            </a:r>
          </a:p>
          <a:p xmlns:a="http://schemas.openxmlformats.org/drawingml/2006/main">
            <a:r>
              <a:t>E:/projects/codex/aether/AgentJYS-main/tests/integration/test_continuous_service.py</a:t>
            </a:r>
          </a:p>
          <a:p xmlns:a="http://schemas.openxmlformats.org/drawingml/2006/main">
            <a:r>
              <a:t>E:/projects/codex/aether/AgentJYS-main/tests/unit/recall/test_provider.py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准入包括明确的 P2 联系人、协议与服务版本、可用端点、租户身份、受控数据、重置方法以及已约定动作目标。不要把普通 Object/Vector gRPC 方法与完整业务契约画等号。先完成正文写入到长期召回首链，再扩展更正、删除、关系和真实执行。丢回执要查询原操作，get_projection/目标读回用于核对实际目标，二者不是同一个检查。模拟器的 not_found 不能自动说明无副作用，也不能作为重建动作编号的依据。跨接口连贯性、并发和真实物理介质必须在真实环境补证。任一阻断缺陷由对应 P3 开发或 P2 方修复，对接人维护同一个问题单并跟踪复验。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讲述时间建议：1.5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E:/projects/codex/aether/AgentJYS-main/src/aether_agent_memory/p2/client.py</a:t>
            </a:r>
          </a:p>
          <a:p xmlns:a="http://schemas.openxmlformats.org/drawingml/2006/main">
            <a:r>
              <a:t>E:/projects/codex/aether/AgentJYS-main/src/aether_agent_memory/p2/simulator.py</a:t>
            </a:r>
          </a:p>
          <a:p xmlns:a="http://schemas.openxmlformats.org/drawingml/2006/main">
            <a:r>
              <a:t>E:/projects/codex/aether/AgentJYS-main/tests/unit/recall/test_provider.py</a:t>
            </a:r>
          </a:p>
          <a:p xmlns:a="http://schemas.openxmlformats.org/drawingml/2006/main">
            <a:r>
              <a:t>E:/projects/codex/aether/交付成果/开发协作/13_项目任务分工表_20260923.md</a:t>
            </a:r>
          </a:p>
          <a:p xmlns:a="http://schemas.openxmlformats.org/drawingml/2006/main">
            <a:r>
              <a:t>E:/projects/codex/aether/交付成果/测试与验收/UAT计划与记录.md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这些是待验证的目标，不是现有性能结论。质量维度应在测试基线阶段固定样本与评分规则，尤其是数字、否定、条件、引述和来源。P99 核心读写、完整召回端到端时延和语义编码吞吐属于不同测量对象。并发、输入长度、硬件、模型空间和热冷比例都要写进报告，失败与超时请求不能从分母移除。MVP 长稳至少 24 小时，Final 的 72 小时不混入本轮承诺。压缩需要同时达到字节比与质量门槛，模型或性能目标未满足时记录差距并处理，不能默认豁免。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讲述时间建议：1.5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E:/projects/codex/aether/交付成果/PRD版本/AetherBrain_P3_PRD_租户补全版_V1.3.docx</a:t>
            </a:r>
          </a:p>
          <a:p xmlns:a="http://schemas.openxmlformats.org/drawingml/2006/main">
            <a:r>
              <a:t>E:/projects/codex/aether/交付成果/测试与验收/UAT计划与记录.md</a:t>
            </a:r>
          </a:p>
          <a:p xmlns:a="http://schemas.openxmlformats.org/drawingml/2006/main">
            <a:r>
              <a:t>E:/projects/codex/aether/交付成果/里程碑与交付/P3方案与进度评审_20260929/MVP完整交付计划_20260929.md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验收与任务分配分开。这里规定允许前进的证据，不把人员分工当作完成。功能验收包括真实提供方和调用方链路；系统验收包括质量、性能、最终候选至少 24h 长稳及恢复演练。UAT 使用真实候选系统，由业务代表签收，测试通过不能自动代签。缺陷严重度中的 P0/P1 必须清零并复验；P2/P3 一般缺陷按业务接受条件记录，这里的 P2 缺陷等级与 P2 存储模块不同。每份结论登记范围、版本、日期、环境、实际结果、缺陷和复验关联。正式交付资料与运行版本一致，范围未实现或依赖未验不得用模拟结果关闭。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讲述时间建议：1.5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E:/projects/codex/aether/交付成果/测试与验收/UAT计划与记录.md</a:t>
            </a:r>
          </a:p>
          <a:p xmlns:a="http://schemas.openxmlformats.org/drawingml/2006/main">
            <a:r>
              <a:t>E:/projects/codex/aether/交付成果/开发协作/13_项目任务分工表_20260923.md</a:t>
            </a:r>
          </a:p>
          <a:p xmlns:a="http://schemas.openxmlformats.org/drawingml/2006/main">
            <a:r>
              <a:t>E:/projects/codex/aether/交付成果/PRD版本/AetherBrain_P3_PRD_租户补全版_V1.3.docx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沿用 12 月 1 日 MVP 目标。9/30—10/09 固定最小范围、接口、模型和数据口径、测试原则及环境责任，假期按实际出勤安排。10/10—11/06 同步推进 P0 实现与联调，10/16 检查首链阻塞，10/23 交首轮真实闭环。测试设计从第一阶段开始，自动回归贯穿实现、修复和 UAT，质量性能与部署基线从十月同步准备。11/07—13 做系统首验和 24h 长稳，11/14—20 修复并对最终候选复测。11/21—27 业务 UAT 与交接，11/28—12/01 只做发布检查和缓冲。若 P2 晚于前提，继续本地和模拟验证，但重排受影响的真实链路与交付预期，保留验收和修复窗口。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讲述时间建议：2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E:/projects/codex/aether/交付成果/PRD版本/AetherBrain_P3_PRD_租户补全版_V1.3.docx</a:t>
            </a:r>
          </a:p>
          <a:p xmlns:a="http://schemas.openxmlformats.org/drawingml/2006/main">
            <a:r>
              <a:t>E:/projects/codex/aether/交付成果/里程碑与交付/P3方案与进度评审_20260929/MVP完整交付计划_20260929.md</a:t>
            </a:r>
          </a:p>
          <a:p xmlns:a="http://schemas.openxmlformats.org/drawingml/2006/main">
            <a:r>
              <a:t>E:/projects/codex/aether/交付成果/开发协作/13_项目任务分工表_20260923.md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设计基线不是花整个十月重建接口，而是用现有契约收敛少量关键差异。10/16 是早期检查点，用来暴露环境和语义缺口；10/23 才是首轮真实闭环证据节点。所有预期都要注明 Provider 和环境类型。11/06 的候选必须具备系统验收条件，不能把首次完整集成压到 11 月下旬。11/20 和 11/27 分别完成技术系统门槛及业务签收。发布缓冲不承接首次联调或首次质量测试。若关键资源晚到，陈凯组织调整计划，不把原目标日期写成已经确认的新承诺。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讲述时间建议：1.5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E:/projects/codex/aether/交付成果/PRD版本/AetherBrain_P3_PRD_租户补全版_V1.3.docx</a:t>
            </a:r>
          </a:p>
          <a:p xmlns:a="http://schemas.openxmlformats.org/drawingml/2006/main">
            <a:r>
              <a:t>E:/projects/codex/aether/交付成果/里程碑与交付/P3方案与进度评审_20260929/MVP完整交付计划_20260929.md</a:t>
            </a:r>
          </a:p>
          <a:p xmlns:a="http://schemas.openxmlformats.org/drawingml/2006/main">
            <a:r>
              <a:t>E:/projects/codex/aether/交付成果/开发协作/13_项目任务分工表_20260923.md</a:t>
            </a:r>
          </a:p>
          <a:p xmlns:a="http://schemas.openxmlformats.org/drawingml/2006/main">
            <a:r>
              <a:t>E:/projects/codex/aether/交付成果/测试与验收/UAT计划与记录.md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项目现有七人结构为陈凯、三位流程开发及三位测试与 P2 对接；A 开发姓名在原分工表未填写，因此不编造姓名。肖宇、赵旭东和谭旭梁同时负责对应测试、环境和 P2 对接，不额外虚构三套人。P3 内部接口由提供方与消费方开发协作，陈凯协调；测试人员提供用例与结果。RF 架构归陈凯，具体代码逐项指定唯一开发人。P2 团队与身份提供方承担自身服务实现，P3 适配由对应开发负责。运行和业务代表是交付所需外部角色。10/09 落实角色为本方案的派工节点，责任表不表示这些任务已经完成或已经获得外部承诺。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讲述时间建议：1.5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E:/projects/codex/aether/交付成果/开发协作/13_项目任务分工表_20260923.md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上线流程先固定候选版本、镜像或安装包、配置及模型指纹，再按既定策略排空或保留在途任务并完成可恢复备份。部署后检查 live、ready、依赖与后台工作状态，执行保存、当前读取、长期召回、更正删除的关键业务冒烟，不能只检查页面打开。验证通过后由运行角色接手监测、备份、故障处置和支持联系人。失败则暂停对外切换，回退演练过的版本，并按兼容的数据恢复方案处理，不把未知副作用重新发起。MVP 交付包包含运行服务、配置和接入说明、功能/集成/质量/性能/24h证据、缺陷复验、部署恢复回滚手册及业务签收。后续 Final 的生产扩展和 72h 不混同本次 MVP 完成。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讲述时间建议：1.5 分钟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依据：</a:t>
            </a:r>
          </a:p>
          <a:p xmlns:a="http://schemas.openxmlformats.org/drawingml/2006/main">
            <a:r>
              <a:t>E:/projects/codex/aether/交付成果/部署运行/P3_统一服务运行指南_20260926.md</a:t>
            </a:r>
          </a:p>
          <a:p xmlns:a="http://schemas.openxmlformats.org/drawingml/2006/main">
            <a:r>
              <a:t>E:/projects/codex/aether/交付成果/测试与验收/UAT计划与记录.md</a:t>
            </a:r>
          </a:p>
          <a:p xmlns:a="http://schemas.openxmlformats.org/drawingml/2006/main">
            <a:r>
              <a:t>E:/projects/codex/aether/交付成果/PRD版本/AetherBrain_P3_PRD_租户补全版_V1.3.docx</a:t>
            </a:r>
          </a:p>
          <a:p xmlns:a="http://schemas.openxmlformats.org/drawingml/2006/main">
            <a:r>
              <a:t>E:/projects/codex/aether/交付成果/开发协作/13_项目任务分工表_20260923.md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bd31a433544e8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c78e09884a487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813c4877c6435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4dbb4f1295422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cadc38eb584b49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508f780ca647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17860B1-B8D2-4E2D-88F3-CA27D448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2451969-1248-401D-88B9-BE177D1DAE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A84D3CA-AE83-4A77-A657-880CAE03FAD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431BBC3-4523-4773-9683-DDCABC5BC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FBEB65F-5853-46FB-9857-3C5604D5C9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EEF1324-B555-4CDE-812D-85310362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0D986C0-A233-491F-A089-E68C618D79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44CF4BE0-83AB-4342-9414-4C0C653CD7B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FBE16352-E0D0-4592-A8A3-3568967C5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E116F11-BABE-446D-8E59-49B9A3D1AE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BAEB161-7DD0-47E4-B4D4-05413BB475C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2E58049-B99B-40D2-A720-7FEFC752F04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EB38ED56-58A4-4F4E-87D0-ED20F4AC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C45E51A-524F-4507-AF30-FCCFA7273E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80092E8-C16F-4DB9-BDED-334974F6822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77ea7e37f34f15" /><Relationship Type="http://schemas.openxmlformats.org/officeDocument/2006/relationships/slideLayout" Target="/ppt/slideLayouts/slideLayout1.xml" Id="R29bf09b8bb4d4452" /><Relationship Type="http://schemas.openxmlformats.org/officeDocument/2006/relationships/slideLayout" Target="/ppt/slideLayouts/slideLayout2.xml" Id="R7b624edff10b4f11" /><Relationship Type="http://schemas.openxmlformats.org/officeDocument/2006/relationships/slideLayout" Target="/ppt/slideLayouts/slideLayout3.xml" Id="Rfafe45a8489f4b40" /><Relationship Type="http://schemas.openxmlformats.org/officeDocument/2006/relationships/slideLayout" Target="/ppt/slideLayouts/slideLayout4.xml" Id="R14fa34fe599b4054" /><Relationship Type="http://schemas.openxmlformats.org/officeDocument/2006/relationships/slideLayout" Target="/ppt/slideLayouts/slideLayout5.xml" Id="R5c2e603d42a545c7" /><Relationship Type="http://schemas.openxmlformats.org/officeDocument/2006/relationships/slideLayout" Target="/ppt/slideLayouts/slideLayout6.xml" Id="Rb90e98c878ca4d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bf09b8bb4d4452"/>
    <p:sldLayoutId xmlns:r="http://schemas.openxmlformats.org/officeDocument/2006/relationships" id="2147483650" r:id="R7b624edff10b4f11"/>
    <p:sldLayoutId xmlns:r="http://schemas.openxmlformats.org/officeDocument/2006/relationships" id="2147483651" r:id="Rfafe45a8489f4b40"/>
    <p:sldLayoutId xmlns:r="http://schemas.openxmlformats.org/officeDocument/2006/relationships" id="2147483652" r:id="R14fa34fe599b4054"/>
    <p:sldLayoutId xmlns:r="http://schemas.openxmlformats.org/officeDocument/2006/relationships" id="2147483653" r:id="R5c2e603d42a545c7"/>
    <p:sldLayoutId xmlns:r="http://schemas.openxmlformats.org/officeDocument/2006/relationships" id="2147483654" r:id="Rb90e98c878ca4d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89887633f34034" /><Relationship Type="http://schemas.openxmlformats.org/officeDocument/2006/relationships/notesSlide" Target="/ppt/notesSlides/notesSlide1.xml" Id="Re36f5485f96349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e2ed4160374f48" /><Relationship Type="http://schemas.openxmlformats.org/officeDocument/2006/relationships/notesSlide" Target="/ppt/notesSlides/notesSlide2.xml" Id="Rddf2cb48efb7459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dc988577c14fff" /><Relationship Type="http://schemas.openxmlformats.org/officeDocument/2006/relationships/notesSlide" Target="/ppt/notesSlides/notesSlide3.xml" Id="Rdd9027569a154b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0a1312d859458b" /><Relationship Type="http://schemas.openxmlformats.org/officeDocument/2006/relationships/notesSlide" Target="/ppt/notesSlides/notesSlide4.xml" Id="R558944d9e5fe4c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d75cdaa6924a39" /><Relationship Type="http://schemas.openxmlformats.org/officeDocument/2006/relationships/notesSlide" Target="/ppt/notesSlides/notesSlide5.xml" Id="R06c964850c1e43a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b619bb9eeb48dd" /><Relationship Type="http://schemas.openxmlformats.org/officeDocument/2006/relationships/notesSlide" Target="/ppt/notesSlides/notesSlide6.xml" Id="Rc7aca177a2c6479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064812e8afe439e" /><Relationship Type="http://schemas.openxmlformats.org/officeDocument/2006/relationships/notesSlide" Target="/ppt/notesSlides/notesSlide7.xml" Id="R91e19a060c67438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cfcc28acc444e4" /><Relationship Type="http://schemas.openxmlformats.org/officeDocument/2006/relationships/notesSlide" Target="/ppt/notesSlides/notesSlide8.xml" Id="Rab90e39ca6d94c3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af271da2b174a4a" /><Relationship Type="http://schemas.openxmlformats.org/officeDocument/2006/relationships/hyperlink" Target="https://docs.pydantic.dev/latest/" TargetMode="External" Id="R7441be1a5b134b20" /><Relationship Type="http://schemas.openxmlformats.org/officeDocument/2006/relationships/hyperlink" Target="https://www.python-httpx.org/" TargetMode="External" Id="Rac90149609f94393" /><Relationship Type="http://schemas.openxmlformats.org/officeDocument/2006/relationships/hyperlink" Target="https://pypdf.readthedocs.io/en/stable/" TargetMode="External" Id="Ra2587148b29c4fb5" /><Relationship Type="http://schemas.openxmlformats.org/officeDocument/2006/relationships/hyperlink" Target="https://python-docx.readthedocs.io/en/latest/" TargetMode="External" Id="R02c813735a894be1" /><Relationship Type="http://schemas.openxmlformats.org/officeDocument/2006/relationships/hyperlink" Target="https://langchain-ai.github.io/langmem/" TargetMode="External" Id="R76768ef82bcb4824" /><Relationship Type="http://schemas.openxmlformats.org/officeDocument/2006/relationships/notesSlide" Target="/ppt/notesSlides/notesSlide9.xml" Id="R8a2423f992b24e3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184642abc144a6" /><Relationship Type="http://schemas.openxmlformats.org/officeDocument/2006/relationships/hyperlink" Target="https://huggingface.co/BAAI/bge-small-zh-v1.5" TargetMode="External" Id="R5057bbd4bbf54440" /><Relationship Type="http://schemas.openxmlformats.org/officeDocument/2006/relationships/hyperlink" Target="https://qdrant.github.io/fastembed/" TargetMode="External" Id="Rc462ab8344db4d44" /><Relationship Type="http://schemas.openxmlformats.org/officeDocument/2006/relationships/hyperlink" Target="https://onnxruntime.ai/" TargetMode="External" Id="Refadea3a2e8c45c6" /><Relationship Type="http://schemas.openxmlformats.org/officeDocument/2006/relationships/hyperlink" Target="https://www.sbert.net/" TargetMode="External" Id="Raba674ff01504d35" /><Relationship Type="http://schemas.openxmlformats.org/officeDocument/2006/relationships/hyperlink" Target="https://github.com/openai/tiktoken" TargetMode="External" Id="R7b7161a6aa1547e1" /><Relationship Type="http://schemas.openxmlformats.org/officeDocument/2006/relationships/hyperlink" Target="https://developers.llamaindex.ai/python/framework/" TargetMode="External" Id="R98c044cdc939423b" /><Relationship Type="http://schemas.openxmlformats.org/officeDocument/2006/relationships/notesSlide" Target="/ppt/notesSlides/notesSlide10.xml" Id="R07adc8ff368e4c9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e5d600ee7c4e0f" /><Relationship Type="http://schemas.openxmlformats.org/officeDocument/2006/relationships/hyperlink" Target="https://www.sqlite.org/" TargetMode="External" Id="Rb4a3e48ba6d94421" /><Relationship Type="http://schemas.openxmlformats.org/officeDocument/2006/relationships/hyperlink" Target="https://github.com/kubernetes-sigs/controller-runtime" TargetMode="External" Id="R448f4df93d9a48ac" /><Relationship Type="http://schemas.openxmlformats.org/officeDocument/2006/relationships/hyperlink" Target="https://docs.temporal.io/" TargetMode="External" Id="Rb0d64ae418d24b54" /><Relationship Type="http://schemas.openxmlformats.org/officeDocument/2006/relationships/notesSlide" Target="/ppt/notesSlides/notesSlide11.xml" Id="Rac01d76f860d402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0719493d2c4fd3" /><Relationship Type="http://schemas.openxmlformats.org/officeDocument/2006/relationships/hyperlink" Target="https://fastapi.tiangolo.com/" TargetMode="External" Id="R572b0fc9049748c7" /><Relationship Type="http://schemas.openxmlformats.org/officeDocument/2006/relationships/hyperlink" Target="https://github.com/Kludex/uvicorn" TargetMode="External" Id="R9af11e7e54ad4028" /><Relationship Type="http://schemas.openxmlformats.org/officeDocument/2006/relationships/hyperlink" Target="https://grpc.io/docs/languages/python/" TargetMode="External" Id="R76cea76fe49943d3" /><Relationship Type="http://schemas.openxmlformats.org/officeDocument/2006/relationships/hyperlink" Target="https://protobuf.dev/" TargetMode="External" Id="Rf9d6afc92a404677" /><Relationship Type="http://schemas.openxmlformats.org/officeDocument/2006/relationships/hyperlink" Target="https://docs.docker.com/compose/" TargetMode="External" Id="Rfd74554bf8474ea6" /><Relationship Type="http://schemas.openxmlformats.org/officeDocument/2006/relationships/notesSlide" Target="/ppt/notesSlides/notesSlide12.xml" Id="R8b40bdda2f0741f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b22a7ceb6149e4" /><Relationship Type="http://schemas.openxmlformats.org/officeDocument/2006/relationships/notesSlide" Target="/ppt/notesSlides/notesSlide13.xml" Id="R52b947bcd4c04b2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881b89f6be4f3e" /><Relationship Type="http://schemas.openxmlformats.org/officeDocument/2006/relationships/hyperlink" Target="https://docs.pytest.org/en/stable/" TargetMode="External" Id="Rd0faf8ee5a994e67" /><Relationship Type="http://schemas.openxmlformats.org/officeDocument/2006/relationships/hyperlink" Target="https://docs.github.com/en/actions" TargetMode="External" Id="Ra7ee3a74fa214849" /><Relationship Type="http://schemas.openxmlformats.org/officeDocument/2006/relationships/notesSlide" Target="/ppt/notesSlides/notesSlide14.xml" Id="R373e0f3d4597421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1183b96e0854211" /><Relationship Type="http://schemas.openxmlformats.org/officeDocument/2006/relationships/notesSlide" Target="/ppt/notesSlides/notesSlide15.xml" Id="Re52f3f0465f64f8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40be0964d8e47e3" /><Relationship Type="http://schemas.openxmlformats.org/officeDocument/2006/relationships/notesSlide" Target="/ppt/notesSlides/notesSlide16.xml" Id="R6515e4267c434a8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511616263e4e02" /><Relationship Type="http://schemas.openxmlformats.org/officeDocument/2006/relationships/notesSlide" Target="/ppt/notesSlides/notesSlide17.xml" Id="R2ba52339f40d44f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f43a0bbd8fb43d9" /><Relationship Type="http://schemas.openxmlformats.org/officeDocument/2006/relationships/notesSlide" Target="/ppt/notesSlides/notesSlide18.xml" Id="Rba1396e231484f0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e5561111dac4fa6" /><Relationship Type="http://schemas.openxmlformats.org/officeDocument/2006/relationships/notesSlide" Target="/ppt/notesSlides/notesSlide19.xml" Id="R742a1e19d14c4ce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eefaaf0cc0427a" /><Relationship Type="http://schemas.openxmlformats.org/officeDocument/2006/relationships/notesSlide" Target="/ppt/notesSlides/notesSlide20.xml" Id="R626cc7021e4e4ad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75da6ca8724978" /><Relationship Type="http://schemas.openxmlformats.org/officeDocument/2006/relationships/notesSlide" Target="/ppt/notesSlides/notesSlide21.xml" Id="Raeada3aa7939460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e4a7490ccd54d54" /><Relationship Type="http://schemas.openxmlformats.org/officeDocument/2006/relationships/notesSlide" Target="/ppt/notesSlides/notesSlide22.xml" Id="R97079c9c25ec483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0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3-1">
            <a:extLst xmlns:a="http://schemas.openxmlformats.org/drawingml/2006/main">
              <a:ext uri="{FF2B5EF4-FFF2-40B4-BE49-F238E27FC236}">
                <a16:creationId xmlns:a16="http://schemas.microsoft.com/office/drawing/2014/main" id="{6E8AEE43-E6D8-4310-B956-2858720E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96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8DCDD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8DCDD0"/>
                </a:solidFill>
                <a:latin typeface="Microsoft YaHei"/>
                <a:ea typeface="Microsoft YaHei"/>
                <a:cs typeface="Microsoft YaHei"/>
              </a:rPr>
              <a:t>AetherBrain P3</a:t>
            </a:r>
          </a:p>
        </p:txBody>
      </p:sp>
      <p:sp>
        <p:nvSpPr>
          <p:cNvPr id="2" name="p3-2">
            <a:extLst xmlns:a="http://schemas.openxmlformats.org/drawingml/2006/main">
              <a:ext uri="{FF2B5EF4-FFF2-40B4-BE49-F238E27FC236}">
                <a16:creationId xmlns:a16="http://schemas.microsoft.com/office/drawing/2014/main" id="{11D99C3F-8A1C-459E-B9A8-09B3BFF3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76425"/>
            <a:ext cx="1066800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P3 MVP</a:t>
            </a:r>
          </a:p>
          <a:p xmlns:a="http://schemas.openxmlformats.org/drawingml/2006/main">
            <a:pPr algn="l">
              <a:def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项目落地方案</a:t>
            </a:r>
          </a:p>
        </p:txBody>
      </p:sp>
      <p:sp>
        <p:nvSpPr>
          <p:cNvPr id="3" name="p3-3">
            <a:extLst xmlns:a="http://schemas.openxmlformats.org/drawingml/2006/main">
              <a:ext uri="{FF2B5EF4-FFF2-40B4-BE49-F238E27FC236}">
                <a16:creationId xmlns:a16="http://schemas.microsoft.com/office/drawing/2014/main" id="{ECFC318E-5D89-48E0-9A76-6911B0A3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D4E5E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D4E5ED"/>
                </a:solidFill>
                <a:latin typeface="Microsoft YaHei"/>
                <a:ea typeface="Microsoft YaHei"/>
                <a:cs typeface="Microsoft YaHei"/>
              </a:rPr>
              <a:t>流程设计   技术选型   测试设计   时间节点</a:t>
            </a:r>
          </a:p>
        </p:txBody>
      </p:sp>
      <p:sp>
        <p:nvSpPr>
          <p:cNvPr id="4" name="p3-4">
            <a:extLst xmlns:a="http://schemas.openxmlformats.org/drawingml/2006/main">
              <a:ext uri="{FF2B5EF4-FFF2-40B4-BE49-F238E27FC236}">
                <a16:creationId xmlns:a16="http://schemas.microsoft.com/office/drawing/2014/main" id="{C808F0C3-4A96-4964-BE5C-F057D44E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007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DD0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DD0DB"/>
                </a:solidFill>
                <a:latin typeface="Microsoft YaHei"/>
                <a:ea typeface="Microsoft YaHei"/>
                <a:cs typeface="Microsoft YaHei"/>
              </a:rPr>
              <a:t>2026 年 9 月 29 日  V3.0</a:t>
            </a:r>
          </a:p>
        </p:txBody>
      </p:sp>
      <p:sp>
        <p:nvSpPr>
          <p:cNvPr id="5" name="p3-5">
            <a:extLst xmlns:a="http://schemas.openxmlformats.org/drawingml/2006/main">
              <a:ext uri="{FF2B5EF4-FFF2-40B4-BE49-F238E27FC236}">
                <a16:creationId xmlns:a16="http://schemas.microsoft.com/office/drawing/2014/main" id="{13869D39-A7F4-406E-9841-4E53A162A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000750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BDD0D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BDD0DB"/>
                </a:solidFill>
                <a:latin typeface="Microsoft YaHei"/>
                <a:ea typeface="Microsoft YaHei"/>
                <a:cs typeface="Microsoft YaHei"/>
              </a:rPr>
              <a:t>MVP 目标：2026 年 12 月 1 日</a:t>
            </a:r>
          </a:p>
        </p:txBody>
      </p:sp>
    </p:spTree>
    <p:extLst>
      <p:ext uri="{BB962C8B-B14F-4D97-AF65-F5344CB8AC3E}">
        <p14:creationId xmlns:p14="http://schemas.microsoft.com/office/powerpoint/2010/main" val="12672724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2">
            <a:extLst xmlns:a="http://schemas.openxmlformats.org/drawingml/2006/main">
              <a:ext uri="{FF2B5EF4-FFF2-40B4-BE49-F238E27FC236}">
                <a16:creationId xmlns:a16="http://schemas.microsoft.com/office/drawing/2014/main" id="{FA1ED425-B90B-4265-9F2C-19F5A759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汇报目录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CEA27103-3BE3-40BA-9B66-0A760CFD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四部分讲清项目怎样落地</a:t>
            </a:r>
          </a:p>
        </p:txBody>
      </p:sp>
      <p:sp>
        <p:nvSpPr>
          <p:cNvPr id="3" name="line-6">
            <a:extLst xmlns:a="http://schemas.openxmlformats.org/drawingml/2006/main">
              <a:ext uri="{FF2B5EF4-FFF2-40B4-BE49-F238E27FC236}">
                <a16:creationId xmlns:a16="http://schemas.microsoft.com/office/drawing/2014/main" id="{4B0AD929-B39A-47F3-A7D5-25547645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4" name="p3-7">
            <a:extLst xmlns:a="http://schemas.openxmlformats.org/drawingml/2006/main">
              <a:ext uri="{FF2B5EF4-FFF2-40B4-BE49-F238E27FC236}">
                <a16:creationId xmlns:a16="http://schemas.microsoft.com/office/drawing/2014/main" id="{95AE4255-5E5C-46AD-A9B9-2F5F16FA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MVP 项目落地方案  V3.0</a:t>
            </a:r>
          </a:p>
        </p:txBody>
      </p:sp>
      <p:sp>
        <p:nvSpPr>
          <p:cNvPr id="5" name="p3-8">
            <a:extLst xmlns:a="http://schemas.openxmlformats.org/drawingml/2006/main">
              <a:ext uri="{FF2B5EF4-FFF2-40B4-BE49-F238E27FC236}">
                <a16:creationId xmlns:a16="http://schemas.microsoft.com/office/drawing/2014/main" id="{2873E7F2-CF49-46C9-BCD8-A9F69A4A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293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02 / 22</a:t>
            </a:r>
          </a:p>
        </p:txBody>
      </p:sp>
      <p:sp>
        <p:nvSpPr>
          <p:cNvPr id="6" name="p3-9">
            <a:extLst xmlns:a="http://schemas.openxmlformats.org/drawingml/2006/main">
              <a:ext uri="{FF2B5EF4-FFF2-40B4-BE49-F238E27FC236}">
                <a16:creationId xmlns:a16="http://schemas.microsoft.com/office/drawing/2014/main" id="{061F37D9-CDD6-41DD-9480-76B6307B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87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p3-10">
            <a:extLst xmlns:a="http://schemas.openxmlformats.org/drawingml/2006/main">
              <a:ext uri="{FF2B5EF4-FFF2-40B4-BE49-F238E27FC236}">
                <a16:creationId xmlns:a16="http://schemas.microsoft.com/office/drawing/2014/main" id="{FDA003B1-3C4D-4A7A-AB6A-5A6C1644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009775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流程设计</a:t>
            </a:r>
          </a:p>
        </p:txBody>
      </p:sp>
      <p:sp>
        <p:nvSpPr>
          <p:cNvPr id="8" name="p3-11">
            <a:extLst xmlns:a="http://schemas.openxmlformats.org/drawingml/2006/main">
              <a:ext uri="{FF2B5EF4-FFF2-40B4-BE49-F238E27FC236}">
                <a16:creationId xmlns:a16="http://schemas.microsoft.com/office/drawing/2014/main" id="{6B14D02A-0563-4D80-98BA-648E3E15F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2882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业务链路、P2 接口、无 P2 的处理路径</a:t>
            </a:r>
          </a:p>
        </p:txBody>
      </p:sp>
      <p:sp>
        <p:nvSpPr>
          <p:cNvPr id="9" name="p3-12">
            <a:extLst xmlns:a="http://schemas.openxmlformats.org/drawingml/2006/main">
              <a:ext uri="{FF2B5EF4-FFF2-40B4-BE49-F238E27FC236}">
                <a16:creationId xmlns:a16="http://schemas.microsoft.com/office/drawing/2014/main" id="{196BC8F4-C0B1-46CA-AE24-DC893F7E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038350"/>
            <a:ext cx="962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03—08</a:t>
            </a:r>
          </a:p>
        </p:txBody>
      </p:sp>
      <p:sp>
        <p:nvSpPr>
          <p:cNvPr id="10" name="line-13">
            <a:extLst xmlns:a="http://schemas.openxmlformats.org/drawingml/2006/main">
              <a:ext uri="{FF2B5EF4-FFF2-40B4-BE49-F238E27FC236}">
                <a16:creationId xmlns:a16="http://schemas.microsoft.com/office/drawing/2014/main" id="{69465A8F-9785-4815-AC16-20EAA5CC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724150"/>
            <a:ext cx="99441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11" name="p3-14">
            <a:extLst xmlns:a="http://schemas.openxmlformats.org/drawingml/2006/main">
              <a:ext uri="{FF2B5EF4-FFF2-40B4-BE49-F238E27FC236}">
                <a16:creationId xmlns:a16="http://schemas.microsoft.com/office/drawing/2014/main" id="{38AB80ED-330C-4478-8435-F6E4A82AD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43225"/>
            <a:ext cx="87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p3-15">
            <a:extLst xmlns:a="http://schemas.openxmlformats.org/drawingml/2006/main">
              <a:ext uri="{FF2B5EF4-FFF2-40B4-BE49-F238E27FC236}">
                <a16:creationId xmlns:a16="http://schemas.microsoft.com/office/drawing/2014/main" id="{820B1B4C-CCF9-41D9-B0D5-4DD13C47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943225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技术选型</a:t>
            </a:r>
          </a:p>
        </p:txBody>
      </p:sp>
      <p:sp>
        <p:nvSpPr>
          <p:cNvPr id="13" name="p3-16">
            <a:extLst xmlns:a="http://schemas.openxmlformats.org/drawingml/2006/main">
              <a:ext uri="{FF2B5EF4-FFF2-40B4-BE49-F238E27FC236}">
                <a16:creationId xmlns:a16="http://schemas.microsoft.com/office/drawing/2014/main" id="{7067C051-1278-459B-8D60-14CD059D8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96227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逐模块比较技术路线、理由与代价</a:t>
            </a:r>
          </a:p>
        </p:txBody>
      </p:sp>
      <p:sp>
        <p:nvSpPr>
          <p:cNvPr id="14" name="p3-17">
            <a:extLst xmlns:a="http://schemas.openxmlformats.org/drawingml/2006/main">
              <a:ext uri="{FF2B5EF4-FFF2-40B4-BE49-F238E27FC236}">
                <a16:creationId xmlns:a16="http://schemas.microsoft.com/office/drawing/2014/main" id="{41D66C37-47B3-46C7-9C88-230121D6C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2971800"/>
            <a:ext cx="962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09—12</a:t>
            </a:r>
          </a:p>
        </p:txBody>
      </p:sp>
      <p:sp>
        <p:nvSpPr>
          <p:cNvPr id="15" name="line-18">
            <a:extLst xmlns:a="http://schemas.openxmlformats.org/drawingml/2006/main">
              <a:ext uri="{FF2B5EF4-FFF2-40B4-BE49-F238E27FC236}">
                <a16:creationId xmlns:a16="http://schemas.microsoft.com/office/drawing/2014/main" id="{8DFAB68F-4111-41A6-A9C2-C3DD345E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657600"/>
            <a:ext cx="99441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16" name="p3-19">
            <a:extLst xmlns:a="http://schemas.openxmlformats.org/drawingml/2006/main">
              <a:ext uri="{FF2B5EF4-FFF2-40B4-BE49-F238E27FC236}">
                <a16:creationId xmlns:a16="http://schemas.microsoft.com/office/drawing/2014/main" id="{EA077FE0-747F-4329-94CF-7DCD38701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76675"/>
            <a:ext cx="87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p3-20">
            <a:extLst xmlns:a="http://schemas.openxmlformats.org/drawingml/2006/main">
              <a:ext uri="{FF2B5EF4-FFF2-40B4-BE49-F238E27FC236}">
                <a16:creationId xmlns:a16="http://schemas.microsoft.com/office/drawing/2014/main" id="{26AD8BC0-F8B8-4DBB-A835-C5E6BB77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76675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测试设计</a:t>
            </a:r>
          </a:p>
        </p:txBody>
      </p:sp>
      <p:sp>
        <p:nvSpPr>
          <p:cNvPr id="18" name="p3-21">
            <a:extLst xmlns:a="http://schemas.openxmlformats.org/drawingml/2006/main">
              <a:ext uri="{FF2B5EF4-FFF2-40B4-BE49-F238E27FC236}">
                <a16:creationId xmlns:a16="http://schemas.microsoft.com/office/drawing/2014/main" id="{0446F37F-169D-4E5E-8C3E-4CB643C23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89572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设计原则、分层实施、联调与验收</a:t>
            </a:r>
          </a:p>
        </p:txBody>
      </p:sp>
      <p:sp>
        <p:nvSpPr>
          <p:cNvPr id="19" name="p3-22">
            <a:extLst xmlns:a="http://schemas.openxmlformats.org/drawingml/2006/main">
              <a:ext uri="{FF2B5EF4-FFF2-40B4-BE49-F238E27FC236}">
                <a16:creationId xmlns:a16="http://schemas.microsoft.com/office/drawing/2014/main" id="{88FF9105-7DF2-4B2A-817E-8C61BFB8D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905250"/>
            <a:ext cx="962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13—18</a:t>
            </a:r>
          </a:p>
        </p:txBody>
      </p:sp>
      <p:sp>
        <p:nvSpPr>
          <p:cNvPr id="20" name="line-23">
            <a:extLst xmlns:a="http://schemas.openxmlformats.org/drawingml/2006/main">
              <a:ext uri="{FF2B5EF4-FFF2-40B4-BE49-F238E27FC236}">
                <a16:creationId xmlns:a16="http://schemas.microsoft.com/office/drawing/2014/main" id="{92CEA11D-C14B-40A1-BEF9-1170CD40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591050"/>
            <a:ext cx="99441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21" name="p3-24">
            <a:extLst xmlns:a="http://schemas.openxmlformats.org/drawingml/2006/main">
              <a:ext uri="{FF2B5EF4-FFF2-40B4-BE49-F238E27FC236}">
                <a16:creationId xmlns:a16="http://schemas.microsoft.com/office/drawing/2014/main" id="{839AADBE-569E-4FAD-9627-36C9A083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87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p3-25">
            <a:extLst xmlns:a="http://schemas.openxmlformats.org/drawingml/2006/main">
              <a:ext uri="{FF2B5EF4-FFF2-40B4-BE49-F238E27FC236}">
                <a16:creationId xmlns:a16="http://schemas.microsoft.com/office/drawing/2014/main" id="{B60D1E61-4CD6-4C22-B46A-3F4FAC28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810125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时间节点</a:t>
            </a:r>
          </a:p>
        </p:txBody>
      </p:sp>
      <p:sp>
        <p:nvSpPr>
          <p:cNvPr id="23" name="p3-26">
            <a:extLst xmlns:a="http://schemas.openxmlformats.org/drawingml/2006/main">
              <a:ext uri="{FF2B5EF4-FFF2-40B4-BE49-F238E27FC236}">
                <a16:creationId xmlns:a16="http://schemas.microsoft.com/office/drawing/2014/main" id="{D90DD4DA-847B-4E95-9CD1-4C0D1883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82917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并行排期、交付节点、任务分工与上线</a:t>
            </a:r>
          </a:p>
        </p:txBody>
      </p:sp>
      <p:sp>
        <p:nvSpPr>
          <p:cNvPr id="24" name="p3-27">
            <a:extLst xmlns:a="http://schemas.openxmlformats.org/drawingml/2006/main">
              <a:ext uri="{FF2B5EF4-FFF2-40B4-BE49-F238E27FC236}">
                <a16:creationId xmlns:a16="http://schemas.microsoft.com/office/drawing/2014/main" id="{7C62E468-E397-4D81-BE36-C4B3836D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4838700"/>
            <a:ext cx="9620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4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19—22</a:t>
            </a:r>
          </a:p>
        </p:txBody>
      </p:sp>
    </p:spTree>
    <p:extLst>
      <p:ext uri="{BB962C8B-B14F-4D97-AF65-F5344CB8AC3E}">
        <p14:creationId xmlns:p14="http://schemas.microsoft.com/office/powerpoint/2010/main" val="1402976729"/>
      </p:ext>
    </p:extLst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-31">
            <a:extLst>
              <a:ext uri="{FF2B5EF4-FFF2-40B4-BE49-F238E27FC236}">
                <a16:creationId xmlns:a16="http://schemas.microsoft.com/office/drawing/2014/main" id="{A544B985-481C-4226-BF54-D9ACB4CEDF62}"/>
              </a:ext>
            </a:extLst>
          </p:cNvPr>
          <p:cNvSpPr>
            <a:spLocks noGrp="1"/>
          </p:cNvSpPr>
          <p:nvPr/>
        </p:nvSpPr>
        <p:spPr>
          <a:xfrm>
            <a:off x="609600" y="1619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1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01  流程设计</a:t>
            </a:r>
          </a:p>
        </p:txBody>
      </p:sp>
      <p:sp>
        <p:nvSpPr>
          <p:cNvPr id="2" name="title-32">
            <a:extLst>
              <a:ext uri="{FF2B5EF4-FFF2-40B4-BE49-F238E27FC236}">
                <a16:creationId xmlns:a16="http://schemas.microsoft.com/office/drawing/2014/main" id="{D0F13C7B-9545-4F53-BB30-6F18B8A9C049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P3 整体流程框架</a:t>
            </a:r>
          </a:p>
        </p:txBody>
      </p:sp>
      <p:sp>
        <p:nvSpPr>
          <p:cNvPr id="3" name="text-33">
            <a:extLst>
              <a:ext uri="{FF2B5EF4-FFF2-40B4-BE49-F238E27FC236}">
                <a16:creationId xmlns:a16="http://schemas.microsoft.com/office/drawing/2014/main" id="{0672F08F-6183-4F81-AB77-EE6AF0CBE98F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原图 P3.1 的业务关系；应用决定调用时机，P3 交付记忆和处理状态</a:t>
            </a:r>
          </a:p>
        </p:txBody>
      </p:sp>
      <p:sp>
        <p:nvSpPr>
          <p:cNvPr id="4" name="route-34">
            <a:extLst>
              <a:ext uri="{FF2B5EF4-FFF2-40B4-BE49-F238E27FC236}">
                <a16:creationId xmlns:a16="http://schemas.microsoft.com/office/drawing/2014/main" id="{DFB79459-D731-4A90-8B0C-FAF6338DE364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972800" cy="95"/>
          </a:xfrm>
          <a:custGeom>
            <a:avLst/>
            <a:gdLst/>
            <a:ahLst/>
            <a:cxnLst/>
            <a:rect l="0" t="0" r="0" b="0"/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5" name="text-35">
            <a:extLst>
              <a:ext uri="{FF2B5EF4-FFF2-40B4-BE49-F238E27FC236}">
                <a16:creationId xmlns:a16="http://schemas.microsoft.com/office/drawing/2014/main" id="{58D0524D-7834-4D88-BEFA-F578095E3AB6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MVP 项目落地方案  V3.0</a:t>
            </a:r>
          </a:p>
        </p:txBody>
      </p:sp>
      <p:sp>
        <p:nvSpPr>
          <p:cNvPr id="6" name="text-36">
            <a:extLst>
              <a:ext uri="{FF2B5EF4-FFF2-40B4-BE49-F238E27FC236}">
                <a16:creationId xmlns:a16="http://schemas.microsoft.com/office/drawing/2014/main" id="{705A4218-8D9C-4A8D-ADDC-78C32600B0C5}"/>
              </a:ext>
            </a:extLst>
          </p:cNvPr>
          <p:cNvSpPr>
            <a:spLocks noGrp="1"/>
          </p:cNvSpPr>
          <p:nvPr/>
        </p:nvSpPr>
        <p:spPr>
          <a:xfrm>
            <a:off x="10429875" y="642937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03 / 22</a:t>
            </a:r>
          </a:p>
        </p:txBody>
      </p:sp>
      <p:sp>
        <p:nvSpPr>
          <p:cNvPr id="7" name="node-37">
            <a:extLst>
              <a:ext uri="{FF2B5EF4-FFF2-40B4-BE49-F238E27FC236}">
                <a16:creationId xmlns:a16="http://schemas.microsoft.com/office/drawing/2014/main" id="{F167A2D2-342D-45E6-B5E1-02E738C0276F}"/>
              </a:ext>
            </a:extLst>
          </p:cNvPr>
          <p:cNvSpPr>
            <a:spLocks noGrp="1"/>
          </p:cNvSpPr>
          <p:nvPr/>
        </p:nvSpPr>
        <p:spPr>
          <a:xfrm>
            <a:off x="609600" y="1981200"/>
            <a:ext cx="2524125" cy="1028700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应用 / Agent / P4</a:t>
            </a:r>
          </a:p>
          <a:p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带身份与范围调用</a:t>
            </a:r>
          </a:p>
        </p:txBody>
      </p:sp>
      <p:sp>
        <p:nvSpPr>
          <p:cNvPr id="8" name="node-38">
            <a:extLst>
              <a:ext uri="{FF2B5EF4-FFF2-40B4-BE49-F238E27FC236}">
                <a16:creationId xmlns:a16="http://schemas.microsoft.com/office/drawing/2014/main" id="{6C59264D-6D3C-4EEA-8324-895C03900689}"/>
              </a:ext>
            </a:extLst>
          </p:cNvPr>
          <p:cNvSpPr>
            <a:spLocks noGrp="1"/>
          </p:cNvSpPr>
          <p:nvPr/>
        </p:nvSpPr>
        <p:spPr>
          <a:xfrm>
            <a:off x="4181475" y="1981200"/>
            <a:ext cx="3295650" cy="1028700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Remember 存储记忆</a:t>
            </a:r>
          </a:p>
          <a:p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来源、版本、生命周期</a:t>
            </a:r>
          </a:p>
        </p:txBody>
      </p:sp>
      <p:sp>
        <p:nvSpPr>
          <p:cNvPr id="9" name="node-39">
            <a:extLst>
              <a:ext uri="{FF2B5EF4-FFF2-40B4-BE49-F238E27FC236}">
                <a16:creationId xmlns:a16="http://schemas.microsoft.com/office/drawing/2014/main" id="{5936CC05-776D-460D-8D6C-CB1E04558AC0}"/>
              </a:ext>
            </a:extLst>
          </p:cNvPr>
          <p:cNvSpPr>
            <a:spLocks noGrp="1"/>
          </p:cNvSpPr>
          <p:nvPr/>
        </p:nvSpPr>
        <p:spPr>
          <a:xfrm>
            <a:off x="8286750" y="1981200"/>
            <a:ext cx="3295650" cy="1028700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Recall 召回记忆</a:t>
            </a:r>
          </a:p>
          <a:p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核验、组包、交付上下文</a:t>
            </a:r>
          </a:p>
        </p:txBody>
      </p:sp>
      <p:sp>
        <p:nvSpPr>
          <p:cNvPr id="10" name="route-40">
            <a:extLst>
              <a:ext uri="{FF2B5EF4-FFF2-40B4-BE49-F238E27FC236}">
                <a16:creationId xmlns:a16="http://schemas.microsoft.com/office/drawing/2014/main" id="{4136D32E-ACAA-4FCD-9E59-EE48B5B7F664}"/>
              </a:ext>
            </a:extLst>
          </p:cNvPr>
          <p:cNvSpPr>
            <a:spLocks noGrp="1"/>
          </p:cNvSpPr>
          <p:nvPr/>
        </p:nvSpPr>
        <p:spPr>
          <a:xfrm>
            <a:off x="3133725" y="2495550"/>
            <a:ext cx="1047750" cy="95"/>
          </a:xfrm>
          <a:custGeom>
            <a:avLst/>
            <a:gdLst/>
            <a:ahLst/>
            <a:cxnLst/>
            <a:rect l="0" t="0" r="0" b="0"/>
            <a:pathLst>
              <a:path w="1047750" h="95">
                <a:moveTo>
                  <a:pt x="0" y="0"/>
                </a:moveTo>
                <a:lnTo>
                  <a:pt x="1047750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1" name="route-41">
            <a:extLst>
              <a:ext uri="{FF2B5EF4-FFF2-40B4-BE49-F238E27FC236}">
                <a16:creationId xmlns:a16="http://schemas.microsoft.com/office/drawing/2014/main" id="{98612AD4-2936-46E0-B8FD-F21AFFBC7C1D}"/>
              </a:ext>
            </a:extLst>
          </p:cNvPr>
          <p:cNvSpPr>
            <a:spLocks noGrp="1"/>
          </p:cNvSpPr>
          <p:nvPr/>
        </p:nvSpPr>
        <p:spPr>
          <a:xfrm>
            <a:off x="4105275" y="245745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2" name="route-42">
            <a:extLst>
              <a:ext uri="{FF2B5EF4-FFF2-40B4-BE49-F238E27FC236}">
                <a16:creationId xmlns:a16="http://schemas.microsoft.com/office/drawing/2014/main" id="{256B3127-8318-4B27-A923-BEE05597110B}"/>
              </a:ext>
            </a:extLst>
          </p:cNvPr>
          <p:cNvSpPr>
            <a:spLocks noGrp="1"/>
          </p:cNvSpPr>
          <p:nvPr/>
        </p:nvSpPr>
        <p:spPr>
          <a:xfrm>
            <a:off x="1866900" y="3009900"/>
            <a:ext cx="8067675" cy="419100"/>
          </a:xfrm>
          <a:custGeom>
            <a:avLst/>
            <a:gdLst/>
            <a:ahLst/>
            <a:cxnLst/>
            <a:rect l="0" t="0" r="0" b="0"/>
            <a:pathLst>
              <a:path w="8067675" h="419100">
                <a:moveTo>
                  <a:pt x="0" y="0"/>
                </a:moveTo>
                <a:lnTo>
                  <a:pt x="0" y="419100"/>
                </a:lnTo>
                <a:lnTo>
                  <a:pt x="8067675" y="419100"/>
                </a:lnTo>
                <a:lnTo>
                  <a:pt x="8067675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3" name="route-43">
            <a:extLst>
              <a:ext uri="{FF2B5EF4-FFF2-40B4-BE49-F238E27FC236}">
                <a16:creationId xmlns:a16="http://schemas.microsoft.com/office/drawing/2014/main" id="{A0F3D2B9-26A8-4DE0-96CD-A6B54A80DC14}"/>
              </a:ext>
            </a:extLst>
          </p:cNvPr>
          <p:cNvSpPr>
            <a:spLocks noGrp="1"/>
          </p:cNvSpPr>
          <p:nvPr/>
        </p:nvSpPr>
        <p:spPr>
          <a:xfrm>
            <a:off x="9896475" y="300990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76200"/>
                </a:moveTo>
                <a:lnTo>
                  <a:pt x="38100" y="0"/>
                </a:lnTo>
                <a:lnTo>
                  <a:pt x="76200" y="7620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4" name="text-44">
            <a:extLst>
              <a:ext uri="{FF2B5EF4-FFF2-40B4-BE49-F238E27FC236}">
                <a16:creationId xmlns:a16="http://schemas.microsoft.com/office/drawing/2014/main" id="{CBADEC87-9884-4861-941C-C348BCCEFE1A}"/>
              </a:ext>
            </a:extLst>
          </p:cNvPr>
          <p:cNvSpPr>
            <a:spLocks noGrp="1"/>
          </p:cNvSpPr>
          <p:nvPr/>
        </p:nvSpPr>
        <p:spPr>
          <a:xfrm>
            <a:off x="2276475" y="3124200"/>
            <a:ext cx="147637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发起召回</a:t>
            </a:r>
          </a:p>
        </p:txBody>
      </p:sp>
      <p:sp>
        <p:nvSpPr>
          <p:cNvPr id="15" name="route-45">
            <a:extLst>
              <a:ext uri="{FF2B5EF4-FFF2-40B4-BE49-F238E27FC236}">
                <a16:creationId xmlns:a16="http://schemas.microsoft.com/office/drawing/2014/main" id="{9101D799-B8B6-470C-A63D-9FECE8061E10}"/>
              </a:ext>
            </a:extLst>
          </p:cNvPr>
          <p:cNvSpPr>
            <a:spLocks noGrp="1"/>
          </p:cNvSpPr>
          <p:nvPr/>
        </p:nvSpPr>
        <p:spPr>
          <a:xfrm>
            <a:off x="7477125" y="2495550"/>
            <a:ext cx="809625" cy="95"/>
          </a:xfrm>
          <a:custGeom>
            <a:avLst/>
            <a:gdLst/>
            <a:ahLst/>
            <a:cxnLst/>
            <a:rect l="0" t="0" r="0" b="0"/>
            <a:pathLst>
              <a:path w="809625" h="95">
                <a:moveTo>
                  <a:pt x="0" y="0"/>
                </a:moveTo>
                <a:lnTo>
                  <a:pt x="809625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6" name="route-46">
            <a:extLst>
              <a:ext uri="{FF2B5EF4-FFF2-40B4-BE49-F238E27FC236}">
                <a16:creationId xmlns:a16="http://schemas.microsoft.com/office/drawing/2014/main" id="{626483F6-2469-4228-B977-AAA6E7E23E0B}"/>
              </a:ext>
            </a:extLst>
          </p:cNvPr>
          <p:cNvSpPr>
            <a:spLocks noGrp="1"/>
          </p:cNvSpPr>
          <p:nvPr/>
        </p:nvSpPr>
        <p:spPr>
          <a:xfrm>
            <a:off x="8210550" y="245745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7" name="text-47">
            <a:extLst>
              <a:ext uri="{FF2B5EF4-FFF2-40B4-BE49-F238E27FC236}">
                <a16:creationId xmlns:a16="http://schemas.microsoft.com/office/drawing/2014/main" id="{5BE75AE0-9F27-485B-92B0-632FFB7300CD}"/>
              </a:ext>
            </a:extLst>
          </p:cNvPr>
          <p:cNvSpPr>
            <a:spLocks noGrp="1"/>
          </p:cNvSpPr>
          <p:nvPr/>
        </p:nvSpPr>
        <p:spPr>
          <a:xfrm>
            <a:off x="7419975" y="1695450"/>
            <a:ext cx="9429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3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资格 / 正文</a:t>
            </a:r>
          </a:p>
        </p:txBody>
      </p:sp>
      <p:sp>
        <p:nvSpPr>
          <p:cNvPr id="18" name="node-48">
            <a:extLst>
              <a:ext uri="{FF2B5EF4-FFF2-40B4-BE49-F238E27FC236}">
                <a16:creationId xmlns:a16="http://schemas.microsoft.com/office/drawing/2014/main" id="{CF5AA2DB-F056-4DDF-BC8B-C6A29031AE18}"/>
              </a:ext>
            </a:extLst>
          </p:cNvPr>
          <p:cNvSpPr>
            <a:spLocks noGrp="1"/>
          </p:cNvSpPr>
          <p:nvPr/>
        </p:nvSpPr>
        <p:spPr>
          <a:xfrm>
            <a:off x="4181475" y="4038600"/>
            <a:ext cx="3295650" cy="1066800"/>
          </a:xfrm>
          <a:prstGeom prst="rect">
            <a:avLst/>
          </a:prstGeom>
          <a:solidFill>
            <a:srgbClr val="EAF5F2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存储变化与实际读取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通过 RF 可靠交接</a:t>
            </a:r>
          </a:p>
        </p:txBody>
      </p:sp>
      <p:sp>
        <p:nvSpPr>
          <p:cNvPr id="19" name="node-49">
            <a:extLst>
              <a:ext uri="{FF2B5EF4-FFF2-40B4-BE49-F238E27FC236}">
                <a16:creationId xmlns:a16="http://schemas.microsoft.com/office/drawing/2014/main" id="{96376587-6A5F-45BD-9456-3A00C342CFAA}"/>
              </a:ext>
            </a:extLst>
          </p:cNvPr>
          <p:cNvSpPr>
            <a:spLocks noGrp="1"/>
          </p:cNvSpPr>
          <p:nvPr/>
        </p:nvSpPr>
        <p:spPr>
          <a:xfrm>
            <a:off x="8286750" y="4038600"/>
            <a:ext cx="3295650" cy="1066800"/>
          </a:xfrm>
          <a:prstGeom prst="rect">
            <a:avLst/>
          </a:prstGeom>
          <a:solidFill>
            <a:srgbClr val="EAF5F2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Operate 内部运行</a:t>
            </a:r>
          </a:p>
          <a:p>
            <a:pPr algn="ctr">
              <a:def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判断、执行、核对结果</a:t>
            </a:r>
          </a:p>
        </p:txBody>
      </p:sp>
      <p:sp>
        <p:nvSpPr>
          <p:cNvPr id="20" name="route-50">
            <a:extLst>
              <a:ext uri="{FF2B5EF4-FFF2-40B4-BE49-F238E27FC236}">
                <a16:creationId xmlns:a16="http://schemas.microsoft.com/office/drawing/2014/main" id="{1450E9B3-BD97-4544-8EA8-25DF894CAFCA}"/>
              </a:ext>
            </a:extLst>
          </p:cNvPr>
          <p:cNvSpPr>
            <a:spLocks noGrp="1"/>
          </p:cNvSpPr>
          <p:nvPr/>
        </p:nvSpPr>
        <p:spPr>
          <a:xfrm>
            <a:off x="5829300" y="3009900"/>
            <a:ext cx="95" cy="1028700"/>
          </a:xfrm>
          <a:custGeom>
            <a:avLst/>
            <a:gdLst/>
            <a:ahLst/>
            <a:cxnLst/>
            <a:rect l="0" t="0" r="0" b="0"/>
            <a:pathLst>
              <a:path w="95" h="1028700">
                <a:moveTo>
                  <a:pt x="0" y="0"/>
                </a:moveTo>
                <a:lnTo>
                  <a:pt x="0" y="1028700"/>
                </a:lnTo>
              </a:path>
            </a:pathLst>
          </a:custGeom>
          <a:noFill/>
          <a:ln w="19050">
            <a:solidFill>
              <a:srgbClr val="087F80"/>
            </a:solidFill>
            <a:prstDash val="dash"/>
          </a:ln>
        </p:spPr>
      </p:sp>
      <p:sp>
        <p:nvSpPr>
          <p:cNvPr id="21" name="route-51">
            <a:extLst>
              <a:ext uri="{FF2B5EF4-FFF2-40B4-BE49-F238E27FC236}">
                <a16:creationId xmlns:a16="http://schemas.microsoft.com/office/drawing/2014/main" id="{EFC25144-CC0D-4A1B-9115-9896BD47ACCE}"/>
              </a:ext>
            </a:extLst>
          </p:cNvPr>
          <p:cNvSpPr>
            <a:spLocks noGrp="1"/>
          </p:cNvSpPr>
          <p:nvPr/>
        </p:nvSpPr>
        <p:spPr>
          <a:xfrm>
            <a:off x="5791200" y="396240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22" name="route-52">
            <a:extLst>
              <a:ext uri="{FF2B5EF4-FFF2-40B4-BE49-F238E27FC236}">
                <a16:creationId xmlns:a16="http://schemas.microsoft.com/office/drawing/2014/main" id="{F7A5CA18-8973-4E4B-B209-F53F855F6C2A}"/>
              </a:ext>
            </a:extLst>
          </p:cNvPr>
          <p:cNvSpPr>
            <a:spLocks noGrp="1"/>
          </p:cNvSpPr>
          <p:nvPr/>
        </p:nvSpPr>
        <p:spPr>
          <a:xfrm>
            <a:off x="9934575" y="3009900"/>
            <a:ext cx="95" cy="1028700"/>
          </a:xfrm>
          <a:custGeom>
            <a:avLst/>
            <a:gdLst/>
            <a:ahLst/>
            <a:cxnLst/>
            <a:rect l="0" t="0" r="0" b="0"/>
            <a:pathLst>
              <a:path w="95" h="1028700">
                <a:moveTo>
                  <a:pt x="0" y="0"/>
                </a:moveTo>
                <a:lnTo>
                  <a:pt x="0" y="1028700"/>
                </a:lnTo>
              </a:path>
            </a:pathLst>
          </a:custGeom>
          <a:noFill/>
          <a:ln w="19050">
            <a:solidFill>
              <a:srgbClr val="087F80"/>
            </a:solidFill>
            <a:prstDash val="dash"/>
          </a:ln>
        </p:spPr>
      </p:sp>
      <p:sp>
        <p:nvSpPr>
          <p:cNvPr id="23" name="route-53">
            <a:extLst>
              <a:ext uri="{FF2B5EF4-FFF2-40B4-BE49-F238E27FC236}">
                <a16:creationId xmlns:a16="http://schemas.microsoft.com/office/drawing/2014/main" id="{ECD2C041-7230-4E09-927B-0175580EDF13}"/>
              </a:ext>
            </a:extLst>
          </p:cNvPr>
          <p:cNvSpPr>
            <a:spLocks noGrp="1"/>
          </p:cNvSpPr>
          <p:nvPr/>
        </p:nvSpPr>
        <p:spPr>
          <a:xfrm>
            <a:off x="9896475" y="396240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24" name="route-54">
            <a:extLst>
              <a:ext uri="{FF2B5EF4-FFF2-40B4-BE49-F238E27FC236}">
                <a16:creationId xmlns:a16="http://schemas.microsoft.com/office/drawing/2014/main" id="{1764E62F-168A-486F-A1D1-58A63F90C355}"/>
              </a:ext>
            </a:extLst>
          </p:cNvPr>
          <p:cNvSpPr>
            <a:spLocks noGrp="1"/>
          </p:cNvSpPr>
          <p:nvPr/>
        </p:nvSpPr>
        <p:spPr>
          <a:xfrm>
            <a:off x="7477125" y="4572000"/>
            <a:ext cx="809625" cy="95"/>
          </a:xfrm>
          <a:custGeom>
            <a:avLst/>
            <a:gdLst/>
            <a:ahLst/>
            <a:cxnLst/>
            <a:rect l="0" t="0" r="0" b="0"/>
            <a:pathLst>
              <a:path w="809625" h="95">
                <a:moveTo>
                  <a:pt x="0" y="0"/>
                </a:moveTo>
                <a:lnTo>
                  <a:pt x="809625" y="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25" name="route-55">
            <a:extLst>
              <a:ext uri="{FF2B5EF4-FFF2-40B4-BE49-F238E27FC236}">
                <a16:creationId xmlns:a16="http://schemas.microsoft.com/office/drawing/2014/main" id="{BC2DAA26-9D4F-4FC2-BFEA-C8D0859C7C48}"/>
              </a:ext>
            </a:extLst>
          </p:cNvPr>
          <p:cNvSpPr>
            <a:spLocks noGrp="1"/>
          </p:cNvSpPr>
          <p:nvPr/>
        </p:nvSpPr>
        <p:spPr>
          <a:xfrm>
            <a:off x="8210550" y="453390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26" name="text-56">
            <a:extLst>
              <a:ext uri="{FF2B5EF4-FFF2-40B4-BE49-F238E27FC236}">
                <a16:creationId xmlns:a16="http://schemas.microsoft.com/office/drawing/2014/main" id="{AFE7A0CE-BCF0-44A3-8353-A56C2A33AD72}"/>
              </a:ext>
            </a:extLst>
          </p:cNvPr>
          <p:cNvSpPr>
            <a:spLocks noGrp="1"/>
          </p:cNvSpPr>
          <p:nvPr/>
        </p:nvSpPr>
        <p:spPr>
          <a:xfrm>
            <a:off x="609600" y="4105275"/>
            <a:ext cx="28384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P2 等底层依赖</a:t>
            </a:r>
          </a:p>
          <a:p>
            <a:pPr algn="l">
              <a:def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提供存取和执行能力</a:t>
            </a:r>
          </a:p>
        </p:txBody>
      </p:sp>
      <p:sp>
        <p:nvSpPr>
          <p:cNvPr id="27" name="text-57">
            <a:extLst>
              <a:ext uri="{FF2B5EF4-FFF2-40B4-BE49-F238E27FC236}">
                <a16:creationId xmlns:a16="http://schemas.microsoft.com/office/drawing/2014/main" id="{8114BC10-2C0B-4132-99D0-5477BA5852D4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同一场景贯穿：预算 20 万保存，后续更正为 15 万，再跨会话使用</a:t>
            </a:r>
          </a:p>
        </p:txBody>
      </p:sp>
    </p:spTree>
    <p:extLst>
      <p:ext uri="{BB962C8B-B14F-4D97-AF65-F5344CB8AC3E}">
        <p14:creationId xmlns:p14="http://schemas.microsoft.com/office/powerpoint/2010/main" val="2943742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-58">
            <a:extLst>
              <a:ext uri="{FF2B5EF4-FFF2-40B4-BE49-F238E27FC236}">
                <a16:creationId xmlns:a16="http://schemas.microsoft.com/office/drawing/2014/main" id="{7CC11C76-BC79-43C0-99D1-7A8625C785A8}"/>
              </a:ext>
            </a:extLst>
          </p:cNvPr>
          <p:cNvSpPr>
            <a:spLocks noGrp="1"/>
          </p:cNvSpPr>
          <p:nvPr/>
        </p:nvSpPr>
        <p:spPr>
          <a:xfrm>
            <a:off x="609600" y="1619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1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01  流程设计</a:t>
            </a:r>
          </a:p>
        </p:txBody>
      </p:sp>
      <p:sp>
        <p:nvSpPr>
          <p:cNvPr id="2" name="title-59">
            <a:extLst>
              <a:ext uri="{FF2B5EF4-FFF2-40B4-BE49-F238E27FC236}">
                <a16:creationId xmlns:a16="http://schemas.microsoft.com/office/drawing/2014/main" id="{F91E5CD3-F400-40A4-B7BE-2FDBD7512647}"/>
              </a:ext>
            </a:extLst>
          </p:cNvPr>
          <p:cNvSpPr>
            <a:spLocks noGrp="1"/>
          </p:cNvSpPr>
          <p:nvPr/>
        </p:nvSpPr>
        <p:spPr>
          <a:xfrm>
            <a:off x="636104" y="612499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Remember：保存、加工与长期就绪</a:t>
            </a:r>
          </a:p>
        </p:txBody>
      </p:sp>
      <p:sp>
        <p:nvSpPr>
          <p:cNvPr id="3" name="text-60">
            <a:extLst>
              <a:ext uri="{FF2B5EF4-FFF2-40B4-BE49-F238E27FC236}">
                <a16:creationId xmlns:a16="http://schemas.microsoft.com/office/drawing/2014/main" id="{1D602063-6883-4473-B23A-89920B783601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沿用原图 B.1 / B.3 / B.4 / B.5 / B.6 / B.7，按主路径展开</a:t>
            </a:r>
          </a:p>
        </p:txBody>
      </p:sp>
      <p:sp>
        <p:nvSpPr>
          <p:cNvPr id="4" name="route-61">
            <a:extLst>
              <a:ext uri="{FF2B5EF4-FFF2-40B4-BE49-F238E27FC236}">
                <a16:creationId xmlns:a16="http://schemas.microsoft.com/office/drawing/2014/main" id="{C6ABBCF2-063B-4C73-8A0D-D0EF07F9035D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972800" cy="95"/>
          </a:xfrm>
          <a:custGeom>
            <a:avLst/>
            <a:gdLst/>
            <a:ahLst/>
            <a:cxnLst/>
            <a:rect l="0" t="0" r="0" b="0"/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5" name="text-62">
            <a:extLst>
              <a:ext uri="{FF2B5EF4-FFF2-40B4-BE49-F238E27FC236}">
                <a16:creationId xmlns:a16="http://schemas.microsoft.com/office/drawing/2014/main" id="{32DCCF94-5EDE-41C8-A6BE-8E34A81F7AD9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MVP 项目落地方案  V3.0</a:t>
            </a:r>
          </a:p>
        </p:txBody>
      </p:sp>
      <p:sp>
        <p:nvSpPr>
          <p:cNvPr id="6" name="text-63">
            <a:extLst>
              <a:ext uri="{FF2B5EF4-FFF2-40B4-BE49-F238E27FC236}">
                <a16:creationId xmlns:a16="http://schemas.microsoft.com/office/drawing/2014/main" id="{529C4EF5-9359-48F6-8DEB-C9CAF9EAA5B6}"/>
              </a:ext>
            </a:extLst>
          </p:cNvPr>
          <p:cNvSpPr>
            <a:spLocks noGrp="1"/>
          </p:cNvSpPr>
          <p:nvPr/>
        </p:nvSpPr>
        <p:spPr>
          <a:xfrm>
            <a:off x="10429875" y="642937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04 / 22</a:t>
            </a:r>
          </a:p>
        </p:txBody>
      </p:sp>
      <p:sp>
        <p:nvSpPr>
          <p:cNvPr id="7" name="node-64">
            <a:extLst>
              <a:ext uri="{FF2B5EF4-FFF2-40B4-BE49-F238E27FC236}">
                <a16:creationId xmlns:a16="http://schemas.microsoft.com/office/drawing/2014/main" id="{FABF4E71-FF2A-408C-81E8-E2093351C71C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3371850" cy="1333500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B.1 接入与保存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身份、来源、请求去重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原文与记忆记录可靠保存</a:t>
            </a:r>
          </a:p>
        </p:txBody>
      </p:sp>
      <p:sp>
        <p:nvSpPr>
          <p:cNvPr id="8" name="node-65">
            <a:extLst>
              <a:ext uri="{FF2B5EF4-FFF2-40B4-BE49-F238E27FC236}">
                <a16:creationId xmlns:a16="http://schemas.microsoft.com/office/drawing/2014/main" id="{57DFB037-92ED-4957-BC79-57848D880EED}"/>
              </a:ext>
            </a:extLst>
          </p:cNvPr>
          <p:cNvSpPr>
            <a:spLocks noGrp="1"/>
          </p:cNvSpPr>
          <p:nvPr/>
        </p:nvSpPr>
        <p:spPr>
          <a:xfrm>
            <a:off x="4486275" y="2009775"/>
            <a:ext cx="3371850" cy="1333500"/>
          </a:xfrm>
          <a:prstGeom prst="rect">
            <a:avLst/>
          </a:prstGeom>
          <a:solidFill>
            <a:srgbClr val="EAF5F2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B.3 当前任务可用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写入适用 Working 内容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返回实际可用状态</a:t>
            </a:r>
          </a:p>
        </p:txBody>
      </p:sp>
      <p:sp>
        <p:nvSpPr>
          <p:cNvPr id="9" name="route-66">
            <a:extLst>
              <a:ext uri="{FF2B5EF4-FFF2-40B4-BE49-F238E27FC236}">
                <a16:creationId xmlns:a16="http://schemas.microsoft.com/office/drawing/2014/main" id="{77AB54FF-9268-44A8-A124-97EA4B74A1FA}"/>
              </a:ext>
            </a:extLst>
          </p:cNvPr>
          <p:cNvSpPr>
            <a:spLocks noGrp="1"/>
          </p:cNvSpPr>
          <p:nvPr/>
        </p:nvSpPr>
        <p:spPr>
          <a:xfrm>
            <a:off x="3981450" y="2676525"/>
            <a:ext cx="504825" cy="95"/>
          </a:xfrm>
          <a:custGeom>
            <a:avLst/>
            <a:gdLst/>
            <a:ahLst/>
            <a:cxnLst/>
            <a:rect l="0" t="0" r="0" b="0"/>
            <a:pathLst>
              <a:path w="504825" h="9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0" name="route-67">
            <a:extLst>
              <a:ext uri="{FF2B5EF4-FFF2-40B4-BE49-F238E27FC236}">
                <a16:creationId xmlns:a16="http://schemas.microsoft.com/office/drawing/2014/main" id="{1F463D54-F073-4A4F-BAE2-CF688063F4E7}"/>
              </a:ext>
            </a:extLst>
          </p:cNvPr>
          <p:cNvSpPr>
            <a:spLocks noGrp="1"/>
          </p:cNvSpPr>
          <p:nvPr/>
        </p:nvSpPr>
        <p:spPr>
          <a:xfrm>
            <a:off x="4410075" y="2638425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1" name="text-68">
            <a:extLst>
              <a:ext uri="{FF2B5EF4-FFF2-40B4-BE49-F238E27FC236}">
                <a16:creationId xmlns:a16="http://schemas.microsoft.com/office/drawing/2014/main" id="{4CDB923B-FAF1-4DFE-A5CB-E3EE90E88D72}"/>
              </a:ext>
            </a:extLst>
          </p:cNvPr>
          <p:cNvSpPr>
            <a:spLocks noGrp="1"/>
          </p:cNvSpPr>
          <p:nvPr/>
        </p:nvSpPr>
        <p:spPr>
          <a:xfrm>
            <a:off x="8324850" y="2095500"/>
            <a:ext cx="3162300" cy="10382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1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先供当前任务使用</a:t>
            </a:r>
          </a:p>
        </p:txBody>
      </p:sp>
      <p:sp>
        <p:nvSpPr>
          <p:cNvPr id="12" name="node-69">
            <a:extLst>
              <a:ext uri="{FF2B5EF4-FFF2-40B4-BE49-F238E27FC236}">
                <a16:creationId xmlns:a16="http://schemas.microsoft.com/office/drawing/2014/main" id="{8FFD8874-7CF3-4CE8-A39B-94D0DC780BC6}"/>
              </a:ext>
            </a:extLst>
          </p:cNvPr>
          <p:cNvSpPr>
            <a:spLocks noGrp="1"/>
          </p:cNvSpPr>
          <p:nvPr/>
        </p:nvSpPr>
        <p:spPr>
          <a:xfrm>
            <a:off x="609600" y="4048125"/>
            <a:ext cx="3371850" cy="1333500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B.4 持久后台加工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固定来源与版本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分段、压缩、摘要</a:t>
            </a:r>
          </a:p>
        </p:txBody>
      </p:sp>
      <p:sp>
        <p:nvSpPr>
          <p:cNvPr id="13" name="node-70">
            <a:extLst>
              <a:ext uri="{FF2B5EF4-FFF2-40B4-BE49-F238E27FC236}">
                <a16:creationId xmlns:a16="http://schemas.microsoft.com/office/drawing/2014/main" id="{B6B7E061-C930-4BBD-AF38-0EF9974F7D34}"/>
              </a:ext>
            </a:extLst>
          </p:cNvPr>
          <p:cNvSpPr>
            <a:spLocks noGrp="1"/>
          </p:cNvSpPr>
          <p:nvPr/>
        </p:nvSpPr>
        <p:spPr>
          <a:xfrm>
            <a:off x="4486275" y="4048125"/>
            <a:ext cx="3371850" cy="1333500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B.5 形成正式记忆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模型提出候选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审核证据、冲突与版本</a:t>
            </a:r>
          </a:p>
        </p:txBody>
      </p:sp>
      <p:sp>
        <p:nvSpPr>
          <p:cNvPr id="14" name="node-71">
            <a:extLst>
              <a:ext uri="{FF2B5EF4-FFF2-40B4-BE49-F238E27FC236}">
                <a16:creationId xmlns:a16="http://schemas.microsoft.com/office/drawing/2014/main" id="{59255368-A5B4-449C-BE69-C89E0D2E06F9}"/>
              </a:ext>
            </a:extLst>
          </p:cNvPr>
          <p:cNvSpPr>
            <a:spLocks noGrp="1"/>
          </p:cNvSpPr>
          <p:nvPr/>
        </p:nvSpPr>
        <p:spPr>
          <a:xfrm>
            <a:off x="8372475" y="4048125"/>
            <a:ext cx="3209925" cy="1333500"/>
          </a:xfrm>
          <a:prstGeom prst="rect">
            <a:avLst/>
          </a:prstGeom>
          <a:solidFill>
            <a:srgbClr val="EAF5F2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B.6 长期检索就绪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分块编码、写入索引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全部预期块核验后发布</a:t>
            </a:r>
          </a:p>
        </p:txBody>
      </p:sp>
      <p:sp>
        <p:nvSpPr>
          <p:cNvPr id="15" name="route-72">
            <a:extLst>
              <a:ext uri="{FF2B5EF4-FFF2-40B4-BE49-F238E27FC236}">
                <a16:creationId xmlns:a16="http://schemas.microsoft.com/office/drawing/2014/main" id="{0B48ABBC-2357-4A04-B09E-CBA23EED67DC}"/>
              </a:ext>
            </a:extLst>
          </p:cNvPr>
          <p:cNvSpPr>
            <a:spLocks noGrp="1"/>
          </p:cNvSpPr>
          <p:nvPr/>
        </p:nvSpPr>
        <p:spPr>
          <a:xfrm>
            <a:off x="2295525" y="3343275"/>
            <a:ext cx="95" cy="704850"/>
          </a:xfrm>
          <a:custGeom>
            <a:avLst/>
            <a:gdLst/>
            <a:ahLst/>
            <a:cxnLst/>
            <a:rect l="0" t="0" r="0" b="0"/>
            <a:pathLst>
              <a:path w="95" h="704850">
                <a:moveTo>
                  <a:pt x="0" y="0"/>
                </a:moveTo>
                <a:lnTo>
                  <a:pt x="0" y="70485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6" name="route-73">
            <a:extLst>
              <a:ext uri="{FF2B5EF4-FFF2-40B4-BE49-F238E27FC236}">
                <a16:creationId xmlns:a16="http://schemas.microsoft.com/office/drawing/2014/main" id="{41BBA65D-5F9B-4B85-A70D-E3A36E8F6A14}"/>
              </a:ext>
            </a:extLst>
          </p:cNvPr>
          <p:cNvSpPr>
            <a:spLocks noGrp="1"/>
          </p:cNvSpPr>
          <p:nvPr/>
        </p:nvSpPr>
        <p:spPr>
          <a:xfrm>
            <a:off x="2257425" y="3971925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7" name="route-74">
            <a:extLst>
              <a:ext uri="{FF2B5EF4-FFF2-40B4-BE49-F238E27FC236}">
                <a16:creationId xmlns:a16="http://schemas.microsoft.com/office/drawing/2014/main" id="{C6A120EA-FE7F-41C4-A9B7-7AB0E1ACF523}"/>
              </a:ext>
            </a:extLst>
          </p:cNvPr>
          <p:cNvSpPr>
            <a:spLocks noGrp="1"/>
          </p:cNvSpPr>
          <p:nvPr/>
        </p:nvSpPr>
        <p:spPr>
          <a:xfrm>
            <a:off x="3981450" y="4714875"/>
            <a:ext cx="504825" cy="95"/>
          </a:xfrm>
          <a:custGeom>
            <a:avLst/>
            <a:gdLst/>
            <a:ahLst/>
            <a:cxnLst/>
            <a:rect l="0" t="0" r="0" b="0"/>
            <a:pathLst>
              <a:path w="504825" h="95">
                <a:moveTo>
                  <a:pt x="0" y="0"/>
                </a:moveTo>
                <a:lnTo>
                  <a:pt x="504825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8" name="route-75">
            <a:extLst>
              <a:ext uri="{FF2B5EF4-FFF2-40B4-BE49-F238E27FC236}">
                <a16:creationId xmlns:a16="http://schemas.microsoft.com/office/drawing/2014/main" id="{604F4CF7-934F-4D2F-9E5B-5B930A13CF96}"/>
              </a:ext>
            </a:extLst>
          </p:cNvPr>
          <p:cNvSpPr>
            <a:spLocks noGrp="1"/>
          </p:cNvSpPr>
          <p:nvPr/>
        </p:nvSpPr>
        <p:spPr>
          <a:xfrm>
            <a:off x="4410075" y="4676775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9" name="route-76">
            <a:extLst>
              <a:ext uri="{FF2B5EF4-FFF2-40B4-BE49-F238E27FC236}">
                <a16:creationId xmlns:a16="http://schemas.microsoft.com/office/drawing/2014/main" id="{971329B4-C882-49DE-BBA5-1B691D81DFAE}"/>
              </a:ext>
            </a:extLst>
          </p:cNvPr>
          <p:cNvSpPr>
            <a:spLocks noGrp="1"/>
          </p:cNvSpPr>
          <p:nvPr/>
        </p:nvSpPr>
        <p:spPr>
          <a:xfrm>
            <a:off x="7858125" y="4714875"/>
            <a:ext cx="514350" cy="95"/>
          </a:xfrm>
          <a:custGeom>
            <a:avLst/>
            <a:gdLst/>
            <a:ahLst/>
            <a:cxnLst/>
            <a:rect l="0" t="0" r="0" b="0"/>
            <a:pathLst>
              <a:path w="514350" h="95">
                <a:moveTo>
                  <a:pt x="0" y="0"/>
                </a:moveTo>
                <a:lnTo>
                  <a:pt x="514350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20" name="route-77">
            <a:extLst>
              <a:ext uri="{FF2B5EF4-FFF2-40B4-BE49-F238E27FC236}">
                <a16:creationId xmlns:a16="http://schemas.microsoft.com/office/drawing/2014/main" id="{723AE279-1729-48CC-8229-0C45B985A44C}"/>
              </a:ext>
            </a:extLst>
          </p:cNvPr>
          <p:cNvSpPr>
            <a:spLocks noGrp="1"/>
          </p:cNvSpPr>
          <p:nvPr/>
        </p:nvSpPr>
        <p:spPr>
          <a:xfrm>
            <a:off x="8296275" y="4676775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21" name="text-78">
            <a:extLst>
              <a:ext uri="{FF2B5EF4-FFF2-40B4-BE49-F238E27FC236}">
                <a16:creationId xmlns:a16="http://schemas.microsoft.com/office/drawing/2014/main" id="{577F2B3C-4C11-4586-9056-C2F49164BDB4}"/>
              </a:ext>
            </a:extLst>
          </p:cNvPr>
          <p:cNvSpPr>
            <a:spLocks noGrp="1"/>
          </p:cNvSpPr>
          <p:nvPr/>
        </p:nvSpPr>
        <p:spPr>
          <a:xfrm>
            <a:off x="4486275" y="3495675"/>
            <a:ext cx="7096125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rPr>
              <a:t>B.7 更正 / 删除：更新有效资格，阻断旧版本，再跟踪清理</a:t>
            </a:r>
          </a:p>
        </p:txBody>
      </p:sp>
      <p:sp>
        <p:nvSpPr>
          <p:cNvPr id="22" name="text-79">
            <a:extLst>
              <a:ext uri="{FF2B5EF4-FFF2-40B4-BE49-F238E27FC236}">
                <a16:creationId xmlns:a16="http://schemas.microsoft.com/office/drawing/2014/main" id="{5AD90FBD-70EF-42EF-A91A-444D6B10B8F6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“已保存”“当前可用”“长期就绪”分别报告，后台失败保留已确认事实</a:t>
            </a:r>
          </a:p>
        </p:txBody>
      </p:sp>
    </p:spTree>
    <p:extLst>
      <p:ext uri="{BB962C8B-B14F-4D97-AF65-F5344CB8AC3E}">
        <p14:creationId xmlns:p14="http://schemas.microsoft.com/office/powerpoint/2010/main" val="680446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-80">
            <a:extLst>
              <a:ext uri="{FF2B5EF4-FFF2-40B4-BE49-F238E27FC236}">
                <a16:creationId xmlns:a16="http://schemas.microsoft.com/office/drawing/2014/main" id="{4B141769-8BBD-4CD6-A08A-A93AC03302B5}"/>
              </a:ext>
            </a:extLst>
          </p:cNvPr>
          <p:cNvSpPr>
            <a:spLocks noGrp="1"/>
          </p:cNvSpPr>
          <p:nvPr/>
        </p:nvSpPr>
        <p:spPr>
          <a:xfrm>
            <a:off x="609600" y="1619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1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01  流程设计</a:t>
            </a:r>
          </a:p>
        </p:txBody>
      </p:sp>
      <p:sp>
        <p:nvSpPr>
          <p:cNvPr id="2" name="title-81">
            <a:extLst>
              <a:ext uri="{FF2B5EF4-FFF2-40B4-BE49-F238E27FC236}">
                <a16:creationId xmlns:a16="http://schemas.microsoft.com/office/drawing/2014/main" id="{9FC364CA-4BDC-4D62-9FB8-2E5B1ECCDBA3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Recall：把有效记忆组织成上下文</a:t>
            </a:r>
          </a:p>
        </p:txBody>
      </p:sp>
      <p:sp>
        <p:nvSpPr>
          <p:cNvPr id="3" name="text-82">
            <a:extLst>
              <a:ext uri="{FF2B5EF4-FFF2-40B4-BE49-F238E27FC236}">
                <a16:creationId xmlns:a16="http://schemas.microsoft.com/office/drawing/2014/main" id="{E50C8D02-EC1A-415B-851B-C646818C2C5F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沿用原图 A.1 主流程，保留仅 Working 的独立读取路径</a:t>
            </a:r>
          </a:p>
        </p:txBody>
      </p:sp>
      <p:sp>
        <p:nvSpPr>
          <p:cNvPr id="4" name="route-83">
            <a:extLst>
              <a:ext uri="{FF2B5EF4-FFF2-40B4-BE49-F238E27FC236}">
                <a16:creationId xmlns:a16="http://schemas.microsoft.com/office/drawing/2014/main" id="{21809C2A-4EDF-42CF-8669-456A3F8E42ED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972800" cy="95"/>
          </a:xfrm>
          <a:custGeom>
            <a:avLst/>
            <a:gdLst/>
            <a:ahLst/>
            <a:cxnLst/>
            <a:rect l="0" t="0" r="0" b="0"/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5" name="text-84">
            <a:extLst>
              <a:ext uri="{FF2B5EF4-FFF2-40B4-BE49-F238E27FC236}">
                <a16:creationId xmlns:a16="http://schemas.microsoft.com/office/drawing/2014/main" id="{34FE844F-299F-47C5-A8AE-9917A287637E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MVP 项目落地方案  V3.0</a:t>
            </a:r>
          </a:p>
        </p:txBody>
      </p:sp>
      <p:sp>
        <p:nvSpPr>
          <p:cNvPr id="6" name="text-85">
            <a:extLst>
              <a:ext uri="{FF2B5EF4-FFF2-40B4-BE49-F238E27FC236}">
                <a16:creationId xmlns:a16="http://schemas.microsoft.com/office/drawing/2014/main" id="{653DFFCD-AE4B-489D-AA0B-CFD2330692A0}"/>
              </a:ext>
            </a:extLst>
          </p:cNvPr>
          <p:cNvSpPr>
            <a:spLocks noGrp="1"/>
          </p:cNvSpPr>
          <p:nvPr/>
        </p:nvSpPr>
        <p:spPr>
          <a:xfrm>
            <a:off x="10429875" y="642937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05 / 22</a:t>
            </a:r>
          </a:p>
        </p:txBody>
      </p:sp>
      <p:sp>
        <p:nvSpPr>
          <p:cNvPr id="7" name="node-86">
            <a:extLst>
              <a:ext uri="{FF2B5EF4-FFF2-40B4-BE49-F238E27FC236}">
                <a16:creationId xmlns:a16="http://schemas.microsoft.com/office/drawing/2014/main" id="{969C98A3-417C-4FAA-A1EF-9E56F0EC74B6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1943100" cy="1304925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接收问题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范围与预算</a:t>
            </a:r>
          </a:p>
        </p:txBody>
      </p:sp>
      <p:sp>
        <p:nvSpPr>
          <p:cNvPr id="8" name="node-87">
            <a:extLst>
              <a:ext uri="{FF2B5EF4-FFF2-40B4-BE49-F238E27FC236}">
                <a16:creationId xmlns:a16="http://schemas.microsoft.com/office/drawing/2014/main" id="{F3E11DCF-5423-45A5-845C-05CDDD08B71A}"/>
              </a:ext>
            </a:extLst>
          </p:cNvPr>
          <p:cNvSpPr>
            <a:spLocks noGrp="1"/>
          </p:cNvSpPr>
          <p:nvPr/>
        </p:nvSpPr>
        <p:spPr>
          <a:xfrm>
            <a:off x="2867025" y="2095500"/>
            <a:ext cx="1943100" cy="1304925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选择来源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当前 / 长期 / 两者</a:t>
            </a:r>
          </a:p>
        </p:txBody>
      </p:sp>
      <p:sp>
        <p:nvSpPr>
          <p:cNvPr id="9" name="node-88">
            <a:extLst>
              <a:ext uri="{FF2B5EF4-FFF2-40B4-BE49-F238E27FC236}">
                <a16:creationId xmlns:a16="http://schemas.microsoft.com/office/drawing/2014/main" id="{5C347C0A-AC59-47C6-AD18-3CA4C0D123B8}"/>
              </a:ext>
            </a:extLst>
          </p:cNvPr>
          <p:cNvSpPr>
            <a:spLocks noGrp="1"/>
          </p:cNvSpPr>
          <p:nvPr/>
        </p:nvSpPr>
        <p:spPr>
          <a:xfrm>
            <a:off x="5124450" y="2095500"/>
            <a:ext cx="1943100" cy="1304925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A.1a / A.1c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编码、块检索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聚合记忆候选</a:t>
            </a:r>
          </a:p>
        </p:txBody>
      </p:sp>
      <p:sp>
        <p:nvSpPr>
          <p:cNvPr id="10" name="node-89">
            <a:extLst>
              <a:ext uri="{FF2B5EF4-FFF2-40B4-BE49-F238E27FC236}">
                <a16:creationId xmlns:a16="http://schemas.microsoft.com/office/drawing/2014/main" id="{FF1E7EC8-DDB6-4576-802B-28ED1A2A3B5C}"/>
              </a:ext>
            </a:extLst>
          </p:cNvPr>
          <p:cNvSpPr>
            <a:spLocks noGrp="1"/>
          </p:cNvSpPr>
          <p:nvPr/>
        </p:nvSpPr>
        <p:spPr>
          <a:xfrm>
            <a:off x="7381875" y="2095500"/>
            <a:ext cx="1943100" cy="1304925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A.1b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核验资格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读取完整正文</a:t>
            </a:r>
          </a:p>
        </p:txBody>
      </p:sp>
      <p:sp>
        <p:nvSpPr>
          <p:cNvPr id="11" name="node-90">
            <a:extLst>
              <a:ext uri="{FF2B5EF4-FFF2-40B4-BE49-F238E27FC236}">
                <a16:creationId xmlns:a16="http://schemas.microsoft.com/office/drawing/2014/main" id="{AFA3763B-820A-4AFE-AAF7-3C3299AFF9AF}"/>
              </a:ext>
            </a:extLst>
          </p:cNvPr>
          <p:cNvSpPr>
            <a:spLocks noGrp="1"/>
          </p:cNvSpPr>
          <p:nvPr/>
        </p:nvSpPr>
        <p:spPr>
          <a:xfrm>
            <a:off x="9639300" y="2095500"/>
            <a:ext cx="1943100" cy="1304925"/>
          </a:xfrm>
          <a:prstGeom prst="rect">
            <a:avLst/>
          </a:prstGeom>
          <a:solidFill>
            <a:srgbClr val="EEF4F7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A.1d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关系与排序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整包预算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最终核验</a:t>
            </a:r>
          </a:p>
        </p:txBody>
      </p:sp>
      <p:sp>
        <p:nvSpPr>
          <p:cNvPr id="12" name="route-91">
            <a:extLst>
              <a:ext uri="{FF2B5EF4-FFF2-40B4-BE49-F238E27FC236}">
                <a16:creationId xmlns:a16="http://schemas.microsoft.com/office/drawing/2014/main" id="{B57317B0-5995-40C9-88D7-3F2EE92188B9}"/>
              </a:ext>
            </a:extLst>
          </p:cNvPr>
          <p:cNvSpPr>
            <a:spLocks noGrp="1"/>
          </p:cNvSpPr>
          <p:nvPr/>
        </p:nvSpPr>
        <p:spPr>
          <a:xfrm>
            <a:off x="2552700" y="2747963"/>
            <a:ext cx="314325" cy="95"/>
          </a:xfrm>
          <a:custGeom>
            <a:avLst/>
            <a:gdLst/>
            <a:ahLst/>
            <a:cxnLst/>
            <a:rect l="0" t="0" r="0" b="0"/>
            <a:pathLst>
              <a:path w="314325" h="9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3" name="route-92">
            <a:extLst>
              <a:ext uri="{FF2B5EF4-FFF2-40B4-BE49-F238E27FC236}">
                <a16:creationId xmlns:a16="http://schemas.microsoft.com/office/drawing/2014/main" id="{FB47B9CC-77CA-4B33-B592-6B4A16673159}"/>
              </a:ext>
            </a:extLst>
          </p:cNvPr>
          <p:cNvSpPr>
            <a:spLocks noGrp="1"/>
          </p:cNvSpPr>
          <p:nvPr/>
        </p:nvSpPr>
        <p:spPr>
          <a:xfrm>
            <a:off x="2790825" y="2709863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4" name="route-93">
            <a:extLst>
              <a:ext uri="{FF2B5EF4-FFF2-40B4-BE49-F238E27FC236}">
                <a16:creationId xmlns:a16="http://schemas.microsoft.com/office/drawing/2014/main" id="{EA659334-1033-4E35-89D3-9438CD4FFBD4}"/>
              </a:ext>
            </a:extLst>
          </p:cNvPr>
          <p:cNvSpPr>
            <a:spLocks noGrp="1"/>
          </p:cNvSpPr>
          <p:nvPr/>
        </p:nvSpPr>
        <p:spPr>
          <a:xfrm>
            <a:off x="4810125" y="2747963"/>
            <a:ext cx="314325" cy="95"/>
          </a:xfrm>
          <a:custGeom>
            <a:avLst/>
            <a:gdLst/>
            <a:ahLst/>
            <a:cxnLst/>
            <a:rect l="0" t="0" r="0" b="0"/>
            <a:pathLst>
              <a:path w="314325" h="9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5" name="route-94">
            <a:extLst>
              <a:ext uri="{FF2B5EF4-FFF2-40B4-BE49-F238E27FC236}">
                <a16:creationId xmlns:a16="http://schemas.microsoft.com/office/drawing/2014/main" id="{2AEC1E56-8D6A-4267-B3F7-177B82EBEDA3}"/>
              </a:ext>
            </a:extLst>
          </p:cNvPr>
          <p:cNvSpPr>
            <a:spLocks noGrp="1"/>
          </p:cNvSpPr>
          <p:nvPr/>
        </p:nvSpPr>
        <p:spPr>
          <a:xfrm>
            <a:off x="5048250" y="2709863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6" name="route-95">
            <a:extLst>
              <a:ext uri="{FF2B5EF4-FFF2-40B4-BE49-F238E27FC236}">
                <a16:creationId xmlns:a16="http://schemas.microsoft.com/office/drawing/2014/main" id="{81442609-05E9-48B8-816C-E5C94E593BC6}"/>
              </a:ext>
            </a:extLst>
          </p:cNvPr>
          <p:cNvSpPr>
            <a:spLocks noGrp="1"/>
          </p:cNvSpPr>
          <p:nvPr/>
        </p:nvSpPr>
        <p:spPr>
          <a:xfrm>
            <a:off x="7067550" y="2747963"/>
            <a:ext cx="314325" cy="95"/>
          </a:xfrm>
          <a:custGeom>
            <a:avLst/>
            <a:gdLst/>
            <a:ahLst/>
            <a:cxnLst/>
            <a:rect l="0" t="0" r="0" b="0"/>
            <a:pathLst>
              <a:path w="314325" h="9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7" name="route-96">
            <a:extLst>
              <a:ext uri="{FF2B5EF4-FFF2-40B4-BE49-F238E27FC236}">
                <a16:creationId xmlns:a16="http://schemas.microsoft.com/office/drawing/2014/main" id="{7B9B30A7-44A2-4CE5-B564-25B88A0A1E06}"/>
              </a:ext>
            </a:extLst>
          </p:cNvPr>
          <p:cNvSpPr>
            <a:spLocks noGrp="1"/>
          </p:cNvSpPr>
          <p:nvPr/>
        </p:nvSpPr>
        <p:spPr>
          <a:xfrm>
            <a:off x="7305675" y="2709863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8" name="route-97">
            <a:extLst>
              <a:ext uri="{FF2B5EF4-FFF2-40B4-BE49-F238E27FC236}">
                <a16:creationId xmlns:a16="http://schemas.microsoft.com/office/drawing/2014/main" id="{1A9CE652-C3ED-4C65-AD01-F6B241A44A78}"/>
              </a:ext>
            </a:extLst>
          </p:cNvPr>
          <p:cNvSpPr>
            <a:spLocks noGrp="1"/>
          </p:cNvSpPr>
          <p:nvPr/>
        </p:nvSpPr>
        <p:spPr>
          <a:xfrm>
            <a:off x="9324975" y="2747963"/>
            <a:ext cx="314325" cy="95"/>
          </a:xfrm>
          <a:custGeom>
            <a:avLst/>
            <a:gdLst/>
            <a:ahLst/>
            <a:cxnLst/>
            <a:rect l="0" t="0" r="0" b="0"/>
            <a:pathLst>
              <a:path w="314325" h="95">
                <a:moveTo>
                  <a:pt x="0" y="0"/>
                </a:moveTo>
                <a:lnTo>
                  <a:pt x="314325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19" name="route-98">
            <a:extLst>
              <a:ext uri="{FF2B5EF4-FFF2-40B4-BE49-F238E27FC236}">
                <a16:creationId xmlns:a16="http://schemas.microsoft.com/office/drawing/2014/main" id="{B9E22559-4FC6-4E27-8AAF-C148E4BB7D3C}"/>
              </a:ext>
            </a:extLst>
          </p:cNvPr>
          <p:cNvSpPr>
            <a:spLocks noGrp="1"/>
          </p:cNvSpPr>
          <p:nvPr/>
        </p:nvSpPr>
        <p:spPr>
          <a:xfrm>
            <a:off x="9563100" y="2709863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20" name="node-99">
            <a:extLst>
              <a:ext uri="{FF2B5EF4-FFF2-40B4-BE49-F238E27FC236}">
                <a16:creationId xmlns:a16="http://schemas.microsoft.com/office/drawing/2014/main" id="{AB145FD0-A65F-45D5-B7D8-7DAD91A2E2F9}"/>
              </a:ext>
            </a:extLst>
          </p:cNvPr>
          <p:cNvSpPr>
            <a:spLocks noGrp="1"/>
          </p:cNvSpPr>
          <p:nvPr/>
        </p:nvSpPr>
        <p:spPr>
          <a:xfrm>
            <a:off x="2867025" y="4171950"/>
            <a:ext cx="2514600" cy="981075"/>
          </a:xfrm>
          <a:prstGeom prst="rect">
            <a:avLst/>
          </a:prstGeom>
          <a:solidFill>
            <a:srgbClr val="EAF5F2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仅 Working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直接读取有效正文</a:t>
            </a:r>
          </a:p>
        </p:txBody>
      </p:sp>
      <p:sp>
        <p:nvSpPr>
          <p:cNvPr id="21" name="route-100">
            <a:extLst>
              <a:ext uri="{FF2B5EF4-FFF2-40B4-BE49-F238E27FC236}">
                <a16:creationId xmlns:a16="http://schemas.microsoft.com/office/drawing/2014/main" id="{CCB2040A-9088-4CFF-B425-4892F2029E62}"/>
              </a:ext>
            </a:extLst>
          </p:cNvPr>
          <p:cNvSpPr>
            <a:spLocks noGrp="1"/>
          </p:cNvSpPr>
          <p:nvPr/>
        </p:nvSpPr>
        <p:spPr>
          <a:xfrm>
            <a:off x="3838575" y="3400425"/>
            <a:ext cx="285750" cy="771525"/>
          </a:xfrm>
          <a:custGeom>
            <a:avLst/>
            <a:gdLst/>
            <a:ahLst/>
            <a:cxnLst/>
            <a:rect l="0" t="0" r="0" b="0"/>
            <a:pathLst>
              <a:path w="285750" h="771525">
                <a:moveTo>
                  <a:pt x="0" y="0"/>
                </a:moveTo>
                <a:lnTo>
                  <a:pt x="0" y="381000"/>
                </a:lnTo>
                <a:lnTo>
                  <a:pt x="285750" y="381000"/>
                </a:lnTo>
                <a:lnTo>
                  <a:pt x="285750" y="771525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22" name="route-101">
            <a:extLst>
              <a:ext uri="{FF2B5EF4-FFF2-40B4-BE49-F238E27FC236}">
                <a16:creationId xmlns:a16="http://schemas.microsoft.com/office/drawing/2014/main" id="{45398A8A-8F7E-4630-A707-F25F1C1D0A64}"/>
              </a:ext>
            </a:extLst>
          </p:cNvPr>
          <p:cNvSpPr>
            <a:spLocks noGrp="1"/>
          </p:cNvSpPr>
          <p:nvPr/>
        </p:nvSpPr>
        <p:spPr>
          <a:xfrm>
            <a:off x="4086225" y="409575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23" name="node-102">
            <a:extLst>
              <a:ext uri="{FF2B5EF4-FFF2-40B4-BE49-F238E27FC236}">
                <a16:creationId xmlns:a16="http://schemas.microsoft.com/office/drawing/2014/main" id="{8181A90E-5B16-421E-8FAA-02FB79D191EF}"/>
              </a:ext>
            </a:extLst>
          </p:cNvPr>
          <p:cNvSpPr>
            <a:spLocks noGrp="1"/>
          </p:cNvSpPr>
          <p:nvPr/>
        </p:nvSpPr>
        <p:spPr>
          <a:xfrm>
            <a:off x="8448675" y="4171950"/>
            <a:ext cx="3133725" cy="981075"/>
          </a:xfrm>
          <a:prstGeom prst="rect">
            <a:avLst/>
          </a:prstGeom>
          <a:solidFill>
            <a:srgbClr val="EAF5F2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RF 条件提交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上下文、来源与原请求</a:t>
            </a:r>
          </a:p>
        </p:txBody>
      </p:sp>
      <p:sp>
        <p:nvSpPr>
          <p:cNvPr id="24" name="route-103">
            <a:extLst>
              <a:ext uri="{FF2B5EF4-FFF2-40B4-BE49-F238E27FC236}">
                <a16:creationId xmlns:a16="http://schemas.microsoft.com/office/drawing/2014/main" id="{ACA7FB6A-22CD-48AD-A21A-9CABB8DC7405}"/>
              </a:ext>
            </a:extLst>
          </p:cNvPr>
          <p:cNvSpPr>
            <a:spLocks noGrp="1"/>
          </p:cNvSpPr>
          <p:nvPr/>
        </p:nvSpPr>
        <p:spPr>
          <a:xfrm>
            <a:off x="10015538" y="3400425"/>
            <a:ext cx="1033463" cy="771525"/>
          </a:xfrm>
          <a:custGeom>
            <a:avLst/>
            <a:gdLst/>
            <a:ahLst/>
            <a:cxnLst/>
            <a:rect l="0" t="0" r="0" b="0"/>
            <a:pathLst>
              <a:path w="1033463" h="771525">
                <a:moveTo>
                  <a:pt x="1033463" y="0"/>
                </a:moveTo>
                <a:lnTo>
                  <a:pt x="1033463" y="504825"/>
                </a:lnTo>
                <a:lnTo>
                  <a:pt x="0" y="504825"/>
                </a:lnTo>
                <a:lnTo>
                  <a:pt x="0" y="771525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25" name="route-104">
            <a:extLst>
              <a:ext uri="{FF2B5EF4-FFF2-40B4-BE49-F238E27FC236}">
                <a16:creationId xmlns:a16="http://schemas.microsoft.com/office/drawing/2014/main" id="{A33F4CF8-8ACD-48C9-850A-9CCD4AB1AABA}"/>
              </a:ext>
            </a:extLst>
          </p:cNvPr>
          <p:cNvSpPr>
            <a:spLocks noGrp="1"/>
          </p:cNvSpPr>
          <p:nvPr/>
        </p:nvSpPr>
        <p:spPr>
          <a:xfrm>
            <a:off x="9977438" y="409575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216397"/>
            </a:solidFill>
            <a:prstDash val="solid"/>
          </a:ln>
        </p:spPr>
      </p:sp>
      <p:sp>
        <p:nvSpPr>
          <p:cNvPr id="26" name="route-105">
            <a:extLst>
              <a:ext uri="{FF2B5EF4-FFF2-40B4-BE49-F238E27FC236}">
                <a16:creationId xmlns:a16="http://schemas.microsoft.com/office/drawing/2014/main" id="{E364B665-94D5-4A83-8CFD-02A0697C7291}"/>
              </a:ext>
            </a:extLst>
          </p:cNvPr>
          <p:cNvSpPr>
            <a:spLocks noGrp="1"/>
          </p:cNvSpPr>
          <p:nvPr/>
        </p:nvSpPr>
        <p:spPr>
          <a:xfrm>
            <a:off x="5381625" y="3400425"/>
            <a:ext cx="4714875" cy="1262063"/>
          </a:xfrm>
          <a:custGeom>
            <a:avLst/>
            <a:gdLst/>
            <a:ahLst/>
            <a:cxnLst/>
            <a:rect l="0" t="0" r="0" b="0"/>
            <a:pathLst>
              <a:path w="4714875" h="1262063">
                <a:moveTo>
                  <a:pt x="0" y="1262063"/>
                </a:moveTo>
                <a:lnTo>
                  <a:pt x="1238250" y="1262063"/>
                </a:lnTo>
                <a:lnTo>
                  <a:pt x="1238250" y="333375"/>
                </a:lnTo>
                <a:lnTo>
                  <a:pt x="4714875" y="333375"/>
                </a:lnTo>
                <a:lnTo>
                  <a:pt x="4714875" y="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27" name="route-106">
            <a:extLst>
              <a:ext uri="{FF2B5EF4-FFF2-40B4-BE49-F238E27FC236}">
                <a16:creationId xmlns:a16="http://schemas.microsoft.com/office/drawing/2014/main" id="{8A9AA7D9-A12C-4550-8522-692ECC722C9C}"/>
              </a:ext>
            </a:extLst>
          </p:cNvPr>
          <p:cNvSpPr>
            <a:spLocks noGrp="1"/>
          </p:cNvSpPr>
          <p:nvPr/>
        </p:nvSpPr>
        <p:spPr>
          <a:xfrm>
            <a:off x="10058400" y="3400425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76200"/>
                </a:moveTo>
                <a:lnTo>
                  <a:pt x="38100" y="0"/>
                </a:lnTo>
                <a:lnTo>
                  <a:pt x="76200" y="7620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28" name="text-107">
            <a:extLst>
              <a:ext uri="{FF2B5EF4-FFF2-40B4-BE49-F238E27FC236}">
                <a16:creationId xmlns:a16="http://schemas.microsoft.com/office/drawing/2014/main" id="{2A3DD460-2093-4EA6-9E89-E6F2D3B529FB}"/>
              </a:ext>
            </a:extLst>
          </p:cNvPr>
          <p:cNvSpPr>
            <a:spLocks noGrp="1"/>
          </p:cNvSpPr>
          <p:nvPr/>
        </p:nvSpPr>
        <p:spPr>
          <a:xfrm>
            <a:off x="5724525" y="5210175"/>
            <a:ext cx="5810250" cy="352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跳过长期检索，仍核验与组包</a:t>
            </a:r>
          </a:p>
        </p:txBody>
      </p:sp>
      <p:sp>
        <p:nvSpPr>
          <p:cNvPr id="29" name="text-108">
            <a:extLst>
              <a:ext uri="{FF2B5EF4-FFF2-40B4-BE49-F238E27FC236}">
                <a16:creationId xmlns:a16="http://schemas.microsoft.com/office/drawing/2014/main" id="{B1F2F063-6D7D-41DB-8461-63FA9889C837}"/>
              </a:ext>
            </a:extLst>
          </p:cNvPr>
          <p:cNvSpPr>
            <a:spLocks noGrp="1"/>
          </p:cNvSpPr>
          <p:nvPr/>
        </p:nvSpPr>
        <p:spPr>
          <a:xfrm>
            <a:off x="609600" y="4210050"/>
            <a:ext cx="1990725" cy="933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完整 / 正常空</a:t>
            </a:r>
          </a:p>
          <a:p>
            <a:pPr algn="l">
              <a:defRPr sz="18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16397"/>
                </a:solidFill>
                <a:latin typeface="Microsoft YaHei"/>
                <a:ea typeface="Microsoft YaHei"/>
                <a:cs typeface="Microsoft YaHei"/>
              </a:rPr>
              <a:t>降级可用 / 不可用</a:t>
            </a:r>
          </a:p>
        </p:txBody>
      </p:sp>
      <p:sp>
        <p:nvSpPr>
          <p:cNvPr id="30" name="text-109">
            <a:extLst>
              <a:ext uri="{FF2B5EF4-FFF2-40B4-BE49-F238E27FC236}">
                <a16:creationId xmlns:a16="http://schemas.microsoft.com/office/drawing/2014/main" id="{DAE347EF-7791-4603-AB00-AFE032C07DDF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有独立可信材料时可说明缺失后降级；权限或有效性无法确认时阻断</a:t>
            </a:r>
          </a:p>
        </p:txBody>
      </p:sp>
    </p:spTree>
    <p:extLst>
      <p:ext uri="{BB962C8B-B14F-4D97-AF65-F5344CB8AC3E}">
        <p14:creationId xmlns:p14="http://schemas.microsoft.com/office/powerpoint/2010/main" val="18830311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-110">
            <a:extLst>
              <a:ext uri="{FF2B5EF4-FFF2-40B4-BE49-F238E27FC236}">
                <a16:creationId xmlns:a16="http://schemas.microsoft.com/office/drawing/2014/main" id="{61EBB016-FAF7-445B-AA13-D95190B4B31E}"/>
              </a:ext>
            </a:extLst>
          </p:cNvPr>
          <p:cNvSpPr>
            <a:spLocks noGrp="1"/>
          </p:cNvSpPr>
          <p:nvPr/>
        </p:nvSpPr>
        <p:spPr>
          <a:xfrm>
            <a:off x="609600" y="161925"/>
            <a:ext cx="109728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21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01  流程设计</a:t>
            </a:r>
          </a:p>
        </p:txBody>
      </p:sp>
      <p:sp>
        <p:nvSpPr>
          <p:cNvPr id="2" name="title-111">
            <a:extLst>
              <a:ext uri="{FF2B5EF4-FFF2-40B4-BE49-F238E27FC236}">
                <a16:creationId xmlns:a16="http://schemas.microsoft.com/office/drawing/2014/main" id="{E4B29707-4D6B-442B-9713-A1BA59FB1F98}"/>
              </a:ext>
            </a:extLst>
          </p:cNvPr>
          <p:cNvSpPr>
            <a:spLocks noGrp="1"/>
          </p:cNvSpPr>
          <p:nvPr/>
        </p:nvSpPr>
        <p:spPr>
          <a:xfrm>
            <a:off x="609600" y="619125"/>
            <a:ext cx="109728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Operate：持续判断、执行与核对</a:t>
            </a:r>
          </a:p>
        </p:txBody>
      </p:sp>
      <p:sp>
        <p:nvSpPr>
          <p:cNvPr id="3" name="text-112">
            <a:extLst>
              <a:ext uri="{FF2B5EF4-FFF2-40B4-BE49-F238E27FC236}">
                <a16:creationId xmlns:a16="http://schemas.microsoft.com/office/drawing/2014/main" id="{299B0805-9FEF-40A2-B894-80A428F2118D}"/>
              </a:ext>
            </a:extLst>
          </p:cNvPr>
          <p:cNvSpPr>
            <a:spLocks noGrp="1"/>
          </p:cNvSpPr>
          <p:nvPr/>
        </p:nvSpPr>
        <p:spPr>
          <a:xfrm>
            <a:off x="609600" y="1314450"/>
            <a:ext cx="109728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沿用原图 C.1—C.3；存储、读取和周期检查共同触发</a:t>
            </a:r>
          </a:p>
        </p:txBody>
      </p:sp>
      <p:sp>
        <p:nvSpPr>
          <p:cNvPr id="4" name="route-113">
            <a:extLst>
              <a:ext uri="{FF2B5EF4-FFF2-40B4-BE49-F238E27FC236}">
                <a16:creationId xmlns:a16="http://schemas.microsoft.com/office/drawing/2014/main" id="{1BF48130-3F3B-4890-92E2-79EE35B797ED}"/>
              </a:ext>
            </a:extLst>
          </p:cNvPr>
          <p:cNvSpPr>
            <a:spLocks noGrp="1"/>
          </p:cNvSpPr>
          <p:nvPr/>
        </p:nvSpPr>
        <p:spPr>
          <a:xfrm>
            <a:off x="609600" y="6315075"/>
            <a:ext cx="10972800" cy="95"/>
          </a:xfrm>
          <a:custGeom>
            <a:avLst/>
            <a:gdLst/>
            <a:ahLst/>
            <a:cxnLst/>
            <a:rect l="0" t="0" r="0" b="0"/>
            <a:pathLst>
              <a:path w="10972800" h="95">
                <a:moveTo>
                  <a:pt x="0" y="0"/>
                </a:moveTo>
                <a:lnTo>
                  <a:pt x="10972800" y="0"/>
                </a:lnTo>
              </a:path>
            </a:pathLst>
          </a:custGeom>
          <a:noFill/>
          <a:ln w="9525">
            <a:solidFill>
              <a:srgbClr val="D7E2E8"/>
            </a:solidFill>
            <a:prstDash val="solid"/>
          </a:ln>
        </p:spPr>
      </p:sp>
      <p:sp>
        <p:nvSpPr>
          <p:cNvPr id="5" name="text-114">
            <a:extLst>
              <a:ext uri="{FF2B5EF4-FFF2-40B4-BE49-F238E27FC236}">
                <a16:creationId xmlns:a16="http://schemas.microsoft.com/office/drawing/2014/main" id="{3EBEF510-78D1-48E0-9FC7-09819049DC61}"/>
              </a:ext>
            </a:extLst>
          </p:cNvPr>
          <p:cNvSpPr>
            <a:spLocks noGrp="1"/>
          </p:cNvSpPr>
          <p:nvPr/>
        </p:nvSpPr>
        <p:spPr>
          <a:xfrm>
            <a:off x="609600" y="6429375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MVP 项目落地方案  V3.0</a:t>
            </a:r>
          </a:p>
        </p:txBody>
      </p:sp>
      <p:sp>
        <p:nvSpPr>
          <p:cNvPr id="6" name="text-115">
            <a:extLst>
              <a:ext uri="{FF2B5EF4-FFF2-40B4-BE49-F238E27FC236}">
                <a16:creationId xmlns:a16="http://schemas.microsoft.com/office/drawing/2014/main" id="{8257438F-2B01-4E70-AA2F-872BCDEBF05D}"/>
              </a:ext>
            </a:extLst>
          </p:cNvPr>
          <p:cNvSpPr>
            <a:spLocks noGrp="1"/>
          </p:cNvSpPr>
          <p:nvPr/>
        </p:nvSpPr>
        <p:spPr>
          <a:xfrm>
            <a:off x="10429875" y="6429375"/>
            <a:ext cx="115252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06 / 22</a:t>
            </a:r>
          </a:p>
        </p:txBody>
      </p:sp>
      <p:sp>
        <p:nvSpPr>
          <p:cNvPr id="7" name="node-116">
            <a:extLst>
              <a:ext uri="{FF2B5EF4-FFF2-40B4-BE49-F238E27FC236}">
                <a16:creationId xmlns:a16="http://schemas.microsoft.com/office/drawing/2014/main" id="{5C330C83-7AB2-4D68-8C22-7CE30D71CEF7}"/>
              </a:ext>
            </a:extLst>
          </p:cNvPr>
          <p:cNvSpPr>
            <a:spLocks noGrp="1"/>
          </p:cNvSpPr>
          <p:nvPr/>
        </p:nvSpPr>
        <p:spPr>
          <a:xfrm>
            <a:off x="609600" y="2047875"/>
            <a:ext cx="3200400" cy="1314450"/>
          </a:xfrm>
          <a:prstGeom prst="rect">
            <a:avLst/>
          </a:prstGeom>
          <a:solidFill>
            <a:srgbClr val="EAF5F2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C.1 聚合与准入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事件去重、更新热度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同一记忆按序处理</a:t>
            </a:r>
          </a:p>
        </p:txBody>
      </p:sp>
      <p:sp>
        <p:nvSpPr>
          <p:cNvPr id="8" name="node-117">
            <a:extLst>
              <a:ext uri="{FF2B5EF4-FFF2-40B4-BE49-F238E27FC236}">
                <a16:creationId xmlns:a16="http://schemas.microsoft.com/office/drawing/2014/main" id="{920D905A-6A4F-413C-9847-CC36F17C95AF}"/>
              </a:ext>
            </a:extLst>
          </p:cNvPr>
          <p:cNvSpPr>
            <a:spLocks noGrp="1"/>
          </p:cNvSpPr>
          <p:nvPr/>
        </p:nvSpPr>
        <p:spPr>
          <a:xfrm>
            <a:off x="4495800" y="2047875"/>
            <a:ext cx="3200400" cy="1314450"/>
          </a:xfrm>
          <a:prstGeom prst="rect">
            <a:avLst/>
          </a:prstGeom>
          <a:solidFill>
            <a:srgbClr val="EAF5F2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C.2 目标与资源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查实际状态、资格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核对容量和已有动作</a:t>
            </a:r>
          </a:p>
        </p:txBody>
      </p:sp>
      <p:sp>
        <p:nvSpPr>
          <p:cNvPr id="9" name="node-118">
            <a:extLst>
              <a:ext uri="{FF2B5EF4-FFF2-40B4-BE49-F238E27FC236}">
                <a16:creationId xmlns:a16="http://schemas.microsoft.com/office/drawing/2014/main" id="{A20934EF-E870-43F6-B504-36BF8AAD3B62}"/>
              </a:ext>
            </a:extLst>
          </p:cNvPr>
          <p:cNvSpPr>
            <a:spLocks noGrp="1"/>
          </p:cNvSpPr>
          <p:nvPr/>
        </p:nvSpPr>
        <p:spPr>
          <a:xfrm>
            <a:off x="8382000" y="2047875"/>
            <a:ext cx="3200400" cy="1314450"/>
          </a:xfrm>
          <a:prstGeom prst="rect">
            <a:avLst/>
          </a:prstGeom>
          <a:solidFill>
            <a:srgbClr val="EAF5F2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C.2 保存动作并执行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固定原 action_id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执行约定的真实调整</a:t>
            </a:r>
          </a:p>
        </p:txBody>
      </p:sp>
      <p:sp>
        <p:nvSpPr>
          <p:cNvPr id="10" name="route-119">
            <a:extLst>
              <a:ext uri="{FF2B5EF4-FFF2-40B4-BE49-F238E27FC236}">
                <a16:creationId xmlns:a16="http://schemas.microsoft.com/office/drawing/2014/main" id="{16DB02EF-C3C3-4CD8-9531-EAB34752D7F8}"/>
              </a:ext>
            </a:extLst>
          </p:cNvPr>
          <p:cNvSpPr>
            <a:spLocks noGrp="1"/>
          </p:cNvSpPr>
          <p:nvPr/>
        </p:nvSpPr>
        <p:spPr>
          <a:xfrm>
            <a:off x="3810000" y="2705100"/>
            <a:ext cx="685800" cy="95"/>
          </a:xfrm>
          <a:custGeom>
            <a:avLst/>
            <a:gdLst/>
            <a:ahLst/>
            <a:cxnLst/>
            <a:rect l="0" t="0" r="0" b="0"/>
            <a:pathLst>
              <a:path w="685800" h="95">
                <a:moveTo>
                  <a:pt x="0" y="0"/>
                </a:moveTo>
                <a:lnTo>
                  <a:pt x="685800" y="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11" name="route-120">
            <a:extLst>
              <a:ext uri="{FF2B5EF4-FFF2-40B4-BE49-F238E27FC236}">
                <a16:creationId xmlns:a16="http://schemas.microsoft.com/office/drawing/2014/main" id="{4DB86C49-E9E0-4B8F-B7A3-B54BC0330C40}"/>
              </a:ext>
            </a:extLst>
          </p:cNvPr>
          <p:cNvSpPr>
            <a:spLocks noGrp="1"/>
          </p:cNvSpPr>
          <p:nvPr/>
        </p:nvSpPr>
        <p:spPr>
          <a:xfrm>
            <a:off x="4419600" y="266700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12" name="route-121">
            <a:extLst>
              <a:ext uri="{FF2B5EF4-FFF2-40B4-BE49-F238E27FC236}">
                <a16:creationId xmlns:a16="http://schemas.microsoft.com/office/drawing/2014/main" id="{AC6857B9-A558-4CDA-BAB5-21C9AC06ED01}"/>
              </a:ext>
            </a:extLst>
          </p:cNvPr>
          <p:cNvSpPr>
            <a:spLocks noGrp="1"/>
          </p:cNvSpPr>
          <p:nvPr/>
        </p:nvSpPr>
        <p:spPr>
          <a:xfrm>
            <a:off x="7696200" y="2705100"/>
            <a:ext cx="685800" cy="95"/>
          </a:xfrm>
          <a:custGeom>
            <a:avLst/>
            <a:gdLst/>
            <a:ahLst/>
            <a:cxnLst/>
            <a:rect l="0" t="0" r="0" b="0"/>
            <a:pathLst>
              <a:path w="685800" h="95">
                <a:moveTo>
                  <a:pt x="0" y="0"/>
                </a:moveTo>
                <a:lnTo>
                  <a:pt x="685800" y="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13" name="route-122">
            <a:extLst>
              <a:ext uri="{FF2B5EF4-FFF2-40B4-BE49-F238E27FC236}">
                <a16:creationId xmlns:a16="http://schemas.microsoft.com/office/drawing/2014/main" id="{C8654D49-EC8D-4CF8-90B8-DF9CEE327356}"/>
              </a:ext>
            </a:extLst>
          </p:cNvPr>
          <p:cNvSpPr>
            <a:spLocks noGrp="1"/>
          </p:cNvSpPr>
          <p:nvPr/>
        </p:nvSpPr>
        <p:spPr>
          <a:xfrm>
            <a:off x="8305800" y="266700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14" name="node-123">
            <a:extLst>
              <a:ext uri="{FF2B5EF4-FFF2-40B4-BE49-F238E27FC236}">
                <a16:creationId xmlns:a16="http://schemas.microsoft.com/office/drawing/2014/main" id="{30C1A880-9CE9-495C-A835-47852A6571DF}"/>
              </a:ext>
            </a:extLst>
          </p:cNvPr>
          <p:cNvSpPr>
            <a:spLocks noGrp="1"/>
          </p:cNvSpPr>
          <p:nvPr/>
        </p:nvSpPr>
        <p:spPr>
          <a:xfrm>
            <a:off x="8382000" y="4162425"/>
            <a:ext cx="3200400" cy="1085850"/>
          </a:xfrm>
          <a:prstGeom prst="rect">
            <a:avLst/>
          </a:prstGeom>
          <a:solidFill>
            <a:srgbClr val="EAF5F2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C.3 查询与读回核验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确认目标版本和真实效果</a:t>
            </a:r>
          </a:p>
        </p:txBody>
      </p:sp>
      <p:sp>
        <p:nvSpPr>
          <p:cNvPr id="15" name="node-124">
            <a:extLst>
              <a:ext uri="{FF2B5EF4-FFF2-40B4-BE49-F238E27FC236}">
                <a16:creationId xmlns:a16="http://schemas.microsoft.com/office/drawing/2014/main" id="{661CD099-589C-4035-9807-84C0D1FEA5BE}"/>
              </a:ext>
            </a:extLst>
          </p:cNvPr>
          <p:cNvSpPr>
            <a:spLocks noGrp="1"/>
          </p:cNvSpPr>
          <p:nvPr/>
        </p:nvSpPr>
        <p:spPr>
          <a:xfrm>
            <a:off x="4495800" y="4162425"/>
            <a:ext cx="3200400" cy="1085850"/>
          </a:xfrm>
          <a:prstGeom prst="rect">
            <a:avLst/>
          </a:prstGeom>
          <a:solidFill>
            <a:srgbClr val="EAF5F2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C.3 向 Remember 交接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条件更新地址后完成本轮</a:t>
            </a:r>
          </a:p>
        </p:txBody>
      </p:sp>
      <p:sp>
        <p:nvSpPr>
          <p:cNvPr id="16" name="node-125">
            <a:extLst>
              <a:ext uri="{FF2B5EF4-FFF2-40B4-BE49-F238E27FC236}">
                <a16:creationId xmlns:a16="http://schemas.microsoft.com/office/drawing/2014/main" id="{F574470D-C988-44FE-A14A-F990C06353FC}"/>
              </a:ext>
            </a:extLst>
          </p:cNvPr>
          <p:cNvSpPr>
            <a:spLocks noGrp="1"/>
          </p:cNvSpPr>
          <p:nvPr/>
        </p:nvSpPr>
        <p:spPr>
          <a:xfrm>
            <a:off x="609600" y="4162425"/>
            <a:ext cx="3200400" cy="1085850"/>
          </a:xfrm>
          <a:prstGeom prst="rect">
            <a:avLst/>
          </a:prstGeom>
          <a:solidFill>
            <a:srgbClr val="EAF5F2"/>
          </a:solidFill>
          <a:ln w="11906">
            <a:solidFill>
              <a:srgbClr val="D7E2E8"/>
            </a:solidFill>
          </a:ln>
        </p:spPr>
        <p:txBody>
          <a:bodyPr wrap="square" lIns="133350" tIns="95250" rIns="133350" bIns="95250" anchor="ctr">
            <a:noAutofit/>
          </a:bodyPr>
          <a:lstStyle/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下一轮判断</a:t>
            </a:r>
          </a:p>
          <a:p>
            <a:pPr algn="ctr">
              <a:def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按最新状态继续</a:t>
            </a:r>
          </a:p>
        </p:txBody>
      </p:sp>
      <p:sp>
        <p:nvSpPr>
          <p:cNvPr id="17" name="route-126">
            <a:extLst>
              <a:ext uri="{FF2B5EF4-FFF2-40B4-BE49-F238E27FC236}">
                <a16:creationId xmlns:a16="http://schemas.microsoft.com/office/drawing/2014/main" id="{DA3EE334-9508-4B9A-809F-F4DBD16D6EE6}"/>
              </a:ext>
            </a:extLst>
          </p:cNvPr>
          <p:cNvSpPr>
            <a:spLocks noGrp="1"/>
          </p:cNvSpPr>
          <p:nvPr/>
        </p:nvSpPr>
        <p:spPr>
          <a:xfrm>
            <a:off x="9982200" y="3362325"/>
            <a:ext cx="95" cy="800100"/>
          </a:xfrm>
          <a:custGeom>
            <a:avLst/>
            <a:gdLst/>
            <a:ahLst/>
            <a:cxnLst/>
            <a:rect l="0" t="0" r="0" b="0"/>
            <a:pathLst>
              <a:path w="95" h="800100">
                <a:moveTo>
                  <a:pt x="0" y="0"/>
                </a:moveTo>
                <a:lnTo>
                  <a:pt x="0" y="80010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18" name="route-127">
            <a:extLst>
              <a:ext uri="{FF2B5EF4-FFF2-40B4-BE49-F238E27FC236}">
                <a16:creationId xmlns:a16="http://schemas.microsoft.com/office/drawing/2014/main" id="{BA672A7C-659A-4C5A-A71E-CF5BD5921FF2}"/>
              </a:ext>
            </a:extLst>
          </p:cNvPr>
          <p:cNvSpPr>
            <a:spLocks noGrp="1"/>
          </p:cNvSpPr>
          <p:nvPr/>
        </p:nvSpPr>
        <p:spPr>
          <a:xfrm>
            <a:off x="9944100" y="4086225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0"/>
                </a:moveTo>
                <a:lnTo>
                  <a:pt x="38100" y="7620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19" name="route-128">
            <a:extLst>
              <a:ext uri="{FF2B5EF4-FFF2-40B4-BE49-F238E27FC236}">
                <a16:creationId xmlns:a16="http://schemas.microsoft.com/office/drawing/2014/main" id="{B3DC70DA-51BF-4314-98FE-E82D52E89162}"/>
              </a:ext>
            </a:extLst>
          </p:cNvPr>
          <p:cNvSpPr>
            <a:spLocks noGrp="1"/>
          </p:cNvSpPr>
          <p:nvPr/>
        </p:nvSpPr>
        <p:spPr>
          <a:xfrm>
            <a:off x="7696200" y="4705350"/>
            <a:ext cx="685800" cy="95"/>
          </a:xfrm>
          <a:custGeom>
            <a:avLst/>
            <a:gdLst/>
            <a:ahLst/>
            <a:cxnLst/>
            <a:rect l="0" t="0" r="0" b="0"/>
            <a:pathLst>
              <a:path w="685800" h="95">
                <a:moveTo>
                  <a:pt x="68580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20" name="route-129">
            <a:extLst>
              <a:ext uri="{FF2B5EF4-FFF2-40B4-BE49-F238E27FC236}">
                <a16:creationId xmlns:a16="http://schemas.microsoft.com/office/drawing/2014/main" id="{346A6DA8-3EBA-40E2-A822-2BBA286C2AEF}"/>
              </a:ext>
            </a:extLst>
          </p:cNvPr>
          <p:cNvSpPr>
            <a:spLocks noGrp="1"/>
          </p:cNvSpPr>
          <p:nvPr/>
        </p:nvSpPr>
        <p:spPr>
          <a:xfrm>
            <a:off x="7696200" y="466725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21" name="route-130">
            <a:extLst>
              <a:ext uri="{FF2B5EF4-FFF2-40B4-BE49-F238E27FC236}">
                <a16:creationId xmlns:a16="http://schemas.microsoft.com/office/drawing/2014/main" id="{F59DC284-FDD9-4568-BEA5-9874866E30ED}"/>
              </a:ext>
            </a:extLst>
          </p:cNvPr>
          <p:cNvSpPr>
            <a:spLocks noGrp="1"/>
          </p:cNvSpPr>
          <p:nvPr/>
        </p:nvSpPr>
        <p:spPr>
          <a:xfrm>
            <a:off x="3810000" y="4705350"/>
            <a:ext cx="685800" cy="95"/>
          </a:xfrm>
          <a:custGeom>
            <a:avLst/>
            <a:gdLst/>
            <a:ahLst/>
            <a:cxnLst/>
            <a:rect l="0" t="0" r="0" b="0"/>
            <a:pathLst>
              <a:path w="685800" h="95">
                <a:moveTo>
                  <a:pt x="685800" y="0"/>
                </a:moveTo>
                <a:lnTo>
                  <a:pt x="0" y="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22" name="route-131">
            <a:extLst>
              <a:ext uri="{FF2B5EF4-FFF2-40B4-BE49-F238E27FC236}">
                <a16:creationId xmlns:a16="http://schemas.microsoft.com/office/drawing/2014/main" id="{8B536E7E-C338-4C94-9384-717CD9A59C0B}"/>
              </a:ext>
            </a:extLst>
          </p:cNvPr>
          <p:cNvSpPr>
            <a:spLocks noGrp="1"/>
          </p:cNvSpPr>
          <p:nvPr/>
        </p:nvSpPr>
        <p:spPr>
          <a:xfrm>
            <a:off x="3810000" y="466725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76200" y="76200"/>
                </a:moveTo>
                <a:lnTo>
                  <a:pt x="0" y="38100"/>
                </a:lnTo>
                <a:lnTo>
                  <a:pt x="76200" y="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23" name="route-132">
            <a:extLst>
              <a:ext uri="{FF2B5EF4-FFF2-40B4-BE49-F238E27FC236}">
                <a16:creationId xmlns:a16="http://schemas.microsoft.com/office/drawing/2014/main" id="{3912CF5E-8817-4A1D-AEAA-A4C27CE47449}"/>
              </a:ext>
            </a:extLst>
          </p:cNvPr>
          <p:cNvSpPr>
            <a:spLocks noGrp="1"/>
          </p:cNvSpPr>
          <p:nvPr/>
        </p:nvSpPr>
        <p:spPr>
          <a:xfrm>
            <a:off x="400050" y="2705100"/>
            <a:ext cx="209550" cy="2000250"/>
          </a:xfrm>
          <a:custGeom>
            <a:avLst/>
            <a:gdLst/>
            <a:ahLst/>
            <a:cxnLst/>
            <a:rect l="0" t="0" r="0" b="0"/>
            <a:pathLst>
              <a:path w="209550" h="2000250">
                <a:moveTo>
                  <a:pt x="209550" y="2000250"/>
                </a:moveTo>
                <a:lnTo>
                  <a:pt x="0" y="2000250"/>
                </a:lnTo>
                <a:lnTo>
                  <a:pt x="0" y="0"/>
                </a:lnTo>
                <a:lnTo>
                  <a:pt x="209550" y="0"/>
                </a:lnTo>
              </a:path>
            </a:pathLst>
          </a:custGeom>
          <a:noFill/>
          <a:ln w="19050">
            <a:solidFill>
              <a:srgbClr val="087F80"/>
            </a:solidFill>
            <a:prstDash val="dash"/>
          </a:ln>
        </p:spPr>
      </p:sp>
      <p:sp>
        <p:nvSpPr>
          <p:cNvPr id="24" name="route-133">
            <a:extLst>
              <a:ext uri="{FF2B5EF4-FFF2-40B4-BE49-F238E27FC236}">
                <a16:creationId xmlns:a16="http://schemas.microsoft.com/office/drawing/2014/main" id="{6A217D77-D342-4000-A520-6AF2A1D6A90E}"/>
              </a:ext>
            </a:extLst>
          </p:cNvPr>
          <p:cNvSpPr>
            <a:spLocks noGrp="1"/>
          </p:cNvSpPr>
          <p:nvPr/>
        </p:nvSpPr>
        <p:spPr>
          <a:xfrm>
            <a:off x="533400" y="2667000"/>
            <a:ext cx="76200" cy="76200"/>
          </a:xfrm>
          <a:custGeom>
            <a:avLst/>
            <a:gdLst/>
            <a:ahLst/>
            <a:cxnLst/>
            <a:rect l="0" t="0" r="0" b="0"/>
            <a:pathLst>
              <a:path w="76200" h="76200">
                <a:moveTo>
                  <a:pt x="0" y="0"/>
                </a:moveTo>
                <a:lnTo>
                  <a:pt x="76200" y="38100"/>
                </a:lnTo>
                <a:lnTo>
                  <a:pt x="0" y="76200"/>
                </a:lnTo>
              </a:path>
            </a:pathLst>
          </a:custGeom>
          <a:noFill/>
          <a:ln w="19050">
            <a:solidFill>
              <a:srgbClr val="087F80"/>
            </a:solidFill>
            <a:prstDash val="solid"/>
          </a:ln>
        </p:spPr>
      </p:sp>
      <p:sp>
        <p:nvSpPr>
          <p:cNvPr id="25" name="text-134">
            <a:extLst>
              <a:ext uri="{FF2B5EF4-FFF2-40B4-BE49-F238E27FC236}">
                <a16:creationId xmlns:a16="http://schemas.microsoft.com/office/drawing/2014/main" id="{E1C77E52-91C9-4B6F-B920-2959BD5D0481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109728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A26624"/>
                </a:solidFill>
                <a:latin typeface="Microsoft YaHei"/>
                <a:ea typeface="Microsoft YaHei"/>
                <a:cs typeface="Microsoft YaHei"/>
              </a:rPr>
              <a:t>回执丢失或结果未知：保留原动作，继续查询；不盲目重复执行</a:t>
            </a:r>
          </a:p>
        </p:txBody>
      </p:sp>
      <p:sp>
        <p:nvSpPr>
          <p:cNvPr id="26" name="text-135">
            <a:extLst>
              <a:ext uri="{FF2B5EF4-FFF2-40B4-BE49-F238E27FC236}">
                <a16:creationId xmlns:a16="http://schemas.microsoft.com/office/drawing/2014/main" id="{3B37703D-67DC-4145-9428-4F87CAB8403C}"/>
              </a:ext>
            </a:extLst>
          </p:cNvPr>
          <p:cNvSpPr>
            <a:spLocks noGrp="1"/>
          </p:cNvSpPr>
          <p:nvPr/>
        </p:nvSpPr>
        <p:spPr>
          <a:xfrm>
            <a:off x="609600" y="5781675"/>
            <a:ext cx="10972800" cy="3905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执行完成以目标状态和独立读回为准，P2 按契约执行真实物理动作</a:t>
            </a:r>
          </a:p>
        </p:txBody>
      </p:sp>
    </p:spTree>
    <p:extLst>
      <p:ext uri="{BB962C8B-B14F-4D97-AF65-F5344CB8AC3E}">
        <p14:creationId xmlns:p14="http://schemas.microsoft.com/office/powerpoint/2010/main" val="655053823"/>
      </p:ext>
    </p:extLst>
  </p:cSld>
  <p:clrMapOvr>
    <a:masterClrMapping/>
  </p:clrMapOvr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7">
            <a:extLst xmlns:a="http://schemas.openxmlformats.org/drawingml/2006/main">
              <a:ext uri="{FF2B5EF4-FFF2-40B4-BE49-F238E27FC236}">
                <a16:creationId xmlns:a16="http://schemas.microsoft.com/office/drawing/2014/main" id="{E019CDA5-3004-4468-8CDF-492293696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01  流程设计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1D79F0DA-DE63-42DA-B4ED-9F9CFC6F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P2 接口：按业务结果定义能力契约</a:t>
            </a:r>
          </a:p>
        </p:txBody>
      </p:sp>
      <p:sp>
        <p:nvSpPr>
          <p:cNvPr id="3" name="p3-28">
            <a:extLst xmlns:a="http://schemas.openxmlformats.org/drawingml/2006/main">
              <a:ext uri="{FF2B5EF4-FFF2-40B4-BE49-F238E27FC236}">
                <a16:creationId xmlns:a16="http://schemas.microsoft.com/office/drawing/2014/main" id="{502E10AA-CF5B-41FD-8DF2-649898956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下表是联调必须满足的语义，具体方法映射沿用共享协议逐项对齐</a:t>
            </a:r>
          </a:p>
        </p:txBody>
      </p:sp>
      <p:sp>
        <p:nvSpPr>
          <p:cNvPr id="4" name="line-29">
            <a:extLst xmlns:a="http://schemas.openxmlformats.org/drawingml/2006/main">
              <a:ext uri="{FF2B5EF4-FFF2-40B4-BE49-F238E27FC236}">
                <a16:creationId xmlns:a16="http://schemas.microsoft.com/office/drawing/2014/main" id="{86028DC4-2F48-4B5B-B7D3-BA1F1C3D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p3-30">
            <a:extLst xmlns:a="http://schemas.openxmlformats.org/drawingml/2006/main">
              <a:ext uri="{FF2B5EF4-FFF2-40B4-BE49-F238E27FC236}">
                <a16:creationId xmlns:a16="http://schemas.microsoft.com/office/drawing/2014/main" id="{404AE610-4F34-4385-B94C-F48FC675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MVP 项目落地方案  V3.0</a:t>
            </a:r>
          </a:p>
        </p:txBody>
      </p:sp>
      <p:sp>
        <p:nvSpPr>
          <p:cNvPr id="6" name="p3-31">
            <a:extLst xmlns:a="http://schemas.openxmlformats.org/drawingml/2006/main">
              <a:ext uri="{FF2B5EF4-FFF2-40B4-BE49-F238E27FC236}">
                <a16:creationId xmlns:a16="http://schemas.microsoft.com/office/drawing/2014/main" id="{C6D39FE8-9E86-460A-9D69-01B7F0755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293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07 / 22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10972800" cy="3486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95500"/>
                <a:gridCol w="4381500"/>
                <a:gridCol w="4495800"/>
              </a:tblGrid>
              <a:tr h="438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链路与调用方</a:t>
                      </a:r>
                    </a:p>
                  </a:txBody>
                  <a:tcPr marL="95250" marR="95250" marT="66675" marB="66675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 需要提供什么</a:t>
                      </a:r>
                    </a:p>
                  </a:txBody>
                  <a:tcPr marL="95250" marR="95250" marT="66675" marB="66675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P3 如何确认完成</a:t>
                      </a:r>
                    </a:p>
                  </a:txBody>
                  <a:tcPr marL="95250" marR="95250" marT="66675" marB="66675" anchor="ctr">
                    <a:solidFill>
                      <a:srgbClr val="163044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正文存取 · Remember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保存、精确版本读取、范围读取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返回正文、校验信息和存储位置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写入后准确读回；来源与内容版本绑定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读取失败、版本不符均不得当成功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向量写查 · Remember / Recall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写入、检索、清理；查询原操作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模型空间、租户、批次与版本一致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核对预期块后发布长期就绪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将命中交给 B 做资格与正文核验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关系读取 · 经 Remember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按约定提供关系与版本证据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关系远程入口单列契约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维护事实关系的业务含义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缺失、变化或不可验证时明确表达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动作执行 · Operate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迁移 / 清理、原动作查询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目标状态与可读性检查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先核对真实效果，再由 B 交接地址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回执未知时保留原动作并恢复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8" name="p3-32">
            <a:extLst xmlns:a="http://schemas.openxmlformats.org/drawingml/2006/main">
              <a:ext uri="{FF2B5EF4-FFF2-40B4-BE49-F238E27FC236}">
                <a16:creationId xmlns:a16="http://schemas.microsoft.com/office/drawing/2014/main" id="{CF229CEC-D6CE-4CA2-8BC9-0EBF083F4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公共字段：租户与授权范围、对象与版本、原操作编号、超时和错误语义</a:t>
            </a:r>
          </a:p>
        </p:txBody>
      </p:sp>
    </p:spTree>
    <p:extLst>
      <p:ext uri="{BB962C8B-B14F-4D97-AF65-F5344CB8AC3E}">
        <p14:creationId xmlns:p14="http://schemas.microsoft.com/office/powerpoint/2010/main" val="2733104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"/>
          <p:cNvCxnSpPr>
            <a:stCxn xmlns:a="http://schemas.openxmlformats.org/drawingml/2006/main" id="7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6096000" y="2562225"/>
            <a:ext cx="3762375" cy="4857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87F80"/>
            </a:solidFill>
            <a:tailEnd type="arrow" w="med" len="med"/>
          </a:ln>
        </p:spPr>
      </p:cxnSp>
      <p:cxnSp>
        <p:nvCxnSpPr>
          <p:cNvPr id="26" name=""/>
          <p:cNvCxnSpPr>
            <a:stCxn xmlns:a="http://schemas.openxmlformats.org/drawingml/2006/main" id="7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6096000" y="2562225"/>
            <a:ext cx="0" cy="4857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87F80"/>
            </a:solidFill>
            <a:tailEnd type="arrow" w="med" len="med"/>
          </a:ln>
        </p:spPr>
      </p:cxnSp>
      <p:cxnSp>
        <p:nvCxnSpPr>
          <p:cNvPr id="27" name="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2333625" y="2562225"/>
            <a:ext cx="3762375" cy="4857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087F80"/>
            </a:solidFill>
            <a:tailEnd type="arrow" w="med" len="med"/>
          </a:ln>
        </p:spPr>
      </p:cxnSp>
      <p:sp>
        <p:nvSpPr>
          <p:cNvPr id="28" name="section-8">
            <a:extLst xmlns:a="http://schemas.openxmlformats.org/drawingml/2006/main">
              <a:ext uri="{FF2B5EF4-FFF2-40B4-BE49-F238E27FC236}">
                <a16:creationId xmlns:a16="http://schemas.microsoft.com/office/drawing/2014/main" id="{D4433096-0176-42C6-B53C-8DDD4961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01  流程设计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7127F7E9-F6A3-430B-B631-2D73ADCF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没有 P2：保留业务流程，替换依赖实现</a:t>
            </a:r>
          </a:p>
        </p:txBody>
      </p:sp>
      <p:sp>
        <p:nvSpPr>
          <p:cNvPr id="3" name="p3-33">
            <a:extLst xmlns:a="http://schemas.openxmlformats.org/drawingml/2006/main">
              <a:ext uri="{FF2B5EF4-FFF2-40B4-BE49-F238E27FC236}">
                <a16:creationId xmlns:a16="http://schemas.microsoft.com/office/drawing/2014/main" id="{C005116F-B85B-4679-9DD3-6C448CAF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开发验证沿同一业务契约推进，真实 P2 上线前再完成外部效果验证</a:t>
            </a:r>
          </a:p>
        </p:txBody>
      </p:sp>
      <p:sp>
        <p:nvSpPr>
          <p:cNvPr id="4" name="line-34">
            <a:extLst xmlns:a="http://schemas.openxmlformats.org/drawingml/2006/main">
              <a:ext uri="{FF2B5EF4-FFF2-40B4-BE49-F238E27FC236}">
                <a16:creationId xmlns:a16="http://schemas.microsoft.com/office/drawing/2014/main" id="{FF068A82-54AE-4BF4-91FD-E464BE6DC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p3-35">
            <a:extLst xmlns:a="http://schemas.openxmlformats.org/drawingml/2006/main">
              <a:ext uri="{FF2B5EF4-FFF2-40B4-BE49-F238E27FC236}">
                <a16:creationId xmlns:a16="http://schemas.microsoft.com/office/drawing/2014/main" id="{B4CC9003-D121-40E9-9DD5-21A5CABA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MVP 项目落地方案  V3.0</a:t>
            </a:r>
          </a:p>
        </p:txBody>
      </p:sp>
      <p:sp>
        <p:nvSpPr>
          <p:cNvPr id="6" name="p3-36">
            <a:extLst xmlns:a="http://schemas.openxmlformats.org/drawingml/2006/main">
              <a:ext uri="{FF2B5EF4-FFF2-40B4-BE49-F238E27FC236}">
                <a16:creationId xmlns:a16="http://schemas.microsoft.com/office/drawing/2014/main" id="{4EB1CC6E-118F-45AB-A8C8-DB3695C8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293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08 / 22</a:t>
            </a:r>
          </a:p>
        </p:txBody>
      </p:sp>
      <p:sp>
        <p:nvSpPr>
          <p:cNvPr id="7" name="rect-37">
            <a:extLst xmlns:a="http://schemas.openxmlformats.org/drawingml/2006/main">
              <a:ext uri="{FF2B5EF4-FFF2-40B4-BE49-F238E27FC236}">
                <a16:creationId xmlns:a16="http://schemas.microsoft.com/office/drawing/2014/main" id="{036886C4-D599-46EC-9B0A-43D6FBEDD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952625"/>
            <a:ext cx="72771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9525">
            <a:solidFill>
              <a:srgbClr val="D7E2E8"/>
            </a:solidFill>
          </a:ln>
        </p:spPr>
        <p:txBody>
          <a:bodyPr xmlns:a="http://schemas.openxmlformats.org/drawingml/2006/main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同一套 P3 业务流程、输入契约和预期结果</a:t>
            </a:r>
          </a:p>
        </p:txBody>
      </p:sp>
      <p:sp>
        <p:nvSpPr>
          <p:cNvPr id="8" name="rect-38">
            <a:extLst xmlns:a="http://schemas.openxmlformats.org/drawingml/2006/main">
              <a:ext uri="{FF2B5EF4-FFF2-40B4-BE49-F238E27FC236}">
                <a16:creationId xmlns:a16="http://schemas.microsoft.com/office/drawing/2014/main" id="{0F0E1C46-5346-4A26-BE0E-AB03D3EBE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3448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9525">
            <a:solidFill>
              <a:srgbClr val="D7E2E8"/>
            </a:solidFill>
          </a:ln>
        </p:spPr>
        <p:txBody>
          <a:bodyPr xmlns:a="http://schemas.openxmlformats.org/drawingml/2006/main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本地开发配置</a:t>
            </a:r>
          </a:p>
        </p:txBody>
      </p:sp>
      <p:sp>
        <p:nvSpPr>
          <p:cNvPr id="10" name="p3-39">
            <a:extLst xmlns:a="http://schemas.openxmlformats.org/drawingml/2006/main">
              <a:ext uri="{FF2B5EF4-FFF2-40B4-BE49-F238E27FC236}">
                <a16:creationId xmlns:a16="http://schemas.microsoft.com/office/drawing/2014/main" id="{295A781A-D1D9-491C-927B-38126496A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3857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文件正文 + SQLite 向量</a:t>
            </a:r>
          </a:p>
        </p:txBody>
      </p:sp>
      <p:sp>
        <p:nvSpPr>
          <p:cNvPr id="11" name="p3-40">
            <a:extLst xmlns:a="http://schemas.openxmlformats.org/drawingml/2006/main">
              <a:ext uri="{FF2B5EF4-FFF2-40B4-BE49-F238E27FC236}">
                <a16:creationId xmlns:a16="http://schemas.microsoft.com/office/drawing/2014/main" id="{7EE0814A-A4AE-44E5-BE94-3528F07C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5767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本地缓存执行器</a:t>
            </a:r>
          </a:p>
        </p:txBody>
      </p:sp>
      <p:sp>
        <p:nvSpPr>
          <p:cNvPr id="12" name="p3-41">
            <a:extLst xmlns:a="http://schemas.openxmlformats.org/drawingml/2006/main">
              <a:ext uri="{FF2B5EF4-FFF2-40B4-BE49-F238E27FC236}">
                <a16:creationId xmlns:a16="http://schemas.microsoft.com/office/drawing/2014/main" id="{84FD6923-918A-4832-B769-EC62FAB0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7677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验证 P3 业务与重启恢复</a:t>
            </a:r>
          </a:p>
        </p:txBody>
      </p:sp>
      <p:sp>
        <p:nvSpPr>
          <p:cNvPr id="13" name="rect-42">
            <a:extLst xmlns:a="http://schemas.openxmlformats.org/drawingml/2006/main">
              <a:ext uri="{FF2B5EF4-FFF2-40B4-BE49-F238E27FC236}">
                <a16:creationId xmlns:a16="http://schemas.microsoft.com/office/drawing/2014/main" id="{87327FEA-DF73-40D8-A641-26BCF454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048000"/>
            <a:ext cx="3448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9525">
            <a:solidFill>
              <a:srgbClr val="D7E2E8"/>
            </a:solidFill>
          </a:ln>
        </p:spPr>
        <p:txBody>
          <a:bodyPr xmlns:a="http://schemas.openxmlformats.org/drawingml/2006/main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契约模拟配置</a:t>
            </a:r>
          </a:p>
        </p:txBody>
      </p:sp>
      <p:sp>
        <p:nvSpPr>
          <p:cNvPr id="15" name="p3-43">
            <a:extLst xmlns:a="http://schemas.openxmlformats.org/drawingml/2006/main">
              <a:ext uri="{FF2B5EF4-FFF2-40B4-BE49-F238E27FC236}">
                <a16:creationId xmlns:a16="http://schemas.microsoft.com/office/drawing/2014/main" id="{43CFA086-0C07-4C9C-A88E-A7E0013B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3857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有状态向量模拟器</a:t>
            </a:r>
          </a:p>
        </p:txBody>
      </p:sp>
      <p:sp>
        <p:nvSpPr>
          <p:cNvPr id="16" name="p3-44">
            <a:extLst xmlns:a="http://schemas.openxmlformats.org/drawingml/2006/main">
              <a:ext uri="{FF2B5EF4-FFF2-40B4-BE49-F238E27FC236}">
                <a16:creationId xmlns:a16="http://schemas.microsoft.com/office/drawing/2014/main" id="{2D79EB4D-8ECF-40F7-A23A-611A1F572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5767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客户端协议桩</a:t>
            </a:r>
          </a:p>
        </p:txBody>
      </p:sp>
      <p:sp>
        <p:nvSpPr>
          <p:cNvPr id="17" name="p3-45">
            <a:extLst xmlns:a="http://schemas.openxmlformats.org/drawingml/2006/main">
              <a:ext uri="{FF2B5EF4-FFF2-40B4-BE49-F238E27FC236}">
                <a16:creationId xmlns:a16="http://schemas.microsoft.com/office/drawing/2014/main" id="{BF8DA4E2-83E5-41D5-AC8E-D50785D1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67677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控制受理、可见性与丢回执</a:t>
            </a:r>
          </a:p>
        </p:txBody>
      </p:sp>
      <p:sp>
        <p:nvSpPr>
          <p:cNvPr id="18" name="rect-46">
            <a:extLst xmlns:a="http://schemas.openxmlformats.org/drawingml/2006/main">
              <a:ext uri="{FF2B5EF4-FFF2-40B4-BE49-F238E27FC236}">
                <a16:creationId xmlns:a16="http://schemas.microsoft.com/office/drawing/2014/main" id="{112F25E6-7D48-4883-A914-0AD1B7BA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48000"/>
            <a:ext cx="34480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9525">
            <a:solidFill>
              <a:srgbClr val="D7E2E8"/>
            </a:solidFill>
          </a:ln>
        </p:spPr>
        <p:txBody>
          <a:bodyPr xmlns:a="http://schemas.openxmlformats.org/drawingml/2006/main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真实联调配置</a:t>
            </a:r>
          </a:p>
        </p:txBody>
      </p:sp>
      <p:sp>
        <p:nvSpPr>
          <p:cNvPr id="20" name="p3-47">
            <a:extLst xmlns:a="http://schemas.openxmlformats.org/drawingml/2006/main">
              <a:ext uri="{FF2B5EF4-FFF2-40B4-BE49-F238E27FC236}">
                <a16:creationId xmlns:a16="http://schemas.microsoft.com/office/drawing/2014/main" id="{FDED312B-A852-4D07-86AF-44E49363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3857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真实 P2 对象 / 向量 / 关系</a:t>
            </a:r>
          </a:p>
        </p:txBody>
      </p:sp>
      <p:sp>
        <p:nvSpPr>
          <p:cNvPr id="21" name="p3-48">
            <a:extLst xmlns:a="http://schemas.openxmlformats.org/drawingml/2006/main">
              <a:ext uri="{FF2B5EF4-FFF2-40B4-BE49-F238E27FC236}">
                <a16:creationId xmlns:a16="http://schemas.microsoft.com/office/drawing/2014/main" id="{0B1C752C-84A8-4496-97A6-F5CAA6E00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5767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真实执行目标和身份</a:t>
            </a:r>
          </a:p>
        </p:txBody>
      </p:sp>
      <p:sp>
        <p:nvSpPr>
          <p:cNvPr id="22" name="p3-49">
            <a:extLst xmlns:a="http://schemas.openxmlformats.org/drawingml/2006/main">
              <a:ext uri="{FF2B5EF4-FFF2-40B4-BE49-F238E27FC236}">
                <a16:creationId xmlns:a16="http://schemas.microsoft.com/office/drawing/2014/main" id="{ADF19470-5354-477A-A2E4-AC1E478A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676775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验证隔离、并发及实际效果</a:t>
            </a:r>
          </a:p>
        </p:txBody>
      </p:sp>
      <p:sp>
        <p:nvSpPr>
          <p:cNvPr id="23" name="p3-50">
            <a:extLst xmlns:a="http://schemas.openxmlformats.org/drawingml/2006/main">
              <a:ext uri="{FF2B5EF4-FFF2-40B4-BE49-F238E27FC236}">
                <a16:creationId xmlns:a16="http://schemas.microsoft.com/office/drawing/2014/main" id="{F9EC33C2-CBA2-4566-AC80-F3CD5C9F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无 P2 时完成左侧两层；P2 可用后复用业务预期，重跑真实依赖验证</a:t>
            </a:r>
          </a:p>
        </p:txBody>
      </p:sp>
      <p:sp>
        <p:nvSpPr>
          <p:cNvPr id="24" name="p3-51">
            <a:extLst xmlns:a="http://schemas.openxmlformats.org/drawingml/2006/main">
              <a:ext uri="{FF2B5EF4-FFF2-40B4-BE49-F238E27FC236}">
                <a16:creationId xmlns:a16="http://schemas.microsoft.com/office/drawing/2014/main" id="{FAE9E0AD-0513-4679-9EEB-6A454A9B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097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模拟器不进入正式配置。缺失的真实接口或环境保持未执行，不以本地结果代签。</a:t>
            </a:r>
          </a:p>
        </p:txBody>
      </p:sp>
    </p:spTree>
    <p:extLst>
      <p:ext uri="{BB962C8B-B14F-4D97-AF65-F5344CB8AC3E}">
        <p14:creationId xmlns:p14="http://schemas.microsoft.com/office/powerpoint/2010/main" val="106253285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9">
            <a:extLst xmlns:a="http://schemas.openxmlformats.org/drawingml/2006/main">
              <a:ext uri="{FF2B5EF4-FFF2-40B4-BE49-F238E27FC236}">
                <a16:creationId xmlns:a16="http://schemas.microsoft.com/office/drawing/2014/main" id="{E386B22E-70AF-4A97-8C87-401965463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02  技术选型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7C6D7111-A81B-42D9-A4F5-08404551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Remember：加工内容，控制事实与版本</a:t>
            </a:r>
          </a:p>
        </p:txBody>
      </p:sp>
      <p:sp>
        <p:nvSpPr>
          <p:cNvPr id="3" name="p3-52">
            <a:extLst xmlns:a="http://schemas.openxmlformats.org/drawingml/2006/main">
              <a:ext uri="{FF2B5EF4-FFF2-40B4-BE49-F238E27FC236}">
                <a16:creationId xmlns:a16="http://schemas.microsoft.com/office/drawing/2014/main" id="{9A54207F-9F8A-4592-AC13-9BD7F934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MVP 路线由 P3 掌握事实提交，模型通过适配器产生候选</a:t>
            </a:r>
          </a:p>
        </p:txBody>
      </p:sp>
      <p:sp>
        <p:nvSpPr>
          <p:cNvPr id="4" name="line-53">
            <a:extLst xmlns:a="http://schemas.openxmlformats.org/drawingml/2006/main">
              <a:ext uri="{FF2B5EF4-FFF2-40B4-BE49-F238E27FC236}">
                <a16:creationId xmlns:a16="http://schemas.microsoft.com/office/drawing/2014/main" id="{D2FCB398-5FF7-420F-AD0B-BDE7C2108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p3-54">
            <a:extLst xmlns:a="http://schemas.openxmlformats.org/drawingml/2006/main">
              <a:ext uri="{FF2B5EF4-FFF2-40B4-BE49-F238E27FC236}">
                <a16:creationId xmlns:a16="http://schemas.microsoft.com/office/drawing/2014/main" id="{E2E13817-D54C-4697-966C-BA6159854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MVP 项目落地方案  V3.0</a:t>
            </a:r>
          </a:p>
        </p:txBody>
      </p:sp>
      <p:sp>
        <p:nvSpPr>
          <p:cNvPr id="6" name="p3-55">
            <a:extLst xmlns:a="http://schemas.openxmlformats.org/drawingml/2006/main">
              <a:ext uri="{FF2B5EF4-FFF2-40B4-BE49-F238E27FC236}">
                <a16:creationId xmlns:a16="http://schemas.microsoft.com/office/drawing/2014/main" id="{3C39EC87-8FC5-49C3-A570-BC7CB6E6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293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09 / 22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09600" y="1914525"/>
          <a:ext xmlns:a="http://schemas.openxmlformats.org/drawingml/2006/main" cx="10972800" cy="3524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571625"/>
                <a:gridCol w="3286125"/>
                <a:gridCol w="2333625"/>
                <a:gridCol w="3781425"/>
              </a:tblGrid>
              <a:tr h="438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处理模块</a:t>
                      </a:r>
                    </a:p>
                  </a:txBody>
                  <a:tcPr marL="95250" marR="95250" marT="66675" marB="66675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采用路线</a:t>
                      </a:r>
                    </a:p>
                  </a:txBody>
                  <a:tcPr marL="95250" marR="95250" marT="66675" marB="66675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比较的技术 / 路线</a:t>
                      </a:r>
                    </a:p>
                  </a:txBody>
                  <a:tcPr marL="95250" marR="95250" marT="66675" marB="66675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选择理由与代价</a:t>
                      </a:r>
                    </a:p>
                  </a:txBody>
                  <a:tcPr marL="95250" marR="95250" marT="66675" marB="66675" anchor="ctr">
                    <a:solidFill>
                      <a:srgbClr val="163044"/>
                    </a:solidFill>
                  </a:tcPr>
                </a:tc>
              </a:tr>
              <a:tr h="10287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输入与解析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Pydantic 结构校验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pypdf / python-docx 解析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Unstructured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通用文档处理框架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按文档类型轻量接入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复杂版式需补规则与失败处理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抽取与压缩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P3 Python 处理步骤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HTTPX 调模型，校验 JSON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LangMem Core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LangMem 全栈存储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模型只给候选，B 审查来源后提交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自行维护提示、适配与质量规则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</a:tr>
              <a:tr h="10287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事实与就绪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维护元数据和版本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正文经 P2，索引写后核验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模型直接更新记忆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索引写入即宣布可用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保存与长期就绪有明确边界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维护任务、校验与派生清理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p3-56">
            <a:extLst xmlns:a="http://schemas.openxmlformats.org/drawingml/2006/main">
              <a:ext uri="{FF2B5EF4-FFF2-40B4-BE49-F238E27FC236}">
                <a16:creationId xmlns:a16="http://schemas.microsoft.com/office/drawing/2014/main" id="{F80C3C24-89CF-45E3-A033-DB584272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535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2569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25699A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441be1a5b134b20"/>
              </a:rPr>
              <a:t>Pydantic  docs.pydantic.dev/latest/</a:t>
            </a:r>
          </a:p>
        </p:txBody>
      </p:sp>
      <p:sp>
        <p:nvSpPr>
          <p:cNvPr id="9" name="p3-57">
            <a:extLst xmlns:a="http://schemas.openxmlformats.org/drawingml/2006/main">
              <a:ext uri="{FF2B5EF4-FFF2-40B4-BE49-F238E27FC236}">
                <a16:creationId xmlns:a16="http://schemas.microsoft.com/office/drawing/2014/main" id="{D5434B88-EA10-49DC-B9A9-7536C418E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514975"/>
            <a:ext cx="535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2569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25699A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c90149609f94393"/>
              </a:rPr>
              <a:t>HTTPX  www.python-httpx.org/</a:t>
            </a:r>
          </a:p>
        </p:txBody>
      </p:sp>
      <p:sp>
        <p:nvSpPr>
          <p:cNvPr id="10" name="p3-58">
            <a:extLst xmlns:a="http://schemas.openxmlformats.org/drawingml/2006/main">
              <a:ext uri="{FF2B5EF4-FFF2-40B4-BE49-F238E27FC236}">
                <a16:creationId xmlns:a16="http://schemas.microsoft.com/office/drawing/2014/main" id="{FAE3631C-317A-4FBD-8DA7-5676A9E6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535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2569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25699A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2587148b29c4fb5"/>
              </a:rPr>
              <a:t>pypdf  pypdf.readthedocs.io/en/stable/</a:t>
            </a:r>
          </a:p>
        </p:txBody>
      </p:sp>
      <p:sp>
        <p:nvSpPr>
          <p:cNvPr id="11" name="p3-59">
            <a:extLst xmlns:a="http://schemas.openxmlformats.org/drawingml/2006/main">
              <a:ext uri="{FF2B5EF4-FFF2-40B4-BE49-F238E27FC236}">
                <a16:creationId xmlns:a16="http://schemas.microsoft.com/office/drawing/2014/main" id="{E006B5FD-4457-4ECF-B0C7-0C1F1FC7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743575"/>
            <a:ext cx="535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2569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25699A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2c813735a894be1"/>
              </a:rPr>
              <a:t>python-docx  python-docx.readthedocs.io/en/latest/</a:t>
            </a:r>
          </a:p>
        </p:txBody>
      </p:sp>
      <p:sp>
        <p:nvSpPr>
          <p:cNvPr id="12" name="p3-60">
            <a:extLst xmlns:a="http://schemas.openxmlformats.org/drawingml/2006/main">
              <a:ext uri="{FF2B5EF4-FFF2-40B4-BE49-F238E27FC236}">
                <a16:creationId xmlns:a16="http://schemas.microsoft.com/office/drawing/2014/main" id="{E7CE1489-D507-4A76-BAF0-1DCEC7EF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535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2569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25699A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6768ef82bcb4824"/>
              </a:rPr>
              <a:t>参考 LangMem  langchain-ai.github.io/langmem/</a:t>
            </a:r>
          </a:p>
        </p:txBody>
      </p:sp>
    </p:spTree>
    <p:extLst>
      <p:ext uri="{BB962C8B-B14F-4D97-AF65-F5344CB8AC3E}">
        <p14:creationId xmlns:p14="http://schemas.microsoft.com/office/powerpoint/2010/main" val="99773418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10">
            <a:extLst xmlns:a="http://schemas.openxmlformats.org/drawingml/2006/main">
              <a:ext uri="{FF2B5EF4-FFF2-40B4-BE49-F238E27FC236}">
                <a16:creationId xmlns:a16="http://schemas.microsoft.com/office/drawing/2014/main" id="{078113A0-08E9-4581-947A-5414DFEFE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02  技术选型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9D420236-415F-435C-A476-0C9124D7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Recall：统一编码，分步检索和组包</a:t>
            </a:r>
          </a:p>
        </p:txBody>
      </p:sp>
      <p:sp>
        <p:nvSpPr>
          <p:cNvPr id="3" name="p3-61">
            <a:extLst xmlns:a="http://schemas.openxmlformats.org/drawingml/2006/main">
              <a:ext uri="{FF2B5EF4-FFF2-40B4-BE49-F238E27FC236}">
                <a16:creationId xmlns:a16="http://schemas.microsoft.com/office/drawing/2014/main" id="{2E854061-12C6-4374-85B2-BBB41B22D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Query 与 Passage 使用同一模型空间，召回只交付上下文材料</a:t>
            </a:r>
          </a:p>
        </p:txBody>
      </p:sp>
      <p:sp>
        <p:nvSpPr>
          <p:cNvPr id="4" name="line-62">
            <a:extLst xmlns:a="http://schemas.openxmlformats.org/drawingml/2006/main">
              <a:ext uri="{FF2B5EF4-FFF2-40B4-BE49-F238E27FC236}">
                <a16:creationId xmlns:a16="http://schemas.microsoft.com/office/drawing/2014/main" id="{8337EFB6-5597-4306-82D2-694120DE1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p3-63">
            <a:extLst xmlns:a="http://schemas.openxmlformats.org/drawingml/2006/main">
              <a:ext uri="{FF2B5EF4-FFF2-40B4-BE49-F238E27FC236}">
                <a16:creationId xmlns:a16="http://schemas.microsoft.com/office/drawing/2014/main" id="{B0B580A8-2B05-421A-816F-5CFF9659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MVP 项目落地方案  V3.0</a:t>
            </a:r>
          </a:p>
        </p:txBody>
      </p:sp>
      <p:sp>
        <p:nvSpPr>
          <p:cNvPr id="6" name="p3-64">
            <a:extLst xmlns:a="http://schemas.openxmlformats.org/drawingml/2006/main">
              <a:ext uri="{FF2B5EF4-FFF2-40B4-BE49-F238E27FC236}">
                <a16:creationId xmlns:a16="http://schemas.microsoft.com/office/drawing/2014/main" id="{9A5AFAE3-8E95-4879-A6C7-6DD8A611D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293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10 / 22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609600" y="1914525"/>
          <a:ext xmlns:a="http://schemas.openxmlformats.org/drawingml/2006/main" cx="10972800" cy="3524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571625"/>
                <a:gridCol w="3286125"/>
                <a:gridCol w="2333625"/>
                <a:gridCol w="3781425"/>
              </a:tblGrid>
              <a:tr h="438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处理模块</a:t>
                      </a:r>
                    </a:p>
                  </a:txBody>
                  <a:tcPr marL="95250" marR="95250" marT="66675" marB="66675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采用路线</a:t>
                      </a:r>
                    </a:p>
                  </a:txBody>
                  <a:tcPr marL="95250" marR="95250" marT="66675" marB="66675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比较的技术 / 路线</a:t>
                      </a:r>
                    </a:p>
                  </a:txBody>
                  <a:tcPr marL="95250" marR="95250" marT="66675" marB="66675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选择理由与代价</a:t>
                      </a:r>
                    </a:p>
                  </a:txBody>
                  <a:tcPr marL="95250" marR="95250" marT="66675" marB="66675" anchor="ctr">
                    <a:solidFill>
                      <a:srgbClr val="163044"/>
                    </a:solidFill>
                  </a:tcPr>
                </a:tc>
              </a:tr>
              <a:tr h="10287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共享编码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BGE small zh v1.5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FastEmbed + ONNX Runtime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远程 Embedding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OpenVINO / IPEX 后端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先固定可复现的本地编码基线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消耗本地算力，换模型需重建索引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检索与融合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P3 分段处理 + RRF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记忆级聚合、完整组预算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LlamaIndex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Retriever / Query Engine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业务版本、权限和分组可控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自行维护各阶段与适配器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</a:tr>
              <a:tr h="10287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精排与预算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可配置 CrossEncoder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tiktoken / 目标模型分词器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仅按向量分数排序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按字符估算长度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精排收益实测，预算按真实分词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增加计算；适配目标模型长度限制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p3-65">
            <a:extLst xmlns:a="http://schemas.openxmlformats.org/drawingml/2006/main">
              <a:ext uri="{FF2B5EF4-FFF2-40B4-BE49-F238E27FC236}">
                <a16:creationId xmlns:a16="http://schemas.microsoft.com/office/drawing/2014/main" id="{BF9366EE-9246-4660-AB4F-E655CAFE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535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2569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25699A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057bbd4bbf54440"/>
              </a:rPr>
              <a:t>BGE 模型  huggingface.co/BAAI/bge-small-zh-v1.5</a:t>
            </a:r>
          </a:p>
        </p:txBody>
      </p:sp>
      <p:sp>
        <p:nvSpPr>
          <p:cNvPr id="9" name="p3-66">
            <a:extLst xmlns:a="http://schemas.openxmlformats.org/drawingml/2006/main">
              <a:ext uri="{FF2B5EF4-FFF2-40B4-BE49-F238E27FC236}">
                <a16:creationId xmlns:a16="http://schemas.microsoft.com/office/drawing/2014/main" id="{6359C9BA-5AF2-4F2C-991A-40FA9500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514975"/>
            <a:ext cx="535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2569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25699A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462ab8344db4d44"/>
              </a:rPr>
              <a:t>FastEmbed  qdrant.github.io/fastembed/</a:t>
            </a:r>
          </a:p>
        </p:txBody>
      </p:sp>
      <p:sp>
        <p:nvSpPr>
          <p:cNvPr id="10" name="p3-67">
            <a:extLst xmlns:a="http://schemas.openxmlformats.org/drawingml/2006/main">
              <a:ext uri="{FF2B5EF4-FFF2-40B4-BE49-F238E27FC236}">
                <a16:creationId xmlns:a16="http://schemas.microsoft.com/office/drawing/2014/main" id="{13E0CE13-1AD5-411A-A086-5FE80C052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535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2569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25699A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fadea3a2e8c45c6"/>
              </a:rPr>
              <a:t>ONNX Runtime  onnxruntime.ai/</a:t>
            </a:r>
          </a:p>
        </p:txBody>
      </p:sp>
      <p:sp>
        <p:nvSpPr>
          <p:cNvPr id="11" name="p3-68">
            <a:extLst xmlns:a="http://schemas.openxmlformats.org/drawingml/2006/main">
              <a:ext uri="{FF2B5EF4-FFF2-40B4-BE49-F238E27FC236}">
                <a16:creationId xmlns:a16="http://schemas.microsoft.com/office/drawing/2014/main" id="{4FD3619D-A043-4FFB-B947-C91B2464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743575"/>
            <a:ext cx="535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2569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25699A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ba674ff01504d35"/>
              </a:rPr>
              <a:t>CrossEncoder  www.sbert.net/</a:t>
            </a:r>
          </a:p>
        </p:txBody>
      </p:sp>
      <p:sp>
        <p:nvSpPr>
          <p:cNvPr id="12" name="p3-69">
            <a:extLst xmlns:a="http://schemas.openxmlformats.org/drawingml/2006/main">
              <a:ext uri="{FF2B5EF4-FFF2-40B4-BE49-F238E27FC236}">
                <a16:creationId xmlns:a16="http://schemas.microsoft.com/office/drawing/2014/main" id="{1817A1B2-FEA7-445E-8F71-F66A83D8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535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2569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25699A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b7161a6aa1547e1"/>
              </a:rPr>
              <a:t>tiktoken  github.com/openai/tiktoken</a:t>
            </a:r>
          </a:p>
        </p:txBody>
      </p:sp>
      <p:sp>
        <p:nvSpPr>
          <p:cNvPr id="13" name="p3-70">
            <a:extLst xmlns:a="http://schemas.openxmlformats.org/drawingml/2006/main">
              <a:ext uri="{FF2B5EF4-FFF2-40B4-BE49-F238E27FC236}">
                <a16:creationId xmlns:a16="http://schemas.microsoft.com/office/drawing/2014/main" id="{006D21BF-3C27-4E8C-B2A3-46F84715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972175"/>
            <a:ext cx="535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2569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25699A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8c044cdc939423b"/>
              </a:rPr>
              <a:t>参考 LlamaIndex  developers.llamaindex.ai/python/framework/</a:t>
            </a:r>
          </a:p>
        </p:txBody>
      </p:sp>
    </p:spTree>
    <p:extLst>
      <p:ext uri="{BB962C8B-B14F-4D97-AF65-F5344CB8AC3E}">
        <p14:creationId xmlns:p14="http://schemas.microsoft.com/office/powerpoint/2010/main" val="192037271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11">
            <a:extLst xmlns:a="http://schemas.openxmlformats.org/drawingml/2006/main">
              <a:ext uri="{FF2B5EF4-FFF2-40B4-BE49-F238E27FC236}">
                <a16:creationId xmlns:a16="http://schemas.microsoft.com/office/drawing/2014/main" id="{991C7927-82E2-417A-96A5-3ACD3707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02  技术选型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B6454EA1-0EFA-462D-A184-D8B58B2A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Operate 与公共底座：动作可核对，任务可恢复</a:t>
            </a:r>
          </a:p>
        </p:txBody>
      </p:sp>
      <p:sp>
        <p:nvSpPr>
          <p:cNvPr id="3" name="p3-71">
            <a:extLst xmlns:a="http://schemas.openxmlformats.org/drawingml/2006/main">
              <a:ext uri="{FF2B5EF4-FFF2-40B4-BE49-F238E27FC236}">
                <a16:creationId xmlns:a16="http://schemas.microsoft.com/office/drawing/2014/main" id="{B149AD9F-D182-45F1-B09F-F3EB4445F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MVP 采用单实例持久状态，所有外部副作用保留原操作身份</a:t>
            </a:r>
          </a:p>
        </p:txBody>
      </p:sp>
      <p:sp>
        <p:nvSpPr>
          <p:cNvPr id="4" name="line-72">
            <a:extLst xmlns:a="http://schemas.openxmlformats.org/drawingml/2006/main">
              <a:ext uri="{FF2B5EF4-FFF2-40B4-BE49-F238E27FC236}">
                <a16:creationId xmlns:a16="http://schemas.microsoft.com/office/drawing/2014/main" id="{A8D69FF3-1903-4E0E-BAB6-EE773516D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p3-73">
            <a:extLst xmlns:a="http://schemas.openxmlformats.org/drawingml/2006/main">
              <a:ext uri="{FF2B5EF4-FFF2-40B4-BE49-F238E27FC236}">
                <a16:creationId xmlns:a16="http://schemas.microsoft.com/office/drawing/2014/main" id="{66AAEE5E-7AD4-49DF-B3A8-C6805A9A4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MVP 项目落地方案  V3.0</a:t>
            </a:r>
          </a:p>
        </p:txBody>
      </p:sp>
      <p:sp>
        <p:nvSpPr>
          <p:cNvPr id="6" name="p3-74">
            <a:extLst xmlns:a="http://schemas.openxmlformats.org/drawingml/2006/main">
              <a:ext uri="{FF2B5EF4-FFF2-40B4-BE49-F238E27FC236}">
                <a16:creationId xmlns:a16="http://schemas.microsoft.com/office/drawing/2014/main" id="{E08535A8-D4AC-41AE-8505-6B640114F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293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11 / 22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09600" y="1914525"/>
          <a:ext xmlns:a="http://schemas.openxmlformats.org/drawingml/2006/main" cx="10972800" cy="3524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571625"/>
                <a:gridCol w="3286125"/>
                <a:gridCol w="2333625"/>
                <a:gridCol w="3781425"/>
              </a:tblGrid>
              <a:tr h="438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处理模块</a:t>
                      </a:r>
                    </a:p>
                  </a:txBody>
                  <a:tcPr marL="95250" marR="95250" marT="66675" marB="66675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采用路线</a:t>
                      </a:r>
                    </a:p>
                  </a:txBody>
                  <a:tcPr marL="95250" marR="95250" marT="66675" marB="66675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比较的技术 / 路线</a:t>
                      </a:r>
                    </a:p>
                  </a:txBody>
                  <a:tcPr marL="95250" marR="95250" marT="66675" marB="66675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选择理由与代价</a:t>
                      </a:r>
                    </a:p>
                  </a:txBody>
                  <a:tcPr marL="95250" marR="95250" marT="66675" marB="66675" anchor="ctr">
                    <a:solidFill>
                      <a:srgbClr val="163044"/>
                    </a:solidFill>
                  </a:tcPr>
                </a:tc>
              </a:tr>
              <a:tr h="10287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内部控制循环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Python 领域控制器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按当前状态判断与核对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Kubernetes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controller-runtime / CRD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参考 Reconcile，复用 P3 对象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无需集群控制面，规则需自行验证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任务与事件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SQLite 事务 + 持久 Task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Outbox / Inbox 可靠交接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Temporal 工作流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独立队列与数据库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业务记录和待办一起提交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自行维护租约、重试、幂等与恢复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</a:tr>
              <a:tr h="10287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授权与观测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统一授权检查、版本屏障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持久 Trace / 日志、健康探测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各模块独立鉴权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内存状态 / 外部日志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恢复仍能查事实、权限和原动作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需明确外部身份映射及监测适配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p3-75">
            <a:extLst xmlns:a="http://schemas.openxmlformats.org/drawingml/2006/main">
              <a:ext uri="{FF2B5EF4-FFF2-40B4-BE49-F238E27FC236}">
                <a16:creationId xmlns:a16="http://schemas.microsoft.com/office/drawing/2014/main" id="{A3DE9E3D-24A4-49EB-857A-9F930CC2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535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2569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25699A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4a3e48ba6d94421"/>
              </a:rPr>
              <a:t>采用 SQLite  www.sqlite.org/</a:t>
            </a:r>
          </a:p>
        </p:txBody>
      </p:sp>
      <p:sp>
        <p:nvSpPr>
          <p:cNvPr id="9" name="p3-76">
            <a:extLst xmlns:a="http://schemas.openxmlformats.org/drawingml/2006/main">
              <a:ext uri="{FF2B5EF4-FFF2-40B4-BE49-F238E27FC236}">
                <a16:creationId xmlns:a16="http://schemas.microsoft.com/office/drawing/2014/main" id="{C701B10D-D6EE-430F-9171-D889BF9A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514975"/>
            <a:ext cx="535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2569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25699A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48f4df93d9a48ac"/>
              </a:rPr>
              <a:t>参考控制器模式  github.com/kubernetes-sigs/controller-runtime</a:t>
            </a:r>
          </a:p>
        </p:txBody>
      </p:sp>
      <p:sp>
        <p:nvSpPr>
          <p:cNvPr id="10" name="p3-77">
            <a:extLst xmlns:a="http://schemas.openxmlformats.org/drawingml/2006/main">
              <a:ext uri="{FF2B5EF4-FFF2-40B4-BE49-F238E27FC236}">
                <a16:creationId xmlns:a16="http://schemas.microsoft.com/office/drawing/2014/main" id="{772202A8-5AEE-417E-A9C0-2CCE3107A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535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2569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25699A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0d64ae418d24b54"/>
              </a:rPr>
              <a:t>备选 Temporal  docs.temporal.io/</a:t>
            </a:r>
          </a:p>
        </p:txBody>
      </p:sp>
    </p:spTree>
    <p:extLst>
      <p:ext uri="{BB962C8B-B14F-4D97-AF65-F5344CB8AC3E}">
        <p14:creationId xmlns:p14="http://schemas.microsoft.com/office/powerpoint/2010/main" val="15988334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12">
            <a:extLst xmlns:a="http://schemas.openxmlformats.org/drawingml/2006/main">
              <a:ext uri="{FF2B5EF4-FFF2-40B4-BE49-F238E27FC236}">
                <a16:creationId xmlns:a16="http://schemas.microsoft.com/office/drawing/2014/main" id="{2B87B941-6BE8-4240-AD43-470FDF04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02  技术选型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8C0E19E2-3D8A-4344-83E8-F605354A5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接入、P2 与部署：固定协议和运行边界</a:t>
            </a:r>
          </a:p>
        </p:txBody>
      </p:sp>
      <p:sp>
        <p:nvSpPr>
          <p:cNvPr id="3" name="p3-78">
            <a:extLst xmlns:a="http://schemas.openxmlformats.org/drawingml/2006/main">
              <a:ext uri="{FF2B5EF4-FFF2-40B4-BE49-F238E27FC236}">
                <a16:creationId xmlns:a16="http://schemas.microsoft.com/office/drawing/2014/main" id="{5A7DA69D-4A77-491F-B815-949B66EA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应用使用统一入口，底层实现经适配器接入，版本与配置随交付锁定</a:t>
            </a:r>
          </a:p>
        </p:txBody>
      </p:sp>
      <p:sp>
        <p:nvSpPr>
          <p:cNvPr id="4" name="line-79">
            <a:extLst xmlns:a="http://schemas.openxmlformats.org/drawingml/2006/main">
              <a:ext uri="{FF2B5EF4-FFF2-40B4-BE49-F238E27FC236}">
                <a16:creationId xmlns:a16="http://schemas.microsoft.com/office/drawing/2014/main" id="{9A050BC0-E2CE-4414-88E6-82D0D382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p3-80">
            <a:extLst xmlns:a="http://schemas.openxmlformats.org/drawingml/2006/main">
              <a:ext uri="{FF2B5EF4-FFF2-40B4-BE49-F238E27FC236}">
                <a16:creationId xmlns:a16="http://schemas.microsoft.com/office/drawing/2014/main" id="{64C24EE8-ACA5-491C-9307-C0F97D9A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MVP 项目落地方案  V3.0</a:t>
            </a:r>
          </a:p>
        </p:txBody>
      </p:sp>
      <p:sp>
        <p:nvSpPr>
          <p:cNvPr id="6" name="p3-81">
            <a:extLst xmlns:a="http://schemas.openxmlformats.org/drawingml/2006/main">
              <a:ext uri="{FF2B5EF4-FFF2-40B4-BE49-F238E27FC236}">
                <a16:creationId xmlns:a16="http://schemas.microsoft.com/office/drawing/2014/main" id="{6C315295-5399-4F01-B552-DCC6112B1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293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12 / 22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09600" y="1914525"/>
          <a:ext xmlns:a="http://schemas.openxmlformats.org/drawingml/2006/main" cx="10972800" cy="3524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571625"/>
                <a:gridCol w="3286125"/>
                <a:gridCol w="2333625"/>
                <a:gridCol w="3781425"/>
              </a:tblGrid>
              <a:tr h="438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处理模块</a:t>
                      </a:r>
                    </a:p>
                  </a:txBody>
                  <a:tcPr marL="95250" marR="95250" marT="66675" marB="66675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采用路线</a:t>
                      </a:r>
                    </a:p>
                  </a:txBody>
                  <a:tcPr marL="95250" marR="95250" marT="66675" marB="66675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比较的技术 / 路线</a:t>
                      </a:r>
                    </a:p>
                  </a:txBody>
                  <a:tcPr marL="95250" marR="95250" marT="66675" marB="66675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选择理由与代价</a:t>
                      </a:r>
                    </a:p>
                  </a:txBody>
                  <a:tcPr marL="95250" marR="95250" marT="66675" marB="66675" anchor="ctr">
                    <a:solidFill>
                      <a:srgbClr val="163044"/>
                    </a:solidFill>
                  </a:tcPr>
                </a:tc>
              </a:tr>
              <a:tr h="10287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应用 / Agent 接入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FastAPI + Uvicorn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 HTTP / OpenAPI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Flask / 手写 HTTP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多模块分散入口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结构化校验、异步接口和统一状态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仍需定义身份、超时与幂等语义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10287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 数据与动作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gRPC + Protobuf 客户端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对象、向量、关系和动作适配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另建 REST 协议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绕过 P2 直连存储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复用共享协议，保持 P2 责任边界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补齐业务字段、错误与结果映射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</a:tr>
              <a:tr h="10287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MVP 运行交付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单实例服务 + 持久卷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Docker Compose 约定环境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多副本 Kubernetes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手工散装进程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先固定启动、探测、备份与回滚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不承诺多副本高可用，需演练恢复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p3-82">
            <a:extLst xmlns:a="http://schemas.openxmlformats.org/drawingml/2006/main">
              <a:ext uri="{FF2B5EF4-FFF2-40B4-BE49-F238E27FC236}">
                <a16:creationId xmlns:a16="http://schemas.microsoft.com/office/drawing/2014/main" id="{D562749F-6B9F-4090-B03B-71E1DD34C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535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2569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25699A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72b0fc9049748c7"/>
              </a:rPr>
              <a:t>FastAPI  fastapi.tiangolo.com/</a:t>
            </a:r>
          </a:p>
        </p:txBody>
      </p:sp>
      <p:sp>
        <p:nvSpPr>
          <p:cNvPr id="9" name="p3-83">
            <a:extLst xmlns:a="http://schemas.openxmlformats.org/drawingml/2006/main">
              <a:ext uri="{FF2B5EF4-FFF2-40B4-BE49-F238E27FC236}">
                <a16:creationId xmlns:a16="http://schemas.microsoft.com/office/drawing/2014/main" id="{9EA74E2C-A339-46CC-881F-5BD126006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514975"/>
            <a:ext cx="535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2569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25699A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af11e7e54ad4028"/>
              </a:rPr>
              <a:t>Uvicorn  github.com/Kludex/uvicorn</a:t>
            </a:r>
          </a:p>
        </p:txBody>
      </p:sp>
      <p:sp>
        <p:nvSpPr>
          <p:cNvPr id="10" name="p3-84">
            <a:extLst xmlns:a="http://schemas.openxmlformats.org/drawingml/2006/main">
              <a:ext uri="{FF2B5EF4-FFF2-40B4-BE49-F238E27FC236}">
                <a16:creationId xmlns:a16="http://schemas.microsoft.com/office/drawing/2014/main" id="{98AD6D55-38C5-48DF-B2BA-03940A08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43575"/>
            <a:ext cx="535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2569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25699A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6cea76fe49943d3"/>
              </a:rPr>
              <a:t>gRPC  grpc.io/docs/languages/python/</a:t>
            </a:r>
          </a:p>
        </p:txBody>
      </p:sp>
      <p:sp>
        <p:nvSpPr>
          <p:cNvPr id="11" name="p3-85">
            <a:extLst xmlns:a="http://schemas.openxmlformats.org/drawingml/2006/main">
              <a:ext uri="{FF2B5EF4-FFF2-40B4-BE49-F238E27FC236}">
                <a16:creationId xmlns:a16="http://schemas.microsoft.com/office/drawing/2014/main" id="{9E3EF4C3-36B7-49EA-8F72-3FE5F88DE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743575"/>
            <a:ext cx="535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2569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25699A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9d6afc92a404677"/>
              </a:rPr>
              <a:t>Protobuf  protobuf.dev/</a:t>
            </a:r>
          </a:p>
        </p:txBody>
      </p:sp>
      <p:sp>
        <p:nvSpPr>
          <p:cNvPr id="12" name="p3-86">
            <a:extLst xmlns:a="http://schemas.openxmlformats.org/drawingml/2006/main">
              <a:ext uri="{FF2B5EF4-FFF2-40B4-BE49-F238E27FC236}">
                <a16:creationId xmlns:a16="http://schemas.microsoft.com/office/drawing/2014/main" id="{29A31473-3BC3-4516-96FC-27811E90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72175"/>
            <a:ext cx="535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2569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25699A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d74554bf8474ea6"/>
              </a:rPr>
              <a:t>Docker Compose  docs.docker.com/compose/</a:t>
            </a:r>
          </a:p>
        </p:txBody>
      </p:sp>
    </p:spTree>
    <p:extLst>
      <p:ext uri="{BB962C8B-B14F-4D97-AF65-F5344CB8AC3E}">
        <p14:creationId xmlns:p14="http://schemas.microsoft.com/office/powerpoint/2010/main" val="107600789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ection-13">
            <a:extLst xmlns:a="http://schemas.openxmlformats.org/drawingml/2006/main">
              <a:ext uri="{FF2B5EF4-FFF2-40B4-BE49-F238E27FC236}">
                <a16:creationId xmlns:a16="http://schemas.microsoft.com/office/drawing/2014/main" id="{60074902-FA15-4B03-8935-AD1E7904E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03  测试设计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3D39AEAF-B822-41BF-B858-8A344B52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测试原则：先规定业务预期，再生成用例</a:t>
            </a:r>
          </a:p>
        </p:txBody>
      </p:sp>
      <p:sp>
        <p:nvSpPr>
          <p:cNvPr id="3" name="p3-87">
            <a:extLst xmlns:a="http://schemas.openxmlformats.org/drawingml/2006/main">
              <a:ext uri="{FF2B5EF4-FFF2-40B4-BE49-F238E27FC236}">
                <a16:creationId xmlns:a16="http://schemas.microsoft.com/office/drawing/2014/main" id="{FD5FCF88-829E-40E5-83B4-C736EEE1C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以 PRD 和流程状态为依据，逐项拆成可执行断言</a:t>
            </a:r>
          </a:p>
        </p:txBody>
      </p:sp>
      <p:sp>
        <p:nvSpPr>
          <p:cNvPr id="4" name="line-88">
            <a:extLst xmlns:a="http://schemas.openxmlformats.org/drawingml/2006/main">
              <a:ext uri="{FF2B5EF4-FFF2-40B4-BE49-F238E27FC236}">
                <a16:creationId xmlns:a16="http://schemas.microsoft.com/office/drawing/2014/main" id="{0D67D0E4-B601-44AE-BCA6-41C3B5FEA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p3-89">
            <a:extLst xmlns:a="http://schemas.openxmlformats.org/drawingml/2006/main">
              <a:ext uri="{FF2B5EF4-FFF2-40B4-BE49-F238E27FC236}">
                <a16:creationId xmlns:a16="http://schemas.microsoft.com/office/drawing/2014/main" id="{31EB6CA6-F5F0-4013-8BBF-DC00583DA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MVP 项目落地方案  V3.0</a:t>
            </a:r>
          </a:p>
        </p:txBody>
      </p:sp>
      <p:sp>
        <p:nvSpPr>
          <p:cNvPr id="6" name="p3-90">
            <a:extLst xmlns:a="http://schemas.openxmlformats.org/drawingml/2006/main">
              <a:ext uri="{FF2B5EF4-FFF2-40B4-BE49-F238E27FC236}">
                <a16:creationId xmlns:a16="http://schemas.microsoft.com/office/drawing/2014/main" id="{FAA67C4E-80F4-41BA-B838-D2E1EF14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293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13 / 22</a:t>
            </a:r>
          </a:p>
        </p:txBody>
      </p:sp>
      <p:sp>
        <p:nvSpPr>
          <p:cNvPr id="7" name="p3-91">
            <a:extLst xmlns:a="http://schemas.openxmlformats.org/drawingml/2006/main">
              <a:ext uri="{FF2B5EF4-FFF2-40B4-BE49-F238E27FC236}">
                <a16:creationId xmlns:a16="http://schemas.microsoft.com/office/drawing/2014/main" id="{2B3D53E6-5BDD-4632-A5A1-1839BE7B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362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01  以业务结果为准</a:t>
            </a:r>
          </a:p>
        </p:txBody>
      </p:sp>
      <p:sp>
        <p:nvSpPr>
          <p:cNvPr id="8" name="p3-92">
            <a:extLst xmlns:a="http://schemas.openxmlformats.org/drawingml/2006/main">
              <a:ext uri="{FF2B5EF4-FFF2-40B4-BE49-F238E27FC236}">
                <a16:creationId xmlns:a16="http://schemas.microsoft.com/office/drawing/2014/main" id="{4886B80E-5411-42DF-B8F5-F9C9A703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1962150"/>
            <a:ext cx="7553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核对正文、来源、当前版本和权限，不能只检查返回 200。</a:t>
            </a:r>
          </a:p>
        </p:txBody>
      </p:sp>
      <p:sp>
        <p:nvSpPr>
          <p:cNvPr id="9" name="line-93">
            <a:extLst xmlns:a="http://schemas.openxmlformats.org/drawingml/2006/main">
              <a:ext uri="{FF2B5EF4-FFF2-40B4-BE49-F238E27FC236}">
                <a16:creationId xmlns:a16="http://schemas.microsoft.com/office/drawing/2014/main" id="{00CD5534-FB12-4DD1-95F4-09B135B3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10" name="p3-94">
            <a:extLst xmlns:a="http://schemas.openxmlformats.org/drawingml/2006/main">
              <a:ext uri="{FF2B5EF4-FFF2-40B4-BE49-F238E27FC236}">
                <a16:creationId xmlns:a16="http://schemas.microsoft.com/office/drawing/2014/main" id="{DAC71A3A-B081-47B9-9E4F-5674F7E90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362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02  区分状态与完成</a:t>
            </a:r>
          </a:p>
        </p:txBody>
      </p:sp>
      <p:sp>
        <p:nvSpPr>
          <p:cNvPr id="11" name="p3-95">
            <a:extLst xmlns:a="http://schemas.openxmlformats.org/drawingml/2006/main">
              <a:ext uri="{FF2B5EF4-FFF2-40B4-BE49-F238E27FC236}">
                <a16:creationId xmlns:a16="http://schemas.microsoft.com/office/drawing/2014/main" id="{C1589B49-0602-496F-B8A1-152A3AE6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571750"/>
            <a:ext cx="7553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已保存、当前可用、长期就绪分别断言；受理不等于生效。</a:t>
            </a:r>
          </a:p>
        </p:txBody>
      </p:sp>
      <p:sp>
        <p:nvSpPr>
          <p:cNvPr id="12" name="line-96">
            <a:extLst xmlns:a="http://schemas.openxmlformats.org/drawingml/2006/main">
              <a:ext uri="{FF2B5EF4-FFF2-40B4-BE49-F238E27FC236}">
                <a16:creationId xmlns:a16="http://schemas.microsoft.com/office/drawing/2014/main" id="{E07E4F3B-BA83-4328-93FA-3DEC636F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5625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13" name="p3-97">
            <a:extLst xmlns:a="http://schemas.openxmlformats.org/drawingml/2006/main">
              <a:ext uri="{FF2B5EF4-FFF2-40B4-BE49-F238E27FC236}">
                <a16:creationId xmlns:a16="http://schemas.microsoft.com/office/drawing/2014/main" id="{A747527A-66BC-47D5-9CCC-A7C894F28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3362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03  覆盖正常、边界和故障</a:t>
            </a:r>
          </a:p>
        </p:txBody>
      </p:sp>
      <p:sp>
        <p:nvSpPr>
          <p:cNvPr id="14" name="p3-98">
            <a:extLst xmlns:a="http://schemas.openxmlformats.org/drawingml/2006/main">
              <a:ext uri="{FF2B5EF4-FFF2-40B4-BE49-F238E27FC236}">
                <a16:creationId xmlns:a16="http://schemas.microsoft.com/office/drawing/2014/main" id="{D5760B65-2295-4764-9811-C34910B9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181350"/>
            <a:ext cx="7553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在处理前、提交中、返回前改变条件，检查超时、重放与重启。</a:t>
            </a:r>
          </a:p>
        </p:txBody>
      </p:sp>
      <p:sp>
        <p:nvSpPr>
          <p:cNvPr id="15" name="line-99">
            <a:extLst xmlns:a="http://schemas.openxmlformats.org/drawingml/2006/main">
              <a:ext uri="{FF2B5EF4-FFF2-40B4-BE49-F238E27FC236}">
                <a16:creationId xmlns:a16="http://schemas.microsoft.com/office/drawing/2014/main" id="{24077BCE-A0E9-4E7A-9099-54C841889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05225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16" name="p3-100">
            <a:extLst xmlns:a="http://schemas.openxmlformats.org/drawingml/2006/main">
              <a:ext uri="{FF2B5EF4-FFF2-40B4-BE49-F238E27FC236}">
                <a16:creationId xmlns:a16="http://schemas.microsoft.com/office/drawing/2014/main" id="{CAAFC9E7-5DE8-4D89-98C2-E8F1BFE20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3362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04  贯穿不可破坏的约束</a:t>
            </a:r>
          </a:p>
        </p:txBody>
      </p:sp>
      <p:sp>
        <p:nvSpPr>
          <p:cNvPr id="17" name="p3-101">
            <a:extLst xmlns:a="http://schemas.openxmlformats.org/drawingml/2006/main">
              <a:ext uri="{FF2B5EF4-FFF2-40B4-BE49-F238E27FC236}">
                <a16:creationId xmlns:a16="http://schemas.microsoft.com/office/drawing/2014/main" id="{45FCFF69-CD9B-4BF7-99EA-65C5CC81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790950"/>
            <a:ext cx="7553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旧版 / 删除 / 越权内容不交付；同一副作用不重复发生。</a:t>
            </a:r>
          </a:p>
        </p:txBody>
      </p:sp>
      <p:sp>
        <p:nvSpPr>
          <p:cNvPr id="18" name="line-102">
            <a:extLst xmlns:a="http://schemas.openxmlformats.org/drawingml/2006/main">
              <a:ext uri="{FF2B5EF4-FFF2-40B4-BE49-F238E27FC236}">
                <a16:creationId xmlns:a16="http://schemas.microsoft.com/office/drawing/2014/main" id="{3D641AE4-9ECF-4D4B-96AB-53B26091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14825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19" name="p3-103">
            <a:extLst xmlns:a="http://schemas.openxmlformats.org/drawingml/2006/main">
              <a:ext uri="{FF2B5EF4-FFF2-40B4-BE49-F238E27FC236}">
                <a16:creationId xmlns:a16="http://schemas.microsoft.com/office/drawing/2014/main" id="{754C6E3A-9285-47C4-A704-68DD0046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00550"/>
            <a:ext cx="3362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05  分开验证层级</a:t>
            </a:r>
          </a:p>
        </p:txBody>
      </p:sp>
      <p:sp>
        <p:nvSpPr>
          <p:cNvPr id="20" name="p3-104">
            <a:extLst xmlns:a="http://schemas.openxmlformats.org/drawingml/2006/main">
              <a:ext uri="{FF2B5EF4-FFF2-40B4-BE49-F238E27FC236}">
                <a16:creationId xmlns:a16="http://schemas.microsoft.com/office/drawing/2014/main" id="{FE4B3324-0B91-4D2C-BED2-E7E02315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4400550"/>
            <a:ext cx="7553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本地、模拟、真实 P2 分别出结论，缺环境的真实项记为未执行。</a:t>
            </a:r>
          </a:p>
        </p:txBody>
      </p:sp>
      <p:sp>
        <p:nvSpPr>
          <p:cNvPr id="21" name="line-105">
            <a:extLst xmlns:a="http://schemas.openxmlformats.org/drawingml/2006/main">
              <a:ext uri="{FF2B5EF4-FFF2-40B4-BE49-F238E27FC236}">
                <a16:creationId xmlns:a16="http://schemas.microsoft.com/office/drawing/2014/main" id="{8AE4E857-0B44-4052-9C8B-73EB334A0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22" name="p3-106">
            <a:extLst xmlns:a="http://schemas.openxmlformats.org/drawingml/2006/main">
              <a:ext uri="{FF2B5EF4-FFF2-40B4-BE49-F238E27FC236}">
                <a16:creationId xmlns:a16="http://schemas.microsoft.com/office/drawing/2014/main" id="{81856B8F-F5D4-4716-989B-DAB9ED85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3362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06  结果必须能复现</a:t>
            </a:r>
          </a:p>
        </p:txBody>
      </p:sp>
      <p:sp>
        <p:nvSpPr>
          <p:cNvPr id="23" name="p3-107">
            <a:extLst xmlns:a="http://schemas.openxmlformats.org/drawingml/2006/main">
              <a:ext uri="{FF2B5EF4-FFF2-40B4-BE49-F238E27FC236}">
                <a16:creationId xmlns:a16="http://schemas.microsoft.com/office/drawing/2014/main" id="{10D173CD-A6EB-4DB0-8127-9A7BC06A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5010150"/>
            <a:ext cx="75533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固定版本、数据、模型与配置，关联请求、任务、动作和复测记录。</a:t>
            </a:r>
          </a:p>
        </p:txBody>
      </p:sp>
      <p:sp>
        <p:nvSpPr>
          <p:cNvPr id="24" name="p3-108">
            <a:extLst xmlns:a="http://schemas.openxmlformats.org/drawingml/2006/main">
              <a:ext uri="{FF2B5EF4-FFF2-40B4-BE49-F238E27FC236}">
                <a16:creationId xmlns:a16="http://schemas.microsoft.com/office/drawing/2014/main" id="{448B2657-E758-4F56-9CE1-85833F54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每条用例至少包含：前置数据、动作、预期结果、失败条件和证据。</a:t>
            </a:r>
          </a:p>
        </p:txBody>
      </p:sp>
    </p:spTree>
    <p:extLst>
      <p:ext uri="{BB962C8B-B14F-4D97-AF65-F5344CB8AC3E}">
        <p14:creationId xmlns:p14="http://schemas.microsoft.com/office/powerpoint/2010/main" val="110158226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14">
            <a:extLst xmlns:a="http://schemas.openxmlformats.org/drawingml/2006/main">
              <a:ext uri="{FF2B5EF4-FFF2-40B4-BE49-F238E27FC236}">
                <a16:creationId xmlns:a16="http://schemas.microsoft.com/office/drawing/2014/main" id="{E85E820C-F5E8-4416-99E3-0F2EC2D1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03  测试设计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959793E9-6372-467E-9765-A7516957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测试实现：分层复用数据和断言</a:t>
            </a:r>
          </a:p>
        </p:txBody>
      </p:sp>
      <p:sp>
        <p:nvSpPr>
          <p:cNvPr id="3" name="p3-109">
            <a:extLst xmlns:a="http://schemas.openxmlformats.org/drawingml/2006/main">
              <a:ext uri="{FF2B5EF4-FFF2-40B4-BE49-F238E27FC236}">
                <a16:creationId xmlns:a16="http://schemas.microsoft.com/office/drawing/2014/main" id="{F444FE4B-79A2-4B05-8F32-3CC6B18E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pytest 组织用例与隔离环境，持续集成先跑快速验证，候选版本跑完整验证</a:t>
            </a:r>
          </a:p>
        </p:txBody>
      </p:sp>
      <p:sp>
        <p:nvSpPr>
          <p:cNvPr id="4" name="line-110">
            <a:extLst xmlns:a="http://schemas.openxmlformats.org/drawingml/2006/main">
              <a:ext uri="{FF2B5EF4-FFF2-40B4-BE49-F238E27FC236}">
                <a16:creationId xmlns:a16="http://schemas.microsoft.com/office/drawing/2014/main" id="{2BBA66C2-3395-4D8F-99A4-AE66EDA2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p3-111">
            <a:extLst xmlns:a="http://schemas.openxmlformats.org/drawingml/2006/main">
              <a:ext uri="{FF2B5EF4-FFF2-40B4-BE49-F238E27FC236}">
                <a16:creationId xmlns:a16="http://schemas.microsoft.com/office/drawing/2014/main" id="{E26A757E-F77B-458E-9E59-961DE011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MVP 项目落地方案  V3.0</a:t>
            </a:r>
          </a:p>
        </p:txBody>
      </p:sp>
      <p:sp>
        <p:nvSpPr>
          <p:cNvPr id="6" name="p3-112">
            <a:extLst xmlns:a="http://schemas.openxmlformats.org/drawingml/2006/main">
              <a:ext uri="{FF2B5EF4-FFF2-40B4-BE49-F238E27FC236}">
                <a16:creationId xmlns:a16="http://schemas.microsoft.com/office/drawing/2014/main" id="{46E6EFEF-2250-4FBA-8442-53AC2F1A4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293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14 / 22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47875"/>
                <a:gridCol w="4762500"/>
                <a:gridCol w="4162425"/>
              </a:tblGrid>
              <a:tr h="438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层级</a:t>
                      </a:r>
                    </a:p>
                  </a:txBody>
                  <a:tcPr marL="95250" marR="95250" marT="66675" marB="66675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怎样实现</a:t>
                      </a:r>
                    </a:p>
                  </a:txBody>
                  <a:tcPr marL="95250" marR="95250" marT="66675" marB="66675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保留什么证据</a:t>
                      </a:r>
                    </a:p>
                  </a:txBody>
                  <a:tcPr marL="95250" marR="95250" marT="66675" marB="66675" anchor="ctr">
                    <a:solidFill>
                      <a:srgbClr val="163044"/>
                    </a:solidFill>
                  </a:tcPr>
                </a:tc>
              </a:tr>
              <a:tr h="7239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单元 / 契约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pytest 参数化输入、状态和错误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 fixture 隔离身份、时间与 Provider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结构 / 版本 / 权限断言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错误类型与状态迁移结果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P3 跨模块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 HTTP 边界、持久任务和临时数据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通过公开接口观察，增加进程重启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保存到召回的连续业务结果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任务 / Trace / 数据恢复关联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</a:tr>
              <a:tr h="7239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依赖一致性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同一数据和业务预期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分别接本地、模拟与真实 P2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三个环境分别报告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适配差异、真实未执行项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 / 运行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固定标注集、负载与机器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专用评测、压测和持续运行脚本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样本级错误、分位延迟、吞吐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24h 资源 / 积压 / 未决动作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8" name="p3-113">
            <a:extLst xmlns:a="http://schemas.openxmlformats.org/drawingml/2006/main">
              <a:ext uri="{FF2B5EF4-FFF2-40B4-BE49-F238E27FC236}">
                <a16:creationId xmlns:a16="http://schemas.microsoft.com/office/drawing/2014/main" id="{E8D677D7-F4A7-4F55-8662-9918732C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34025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每次提交做快速检查；持续回归覆盖业务链路；候选版本补齐真实依赖与长稳</a:t>
            </a:r>
          </a:p>
        </p:txBody>
      </p:sp>
      <p:sp>
        <p:nvSpPr>
          <p:cNvPr id="9" name="p3-114">
            <a:extLst xmlns:a="http://schemas.openxmlformats.org/drawingml/2006/main">
              <a:ext uri="{FF2B5EF4-FFF2-40B4-BE49-F238E27FC236}">
                <a16:creationId xmlns:a16="http://schemas.microsoft.com/office/drawing/2014/main" id="{5AA85B4D-EABF-41E8-A81C-66490782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535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2569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25699A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0faf8ee5a994e67"/>
              </a:rPr>
              <a:t>pytest  docs.pytest.org/en/stable/</a:t>
            </a:r>
          </a:p>
        </p:txBody>
      </p:sp>
      <p:sp>
        <p:nvSpPr>
          <p:cNvPr id="10" name="p3-115">
            <a:extLst xmlns:a="http://schemas.openxmlformats.org/drawingml/2006/main">
              <a:ext uri="{FF2B5EF4-FFF2-40B4-BE49-F238E27FC236}">
                <a16:creationId xmlns:a16="http://schemas.microsoft.com/office/drawing/2014/main" id="{28C06056-DDCD-4B76-9319-2C12EE64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962650"/>
            <a:ext cx="5353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38" b="0">
                <a:solidFill>
                  <a:srgbClr val="25699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38" b="0">
                <a:solidFill>
                  <a:srgbClr val="25699A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7ee3a74fa214849"/>
              </a:rPr>
              <a:t>持续集成 GitHub Actions  docs.github.com/en/actions</a:t>
            </a:r>
          </a:p>
        </p:txBody>
      </p:sp>
    </p:spTree>
    <p:extLst>
      <p:ext uri="{BB962C8B-B14F-4D97-AF65-F5344CB8AC3E}">
        <p14:creationId xmlns:p14="http://schemas.microsoft.com/office/powerpoint/2010/main" val="11118306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5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5241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99A"/>
            </a:solidFill>
            <a:tailEnd type="arrow" w="med" len="med"/>
          </a:ln>
        </p:spPr>
      </p:cxnSp>
      <p:cxnSp>
        <p:nvCxnSpPr>
          <p:cNvPr id="26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5962650" y="25241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99A"/>
            </a:solidFill>
            <a:tailEnd type="arrow" w="med" len="med"/>
          </a:ln>
        </p:spPr>
      </p:cxnSp>
      <p:cxnSp>
        <p:nvCxnSpPr>
          <p:cNvPr id="27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3152775" y="25241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99A"/>
            </a:solidFill>
            <a:tailEnd type="arrow" w="med" len="med"/>
          </a:ln>
        </p:spPr>
      </p:cxnSp>
      <p:sp>
        <p:nvSpPr>
          <p:cNvPr id="28" name="section-15">
            <a:extLst xmlns:a="http://schemas.openxmlformats.org/drawingml/2006/main">
              <a:ext uri="{FF2B5EF4-FFF2-40B4-BE49-F238E27FC236}">
                <a16:creationId xmlns:a16="http://schemas.microsoft.com/office/drawing/2014/main" id="{B5F90036-B316-4D66-AAED-FF4CCC361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03  测试设计</a:t>
            </a:r>
          </a:p>
        </p:txBody>
      </p:sp>
      <p:sp>
        <p:nvSpPr>
          <p:cNvPr id="2" name="title-15">
            <a:extLst xmlns:a="http://schemas.openxmlformats.org/drawingml/2006/main">
              <a:ext uri="{FF2B5EF4-FFF2-40B4-BE49-F238E27FC236}">
                <a16:creationId xmlns:a16="http://schemas.microsoft.com/office/drawing/2014/main" id="{728E9155-879F-4F86-A929-487A121E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测试设计示例：预算更正与删除</a:t>
            </a:r>
          </a:p>
        </p:txBody>
      </p:sp>
      <p:sp>
        <p:nvSpPr>
          <p:cNvPr id="3" name="p3-116">
            <a:extLst xmlns:a="http://schemas.openxmlformats.org/drawingml/2006/main">
              <a:ext uri="{FF2B5EF4-FFF2-40B4-BE49-F238E27FC236}">
                <a16:creationId xmlns:a16="http://schemas.microsoft.com/office/drawing/2014/main" id="{4C4E042A-242E-4C0B-BE26-61F4059C1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同一业务链路同时检查正确结果和禁止发生的结果</a:t>
            </a:r>
          </a:p>
        </p:txBody>
      </p:sp>
      <p:sp>
        <p:nvSpPr>
          <p:cNvPr id="4" name="line-117">
            <a:extLst xmlns:a="http://schemas.openxmlformats.org/drawingml/2006/main">
              <a:ext uri="{FF2B5EF4-FFF2-40B4-BE49-F238E27FC236}">
                <a16:creationId xmlns:a16="http://schemas.microsoft.com/office/drawing/2014/main" id="{D98576C3-6884-4930-82F2-3BCCF929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p3-118">
            <a:extLst xmlns:a="http://schemas.openxmlformats.org/drawingml/2006/main">
              <a:ext uri="{FF2B5EF4-FFF2-40B4-BE49-F238E27FC236}">
                <a16:creationId xmlns:a16="http://schemas.microsoft.com/office/drawing/2014/main" id="{D10EEB6C-7652-4154-B99F-D43D0F6A0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MVP 项目落地方案  V3.0</a:t>
            </a:r>
          </a:p>
        </p:txBody>
      </p:sp>
      <p:sp>
        <p:nvSpPr>
          <p:cNvPr id="6" name="p3-119">
            <a:extLst xmlns:a="http://schemas.openxmlformats.org/drawingml/2006/main">
              <a:ext uri="{FF2B5EF4-FFF2-40B4-BE49-F238E27FC236}">
                <a16:creationId xmlns:a16="http://schemas.microsoft.com/office/drawing/2014/main" id="{8C67C2C2-A654-486D-BD38-08D1B07E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293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15 / 22</a:t>
            </a:r>
          </a:p>
        </p:txBody>
      </p:sp>
      <p:sp>
        <p:nvSpPr>
          <p:cNvPr id="7" name="rect-120">
            <a:extLst xmlns:a="http://schemas.openxmlformats.org/drawingml/2006/main">
              <a:ext uri="{FF2B5EF4-FFF2-40B4-BE49-F238E27FC236}">
                <a16:creationId xmlns:a16="http://schemas.microsoft.com/office/drawing/2014/main" id="{F6E3D56F-8452-4DAA-A2D6-F435D311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62175"/>
            <a:ext cx="25431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9525">
            <a:solidFill>
              <a:srgbClr val="D7E2E8"/>
            </a:solidFill>
          </a:ln>
        </p:spPr>
        <p:txBody>
          <a:bodyPr xmlns:a="http://schemas.openxmlformats.org/drawingml/2006/main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保存 20 万</a:t>
            </a:r>
          </a:p>
        </p:txBody>
      </p:sp>
      <p:sp>
        <p:nvSpPr>
          <p:cNvPr id="8" name="rect-121">
            <a:extLst xmlns:a="http://schemas.openxmlformats.org/drawingml/2006/main">
              <a:ext uri="{FF2B5EF4-FFF2-40B4-BE49-F238E27FC236}">
                <a16:creationId xmlns:a16="http://schemas.microsoft.com/office/drawing/2014/main" id="{9072A294-ADD9-4A5A-BA9F-17F87D99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162175"/>
            <a:ext cx="25431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9525">
            <a:solidFill>
              <a:srgbClr val="D7E2E8"/>
            </a:solidFill>
          </a:ln>
        </p:spPr>
        <p:txBody>
          <a:bodyPr xmlns:a="http://schemas.openxmlformats.org/drawingml/2006/main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跨会话召回</a:t>
            </a:r>
          </a:p>
        </p:txBody>
      </p:sp>
      <p:sp>
        <p:nvSpPr>
          <p:cNvPr id="9" name="rect-122">
            <a:extLst xmlns:a="http://schemas.openxmlformats.org/drawingml/2006/main">
              <a:ext uri="{FF2B5EF4-FFF2-40B4-BE49-F238E27FC236}">
                <a16:creationId xmlns:a16="http://schemas.microsoft.com/office/drawing/2014/main" id="{748B5A38-6209-496D-AC9D-46C3C80F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162175"/>
            <a:ext cx="25431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9525">
            <a:solidFill>
              <a:srgbClr val="D7E2E8"/>
            </a:solidFill>
          </a:ln>
        </p:spPr>
        <p:txBody>
          <a:bodyPr xmlns:a="http://schemas.openxmlformats.org/drawingml/2006/main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更正为 15 万</a:t>
            </a:r>
          </a:p>
        </p:txBody>
      </p:sp>
      <p:sp>
        <p:nvSpPr>
          <p:cNvPr id="10" name="rect-123">
            <a:extLst xmlns:a="http://schemas.openxmlformats.org/drawingml/2006/main">
              <a:ext uri="{FF2B5EF4-FFF2-40B4-BE49-F238E27FC236}">
                <a16:creationId xmlns:a16="http://schemas.microsoft.com/office/drawing/2014/main" id="{BA720F6E-025E-4E75-90FC-5678F1C2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162175"/>
            <a:ext cx="25431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9525">
            <a:solidFill>
              <a:srgbClr val="D7E2E8"/>
            </a:solidFill>
          </a:ln>
        </p:spPr>
        <p:txBody>
          <a:bodyPr xmlns:a="http://schemas.openxmlformats.org/drawingml/2006/main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删除后重查</a:t>
            </a:r>
          </a:p>
        </p:txBody>
      </p:sp>
      <p:sp>
        <p:nvSpPr>
          <p:cNvPr id="14" name="p3-124">
            <a:extLst xmlns:a="http://schemas.openxmlformats.org/drawingml/2006/main">
              <a:ext uri="{FF2B5EF4-FFF2-40B4-BE49-F238E27FC236}">
                <a16:creationId xmlns:a16="http://schemas.microsoft.com/office/drawing/2014/main" id="{D2ECBB83-7ECC-43B1-91C9-A4ACA577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105150"/>
            <a:ext cx="24860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13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分别观察保存、当前可用</a:t>
            </a:r>
          </a:p>
          <a:p xmlns:a="http://schemas.openxmlformats.org/drawingml/2006/main">
            <a:pPr algn="ctr">
              <a:defRPr sz="1613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13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与长期就绪</a:t>
            </a:r>
          </a:p>
        </p:txBody>
      </p:sp>
      <p:sp>
        <p:nvSpPr>
          <p:cNvPr id="15" name="p3-125">
            <a:extLst xmlns:a="http://schemas.openxmlformats.org/drawingml/2006/main">
              <a:ext uri="{FF2B5EF4-FFF2-40B4-BE49-F238E27FC236}">
                <a16:creationId xmlns:a16="http://schemas.microsoft.com/office/drawing/2014/main" id="{542221FA-4013-4AEA-9876-834AD8F5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105150"/>
            <a:ext cx="24860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13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内容来自获准来源</a:t>
            </a:r>
          </a:p>
          <a:p xmlns:a="http://schemas.openxmlformats.org/drawingml/2006/main">
            <a:pPr algn="ctr">
              <a:defRPr sz="1613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13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返回正确版本</a:t>
            </a:r>
          </a:p>
        </p:txBody>
      </p:sp>
      <p:sp>
        <p:nvSpPr>
          <p:cNvPr id="16" name="p3-126">
            <a:extLst xmlns:a="http://schemas.openxmlformats.org/drawingml/2006/main">
              <a:ext uri="{FF2B5EF4-FFF2-40B4-BE49-F238E27FC236}">
                <a16:creationId xmlns:a16="http://schemas.microsoft.com/office/drawing/2014/main" id="{D1682123-14C4-40A1-9D75-D8000462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3105150"/>
            <a:ext cx="24860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13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新召回使用新值</a:t>
            </a:r>
          </a:p>
          <a:p xmlns:a="http://schemas.openxmlformats.org/drawingml/2006/main">
            <a:pPr algn="ctr">
              <a:defRPr sz="1613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13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旧结果重新取也须复核</a:t>
            </a:r>
          </a:p>
        </p:txBody>
      </p:sp>
      <p:sp>
        <p:nvSpPr>
          <p:cNvPr id="17" name="p3-127">
            <a:extLst xmlns:a="http://schemas.openxmlformats.org/drawingml/2006/main">
              <a:ext uri="{FF2B5EF4-FFF2-40B4-BE49-F238E27FC236}">
                <a16:creationId xmlns:a16="http://schemas.microsoft.com/office/drawing/2014/main" id="{B6B332A0-4BE3-4D12-9FA2-96DEB0E58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105150"/>
            <a:ext cx="248602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13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13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新查询、旧结果、迟到任务</a:t>
            </a:r>
          </a:p>
          <a:p xmlns:a="http://schemas.openxmlformats.org/drawingml/2006/main">
            <a:pPr algn="ctr">
              <a:defRPr sz="1613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13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均不能交付删除正文</a:t>
            </a:r>
          </a:p>
        </p:txBody>
      </p:sp>
      <p:sp>
        <p:nvSpPr>
          <p:cNvPr id="18" name="line-128">
            <a:extLst xmlns:a="http://schemas.openxmlformats.org/drawingml/2006/main">
              <a:ext uri="{FF2B5EF4-FFF2-40B4-BE49-F238E27FC236}">
                <a16:creationId xmlns:a16="http://schemas.microsoft.com/office/drawing/2014/main" id="{DDC36A3E-7020-4897-A868-329EDDAB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19" name="p3-129">
            <a:extLst xmlns:a="http://schemas.openxmlformats.org/drawingml/2006/main">
              <a:ext uri="{FF2B5EF4-FFF2-40B4-BE49-F238E27FC236}">
                <a16:creationId xmlns:a16="http://schemas.microsoft.com/office/drawing/2014/main" id="{B189600F-2F83-4CE2-A737-47797D4D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测试数据</a:t>
            </a:r>
          </a:p>
        </p:txBody>
      </p:sp>
      <p:sp>
        <p:nvSpPr>
          <p:cNvPr id="20" name="p3-130">
            <a:extLst xmlns:a="http://schemas.openxmlformats.org/drawingml/2006/main">
              <a:ext uri="{FF2B5EF4-FFF2-40B4-BE49-F238E27FC236}">
                <a16:creationId xmlns:a16="http://schemas.microsoft.com/office/drawing/2014/main" id="{D8B2736C-7508-4A67-B8CC-F893C0C27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476750"/>
            <a:ext cx="8867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两租户、两用户、两会话；保留原文、来源与预期版本。</a:t>
            </a:r>
          </a:p>
        </p:txBody>
      </p:sp>
      <p:sp>
        <p:nvSpPr>
          <p:cNvPr id="21" name="p3-131">
            <a:extLst xmlns:a="http://schemas.openxmlformats.org/drawingml/2006/main">
              <a:ext uri="{FF2B5EF4-FFF2-40B4-BE49-F238E27FC236}">
                <a16:creationId xmlns:a16="http://schemas.microsoft.com/office/drawing/2014/main" id="{C98A4BAB-7260-49B7-9F00-54903A475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25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插入变化</a:t>
            </a:r>
          </a:p>
        </p:txBody>
      </p:sp>
      <p:sp>
        <p:nvSpPr>
          <p:cNvPr id="22" name="p3-132">
            <a:extLst xmlns:a="http://schemas.openxmlformats.org/drawingml/2006/main">
              <a:ext uri="{FF2B5EF4-FFF2-40B4-BE49-F238E27FC236}">
                <a16:creationId xmlns:a16="http://schemas.microsoft.com/office/drawing/2014/main" id="{6F9B6158-D65E-4C8D-A19C-5EECF0E7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962525"/>
            <a:ext cx="8867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未授权访问、索引未就绪、提交前撤权、处理中重启。</a:t>
            </a:r>
          </a:p>
        </p:txBody>
      </p:sp>
      <p:sp>
        <p:nvSpPr>
          <p:cNvPr id="23" name="p3-133">
            <a:extLst xmlns:a="http://schemas.openxmlformats.org/drawingml/2006/main">
              <a:ext uri="{FF2B5EF4-FFF2-40B4-BE49-F238E27FC236}">
                <a16:creationId xmlns:a16="http://schemas.microsoft.com/office/drawing/2014/main" id="{0F9A3E4C-23E5-45B3-84DE-5F2D98CD9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57825"/>
            <a:ext cx="190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同时断言</a:t>
            </a:r>
          </a:p>
        </p:txBody>
      </p:sp>
      <p:sp>
        <p:nvSpPr>
          <p:cNvPr id="24" name="p3-134">
            <a:extLst xmlns:a="http://schemas.openxmlformats.org/drawingml/2006/main">
              <a:ext uri="{FF2B5EF4-FFF2-40B4-BE49-F238E27FC236}">
                <a16:creationId xmlns:a16="http://schemas.microsoft.com/office/drawing/2014/main" id="{CC5006D8-706C-4181-86AA-37B3CBEA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457825"/>
            <a:ext cx="88677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正确内容能返回；旧、删除、越权内容不能返回。</a:t>
            </a:r>
          </a:p>
        </p:txBody>
      </p:sp>
    </p:spTree>
    <p:extLst>
      <p:ext uri="{BB962C8B-B14F-4D97-AF65-F5344CB8AC3E}">
        <p14:creationId xmlns:p14="http://schemas.microsoft.com/office/powerpoint/2010/main" val="11200589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16">
            <a:extLst xmlns:a="http://schemas.openxmlformats.org/drawingml/2006/main">
              <a:ext uri="{FF2B5EF4-FFF2-40B4-BE49-F238E27FC236}">
                <a16:creationId xmlns:a16="http://schemas.microsoft.com/office/drawing/2014/main" id="{140E277C-F507-41CC-A04D-ACE0E37B6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03  测试设计</a:t>
            </a:r>
          </a:p>
        </p:txBody>
      </p:sp>
      <p:sp>
        <p:nvSpPr>
          <p:cNvPr id="2" name="title-16">
            <a:extLst xmlns:a="http://schemas.openxmlformats.org/drawingml/2006/main">
              <a:ext uri="{FF2B5EF4-FFF2-40B4-BE49-F238E27FC236}">
                <a16:creationId xmlns:a16="http://schemas.microsoft.com/office/drawing/2014/main" id="{707D602B-8DA4-412A-829A-13E250DB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P2 联调：同样业务预期，核对真实效果</a:t>
            </a:r>
          </a:p>
        </p:txBody>
      </p:sp>
      <p:sp>
        <p:nvSpPr>
          <p:cNvPr id="3" name="p3-135">
            <a:extLst xmlns:a="http://schemas.openxmlformats.org/drawingml/2006/main">
              <a:ext uri="{FF2B5EF4-FFF2-40B4-BE49-F238E27FC236}">
                <a16:creationId xmlns:a16="http://schemas.microsoft.com/office/drawing/2014/main" id="{1DA85EAD-947E-48D8-9A86-81788E66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先确认接入条件，再逐链路扩大范围，故障恢复与正常流程一起验证</a:t>
            </a:r>
          </a:p>
        </p:txBody>
      </p:sp>
      <p:sp>
        <p:nvSpPr>
          <p:cNvPr id="4" name="line-136">
            <a:extLst xmlns:a="http://schemas.openxmlformats.org/drawingml/2006/main">
              <a:ext uri="{FF2B5EF4-FFF2-40B4-BE49-F238E27FC236}">
                <a16:creationId xmlns:a16="http://schemas.microsoft.com/office/drawing/2014/main" id="{AE822367-4707-4E19-8D33-FE6AEF00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p3-137">
            <a:extLst xmlns:a="http://schemas.openxmlformats.org/drawingml/2006/main">
              <a:ext uri="{FF2B5EF4-FFF2-40B4-BE49-F238E27FC236}">
                <a16:creationId xmlns:a16="http://schemas.microsoft.com/office/drawing/2014/main" id="{339F2476-C9F4-4D11-94FD-4813AE69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MVP 项目落地方案  V3.0</a:t>
            </a:r>
          </a:p>
        </p:txBody>
      </p:sp>
      <p:sp>
        <p:nvSpPr>
          <p:cNvPr id="6" name="p3-138">
            <a:extLst xmlns:a="http://schemas.openxmlformats.org/drawingml/2006/main">
              <a:ext uri="{FF2B5EF4-FFF2-40B4-BE49-F238E27FC236}">
                <a16:creationId xmlns:a16="http://schemas.microsoft.com/office/drawing/2014/main" id="{E12772CE-16DB-4C33-8C9A-7F64F2BD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293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16 / 22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10972800" cy="34099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47875"/>
                <a:gridCol w="4762500"/>
                <a:gridCol w="4162425"/>
              </a:tblGrid>
              <a:tr h="438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验证阶段</a:t>
                      </a:r>
                    </a:p>
                  </a:txBody>
                  <a:tcPr marL="95250" marR="95250" marT="66675" marB="66675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执行重点</a:t>
                      </a:r>
                    </a:p>
                  </a:txBody>
                  <a:tcPr marL="95250" marR="95250" marT="66675" marB="66675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必须观察到什么</a:t>
                      </a:r>
                    </a:p>
                  </a:txBody>
                  <a:tcPr marL="95250" marR="95250" marT="66675" marB="66675" anchor="ctr">
                    <a:solidFill>
                      <a:srgbClr val="163044"/>
                    </a:solidFill>
                  </a:tcPr>
                </a:tc>
              </a:tr>
              <a:tr h="7429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接入前：契约一致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协议版本、租户、内容 / 模型空间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错误、超时、幂等及原操作查询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本地与真实适配字段含义一致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不支持的能力明确登记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首条真实链路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保存正文、索引写查、长期召回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核对实际正文、版本和来源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查询得到可验证的当前内容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不能只凭写入回执标为就绪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</a:tr>
              <a:tr h="7429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完整业务与隔离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更正、删除、关系变化、动作交接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跨租户、共享撤销和旧结果重放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旧 / 删除 / 越权内容不交付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真实动作可核对，读取路径有效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429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故障与恢复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写后丢回执、部分写入、读回不符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依赖恢复、进程重启、迟到结果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保留原操作编号查询与读回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不重复副作用，不假报成功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8" name="p3-139">
            <a:extLst xmlns:a="http://schemas.openxmlformats.org/drawingml/2006/main">
              <a:ext uri="{FF2B5EF4-FFF2-40B4-BE49-F238E27FC236}">
                <a16:creationId xmlns:a16="http://schemas.microsoft.com/office/drawing/2014/main" id="{69CA3DB9-7DB6-412F-816E-1181D799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没有 P2 时先验证模拟状态；真实 P2 可用后，重新验证实际存取、隔离与动作</a:t>
            </a:r>
          </a:p>
        </p:txBody>
      </p:sp>
    </p:spTree>
    <p:extLst>
      <p:ext uri="{BB962C8B-B14F-4D97-AF65-F5344CB8AC3E}">
        <p14:creationId xmlns:p14="http://schemas.microsoft.com/office/powerpoint/2010/main" val="186651349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17">
            <a:extLst xmlns:a="http://schemas.openxmlformats.org/drawingml/2006/main">
              <a:ext uri="{FF2B5EF4-FFF2-40B4-BE49-F238E27FC236}">
                <a16:creationId xmlns:a16="http://schemas.microsoft.com/office/drawing/2014/main" id="{43183CE0-1344-4218-BD1A-CBAB3E58F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03  测试设计</a:t>
            </a:r>
          </a:p>
        </p:txBody>
      </p:sp>
      <p:sp>
        <p:nvSpPr>
          <p:cNvPr id="2" name="title-17">
            <a:extLst xmlns:a="http://schemas.openxmlformats.org/drawingml/2006/main">
              <a:ext uri="{FF2B5EF4-FFF2-40B4-BE49-F238E27FC236}">
                <a16:creationId xmlns:a16="http://schemas.microsoft.com/office/drawing/2014/main" id="{E2B8A6DE-F9D1-4C61-83C3-7381DCB48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质量、性能与长稳：先固定测量条件</a:t>
            </a:r>
          </a:p>
        </p:txBody>
      </p:sp>
      <p:sp>
        <p:nvSpPr>
          <p:cNvPr id="3" name="p3-140">
            <a:extLst xmlns:a="http://schemas.openxmlformats.org/drawingml/2006/main">
              <a:ext uri="{FF2B5EF4-FFF2-40B4-BE49-F238E27FC236}">
                <a16:creationId xmlns:a16="http://schemas.microsoft.com/office/drawing/2014/main" id="{32E61CEB-D99F-45FC-93B2-6EF8EAE2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沿用 PRD 目标，功能结果和运行指标分别出证据</a:t>
            </a:r>
          </a:p>
        </p:txBody>
      </p:sp>
      <p:sp>
        <p:nvSpPr>
          <p:cNvPr id="4" name="line-141">
            <a:extLst xmlns:a="http://schemas.openxmlformats.org/drawingml/2006/main">
              <a:ext uri="{FF2B5EF4-FFF2-40B4-BE49-F238E27FC236}">
                <a16:creationId xmlns:a16="http://schemas.microsoft.com/office/drawing/2014/main" id="{7960A186-9C55-41A3-833C-EFF906F2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p3-142">
            <a:extLst xmlns:a="http://schemas.openxmlformats.org/drawingml/2006/main">
              <a:ext uri="{FF2B5EF4-FFF2-40B4-BE49-F238E27FC236}">
                <a16:creationId xmlns:a16="http://schemas.microsoft.com/office/drawing/2014/main" id="{87CDB4F0-EEAB-4DE1-A998-8F378529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MVP 项目落地方案  V3.0</a:t>
            </a:r>
          </a:p>
        </p:txBody>
      </p:sp>
      <p:sp>
        <p:nvSpPr>
          <p:cNvPr id="6" name="p3-143">
            <a:extLst xmlns:a="http://schemas.openxmlformats.org/drawingml/2006/main">
              <a:ext uri="{FF2B5EF4-FFF2-40B4-BE49-F238E27FC236}">
                <a16:creationId xmlns:a16="http://schemas.microsoft.com/office/drawing/2014/main" id="{31EF2B3A-A9D8-4194-9B5F-CF1F2D79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293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17 / 22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28875"/>
                <a:gridCol w="3667125"/>
                <a:gridCol w="4876800"/>
              </a:tblGrid>
              <a:tr h="438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验收对象</a:t>
                      </a:r>
                    </a:p>
                  </a:txBody>
                  <a:tcPr marL="95250" marR="95250" marT="66675" marB="66675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 / 判定原则</a:t>
                      </a:r>
                    </a:p>
                  </a:txBody>
                  <a:tcPr marL="95250" marR="95250" marT="66675" marB="66675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怎样测量</a:t>
                      </a:r>
                    </a:p>
                  </a:txBody>
                  <a:tcPr marL="95250" marR="95250" marT="66675" marB="66675" anchor="ctr">
                    <a:solidFill>
                      <a:srgbClr val="163044"/>
                    </a:solidFill>
                  </a:tcPr>
                </a:tc>
              </a:tr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内容与检索质量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来源、数字、否定和条件不失真</a:t>
                      </a:r>
                    </a:p>
                    <a:p>
                      <a:r>
                        <a:rPr sz="15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覆盖更正、冲突与负样本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冻结标注集与评分规则</a:t>
                      </a:r>
                    </a:p>
                    <a:p>
                      <a:r>
                        <a:rPr sz="15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报告检索命中、事实保真和失败样本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正文压缩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压缩 ≥ 5 倍且质量通过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比较同批真实保存字节</a:t>
                      </a:r>
                    </a:p>
                    <a:p>
                      <a:r>
                        <a:rPr sz="15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压缩失败与保真问题单独记录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</a:tr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当前记忆核心读写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P99 &lt; 10 ms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固定硬件、负载、并发与冷热比</a:t>
                      </a:r>
                    </a:p>
                    <a:p>
                      <a:r>
                        <a:rPr sz="15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 Recall 时延另测，不混为一项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有效语义计算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≥ 2000 条 / 秒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固定模型、输入长度、批次和硬件</a:t>
                      </a:r>
                    </a:p>
                    <a:p>
                      <a:r>
                        <a:rPr sz="15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统计实际计算，不把缓存命中计入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</a:tr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基础调度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规则正确率 100%，错误降层 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按固定规则回放，核对真实目标</a:t>
                      </a:r>
                    </a:p>
                    <a:p>
                      <a:r>
                        <a:rPr sz="15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额外测前后台竞争与恢复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MVP 长稳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最终候选连续 ≥ 24 h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固定真实依赖，记录错误 / 积压 / 资源</a:t>
                      </a:r>
                    </a:p>
                    <a:p>
                      <a:r>
                        <a:rPr sz="15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影响运行的修复后重新计时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7315543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18">
            <a:extLst xmlns:a="http://schemas.openxmlformats.org/drawingml/2006/main">
              <a:ext uri="{FF2B5EF4-FFF2-40B4-BE49-F238E27FC236}">
                <a16:creationId xmlns:a16="http://schemas.microsoft.com/office/drawing/2014/main" id="{9A1998BC-8995-44DF-9A0F-81E617AD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03  测试设计</a:t>
            </a:r>
          </a:p>
        </p:txBody>
      </p:sp>
      <p:sp>
        <p:nvSpPr>
          <p:cNvPr id="2" name="title-18">
            <a:extLst xmlns:a="http://schemas.openxmlformats.org/drawingml/2006/main">
              <a:ext uri="{FF2B5EF4-FFF2-40B4-BE49-F238E27FC236}">
                <a16:creationId xmlns:a16="http://schemas.microsoft.com/office/drawing/2014/main" id="{ADBFB144-3D80-4571-9B3D-C0A38FEF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验收标准：按证据逐级进入下一阶段</a:t>
            </a:r>
          </a:p>
        </p:txBody>
      </p:sp>
      <p:sp>
        <p:nvSpPr>
          <p:cNvPr id="3" name="p3-144">
            <a:extLst xmlns:a="http://schemas.openxmlformats.org/drawingml/2006/main">
              <a:ext uri="{FF2B5EF4-FFF2-40B4-BE49-F238E27FC236}">
                <a16:creationId xmlns:a16="http://schemas.microsoft.com/office/drawing/2014/main" id="{6C367476-CC22-442E-A2C9-6952C549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测试提供结果，技术负责人组织阶段验收，业务方完成 UAT 签收</a:t>
            </a:r>
          </a:p>
        </p:txBody>
      </p:sp>
      <p:sp>
        <p:nvSpPr>
          <p:cNvPr id="4" name="line-145">
            <a:extLst xmlns:a="http://schemas.openxmlformats.org/drawingml/2006/main">
              <a:ext uri="{FF2B5EF4-FFF2-40B4-BE49-F238E27FC236}">
                <a16:creationId xmlns:a16="http://schemas.microsoft.com/office/drawing/2014/main" id="{C4C99910-9DD6-4682-A86E-E9B760A51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p3-146">
            <a:extLst xmlns:a="http://schemas.openxmlformats.org/drawingml/2006/main">
              <a:ext uri="{FF2B5EF4-FFF2-40B4-BE49-F238E27FC236}">
                <a16:creationId xmlns:a16="http://schemas.microsoft.com/office/drawing/2014/main" id="{1B75895C-6CA9-4E33-B762-57287ED2D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MVP 项目落地方案  V3.0</a:t>
            </a:r>
          </a:p>
        </p:txBody>
      </p:sp>
      <p:sp>
        <p:nvSpPr>
          <p:cNvPr id="6" name="p3-147">
            <a:extLst xmlns:a="http://schemas.openxmlformats.org/drawingml/2006/main">
              <a:ext uri="{FF2B5EF4-FFF2-40B4-BE49-F238E27FC236}">
                <a16:creationId xmlns:a16="http://schemas.microsoft.com/office/drawing/2014/main" id="{D1FB3264-6AD3-4445-AB12-1B51544C2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293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18 / 22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10972800" cy="3486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43125"/>
                <a:gridCol w="5715000"/>
                <a:gridCol w="3114675"/>
              </a:tblGrid>
              <a:tr h="438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验收层级</a:t>
                      </a:r>
                    </a:p>
                  </a:txBody>
                  <a:tcPr marL="95250" marR="95250" marT="66675" marB="66675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通过条件</a:t>
                      </a:r>
                    </a:p>
                  </a:txBody>
                  <a:tcPr marL="95250" marR="95250" marT="66675" marB="66675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结论与签收责任</a:t>
                      </a:r>
                    </a:p>
                  </a:txBody>
                  <a:tcPr marL="95250" marR="95250" marT="66675" marB="66675" anchor="ctr">
                    <a:solidFill>
                      <a:srgbClr val="163044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功能与真实集成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约定 P0 业务、边界、隔离和恢复通过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 / 模型 / 身份实际路径有证据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对应测试出报告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陈凯组织技术验收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系统验收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质量与性能达标，最终候选 ≥ 24h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阻断缺陷修复并复测，部署恢复演练通过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测试执行，开发修复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陈凯确认准入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 UAT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真实业务必验场景全部通过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更正删除、隔离、故障与交付运行可复现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业务验收代表签收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测试见证并归档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发布交付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服务、配置、模型与证据同版本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备份、回滚、监测和运行接手完成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陈凯组织发布</a:t>
                      </a:r>
                    </a:p>
                    <a:p>
                      <a:r>
                        <a:rPr sz="1613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运行接手人确认接收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8" name="p3-148">
            <a:extLst xmlns:a="http://schemas.openxmlformats.org/drawingml/2006/main">
              <a:ext uri="{FF2B5EF4-FFF2-40B4-BE49-F238E27FC236}">
                <a16:creationId xmlns:a16="http://schemas.microsoft.com/office/drawing/2014/main" id="{D04BBA78-EE51-4459-99C7-FBBC7A789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阻断缺陷清零并复验；一般遗留项须写明接受条件和修复期，日期到达不自动通过</a:t>
            </a:r>
          </a:p>
        </p:txBody>
      </p:sp>
    </p:spTree>
    <p:extLst>
      <p:ext uri="{BB962C8B-B14F-4D97-AF65-F5344CB8AC3E}">
        <p14:creationId xmlns:p14="http://schemas.microsoft.com/office/powerpoint/2010/main" val="149385543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section-19">
            <a:extLst xmlns:a="http://schemas.openxmlformats.org/drawingml/2006/main">
              <a:ext uri="{FF2B5EF4-FFF2-40B4-BE49-F238E27FC236}">
                <a16:creationId xmlns:a16="http://schemas.microsoft.com/office/drawing/2014/main" id="{ABC91241-37EC-41F8-94E8-A8EEE2FD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时间节点</a:t>
            </a:r>
          </a:p>
        </p:txBody>
      </p:sp>
      <p:sp>
        <p:nvSpPr>
          <p:cNvPr id="2" name="title-19">
            <a:extLst xmlns:a="http://schemas.openxmlformats.org/drawingml/2006/main">
              <a:ext uri="{FF2B5EF4-FFF2-40B4-BE49-F238E27FC236}">
                <a16:creationId xmlns:a16="http://schemas.microsoft.com/office/drawing/2014/main" id="{AB6DDEB2-2106-439C-8268-169FF7864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MVP 时间规划：实现、测试和联调并行</a:t>
            </a:r>
          </a:p>
        </p:txBody>
      </p:sp>
      <p:sp>
        <p:nvSpPr>
          <p:cNvPr id="3" name="p3-149">
            <a:extLst xmlns:a="http://schemas.openxmlformats.org/drawingml/2006/main">
              <a:ext uri="{FF2B5EF4-FFF2-40B4-BE49-F238E27FC236}">
                <a16:creationId xmlns:a16="http://schemas.microsoft.com/office/drawing/2014/main" id="{3DD02FFB-5F92-40A1-BA53-C5CDB6B7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12/01 为目标；下列细分节点为排期建议，真实 P2 以 10/10 可接入为前提</a:t>
            </a:r>
          </a:p>
        </p:txBody>
      </p:sp>
      <p:sp>
        <p:nvSpPr>
          <p:cNvPr id="4" name="line-150">
            <a:extLst xmlns:a="http://schemas.openxmlformats.org/drawingml/2006/main">
              <a:ext uri="{FF2B5EF4-FFF2-40B4-BE49-F238E27FC236}">
                <a16:creationId xmlns:a16="http://schemas.microsoft.com/office/drawing/2014/main" id="{079EEB78-3B20-4702-82DF-D93561F64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p3-151">
            <a:extLst xmlns:a="http://schemas.openxmlformats.org/drawingml/2006/main">
              <a:ext uri="{FF2B5EF4-FFF2-40B4-BE49-F238E27FC236}">
                <a16:creationId xmlns:a16="http://schemas.microsoft.com/office/drawing/2014/main" id="{5ED6B8A3-EE2E-4DB7-8EE5-FAE4C602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MVP 项目落地方案  V3.0</a:t>
            </a:r>
          </a:p>
        </p:txBody>
      </p:sp>
      <p:sp>
        <p:nvSpPr>
          <p:cNvPr id="6" name="p3-152">
            <a:extLst xmlns:a="http://schemas.openxmlformats.org/drawingml/2006/main">
              <a:ext uri="{FF2B5EF4-FFF2-40B4-BE49-F238E27FC236}">
                <a16:creationId xmlns:a16="http://schemas.microsoft.com/office/drawing/2014/main" id="{01F6BECD-6F4F-4C35-85BD-27C88FAC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293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19 / 22</a:t>
            </a:r>
          </a:p>
        </p:txBody>
      </p:sp>
      <p:sp>
        <p:nvSpPr>
          <p:cNvPr id="7" name="p3-153">
            <a:extLst xmlns:a="http://schemas.openxmlformats.org/drawingml/2006/main">
              <a:ext uri="{FF2B5EF4-FFF2-40B4-BE49-F238E27FC236}">
                <a16:creationId xmlns:a16="http://schemas.microsoft.com/office/drawing/2014/main" id="{504241C8-6BD8-4438-8B38-E4DACD76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828800"/>
            <a:ext cx="733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9/30</a:t>
            </a:r>
          </a:p>
        </p:txBody>
      </p:sp>
      <p:sp>
        <p:nvSpPr>
          <p:cNvPr id="8" name="line-154">
            <a:extLst xmlns:a="http://schemas.openxmlformats.org/drawingml/2006/main">
              <a:ext uri="{FF2B5EF4-FFF2-40B4-BE49-F238E27FC236}">
                <a16:creationId xmlns:a16="http://schemas.microsoft.com/office/drawing/2014/main" id="{977A57D9-BAC7-43FA-92CD-43F84F9A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133600"/>
            <a:ext cx="95" cy="3390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9" name="p3-155">
            <a:extLst xmlns:a="http://schemas.openxmlformats.org/drawingml/2006/main">
              <a:ext uri="{FF2B5EF4-FFF2-40B4-BE49-F238E27FC236}">
                <a16:creationId xmlns:a16="http://schemas.microsoft.com/office/drawing/2014/main" id="{1A228D2D-56C9-4891-B698-4BDDC5062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1335" y="1828800"/>
            <a:ext cx="733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10/10</a:t>
            </a:r>
          </a:p>
        </p:txBody>
      </p:sp>
      <p:sp>
        <p:nvSpPr>
          <p:cNvPr id="10" name="line-156">
            <a:extLst xmlns:a="http://schemas.openxmlformats.org/drawingml/2006/main">
              <a:ext uri="{FF2B5EF4-FFF2-40B4-BE49-F238E27FC236}">
                <a16:creationId xmlns:a16="http://schemas.microsoft.com/office/drawing/2014/main" id="{5A558E08-E427-4FFA-B19B-60A9F549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5185" y="2133600"/>
            <a:ext cx="95" cy="3390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11" name="p3-157">
            <a:extLst xmlns:a="http://schemas.openxmlformats.org/drawingml/2006/main">
              <a:ext uri="{FF2B5EF4-FFF2-40B4-BE49-F238E27FC236}">
                <a16:creationId xmlns:a16="http://schemas.microsoft.com/office/drawing/2014/main" id="{94CEEDA9-66DB-4047-BF7E-A52054133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2168" y="1828800"/>
            <a:ext cx="733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10/24</a:t>
            </a:r>
          </a:p>
        </p:txBody>
      </p:sp>
      <p:sp>
        <p:nvSpPr>
          <p:cNvPr id="12" name="line-158">
            <a:extLst xmlns:a="http://schemas.openxmlformats.org/drawingml/2006/main">
              <a:ext uri="{FF2B5EF4-FFF2-40B4-BE49-F238E27FC236}">
                <a16:creationId xmlns:a16="http://schemas.microsoft.com/office/drawing/2014/main" id="{56E24D23-F20F-4861-867D-F093E074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6018" y="2133600"/>
            <a:ext cx="95" cy="3390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13" name="p3-159">
            <a:extLst xmlns:a="http://schemas.openxmlformats.org/drawingml/2006/main">
              <a:ext uri="{FF2B5EF4-FFF2-40B4-BE49-F238E27FC236}">
                <a16:creationId xmlns:a16="http://schemas.microsoft.com/office/drawing/2014/main" id="{33636AB4-96F4-4710-9EFF-F2D481AC2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3001" y="1828800"/>
            <a:ext cx="733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11/07</a:t>
            </a:r>
          </a:p>
        </p:txBody>
      </p:sp>
      <p:sp>
        <p:nvSpPr>
          <p:cNvPr id="14" name="line-160">
            <a:extLst xmlns:a="http://schemas.openxmlformats.org/drawingml/2006/main">
              <a:ext uri="{FF2B5EF4-FFF2-40B4-BE49-F238E27FC236}">
                <a16:creationId xmlns:a16="http://schemas.microsoft.com/office/drawing/2014/main" id="{D546F495-C5D5-42F5-808A-EF5A660F6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851" y="2133600"/>
            <a:ext cx="95" cy="3390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15" name="p3-161">
            <a:extLst xmlns:a="http://schemas.openxmlformats.org/drawingml/2006/main">
              <a:ext uri="{FF2B5EF4-FFF2-40B4-BE49-F238E27FC236}">
                <a16:creationId xmlns:a16="http://schemas.microsoft.com/office/drawing/2014/main" id="{817A1EAD-1460-41B3-BA34-8E006CB4E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3835" y="1828800"/>
            <a:ext cx="733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11/21</a:t>
            </a:r>
          </a:p>
        </p:txBody>
      </p:sp>
      <p:sp>
        <p:nvSpPr>
          <p:cNvPr id="16" name="line-162">
            <a:extLst xmlns:a="http://schemas.openxmlformats.org/drawingml/2006/main">
              <a:ext uri="{FF2B5EF4-FFF2-40B4-BE49-F238E27FC236}">
                <a16:creationId xmlns:a16="http://schemas.microsoft.com/office/drawing/2014/main" id="{22DDB6A2-ABB3-4910-B277-77BD2A69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7685" y="2133600"/>
            <a:ext cx="95" cy="3390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17" name="p3-163">
            <a:extLst xmlns:a="http://schemas.openxmlformats.org/drawingml/2006/main">
              <a:ext uri="{FF2B5EF4-FFF2-40B4-BE49-F238E27FC236}">
                <a16:creationId xmlns:a16="http://schemas.microsoft.com/office/drawing/2014/main" id="{295DF918-F3FD-4214-8E67-D07D2EF9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144" y="1828800"/>
            <a:ext cx="7334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12/01</a:t>
            </a:r>
          </a:p>
        </p:txBody>
      </p:sp>
      <p:sp>
        <p:nvSpPr>
          <p:cNvPr id="18" name="line-164">
            <a:extLst xmlns:a="http://schemas.openxmlformats.org/drawingml/2006/main">
              <a:ext uri="{FF2B5EF4-FFF2-40B4-BE49-F238E27FC236}">
                <a16:creationId xmlns:a16="http://schemas.microsoft.com/office/drawing/2014/main" id="{F6EBDD83-C9ED-422F-A822-C46FED4F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3994" y="2133600"/>
            <a:ext cx="95" cy="3390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19" name="p3-165">
            <a:extLst xmlns:a="http://schemas.openxmlformats.org/drawingml/2006/main">
              <a:ext uri="{FF2B5EF4-FFF2-40B4-BE49-F238E27FC236}">
                <a16:creationId xmlns:a16="http://schemas.microsoft.com/office/drawing/2014/main" id="{39E9836D-4B94-4598-B7ED-381D115A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方案与接口</a:t>
            </a:r>
          </a:p>
        </p:txBody>
      </p:sp>
      <p:sp>
        <p:nvSpPr>
          <p:cNvPr id="20" name="line-166">
            <a:extLst xmlns:a="http://schemas.openxmlformats.org/drawingml/2006/main">
              <a:ext uri="{FF2B5EF4-FFF2-40B4-BE49-F238E27FC236}">
                <a16:creationId xmlns:a16="http://schemas.microsoft.com/office/drawing/2014/main" id="{60703CC9-0D8B-42BA-8FD8-ACAEA401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1275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E2E8"/>
            </a:solidFill>
            <a:prstDash val="solid"/>
          </a:ln>
        </p:spPr>
      </p:sp>
      <p:sp>
        <p:nvSpPr>
          <p:cNvPr id="21" name="p3-167">
            <a:extLst xmlns:a="http://schemas.openxmlformats.org/drawingml/2006/main">
              <a:ext uri="{FF2B5EF4-FFF2-40B4-BE49-F238E27FC236}">
                <a16:creationId xmlns:a16="http://schemas.microsoft.com/office/drawing/2014/main" id="{C05F15A1-C23D-4435-8DC5-FEC5ADCF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P0 实现</a:t>
            </a:r>
          </a:p>
        </p:txBody>
      </p:sp>
      <p:sp>
        <p:nvSpPr>
          <p:cNvPr id="22" name="line-168">
            <a:extLst xmlns:a="http://schemas.openxmlformats.org/drawingml/2006/main">
              <a:ext uri="{FF2B5EF4-FFF2-40B4-BE49-F238E27FC236}">
                <a16:creationId xmlns:a16="http://schemas.microsoft.com/office/drawing/2014/main" id="{2E696A72-5329-4884-AE7A-459D56290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E2E8"/>
            </a:solidFill>
            <a:prstDash val="solid"/>
          </a:ln>
        </p:spPr>
      </p:sp>
      <p:sp>
        <p:nvSpPr>
          <p:cNvPr id="23" name="p3-169">
            <a:extLst xmlns:a="http://schemas.openxmlformats.org/drawingml/2006/main">
              <a:ext uri="{FF2B5EF4-FFF2-40B4-BE49-F238E27FC236}">
                <a16:creationId xmlns:a16="http://schemas.microsoft.com/office/drawing/2014/main" id="{445FD0B1-16BB-4570-829A-029FC6FA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测试设计 / 回归</a:t>
            </a:r>
          </a:p>
        </p:txBody>
      </p:sp>
      <p:sp>
        <p:nvSpPr>
          <p:cNvPr id="24" name="line-170">
            <a:extLst xmlns:a="http://schemas.openxmlformats.org/drawingml/2006/main">
              <a:ext uri="{FF2B5EF4-FFF2-40B4-BE49-F238E27FC236}">
                <a16:creationId xmlns:a16="http://schemas.microsoft.com/office/drawing/2014/main" id="{3BA038F1-E7AA-4F47-810E-B4C8D85CB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E2E8"/>
            </a:solidFill>
            <a:prstDash val="solid"/>
          </a:ln>
        </p:spPr>
      </p:sp>
      <p:sp>
        <p:nvSpPr>
          <p:cNvPr id="25" name="p3-171">
            <a:extLst xmlns:a="http://schemas.openxmlformats.org/drawingml/2006/main">
              <a:ext uri="{FF2B5EF4-FFF2-40B4-BE49-F238E27FC236}">
                <a16:creationId xmlns:a16="http://schemas.microsoft.com/office/drawing/2014/main" id="{3AC41511-78CD-4CDE-ABF2-94A52F9A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P2 联调</a:t>
            </a:r>
          </a:p>
        </p:txBody>
      </p:sp>
      <p:sp>
        <p:nvSpPr>
          <p:cNvPr id="26" name="line-172">
            <a:extLst xmlns:a="http://schemas.openxmlformats.org/drawingml/2006/main">
              <a:ext uri="{FF2B5EF4-FFF2-40B4-BE49-F238E27FC236}">
                <a16:creationId xmlns:a16="http://schemas.microsoft.com/office/drawing/2014/main" id="{27766202-5B1A-44E6-B957-88F08D52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E2E8"/>
            </a:solidFill>
            <a:prstDash val="solid"/>
          </a:ln>
        </p:spPr>
      </p:sp>
      <p:sp>
        <p:nvSpPr>
          <p:cNvPr id="27" name="p3-173">
            <a:extLst xmlns:a="http://schemas.openxmlformats.org/drawingml/2006/main">
              <a:ext uri="{FF2B5EF4-FFF2-40B4-BE49-F238E27FC236}">
                <a16:creationId xmlns:a16="http://schemas.microsoft.com/office/drawing/2014/main" id="{EF922780-DCC8-41D9-B389-068F7478E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481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质量 / 性能 / 部署</a:t>
            </a:r>
          </a:p>
        </p:txBody>
      </p:sp>
      <p:sp>
        <p:nvSpPr>
          <p:cNvPr id="28" name="line-174">
            <a:extLst xmlns:a="http://schemas.openxmlformats.org/drawingml/2006/main">
              <a:ext uri="{FF2B5EF4-FFF2-40B4-BE49-F238E27FC236}">
                <a16:creationId xmlns:a16="http://schemas.microsoft.com/office/drawing/2014/main" id="{8837F57B-EC8D-4FF6-9084-52BFA7CF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E2E8"/>
            </a:solidFill>
            <a:prstDash val="solid"/>
          </a:ln>
        </p:spPr>
      </p:sp>
      <p:sp>
        <p:nvSpPr>
          <p:cNvPr id="29" name="p3-175">
            <a:extLst xmlns:a="http://schemas.openxmlformats.org/drawingml/2006/main">
              <a:ext uri="{FF2B5EF4-FFF2-40B4-BE49-F238E27FC236}">
                <a16:creationId xmlns:a16="http://schemas.microsoft.com/office/drawing/2014/main" id="{B0947821-7F6C-4902-BFFF-A0720275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576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系统验收与修复</a:t>
            </a:r>
          </a:p>
        </p:txBody>
      </p:sp>
      <p:sp>
        <p:nvSpPr>
          <p:cNvPr id="30" name="line-176">
            <a:extLst xmlns:a="http://schemas.openxmlformats.org/drawingml/2006/main">
              <a:ext uri="{FF2B5EF4-FFF2-40B4-BE49-F238E27FC236}">
                <a16:creationId xmlns:a16="http://schemas.microsoft.com/office/drawing/2014/main" id="{2FE841B4-641C-4EF0-8624-BCB2E977A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E2E8"/>
            </a:solidFill>
            <a:prstDash val="solid"/>
          </a:ln>
        </p:spPr>
      </p:sp>
      <p:sp>
        <p:nvSpPr>
          <p:cNvPr id="31" name="p3-177">
            <a:extLst xmlns:a="http://schemas.openxmlformats.org/drawingml/2006/main">
              <a:ext uri="{FF2B5EF4-FFF2-40B4-BE49-F238E27FC236}">
                <a16:creationId xmlns:a16="http://schemas.microsoft.com/office/drawing/2014/main" id="{E9F0ECA9-A2A5-4B14-BAB9-2E8910971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业务 UAT / 交接</a:t>
            </a:r>
          </a:p>
        </p:txBody>
      </p:sp>
      <p:sp>
        <p:nvSpPr>
          <p:cNvPr id="32" name="line-178">
            <a:extLst xmlns:a="http://schemas.openxmlformats.org/drawingml/2006/main">
              <a:ext uri="{FF2B5EF4-FFF2-40B4-BE49-F238E27FC236}">
                <a16:creationId xmlns:a16="http://schemas.microsoft.com/office/drawing/2014/main" id="{53A7A8F1-A35F-4773-8E78-29C1EB39F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E2E8"/>
            </a:solidFill>
            <a:prstDash val="solid"/>
          </a:ln>
        </p:spPr>
      </p:sp>
      <p:sp>
        <p:nvSpPr>
          <p:cNvPr id="33" name="p3-179">
            <a:extLst xmlns:a="http://schemas.openxmlformats.org/drawingml/2006/main">
              <a:ext uri="{FF2B5EF4-FFF2-40B4-BE49-F238E27FC236}">
                <a16:creationId xmlns:a16="http://schemas.microsoft.com/office/drawing/2014/main" id="{4144BA79-AB68-42C7-9778-8B39BBD1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768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发布交付</a:t>
            </a:r>
          </a:p>
        </p:txBody>
      </p:sp>
      <p:sp>
        <p:nvSpPr>
          <p:cNvPr id="34" name="line-180">
            <a:extLst xmlns:a="http://schemas.openxmlformats.org/drawingml/2006/main">
              <a:ext uri="{FF2B5EF4-FFF2-40B4-BE49-F238E27FC236}">
                <a16:creationId xmlns:a16="http://schemas.microsoft.com/office/drawing/2014/main" id="{9C592356-A157-4A4B-905C-F4CAACFAC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48300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D7E2E8"/>
            </a:solidFill>
            <a:prstDash val="solid"/>
          </a:ln>
        </p:spPr>
      </p:sp>
      <p:sp>
        <p:nvSpPr>
          <p:cNvPr id="35" name="rect-181">
            <a:extLst xmlns:a="http://schemas.openxmlformats.org/drawingml/2006/main">
              <a:ext uri="{FF2B5EF4-FFF2-40B4-BE49-F238E27FC236}">
                <a16:creationId xmlns:a16="http://schemas.microsoft.com/office/drawing/2014/main" id="{97AD1EDB-248C-4107-9889-622793563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238375"/>
            <a:ext cx="141726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0"/>
          </a:solidFill>
          <a:ln xmlns:a="http://schemas.openxmlformats.org/drawingml/2006/main" w="0">
            <a:noFill/>
          </a:ln>
        </p:spPr>
      </p:sp>
      <p:sp>
        <p:nvSpPr>
          <p:cNvPr id="36" name="p3-182">
            <a:extLst xmlns:a="http://schemas.openxmlformats.org/drawingml/2006/main">
              <a:ext uri="{FF2B5EF4-FFF2-40B4-BE49-F238E27FC236}">
                <a16:creationId xmlns:a16="http://schemas.microsoft.com/office/drawing/2014/main" id="{F71F72CF-9756-4704-97B7-95DB39CC3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38375"/>
            <a:ext cx="132201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基线</a:t>
            </a:r>
          </a:p>
        </p:txBody>
      </p:sp>
      <p:sp>
        <p:nvSpPr>
          <p:cNvPr id="37" name="rect-183">
            <a:extLst xmlns:a="http://schemas.openxmlformats.org/drawingml/2006/main">
              <a:ext uri="{FF2B5EF4-FFF2-40B4-BE49-F238E27FC236}">
                <a16:creationId xmlns:a16="http://schemas.microsoft.com/office/drawing/2014/main" id="{2C7141F8-F277-4522-981E-60A2495B2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5185" y="2647950"/>
            <a:ext cx="4002617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99A"/>
          </a:solidFill>
          <a:ln xmlns:a="http://schemas.openxmlformats.org/drawingml/2006/main" w="0">
            <a:noFill/>
          </a:ln>
        </p:spPr>
      </p:sp>
      <p:sp>
        <p:nvSpPr>
          <p:cNvPr id="38" name="p3-184">
            <a:extLst xmlns:a="http://schemas.openxmlformats.org/drawingml/2006/main">
              <a:ext uri="{FF2B5EF4-FFF2-40B4-BE49-F238E27FC236}">
                <a16:creationId xmlns:a16="http://schemas.microsoft.com/office/drawing/2014/main" id="{4BC8A2D9-2F2F-4206-BD46-6EDAD649E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2810" y="2647950"/>
            <a:ext cx="3907367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P0 实现与补齐</a:t>
            </a:r>
          </a:p>
        </p:txBody>
      </p:sp>
      <p:sp>
        <p:nvSpPr>
          <p:cNvPr id="39" name="rect-185">
            <a:extLst xmlns:a="http://schemas.openxmlformats.org/drawingml/2006/main">
              <a:ext uri="{FF2B5EF4-FFF2-40B4-BE49-F238E27FC236}">
                <a16:creationId xmlns:a16="http://schemas.microsoft.com/office/drawing/2014/main" id="{36D1D34B-A682-472A-8E62-BF67B2FAB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057525"/>
            <a:ext cx="141726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0"/>
          </a:solidFill>
          <a:ln xmlns:a="http://schemas.openxmlformats.org/drawingml/2006/main" w="0">
            <a:noFill/>
          </a:ln>
        </p:spPr>
      </p:sp>
      <p:sp>
        <p:nvSpPr>
          <p:cNvPr id="40" name="p3-186">
            <a:extLst xmlns:a="http://schemas.openxmlformats.org/drawingml/2006/main">
              <a:ext uri="{FF2B5EF4-FFF2-40B4-BE49-F238E27FC236}">
                <a16:creationId xmlns:a16="http://schemas.microsoft.com/office/drawing/2014/main" id="{15DD6A34-1310-4556-89DA-DCF1DE5AA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57525"/>
            <a:ext cx="132201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设计</a:t>
            </a:r>
          </a:p>
        </p:txBody>
      </p:sp>
      <p:sp>
        <p:nvSpPr>
          <p:cNvPr id="41" name="rect-187">
            <a:extLst xmlns:a="http://schemas.openxmlformats.org/drawingml/2006/main">
              <a:ext uri="{FF2B5EF4-FFF2-40B4-BE49-F238E27FC236}">
                <a16:creationId xmlns:a16="http://schemas.microsoft.com/office/drawing/2014/main" id="{E3E13B1C-4F87-453C-ADF8-9DA9F3B6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5185" y="3057525"/>
            <a:ext cx="7018867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BF4"/>
          </a:solidFill>
          <a:ln xmlns:a="http://schemas.openxmlformats.org/drawingml/2006/main" w="0">
            <a:noFill/>
          </a:ln>
        </p:spPr>
      </p:sp>
      <p:sp>
        <p:nvSpPr>
          <p:cNvPr id="42" name="p3-188">
            <a:extLst xmlns:a="http://schemas.openxmlformats.org/drawingml/2006/main">
              <a:ext uri="{FF2B5EF4-FFF2-40B4-BE49-F238E27FC236}">
                <a16:creationId xmlns:a16="http://schemas.microsoft.com/office/drawing/2014/main" id="{898263DB-F6CE-4AFD-A3C8-EAB39B78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2810" y="3057525"/>
            <a:ext cx="6923617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自动回归贯穿实现、修复和 UAT</a:t>
            </a:r>
          </a:p>
        </p:txBody>
      </p:sp>
      <p:sp>
        <p:nvSpPr>
          <p:cNvPr id="43" name="rect-189">
            <a:extLst xmlns:a="http://schemas.openxmlformats.org/drawingml/2006/main">
              <a:ext uri="{FF2B5EF4-FFF2-40B4-BE49-F238E27FC236}">
                <a16:creationId xmlns:a16="http://schemas.microsoft.com/office/drawing/2014/main" id="{DB8C2AE3-4F0D-4384-8D6D-A051400AA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467100"/>
            <a:ext cx="141726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0"/>
          </a:solidFill>
          <a:ln xmlns:a="http://schemas.openxmlformats.org/drawingml/2006/main" w="0">
            <a:noFill/>
          </a:ln>
        </p:spPr>
      </p:sp>
      <p:sp>
        <p:nvSpPr>
          <p:cNvPr id="44" name="p3-190">
            <a:extLst xmlns:a="http://schemas.openxmlformats.org/drawingml/2006/main">
              <a:ext uri="{FF2B5EF4-FFF2-40B4-BE49-F238E27FC236}">
                <a16:creationId xmlns:a16="http://schemas.microsoft.com/office/drawing/2014/main" id="{1FF6D28D-3218-4D0B-AB54-BFD17A84C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67100"/>
            <a:ext cx="132201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模拟</a:t>
            </a:r>
          </a:p>
        </p:txBody>
      </p:sp>
      <p:sp>
        <p:nvSpPr>
          <p:cNvPr id="45" name="rect-191">
            <a:extLst xmlns:a="http://schemas.openxmlformats.org/drawingml/2006/main">
              <a:ext uri="{FF2B5EF4-FFF2-40B4-BE49-F238E27FC236}">
                <a16:creationId xmlns:a16="http://schemas.microsoft.com/office/drawing/2014/main" id="{E29B66BF-C1E5-4D81-A8AC-71B125FA3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5185" y="3467100"/>
            <a:ext cx="4002617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C681E"/>
          </a:solidFill>
          <a:ln xmlns:a="http://schemas.openxmlformats.org/drawingml/2006/main" w="0">
            <a:noFill/>
          </a:ln>
        </p:spPr>
      </p:sp>
      <p:sp>
        <p:nvSpPr>
          <p:cNvPr id="46" name="p3-192">
            <a:extLst xmlns:a="http://schemas.openxmlformats.org/drawingml/2006/main">
              <a:ext uri="{FF2B5EF4-FFF2-40B4-BE49-F238E27FC236}">
                <a16:creationId xmlns:a16="http://schemas.microsoft.com/office/drawing/2014/main" id="{A7A4F4FC-F068-4AA4-9629-A93F36A4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2810" y="3467100"/>
            <a:ext cx="3907367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真实首链与完整联合回归</a:t>
            </a:r>
          </a:p>
        </p:txBody>
      </p:sp>
      <p:sp>
        <p:nvSpPr>
          <p:cNvPr id="47" name="rect-193">
            <a:extLst xmlns:a="http://schemas.openxmlformats.org/drawingml/2006/main">
              <a:ext uri="{FF2B5EF4-FFF2-40B4-BE49-F238E27FC236}">
                <a16:creationId xmlns:a16="http://schemas.microsoft.com/office/drawing/2014/main" id="{97B2676B-E9C0-4851-80A8-887E87B2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446" y="3876675"/>
            <a:ext cx="371535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99A"/>
          </a:solidFill>
          <a:ln xmlns:a="http://schemas.openxmlformats.org/drawingml/2006/main" w="0">
            <a:noFill/>
          </a:ln>
        </p:spPr>
      </p:sp>
      <p:sp>
        <p:nvSpPr>
          <p:cNvPr id="48" name="p3-194">
            <a:extLst xmlns:a="http://schemas.openxmlformats.org/drawingml/2006/main">
              <a:ext uri="{FF2B5EF4-FFF2-40B4-BE49-F238E27FC236}">
                <a16:creationId xmlns:a16="http://schemas.microsoft.com/office/drawing/2014/main" id="{9C4C9342-BA1A-49B3-B5F5-7EA70751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0071" y="3876675"/>
            <a:ext cx="362010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质量 / 性能基线与部署恢复准备</a:t>
            </a:r>
          </a:p>
        </p:txBody>
      </p:sp>
      <p:sp>
        <p:nvSpPr>
          <p:cNvPr id="49" name="rect-195">
            <a:extLst xmlns:a="http://schemas.openxmlformats.org/drawingml/2006/main">
              <a:ext uri="{FF2B5EF4-FFF2-40B4-BE49-F238E27FC236}">
                <a16:creationId xmlns:a16="http://schemas.microsoft.com/office/drawing/2014/main" id="{BA8F907D-756F-4FBF-8FA9-480E08612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851" y="4286250"/>
            <a:ext cx="986367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99A"/>
          </a:solidFill>
          <a:ln xmlns:a="http://schemas.openxmlformats.org/drawingml/2006/main" w="0">
            <a:noFill/>
          </a:ln>
        </p:spPr>
      </p:sp>
      <p:sp>
        <p:nvSpPr>
          <p:cNvPr id="50" name="p3-196">
            <a:extLst xmlns:a="http://schemas.openxmlformats.org/drawingml/2006/main">
              <a:ext uri="{FF2B5EF4-FFF2-40B4-BE49-F238E27FC236}">
                <a16:creationId xmlns:a16="http://schemas.microsoft.com/office/drawing/2014/main" id="{E1D7CB47-F865-4A61-A63B-46E6DD9E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476" y="4286250"/>
            <a:ext cx="891117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首验 24h</a:t>
            </a:r>
          </a:p>
        </p:txBody>
      </p:sp>
      <p:sp>
        <p:nvSpPr>
          <p:cNvPr id="51" name="rect-197">
            <a:extLst xmlns:a="http://schemas.openxmlformats.org/drawingml/2006/main">
              <a:ext uri="{FF2B5EF4-FFF2-40B4-BE49-F238E27FC236}">
                <a16:creationId xmlns:a16="http://schemas.microsoft.com/office/drawing/2014/main" id="{D70B6527-06E7-4E05-8F08-E5FE5EAF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2268" y="4286250"/>
            <a:ext cx="986367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0"/>
          </a:solidFill>
          <a:ln xmlns:a="http://schemas.openxmlformats.org/drawingml/2006/main" w="0">
            <a:noFill/>
          </a:ln>
        </p:spPr>
      </p:sp>
      <p:sp>
        <p:nvSpPr>
          <p:cNvPr id="52" name="p3-198">
            <a:extLst xmlns:a="http://schemas.openxmlformats.org/drawingml/2006/main">
              <a:ext uri="{FF2B5EF4-FFF2-40B4-BE49-F238E27FC236}">
                <a16:creationId xmlns:a16="http://schemas.microsoft.com/office/drawing/2014/main" id="{9AD54191-D220-407E-8B52-0FF096C4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9893" y="4286250"/>
            <a:ext cx="891117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修复复测</a:t>
            </a:r>
          </a:p>
        </p:txBody>
      </p:sp>
      <p:sp>
        <p:nvSpPr>
          <p:cNvPr id="53" name="rect-199">
            <a:extLst xmlns:a="http://schemas.openxmlformats.org/drawingml/2006/main">
              <a:ext uri="{FF2B5EF4-FFF2-40B4-BE49-F238E27FC236}">
                <a16:creationId xmlns:a16="http://schemas.microsoft.com/office/drawing/2014/main" id="{BEC5AC0E-3B49-485A-A974-37A0D865D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7685" y="4695825"/>
            <a:ext cx="986367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0"/>
          </a:solidFill>
          <a:ln xmlns:a="http://schemas.openxmlformats.org/drawingml/2006/main" w="0">
            <a:noFill/>
          </a:ln>
        </p:spPr>
      </p:sp>
      <p:sp>
        <p:nvSpPr>
          <p:cNvPr id="54" name="p3-200">
            <a:extLst xmlns:a="http://schemas.openxmlformats.org/drawingml/2006/main">
              <a:ext uri="{FF2B5EF4-FFF2-40B4-BE49-F238E27FC236}">
                <a16:creationId xmlns:a16="http://schemas.microsoft.com/office/drawing/2014/main" id="{7DE2520E-5165-4271-963E-0BB686CB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5310" y="4695825"/>
            <a:ext cx="891117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UAT 交接</a:t>
            </a:r>
          </a:p>
        </p:txBody>
      </p:sp>
      <p:sp>
        <p:nvSpPr>
          <p:cNvPr id="55" name="rect-201">
            <a:extLst xmlns:a="http://schemas.openxmlformats.org/drawingml/2006/main">
              <a:ext uri="{FF2B5EF4-FFF2-40B4-BE49-F238E27FC236}">
                <a16:creationId xmlns:a16="http://schemas.microsoft.com/office/drawing/2014/main" id="{4B9435AC-018F-439B-80CB-799C0CC1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3101" y="5105400"/>
            <a:ext cx="555474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3044"/>
          </a:solidFill>
          <a:ln xmlns:a="http://schemas.openxmlformats.org/drawingml/2006/main" w="0">
            <a:noFill/>
          </a:ln>
        </p:spPr>
      </p:sp>
      <p:sp>
        <p:nvSpPr>
          <p:cNvPr id="56" name="p3-202">
            <a:extLst xmlns:a="http://schemas.openxmlformats.org/drawingml/2006/main">
              <a:ext uri="{FF2B5EF4-FFF2-40B4-BE49-F238E27FC236}">
                <a16:creationId xmlns:a16="http://schemas.microsoft.com/office/drawing/2014/main" id="{4D634CDB-3F2B-4DE1-A75B-A9A0C1FC6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0726" y="5105400"/>
            <a:ext cx="460224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发布</a:t>
            </a:r>
          </a:p>
        </p:txBody>
      </p:sp>
      <p:sp>
        <p:nvSpPr>
          <p:cNvPr id="57" name="p3-203">
            <a:extLst xmlns:a="http://schemas.openxmlformats.org/drawingml/2006/main">
              <a:ext uri="{FF2B5EF4-FFF2-40B4-BE49-F238E27FC236}">
                <a16:creationId xmlns:a16="http://schemas.microsoft.com/office/drawing/2014/main" id="{CC7F952D-1551-4079-AD3B-96C10AD0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95950"/>
            <a:ext cx="10972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系统验收与修复 14 天   业务 UAT 7 天   发布缓冲 4 天</a:t>
            </a:r>
          </a:p>
        </p:txBody>
      </p:sp>
      <p:sp>
        <p:nvSpPr>
          <p:cNvPr id="58" name="p3-204">
            <a:extLst xmlns:a="http://schemas.openxmlformats.org/drawingml/2006/main">
              <a:ext uri="{FF2B5EF4-FFF2-40B4-BE49-F238E27FC236}">
                <a16:creationId xmlns:a16="http://schemas.microsoft.com/office/drawing/2014/main" id="{DFD18E7B-93CF-435C-AFBF-387F69351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9728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均为日历窗口，假期按实际出勤核算。P2 延期需重排真实链路及交付预期，保留验收窗口。</a:t>
            </a:r>
          </a:p>
        </p:txBody>
      </p:sp>
    </p:spTree>
    <p:extLst>
      <p:ext uri="{BB962C8B-B14F-4D97-AF65-F5344CB8AC3E}">
        <p14:creationId xmlns:p14="http://schemas.microsoft.com/office/powerpoint/2010/main" val="27639428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20">
            <a:extLst xmlns:a="http://schemas.openxmlformats.org/drawingml/2006/main">
              <a:ext uri="{FF2B5EF4-FFF2-40B4-BE49-F238E27FC236}">
                <a16:creationId xmlns:a16="http://schemas.microsoft.com/office/drawing/2014/main" id="{A9B3C9C9-BBC9-4607-83D9-F7D8B9A5A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时间节点</a:t>
            </a:r>
          </a:p>
        </p:txBody>
      </p:sp>
      <p:sp>
        <p:nvSpPr>
          <p:cNvPr id="2" name="title-20">
            <a:extLst xmlns:a="http://schemas.openxmlformats.org/drawingml/2006/main">
              <a:ext uri="{FF2B5EF4-FFF2-40B4-BE49-F238E27FC236}">
                <a16:creationId xmlns:a16="http://schemas.microsoft.com/office/drawing/2014/main" id="{0E9D5E70-ED6E-4D6C-B1BE-74859537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关键节点：交付物和退出条件一起固定</a:t>
            </a:r>
          </a:p>
        </p:txBody>
      </p:sp>
      <p:sp>
        <p:nvSpPr>
          <p:cNvPr id="3" name="p3-205">
            <a:extLst xmlns:a="http://schemas.openxmlformats.org/drawingml/2006/main">
              <a:ext uri="{FF2B5EF4-FFF2-40B4-BE49-F238E27FC236}">
                <a16:creationId xmlns:a16="http://schemas.microsoft.com/office/drawing/2014/main" id="{A795AEB6-B398-483C-9E7B-2EA72C23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每个节点有可检查的产物，关键依赖延期时重新计算后续日期</a:t>
            </a:r>
          </a:p>
        </p:txBody>
      </p:sp>
      <p:sp>
        <p:nvSpPr>
          <p:cNvPr id="4" name="line-206">
            <a:extLst xmlns:a="http://schemas.openxmlformats.org/drawingml/2006/main">
              <a:ext uri="{FF2B5EF4-FFF2-40B4-BE49-F238E27FC236}">
                <a16:creationId xmlns:a16="http://schemas.microsoft.com/office/drawing/2014/main" id="{65D40377-8966-4B4D-A7A8-677FF9FD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p3-207">
            <a:extLst xmlns:a="http://schemas.openxmlformats.org/drawingml/2006/main">
              <a:ext uri="{FF2B5EF4-FFF2-40B4-BE49-F238E27FC236}">
                <a16:creationId xmlns:a16="http://schemas.microsoft.com/office/drawing/2014/main" id="{074AA450-0FE6-4605-BF3B-DD85C5A79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MVP 项目落地方案  V3.0</a:t>
            </a:r>
          </a:p>
        </p:txBody>
      </p:sp>
      <p:sp>
        <p:nvSpPr>
          <p:cNvPr id="6" name="p3-208">
            <a:extLst xmlns:a="http://schemas.openxmlformats.org/drawingml/2006/main">
              <a:ext uri="{FF2B5EF4-FFF2-40B4-BE49-F238E27FC236}">
                <a16:creationId xmlns:a16="http://schemas.microsoft.com/office/drawing/2014/main" id="{C95870EB-7031-444A-9218-65D963EFC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293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 / 22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10972800" cy="3676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952625"/>
                <a:gridCol w="4572000"/>
                <a:gridCol w="4448175"/>
              </a:tblGrid>
              <a:tr h="438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节点</a:t>
                      </a:r>
                    </a:p>
                  </a:txBody>
                  <a:tcPr marL="95250" marR="95250" marT="66675" marB="66675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交付物</a:t>
                      </a:r>
                    </a:p>
                  </a:txBody>
                  <a:tcPr marL="95250" marR="95250" marT="66675" marB="66675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进入下一阶段的条件</a:t>
                      </a:r>
                    </a:p>
                  </a:txBody>
                  <a:tcPr marL="95250" marR="95250" marT="66675" marB="66675" anchor="ctr">
                    <a:solidFill>
                      <a:srgbClr val="163044"/>
                    </a:solidFill>
                  </a:tcPr>
                </a:tc>
              </a:tr>
              <a:tr h="6477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10/09</a:t>
                      </a:r>
                    </a:p>
                    <a:p>
                      <a:r>
                        <a:rPr sz="157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设计与环境基线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模块路线、最小接口、测试原则</a:t>
                      </a:r>
                    </a:p>
                    <a:p>
                      <a:r>
                        <a:rPr sz="15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 / 模型 / 环境口径、责任清单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关键契约可执行</a:t>
                      </a:r>
                    </a:p>
                    <a:p>
                      <a:r>
                        <a:rPr sz="15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 P2 接入条件与联系人落实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10/16 检查</a:t>
                      </a:r>
                    </a:p>
                    <a:p>
                      <a:r>
                        <a:rPr sz="157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10/23 首链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真实保存、长期化和召回证据</a:t>
                      </a:r>
                    </a:p>
                    <a:p>
                      <a:r>
                        <a:rPr sz="15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差异清单、首轮质量 / 性能基线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首链结果可复现</a:t>
                      </a:r>
                    </a:p>
                    <a:p>
                      <a:r>
                        <a:rPr sz="15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阻塞已归属并给出处理节点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</a:tr>
              <a:tr h="6477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11/06</a:t>
                      </a:r>
                    </a:p>
                    <a:p>
                      <a:r>
                        <a:rPr sz="157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联合候选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P0 完整联合回归</a:t>
                      </a:r>
                    </a:p>
                    <a:p>
                      <a:r>
                        <a:rPr sz="15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 / 性能基线、部署恢复首演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关键业务和依赖通过</a:t>
                      </a:r>
                    </a:p>
                    <a:p>
                      <a:r>
                        <a:rPr sz="15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候选版本固定，具备系统首验条件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11/20</a:t>
                      </a:r>
                    </a:p>
                    <a:p>
                      <a:r>
                        <a:rPr sz="157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系统退出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首验、缺陷修复及最终候选复测</a:t>
                      </a:r>
                    </a:p>
                    <a:p>
                      <a:r>
                        <a:rPr sz="15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 / 性能、24h 和恢复报告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阻断缺陷清零</a:t>
                      </a:r>
                    </a:p>
                    <a:p>
                      <a:r>
                        <a:rPr sz="15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完整测试证据允许进入 UAT</a:t>
                      </a:r>
                    </a:p>
                  </a:txBody>
                  <a:tcPr marL="95250" marR="95250" marT="66675" marB="66675" anchor="ctr">
                    <a:solidFill>
                      <a:srgbClr val="F5F8FA"/>
                    </a:solidFill>
                  </a:tcPr>
                </a:tc>
              </a:tr>
              <a:tr h="64770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11/27 签收</a:t>
                      </a:r>
                    </a:p>
                    <a:p>
                      <a:r>
                        <a:rPr sz="1575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12/01 交付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 UAT、运行交接与发布包</a:t>
                      </a:r>
                    </a:p>
                    <a:p>
                      <a:r>
                        <a:rPr sz="15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版本、配置、数据及证据清单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必验签收，运行接手</a:t>
                      </a:r>
                    </a:p>
                    <a:p>
                      <a:r>
                        <a:rPr sz="1575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前序门槛通过后发布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p3-209">
            <a:extLst xmlns:a="http://schemas.openxmlformats.org/drawingml/2006/main">
              <a:ext uri="{FF2B5EF4-FFF2-40B4-BE49-F238E27FC236}">
                <a16:creationId xmlns:a16="http://schemas.microsoft.com/office/drawing/2014/main" id="{C1A2AD51-F703-4A18-8AC1-32F72E4F6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P2 不可用时继续本地 / 模拟任务；真实联调项保持未通过，保留验收和修复时间</a:t>
            </a:r>
          </a:p>
        </p:txBody>
      </p:sp>
    </p:spTree>
    <p:extLst>
      <p:ext uri="{BB962C8B-B14F-4D97-AF65-F5344CB8AC3E}">
        <p14:creationId xmlns:p14="http://schemas.microsoft.com/office/powerpoint/2010/main" val="50793259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21">
            <a:extLst xmlns:a="http://schemas.openxmlformats.org/drawingml/2006/main">
              <a:ext uri="{FF2B5EF4-FFF2-40B4-BE49-F238E27FC236}">
                <a16:creationId xmlns:a16="http://schemas.microsoft.com/office/drawing/2014/main" id="{37507F95-2234-4FB7-AAA8-F08FD93DF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时间节点</a:t>
            </a:r>
          </a:p>
        </p:txBody>
      </p:sp>
      <p:sp>
        <p:nvSpPr>
          <p:cNvPr id="2" name="title-21">
            <a:extLst xmlns:a="http://schemas.openxmlformats.org/drawingml/2006/main">
              <a:ext uri="{FF2B5EF4-FFF2-40B4-BE49-F238E27FC236}">
                <a16:creationId xmlns:a16="http://schemas.microsoft.com/office/drawing/2014/main" id="{57F4447E-0969-493C-8EAB-5CC5D617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任务分工：实现、测试、外部交付各有责任</a:t>
            </a:r>
          </a:p>
        </p:txBody>
      </p:sp>
      <p:sp>
        <p:nvSpPr>
          <p:cNvPr id="3" name="p3-210">
            <a:extLst xmlns:a="http://schemas.openxmlformats.org/drawingml/2006/main">
              <a:ext uri="{FF2B5EF4-FFF2-40B4-BE49-F238E27FC236}">
                <a16:creationId xmlns:a16="http://schemas.microsoft.com/office/drawing/2014/main" id="{1E85B800-427F-4AF6-AED8-F51F91AAB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沿用现有分工；测试负责验证与对接，P3 和 P2 分别修改自己的实现</a:t>
            </a:r>
          </a:p>
        </p:txBody>
      </p:sp>
      <p:sp>
        <p:nvSpPr>
          <p:cNvPr id="4" name="line-211">
            <a:extLst xmlns:a="http://schemas.openxmlformats.org/drawingml/2006/main">
              <a:ext uri="{FF2B5EF4-FFF2-40B4-BE49-F238E27FC236}">
                <a16:creationId xmlns:a16="http://schemas.microsoft.com/office/drawing/2014/main" id="{571ED089-F34D-4D58-A516-9A969AEC6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p3-212">
            <a:extLst xmlns:a="http://schemas.openxmlformats.org/drawingml/2006/main">
              <a:ext uri="{FF2B5EF4-FFF2-40B4-BE49-F238E27FC236}">
                <a16:creationId xmlns:a16="http://schemas.microsoft.com/office/drawing/2014/main" id="{42C79C1A-8E28-4248-B8EE-6229488D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MVP 项目落地方案  V3.0</a:t>
            </a:r>
          </a:p>
        </p:txBody>
      </p:sp>
      <p:sp>
        <p:nvSpPr>
          <p:cNvPr id="6" name="p3-213">
            <a:extLst xmlns:a="http://schemas.openxmlformats.org/drawingml/2006/main">
              <a:ext uri="{FF2B5EF4-FFF2-40B4-BE49-F238E27FC236}">
                <a16:creationId xmlns:a16="http://schemas.microsoft.com/office/drawing/2014/main" id="{35496468-DFD2-404E-8496-3E890694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293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21 / 22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924050"/>
          <a:ext xmlns:a="http://schemas.openxmlformats.org/drawingml/2006/main" cx="10972800" cy="37528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476375"/>
                <a:gridCol w="2857500"/>
                <a:gridCol w="2524125"/>
                <a:gridCol w="4114800"/>
              </a:tblGrid>
              <a:tr h="4381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范围</a:t>
                      </a:r>
                    </a:p>
                  </a:txBody>
                  <a:tcPr marL="95250" marR="95250" marT="28575" marB="28575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实现责任</a:t>
                      </a:r>
                    </a:p>
                  </a:txBody>
                  <a:tcPr marL="95250" marR="95250" marT="28575" marB="28575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 / 对接责任</a:t>
                      </a:r>
                    </a:p>
                  </a:txBody>
                  <a:tcPr marL="95250" marR="95250" marT="28575" marB="28575" anchor="ctr">
                    <a:solidFill>
                      <a:srgbClr val="163044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应交付的结果</a:t>
                      </a:r>
                    </a:p>
                  </a:txBody>
                  <a:tcPr marL="95250" marR="95250" marT="28575" marB="28575" anchor="ctr">
                    <a:solidFill>
                      <a:srgbClr val="163044"/>
                    </a:solidFill>
                  </a:tcPr>
                </a:tc>
              </a:tr>
              <a:tr h="5524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38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Recall / 编码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38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流程开发岗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38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肖宇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38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编码、检索与组包实现</a:t>
                      </a:r>
                    </a:p>
                    <a:p>
                      <a:r>
                        <a:rPr sz="1538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环境、用例、P2 检索联调证据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38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Remember</a:t>
                      </a:r>
                    </a:p>
                  </a:txBody>
                  <a:tcPr marL="95250" marR="95250" marT="28575" marB="28575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38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杨鹏通</a:t>
                      </a:r>
                    </a:p>
                  </a:txBody>
                  <a:tcPr marL="95250" marR="95250" marT="28575" marB="28575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38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赵旭东</a:t>
                      </a:r>
                    </a:p>
                  </a:txBody>
                  <a:tcPr marL="95250" marR="95250" marT="28575" marB="28575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38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保存、加工、版本和索引发布</a:t>
                      </a:r>
                    </a:p>
                    <a:p>
                      <a:r>
                        <a:rPr sz="1538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正文 / 写入契约与回归证据</a:t>
                      </a:r>
                    </a:p>
                  </a:txBody>
                  <a:tcPr marL="95250" marR="95250" marT="28575" marB="28575" anchor="ctr">
                    <a:solidFill>
                      <a:srgbClr val="F5F8FA"/>
                    </a:solidFill>
                  </a:tcPr>
                </a:tc>
              </a:tr>
              <a:tr h="5524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38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Operate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38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沈佳隆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38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谭旭梁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38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决策、动作、核对与恢复</a:t>
                      </a:r>
                    </a:p>
                    <a:p>
                      <a:r>
                        <a:rPr sz="1538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故障模拟和 P2 执行验证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38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RF 公共底座</a:t>
                      </a:r>
                    </a:p>
                  </a:txBody>
                  <a:tcPr marL="95250" marR="95250" marT="28575" marB="28575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38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陈凯定规则</a:t>
                      </a:r>
                    </a:p>
                    <a:p>
                      <a:r>
                        <a:rPr sz="1538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每项指定一名开发</a:t>
                      </a:r>
                    </a:p>
                  </a:txBody>
                  <a:tcPr marL="95250" marR="95250" marT="28575" marB="28575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38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三位测试按流程验证</a:t>
                      </a:r>
                    </a:p>
                  </a:txBody>
                  <a:tcPr marL="95250" marR="95250" marT="28575" marB="28575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38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授权、任务、事件、日志和恢复</a:t>
                      </a:r>
                    </a:p>
                    <a:p>
                      <a:r>
                        <a:rPr sz="1538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跨模块接入及相应验证</a:t>
                      </a:r>
                    </a:p>
                  </a:txBody>
                  <a:tcPr marL="95250" marR="95250" marT="28575" marB="28575" anchor="ctr">
                    <a:solidFill>
                      <a:srgbClr val="F5F8FA"/>
                    </a:solidFill>
                  </a:tcPr>
                </a:tc>
              </a:tr>
              <a:tr h="5524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38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P2 / 身份依赖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38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对应外部提供方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38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对应流程对接人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38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服务、权限、协议和真实环境</a:t>
                      </a:r>
                    </a:p>
                    <a:p>
                      <a:r>
                        <a:rPr sz="1538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缺陷由所属提供方修复</a:t>
                      </a:r>
                    </a:p>
                  </a:txBody>
                  <a:tcPr marL="95250" marR="95250" marT="28575" marB="28575" anchor="ctr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38" b="1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上线 / 业务接手</a:t>
                      </a:r>
                    </a:p>
                  </a:txBody>
                  <a:tcPr marL="95250" marR="95250" marT="28575" marB="28575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38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陈凯组织</a:t>
                      </a:r>
                    </a:p>
                    <a:p>
                      <a:r>
                        <a:rPr sz="1538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运行接手人执行</a:t>
                      </a:r>
                    </a:p>
                  </a:txBody>
                  <a:tcPr marL="95250" marR="95250" marT="28575" marB="28575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38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业务代表签收</a:t>
                      </a:r>
                    </a:p>
                    <a:p>
                      <a:r>
                        <a:rPr sz="1538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测试见证</a:t>
                      </a:r>
                    </a:p>
                  </a:txBody>
                  <a:tcPr marL="95250" marR="95250" marT="28575" marB="28575" anchor="ctr">
                    <a:solidFill>
                      <a:srgbClr val="F5F8FA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r>
                        <a:rPr sz="1538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部署、备份、回滚、监测</a:t>
                      </a:r>
                    </a:p>
                    <a:p>
                      <a:r>
                        <a:rPr sz="1538" b="0">
                          <a:solidFill>
                            <a:srgbClr val="163044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同版本材料与签收记录</a:t>
                      </a:r>
                    </a:p>
                  </a:txBody>
                  <a:tcPr marL="95250" marR="95250" marT="28575" marB="28575" anchor="ctr">
                    <a:solidFill>
                      <a:srgbClr val="F5F8FA"/>
                    </a:solidFill>
                  </a:tcPr>
                </a:tc>
              </a:tr>
            </a:tbl>
          </a:graphicData>
        </a:graphic>
      </p:graphicFrame>
      <p:sp>
        <p:nvSpPr>
          <p:cNvPr id="8" name="p3-214">
            <a:extLst xmlns:a="http://schemas.openxmlformats.org/drawingml/2006/main">
              <a:ext uri="{FF2B5EF4-FFF2-40B4-BE49-F238E27FC236}">
                <a16:creationId xmlns:a16="http://schemas.microsoft.com/office/drawing/2014/main" id="{FACCB27E-4E17-4B68-81C7-44471A41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13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13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10/09 前由陈凯落实 A 开发岗、RF 各任务实现人、P2 联系人及运行 / 业务接手人</a:t>
            </a:r>
          </a:p>
        </p:txBody>
      </p:sp>
    </p:spTree>
    <p:extLst>
      <p:ext uri="{BB962C8B-B14F-4D97-AF65-F5344CB8AC3E}">
        <p14:creationId xmlns:p14="http://schemas.microsoft.com/office/powerpoint/2010/main" val="101077360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6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344025" y="2462213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99A"/>
            </a:solidFill>
            <a:tailEnd type="arrow" w="med" len="med"/>
          </a:ln>
        </p:spPr>
      </p:cxnSp>
      <p:cxnSp>
        <p:nvCxnSpPr>
          <p:cNvPr id="27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105650" y="2462213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99A"/>
            </a:solidFill>
            <a:tailEnd type="arrow" w="med" len="med"/>
          </a:ln>
        </p:spPr>
      </p:cxnSp>
      <p:cxnSp>
        <p:nvCxnSpPr>
          <p:cNvPr id="28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867275" y="2462213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99A"/>
            </a:solidFill>
            <a:tailEnd type="arrow" w="med" len="med"/>
          </a:ln>
        </p:spPr>
      </p:cxnSp>
      <p:cxnSp>
        <p:nvCxnSpPr>
          <p:cNvPr id="29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628900" y="2462213"/>
            <a:ext cx="2190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5699A"/>
            </a:solidFill>
            <a:tailEnd type="arrow" w="med" len="med"/>
          </a:ln>
        </p:spPr>
      </p:cxnSp>
      <p:sp>
        <p:nvSpPr>
          <p:cNvPr id="30" name="section-22">
            <a:extLst xmlns:a="http://schemas.openxmlformats.org/drawingml/2006/main">
              <a:ext uri="{FF2B5EF4-FFF2-40B4-BE49-F238E27FC236}">
                <a16:creationId xmlns:a16="http://schemas.microsoft.com/office/drawing/2014/main" id="{1C5B438D-C539-4A61-B33F-FED902AE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04  时间节点</a:t>
            </a:r>
          </a:p>
        </p:txBody>
      </p:sp>
      <p:sp>
        <p:nvSpPr>
          <p:cNvPr id="2" name="title-22">
            <a:extLst xmlns:a="http://schemas.openxmlformats.org/drawingml/2006/main">
              <a:ext uri="{FF2B5EF4-FFF2-40B4-BE49-F238E27FC236}">
                <a16:creationId xmlns:a16="http://schemas.microsoft.com/office/drawing/2014/main" id="{4BD54446-15A6-40C9-8ACE-C800EBE3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上线交付：发布可运行版本，交接恢复能力</a:t>
            </a:r>
          </a:p>
        </p:txBody>
      </p:sp>
      <p:sp>
        <p:nvSpPr>
          <p:cNvPr id="3" name="p3-215">
            <a:extLst xmlns:a="http://schemas.openxmlformats.org/drawingml/2006/main">
              <a:ext uri="{FF2B5EF4-FFF2-40B4-BE49-F238E27FC236}">
                <a16:creationId xmlns:a16="http://schemas.microsoft.com/office/drawing/2014/main" id="{E37C9605-98F0-428B-A76D-3206B829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11/21—27 完成 UAT 与交接；11/28—12/01 发布检查与缓冲</a:t>
            </a:r>
          </a:p>
        </p:txBody>
      </p:sp>
      <p:sp>
        <p:nvSpPr>
          <p:cNvPr id="4" name="line-216">
            <a:extLst xmlns:a="http://schemas.openxmlformats.org/drawingml/2006/main">
              <a:ext uri="{FF2B5EF4-FFF2-40B4-BE49-F238E27FC236}">
                <a16:creationId xmlns:a16="http://schemas.microsoft.com/office/drawing/2014/main" id="{3F875044-2AC9-49A4-8EF0-2E5037B0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15075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5" name="p3-217">
            <a:extLst xmlns:a="http://schemas.openxmlformats.org/drawingml/2006/main">
              <a:ext uri="{FF2B5EF4-FFF2-40B4-BE49-F238E27FC236}">
                <a16:creationId xmlns:a16="http://schemas.microsoft.com/office/drawing/2014/main" id="{DC4412F4-1151-4A0D-B83F-A29B984BA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904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2026.09.29  P3 MVP 项目落地方案  V3.0</a:t>
            </a:r>
          </a:p>
        </p:txBody>
      </p:sp>
      <p:sp>
        <p:nvSpPr>
          <p:cNvPr id="6" name="p3-218">
            <a:extLst xmlns:a="http://schemas.openxmlformats.org/drawingml/2006/main">
              <a:ext uri="{FF2B5EF4-FFF2-40B4-BE49-F238E27FC236}">
                <a16:creationId xmlns:a16="http://schemas.microsoft.com/office/drawing/2014/main" id="{EEC98620-3FE4-4C9D-BD1C-ADC53A91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6429375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22 / 22</a:t>
            </a:r>
          </a:p>
        </p:txBody>
      </p:sp>
      <p:sp>
        <p:nvSpPr>
          <p:cNvPr id="7" name="rect-219">
            <a:extLst xmlns:a="http://schemas.openxmlformats.org/drawingml/2006/main">
              <a:ext uri="{FF2B5EF4-FFF2-40B4-BE49-F238E27FC236}">
                <a16:creationId xmlns:a16="http://schemas.microsoft.com/office/drawing/2014/main" id="{31F0B941-FC9E-44BB-9EF6-15697BF18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05025"/>
            <a:ext cx="20193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9525">
            <a:solidFill>
              <a:srgbClr val="D7E2E8"/>
            </a:solidFill>
          </a:ln>
        </p:spPr>
        <p:txBody>
          <a:bodyPr xmlns:a="http://schemas.openxmlformats.org/drawingml/2006/main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冻结候选</a:t>
            </a:r>
          </a:p>
        </p:txBody>
      </p:sp>
      <p:sp>
        <p:nvSpPr>
          <p:cNvPr id="8" name="rect-220">
            <a:extLst xmlns:a="http://schemas.openxmlformats.org/drawingml/2006/main">
              <a:ext uri="{FF2B5EF4-FFF2-40B4-BE49-F238E27FC236}">
                <a16:creationId xmlns:a16="http://schemas.microsoft.com/office/drawing/2014/main" id="{F3E2B703-B6A3-4E50-9DD3-8847239E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2105025"/>
            <a:ext cx="20193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9525">
            <a:solidFill>
              <a:srgbClr val="D7E2E8"/>
            </a:solidFill>
          </a:ln>
        </p:spPr>
        <p:txBody>
          <a:bodyPr xmlns:a="http://schemas.openxmlformats.org/drawingml/2006/main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备份与任务处理</a:t>
            </a:r>
          </a:p>
        </p:txBody>
      </p:sp>
      <p:sp>
        <p:nvSpPr>
          <p:cNvPr id="9" name="rect-221">
            <a:extLst xmlns:a="http://schemas.openxmlformats.org/drawingml/2006/main">
              <a:ext uri="{FF2B5EF4-FFF2-40B4-BE49-F238E27FC236}">
                <a16:creationId xmlns:a16="http://schemas.microsoft.com/office/drawing/2014/main" id="{E68C3074-A6EE-485C-898B-71F48FBB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05025"/>
            <a:ext cx="20193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9525">
            <a:solidFill>
              <a:srgbClr val="D7E2E8"/>
            </a:solidFill>
          </a:ln>
        </p:spPr>
        <p:txBody>
          <a:bodyPr xmlns:a="http://schemas.openxmlformats.org/drawingml/2006/main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部署与探测</a:t>
            </a:r>
          </a:p>
        </p:txBody>
      </p:sp>
      <p:sp>
        <p:nvSpPr>
          <p:cNvPr id="10" name="rect-222">
            <a:extLst xmlns:a="http://schemas.openxmlformats.org/drawingml/2006/main">
              <a:ext uri="{FF2B5EF4-FFF2-40B4-BE49-F238E27FC236}">
                <a16:creationId xmlns:a16="http://schemas.microsoft.com/office/drawing/2014/main" id="{805EC041-C016-4ECD-BBA3-D54B75415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105025"/>
            <a:ext cx="20193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9525">
            <a:solidFill>
              <a:srgbClr val="D7E2E8"/>
            </a:solidFill>
          </a:ln>
        </p:spPr>
        <p:txBody>
          <a:bodyPr xmlns:a="http://schemas.openxmlformats.org/drawingml/2006/main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业务冒烟</a:t>
            </a:r>
          </a:p>
        </p:txBody>
      </p:sp>
      <p:sp>
        <p:nvSpPr>
          <p:cNvPr id="11" name="rect-223">
            <a:extLst xmlns:a="http://schemas.openxmlformats.org/drawingml/2006/main">
              <a:ext uri="{FF2B5EF4-FFF2-40B4-BE49-F238E27FC236}">
                <a16:creationId xmlns:a16="http://schemas.microsoft.com/office/drawing/2014/main" id="{722A7BED-AFD7-477B-9CA5-12B180DB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105025"/>
            <a:ext cx="20193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2"/>
          </a:solidFill>
          <a:ln xmlns:a="http://schemas.openxmlformats.org/drawingml/2006/main" w="9525">
            <a:solidFill>
              <a:srgbClr val="D7E2E8"/>
            </a:solidFill>
          </a:ln>
        </p:spPr>
        <p:txBody>
          <a:bodyPr xmlns:a="http://schemas.openxmlformats.org/drawingml/2006/main" lIns="95250" tIns="66675" rIns="95250" bIns="6667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运行接手</a:t>
            </a:r>
          </a:p>
        </p:txBody>
      </p:sp>
      <p:sp>
        <p:nvSpPr>
          <p:cNvPr id="16" name="p3-224">
            <a:extLst xmlns:a="http://schemas.openxmlformats.org/drawingml/2006/main">
              <a:ext uri="{FF2B5EF4-FFF2-40B4-BE49-F238E27FC236}">
                <a16:creationId xmlns:a16="http://schemas.microsoft.com/office/drawing/2014/main" id="{7D99160F-0D2C-456C-A913-D1142E233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19431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版本、配置</a:t>
            </a:r>
          </a:p>
          <a:p xmlns:a="http://schemas.openxmlformats.org/drawingml/2006/main">
            <a:pPr algn="ctr">
              <a:def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模型指纹</a:t>
            </a:r>
          </a:p>
        </p:txBody>
      </p:sp>
      <p:sp>
        <p:nvSpPr>
          <p:cNvPr id="17" name="p3-225">
            <a:extLst xmlns:a="http://schemas.openxmlformats.org/drawingml/2006/main">
              <a:ext uri="{FF2B5EF4-FFF2-40B4-BE49-F238E27FC236}">
                <a16:creationId xmlns:a16="http://schemas.microsoft.com/office/drawing/2014/main" id="{5D0D4E9D-DE5E-4B60-A7F6-D8C9AAD91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075" y="3009900"/>
            <a:ext cx="19431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备份可恢复</a:t>
            </a:r>
          </a:p>
          <a:p xmlns:a="http://schemas.openxmlformats.org/drawingml/2006/main">
            <a:pPr algn="ctr">
              <a:def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在途任务有去向</a:t>
            </a:r>
          </a:p>
        </p:txBody>
      </p:sp>
      <p:sp>
        <p:nvSpPr>
          <p:cNvPr id="18" name="p3-226">
            <a:extLst xmlns:a="http://schemas.openxmlformats.org/drawingml/2006/main">
              <a:ext uri="{FF2B5EF4-FFF2-40B4-BE49-F238E27FC236}">
                <a16:creationId xmlns:a16="http://schemas.microsoft.com/office/drawing/2014/main" id="{42752C56-9174-4FA7-BAE5-9B03950CC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09900"/>
            <a:ext cx="19431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live / ready</a:t>
            </a:r>
          </a:p>
          <a:p xmlns:a="http://schemas.openxmlformats.org/drawingml/2006/main">
            <a:pPr algn="ctr">
              <a:def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依赖与 Worker</a:t>
            </a:r>
          </a:p>
        </p:txBody>
      </p:sp>
      <p:sp>
        <p:nvSpPr>
          <p:cNvPr id="19" name="p3-227">
            <a:extLst xmlns:a="http://schemas.openxmlformats.org/drawingml/2006/main">
              <a:ext uri="{FF2B5EF4-FFF2-40B4-BE49-F238E27FC236}">
                <a16:creationId xmlns:a16="http://schemas.microsoft.com/office/drawing/2014/main" id="{FAE9F76A-AF92-45F9-ADCF-FA6F25033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3009900"/>
            <a:ext cx="19431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保存、召回</a:t>
            </a:r>
          </a:p>
          <a:p xmlns:a="http://schemas.openxmlformats.org/drawingml/2006/main">
            <a:pPr algn="ctr">
              <a:def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更正与删除</a:t>
            </a:r>
          </a:p>
        </p:txBody>
      </p:sp>
      <p:sp>
        <p:nvSpPr>
          <p:cNvPr id="20" name="p3-228">
            <a:extLst xmlns:a="http://schemas.openxmlformats.org/drawingml/2006/main">
              <a:ext uri="{FF2B5EF4-FFF2-40B4-BE49-F238E27FC236}">
                <a16:creationId xmlns:a16="http://schemas.microsoft.com/office/drawing/2014/main" id="{70E73B66-7E83-490E-912B-64BA8D79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009900"/>
            <a:ext cx="19431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监测、恢复</a:t>
            </a:r>
          </a:p>
          <a:p xmlns:a="http://schemas.openxmlformats.org/drawingml/2006/main">
            <a:pPr algn="ctr">
              <a:def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B6D7A"/>
                </a:solidFill>
                <a:latin typeface="Microsoft YaHei"/>
                <a:ea typeface="Microsoft YaHei"/>
                <a:cs typeface="Microsoft YaHei"/>
              </a:rPr>
              <a:t>支持联系人</a:t>
            </a:r>
          </a:p>
        </p:txBody>
      </p:sp>
      <p:sp>
        <p:nvSpPr>
          <p:cNvPr id="21" name="line-229">
            <a:extLst xmlns:a="http://schemas.openxmlformats.org/drawingml/2006/main">
              <a:ext uri="{FF2B5EF4-FFF2-40B4-BE49-F238E27FC236}">
                <a16:creationId xmlns:a16="http://schemas.microsoft.com/office/drawing/2014/main" id="{B3124E7F-0D24-4877-AAC6-3542A047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E2E8"/>
            </a:solidFill>
            <a:prstDash val="solid"/>
          </a:ln>
        </p:spPr>
      </p:sp>
      <p:sp>
        <p:nvSpPr>
          <p:cNvPr id="22" name="p3-230">
            <a:extLst xmlns:a="http://schemas.openxmlformats.org/drawingml/2006/main">
              <a:ext uri="{FF2B5EF4-FFF2-40B4-BE49-F238E27FC236}">
                <a16:creationId xmlns:a16="http://schemas.microsoft.com/office/drawing/2014/main" id="{BC95F59E-4055-4D60-8ADA-9A75274AB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5775"/>
            <a:ext cx="1866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C681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AC681E"/>
                </a:solidFill>
                <a:latin typeface="Microsoft YaHei"/>
                <a:ea typeface="Microsoft YaHei"/>
                <a:cs typeface="Microsoft YaHei"/>
              </a:rPr>
              <a:t>异常处置</a:t>
            </a:r>
          </a:p>
        </p:txBody>
      </p:sp>
      <p:sp>
        <p:nvSpPr>
          <p:cNvPr id="23" name="p3-231">
            <a:extLst xmlns:a="http://schemas.openxmlformats.org/drawingml/2006/main">
              <a:ext uri="{FF2B5EF4-FFF2-40B4-BE49-F238E27FC236}">
                <a16:creationId xmlns:a16="http://schemas.microsoft.com/office/drawing/2014/main" id="{6633EA6C-A2DC-4808-9C68-1CF704EEE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286250"/>
            <a:ext cx="896302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探测或关键业务失败时暂停切换，回退已验证版本并按演练方案恢复数据。</a:t>
            </a:r>
          </a:p>
        </p:txBody>
      </p:sp>
      <p:sp>
        <p:nvSpPr>
          <p:cNvPr id="24" name="p3-232">
            <a:extLst xmlns:a="http://schemas.openxmlformats.org/drawingml/2006/main">
              <a:ext uri="{FF2B5EF4-FFF2-40B4-BE49-F238E27FC236}">
                <a16:creationId xmlns:a16="http://schemas.microsoft.com/office/drawing/2014/main" id="{0DE2D7B2-BDAC-4BF3-AD95-4E44E33D4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91125"/>
            <a:ext cx="18669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087F80"/>
                </a:solidFill>
                <a:latin typeface="Microsoft YaHei"/>
                <a:ea typeface="Microsoft YaHei"/>
                <a:cs typeface="Microsoft YaHei"/>
              </a:rPr>
              <a:t>交付包</a:t>
            </a:r>
          </a:p>
        </p:txBody>
      </p:sp>
      <p:sp>
        <p:nvSpPr>
          <p:cNvPr id="25" name="p3-233">
            <a:extLst xmlns:a="http://schemas.openxmlformats.org/drawingml/2006/main">
              <a:ext uri="{FF2B5EF4-FFF2-40B4-BE49-F238E27FC236}">
                <a16:creationId xmlns:a16="http://schemas.microsoft.com/office/drawing/2014/main" id="{8CD73682-E6D0-4FAD-B99C-221D3B184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124450"/>
            <a:ext cx="896302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3044"/>
                </a:solidFill>
                <a:latin typeface="Microsoft YaHei"/>
                <a:ea typeface="Microsoft YaHei"/>
                <a:cs typeface="Microsoft YaHei"/>
              </a:rPr>
              <a:t>运行服务与接入说明、测试和复验记录、部署恢复手册、业务签收与接手记录。</a:t>
            </a:r>
          </a:p>
        </p:txBody>
      </p:sp>
    </p:spTree>
    <p:extLst>
      <p:ext uri="{BB962C8B-B14F-4D97-AF65-F5344CB8AC3E}">
        <p14:creationId xmlns:p14="http://schemas.microsoft.com/office/powerpoint/2010/main" val="159631717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2026-09-29T08:38:24.1170000Z</dcterms:created>
  <dcterms:modified xsi:type="dcterms:W3CDTF">2026-09-29T08:38:24.1170000Z</dcterms:modified>
</coreProperties>
</file>