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6" r:id="rId11"/>
    <p:sldId id="276" r:id="rIdFlowChoice19"/>
    <p:sldId id="277" r:id="rIdFlowChoice20"/>
    <p:sldId id="268" r:id="rId12"/>
    <p:sldId id="269" r:id="rId13"/>
    <p:sldId id="270" r:id="rId14"/>
    <p:sldId id="271" r:id="rId15"/>
    <p:sldId id="272" r:id="rId16"/>
    <p:sldId id="273" r:id="rId17"/>
    <p:sldId id="274" r:id="rId18"/>
    <p:sldId id="275"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FlowChoice19" Type="http://schemas.openxmlformats.org/officeDocument/2006/relationships/slide" Target="slides/slide19.xml"/><Relationship Id="rIdFlowChoice2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这里讲目前代码怎样模拟 P2。三类替身分别用于本地服务、契约测试和独立调度演示，并非一个已经覆盖所有 P2 接口的统一服务。</a:t>
            </a:r>
          </a:p>
          <a:p>
            <a:r>
              <a:t>正文替身把正文和 SHA-256 校验值写进独立 SQLite 文件，按对象编号读取，支持字节范围读取和删除。相同编号重复保存相同内容不会新增对象，换成不同内容会报错。重新建立实例后仍能读回原文，也能主动设置不可用来模拟存储故障。</a:t>
            </a:r>
          </a:p>
          <a:p>
            <a:r>
              <a:t>向量状态模拟器保存目标身份、版本、向量数据、操作编号和幂等键。写入先显示已接收，检索可见标记保持关闭。测试脚本明确推进后，查询才显示可检索。它验证写入、状态查询、删除和迟到写入屏障，不计算真实向量相似度。</a:t>
            </a:r>
          </a:p>
          <a:p>
            <a:r>
              <a:t>Operate 独立演示把正文、基础层级、热副本、剩余容量和动作保存在内存里。提交动作只进入运行中，测试驱动推进动作后才复制热副本、调整基础层级或删除热副本。随后读取内容并检查校验值；容量不足、版本变化和执行失败都可以模拟。</a:t>
            </a:r>
          </a:p>
          <a:p>
            <a:r>
              <a:t>用页面下方的现有向量测试举例：先把向量和操作记录写入数据库，再主动抛出超时，模拟写入成功但回执丢失。测试重新建立模拟器，用原幂等键查回同一操作。重复提交得到同一个操作编号。此时仍不可检索，脚本显式开放检索可见后，再核对保存的数据。这里的重建是同一数据库上的实例重建。</a:t>
            </a:r>
          </a:p>
          <a:p>
            <a:r>
              <a:t>现有对应专项测试本次重跑 4 项通过，仅证明上述本地模拟行为。</a:t>
            </a:r>
          </a:p>
          <a:p>
            <a:r>
              <a:t>建议讲述：1.8 分钟</a:t>
            </a: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a:p>
            <a:r>
              <a:t>E:/projects/codex/aether/AgentJYS-main/tests/unit/recall/test_provider.py</a:t>
            </a:r>
          </a:p>
          <a:p>
            <a:r>
              <a:t>E:/projects/codex/aether/AgentJYS-main/tests/unit/test_operate_standalone.py</a:t>
            </a:r>
          </a:p>
          <a:p>
            <a:r>
              <a:t>E:/projects/codex/aether/AgentJYS-main/tests/runtime/flows/test_remember_v3.py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Remember 的目标是把允许使用的原始内容加工成可长期复用的正式记忆。这里选择参考 LangMem Core 的候选提取能力，而不是让框架拥有整条记忆生命周期。</a:t>
            </a:r>
          </a:p>
          <a:p>
            <a:r>
              <a:t>具体借鉴三点：组织模型调用并约束输出字段，生成结构化候选，支持已有记忆参与提取。LangMem 的 Core 可以配合不同存储使用，这与 P3 保留自己的事实、来源、版本和 P2 存储边界相符。例如输入“预算上限为十五万元”，提取器返回候选事实和原文依据，P3 核对依据后才提交正式记忆。</a:t>
            </a:r>
          </a:p>
          <a:p>
            <a:r>
              <a:t>对比 Mem0：它也提供可配置能力，并非不能适配。其整体记忆流程已经串联提取、存储更新和检索，若整套接入 P3，就需要重新衔接这些职责与 P2、版本和事务边界。本期只需要候选提取，因此优先选择接入范围更明确的 LangMem Core。若完全自行编写提取层，则还要维护模型调用、输出约束及已有事实输入。</a:t>
            </a:r>
          </a:p>
          <a:p>
            <a:r>
              <a:t>现有代码已有 LangMem 提取适配，关闭模型自主正式更新和删除，并检查原文证据。已存在的旧记忆输入能力不等于当前单条适配已经全面启用它。真实模型质量与中文否定、引述、假设仍需验证，不能把这页理解为理解质量已验收。</a:t>
            </a:r>
          </a:p>
          <a:p>
            <a:r>
              <a:t>本页比较的是与本项目现有边界的适配代价，未做各框架统一性能排名。</a:t>
            </a:r>
          </a:p>
          <a:p>
            <a:r>
              <a:t/>
            </a:r>
          </a:p>
          <a:p>
            <a:r>
              <a:t>建议讲述：1.8 分钟</a:t>
            </a:r>
          </a:p>
          <a:p>
            <a:r>
              <a:t/>
            </a:r>
          </a:p>
          <a:p>
            <a:r>
              <a:t>依据：</a:t>
            </a:r>
          </a:p>
          <a:p>
            <a:r>
              <a:t>E:/projects/codex/aether/交付成果/ADR版本/ADR-P2P3-001_总体架构决策.md</a:t>
            </a:r>
          </a:p>
          <a:p>
            <a:r>
              <a:t>E:/projects/codex/aether/交付成果/ADR版本/P3_技术选型与框架研读指南_V1.0.md</a:t>
            </a:r>
          </a:p>
          <a:p>
            <a:r>
              <a:t>E:/projects/codex/aether/AgentJYS-main/src/aether_agent_memory/remember/basic/extraction.py</a:t>
            </a:r>
          </a:p>
          <a:p>
            <a:r>
              <a:t>https://github.com/langchain-ai/langmem</a:t>
            </a:r>
          </a:p>
          <a:p>
            <a:r>
              <a:t>https://github.com/mem0ai/mem0</a:t>
            </a:r>
          </a:p>
          <a:p>
            <a:r>
              <a:t>https://github.com/mem0ai/mem0/blob/main/mem0/memory/main.py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当前先确定测试设计原则，不用一张看似完整的用例清单代替真实准备。按业务流程和状态转换拆场景，检查用户最终拿到什么结果。正常流程通过之后，还要覆盖边界和故障，包括操作已经完成但响应没有收到。开发侧做模块自测，测试侧按公开接口和连续业务验证，之后在真实依赖下重新执行。测试数据、执行条件和缺陷复测必须可追溯，测试数量不等于业务质量。</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E:/projects/codex/aether/交付成果/测试与验收/UAT计划与记录.md</a:t>
            </a:r>
          </a:p>
          <a:p>
            <a:r>
              <a:t>E:/projects/codex/aether/AgentJYS-main/.github/workflows/ci.yml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先准备一组有明确正确答案的数据：两租户、两用户、两会话，预算原文和更正来源都保留。分别观察保存状态、当前任务可用与长期就绪。更正为 15 万后，验证新查询和旧结果重取。删除后，验证新查询、旧结果重取、旧索引和迟到任务都不再交付相关正文。撤权后，仅停止向被撤权方交付，并验证其他有效授权仍可使用。外部身份撤销按双方约定的生效时间验证。故障由测试主动控制，并同时核对实际数据和任务状态。相同预期适用于本地、模拟和真实 P2。</a:t>
            </a:r>
          </a:p>
          <a:p>
            <a:endParaRPr/>
          </a:p>
          <a:p>
            <a:r>
              <a:t>建议讲述：1.5 分钟</a:t>
            </a:r>
          </a:p>
          <a:p>
            <a:endParaRPr/>
          </a:p>
          <a:p>
            <a:r>
              <a:t>依据：</a:t>
            </a:r>
          </a:p>
          <a:p>
            <a:r>
              <a:t>E:/projects/codex/aether/交付成果/ADR版本/ADR-P2P3-001_总体架构决策.md</a:t>
            </a:r>
          </a:p>
          <a:p>
            <a:r>
              <a:t>E:/projects/codex/aether/AgentJYS-main/tests/unit/recall/test_provider.py</a:t>
            </a:r>
          </a:p>
          <a:p>
            <a:r>
              <a:t>E:/projects/codex/aether/AgentJYS-main/tests/integration/test_continuous_service.py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接入前先固定环境、身份、接口含义和可复现样例。先打通保存、后台准备、长期召回的最小真实链路，确认存入和取出的内容一致。再扩大到更正删除、跨租户与撤权、关系变化以及调度。随后验证丢回执、部分完成、依赖恢复与重启等故障，并测量质量与运行指标。对接人员提交复现材料，代码修改由相应 P3 或 P2 开发承担，不能因为能连接就称整个项目联调完成。</a:t>
            </a:r>
          </a:p>
          <a:p>
            <a:endParaRPr/>
          </a:p>
          <a:p>
            <a:r>
              <a:t>建议讲述：1.4 分钟</a:t>
            </a:r>
          </a:p>
          <a:p>
            <a:endParaRPr/>
          </a:p>
          <a:p>
            <a:r>
              <a:t>依据：</a:t>
            </a:r>
          </a:p>
          <a:p>
            <a:r>
              <a:t>E:/projects/codex/aether/交付成果/ADR版本/ADR-P2P3-001_总体架构决策.md</a:t>
            </a:r>
          </a:p>
          <a:p>
            <a:r>
              <a:t>E:/projects/codex/aether/交付成果/开发协作/13_项目任务分工表_20260923.md</a:t>
            </a:r>
          </a:p>
          <a:p>
            <a:r>
              <a:t>E:/projects/codex/aether/AgentJYS-main/src/aether_agent_memory/p2/client.py</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验收分开看业务正确性、真实集成、质量性能、运行恢复和业务签收。PRD 中已有的核心读写、有效语义计算、压缩和调度目标需在固定测量条件下验证，不能用单元测试通过代替。MVP 长稳按最终候选连续至少 24 小时执行，影响运行的修复后重新计时。完整 Recall 的端到端时延与底层核心读写指标分开。阻断缺陷必须修复并复测，一般遗留项也要有接受条件和关闭计划。</a:t>
            </a:r>
          </a:p>
          <a:p>
            <a:endParaRPr/>
          </a:p>
          <a:p>
            <a:r>
              <a:t>建议讲述：1.6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要解决的是如何找到相关记忆，并交付当前有效、权限允许且可追溯的上下文材料。选择 LlamaIndex 作为主要参考，重点看检索器、向量后端适配、候选融合和后处理分层。</a:t>
            </a:r>
          </a:p>
          <a:p xmlns:a="http://schemas.openxmlformats.org/drawingml/2006/main">
            <a:r>
              <a:t>在 P3 中，当前任务记忆和长期记忆分别找候选，随后合并与去重，必要时重排，再装配上下文。每一步都可以单独验证和替换。比如旧预算20万和新预算15万都被检索命中，框架的分层机制帮助组织候选，P3仍需依据Remember的正式版本判断哪条可交付。</a:t>
            </a:r>
          </a:p>
          <a:p xmlns:a="http://schemas.openxmlformats.org/drawingml/2006/main">
            <a:r>
              <a:t>Haystack 也具备检索、合并和组件组织能力，现有材料已把它作为补充研读对象。这里不声称它能力不足。选择 LlamaIndex 作为主要参考，是因为已有检索、融合和后处理模块与本项目的步骤及研读成果直接对应。若改由 Haystack 完整流水线接管，需要重新适配来源状态、错误传播及现有任务边界，当前没有足够收益支持再引入一套主编排。</a:t>
            </a:r>
          </a:p>
          <a:p xmlns:a="http://schemas.openxmlformats.org/drawingml/2006/main">
            <a:r>
              <a:t>LlamaIndex 的 Query Engine 可以只调用检索，也提供答案生成能力，因此不是“使用就一定生成回答”。P3只交付上下文，本期不采用整套问答链。默认节点去重和融合口径也不能直接替代P3的记忆编号、版本和排序规则。</a:t>
            </a:r>
          </a:p>
          <a:p xmlns:a="http://schemas.openxmlformats.org/drawingml/2006/main">
            <a:r>
              <a:t>当前采用的是模块划分思路，自有Recall编排保留。向量编码、可选重排和长期存储分别由对应适配器承担，不能把LlamaIndex称为P3的完整运行平台。</a:t>
            </a:r>
          </a:p>
          <a:p xmlns:a="http://schemas.openxmlformats.org/drawingml/2006/main">
            <a:r>
              <a:t/>
            </a:r>
          </a:p>
          <a:p xmlns:a="http://schemas.openxmlformats.org/drawingml/2006/main">
            <a:r>
              <a:t>建议讲述：1.8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E:/projects/codex/aether/交付成果/架构设计/Recall与Embedding_开源框架参考与接入指南.md</a:t>
            </a:r>
          </a:p>
          <a:p xmlns:a="http://schemas.openxmlformats.org/drawingml/2006/main">
            <a:r>
              <a:t>E:/projects/codex/aether/交付成果/架构设计/Recall与Embedding_流程实现说明.md</a:t>
            </a:r>
          </a:p>
          <a:p xmlns:a="http://schemas.openxmlformats.org/drawingml/2006/main">
            <a:r>
              <a:t>https://github.com/run-llama/llama_index</a:t>
            </a:r>
          </a:p>
          <a:p xmlns:a="http://schemas.openxmlformats.org/drawingml/2006/main">
            <a:r>
              <a:t>https://github.com/deepset-ai/haystack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Operate 的问题是让内容的访问准备跟上实际使用情况。我们参考 Kubernetes Controller 的控制循环：事件用于唤醒，执行前重新读取当前状态，比较期望与现实，只做必要动作，再重新观察和核验。</a:t>
            </a:r>
          </a:p>
          <a:p xmlns:a="http://schemas.openxmlformats.org/drawingml/2006/main">
            <a:r>
              <a:t>例如一条冷层记忆被频繁使用，P3决定准备热副本。提交动作后如果回执丢失，不能把同一事件再次到来解释成再创建一个副本，而应查询原动作和当前状态。读取内容、核对版本与校验值后，才判断是否达到期望效果。</a:t>
            </a:r>
          </a:p>
          <a:p xmlns:a="http://schemas.openxmlformats.org/drawingml/2006/main">
            <a:r>
              <a:t>普通定时任务和任务队列擅长触发、排队或执行工作，本身不决定哪条记忆应位于什么层，也不替代P3的实际效果核验。因此可以作为执行部件，但不能单独充当整套调度方案。Temporal提供持久工作流和恢复能力，若将来存在更复杂的长流程或补偿需求，可以重新评估；目前接管已有任务会增加服务部署及在途任务迁移成本。</a:t>
            </a:r>
          </a:p>
          <a:p xmlns:a="http://schemas.openxmlformats.org/drawingml/2006/main">
            <a:r>
              <a:t>采用的是Controller模式，以Python实现领域控制器。Go controller-runtime面向Kubernetes资源控制，不直接作为本项目运行依赖，也不把每条记忆变成集群资源。重试、持久动作、并发约束、热度策略和P2动作协议仍需我们实现和测试。</a:t>
            </a:r>
          </a:p>
          <a:p xmlns:a="http://schemas.openxmlformats.org/drawingml/2006/main">
            <a:r>
              <a:t/>
            </a:r>
          </a:p>
          <a:p xmlns:a="http://schemas.openxmlformats.org/drawingml/2006/main">
            <a:r>
              <a:t>建议讲述：1.8 分钟</a:t>
            </a:r>
          </a:p>
          <a:p xmlns:a="http://schemas.openxmlformats.org/drawingml/2006/main">
            <a:r>
              <a:t/>
            </a:r>
          </a:p>
          <a:p xmlns:a="http://schemas.openxmlformats.org/drawingml/2006/main">
            <a:r>
              <a:t>依据：</a:t>
            </a:r>
          </a:p>
          <a:p xmlns:a="http://schemas.openxmlformats.org/drawingml/2006/main">
            <a:r>
              <a:t>E:/projects/codex/aether/交付成果/ADR版本/ADR-P2P3-001_总体架构决策.md</a:t>
            </a:r>
          </a:p>
          <a:p xmlns:a="http://schemas.openxmlformats.org/drawingml/2006/main">
            <a:r>
              <a:t>E:/projects/codex/aether/AgentJYS-main/docs/p3/adr/ADR-P3-001_V1.2产品基线与框架采用.md</a:t>
            </a:r>
          </a:p>
          <a:p xmlns:a="http://schemas.openxmlformats.org/drawingml/2006/main">
            <a:r>
              <a:t>E:/projects/codex/aether/AgentJYS-main/src/aether_agent_memory/operate/standalone/controller.py</a:t>
            </a:r>
          </a:p>
          <a:p xmlns:a="http://schemas.openxmlformats.org/drawingml/2006/main">
            <a:r>
              <a:t>https://github.com/kubernetes-sigs/controller-runtime</a:t>
            </a:r>
          </a:p>
          <a:p xmlns:a="http://schemas.openxmlformats.org/drawingml/2006/main">
            <a:r>
              <a:t>https://github.com/kubernetes-sigs/controller-runtime/blob/main/pkg/reconcile/reconcile.go</a:t>
            </a:r>
          </a:p>
          <a:p xmlns:a="http://schemas.openxmlformats.org/drawingml/2006/main">
            <a:r>
              <a:t>https://github.com/temporalio/sdk-python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 Id="rIdOfficialProject" Type="http://schemas.openxmlformats.org/officeDocument/2006/relationships/hyperlink" Target="https://github.com/langchain-ai/langmem"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 Id="rIdOfficialProject" Type="http://schemas.openxmlformats.org/officeDocument/2006/relationships/hyperlink" Target="https://github.com/run-llama/llama_index"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 Id="rIdOfficialProject" Type="http://schemas.openxmlformats.org/officeDocument/2006/relationships/hyperlink" Target="https://github.com/kubernetes-sigs/controller-runtim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V4.2</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20</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03—09</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三条流程参考的框架、机制与取舍</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10—12</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怎样验证业务，怎样判断可以交付</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13—16</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17—20</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20</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20</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20</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20</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20</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20</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mock-explanation-1">
            <a:extLst>
              <a:ext uri="{FF2B5EF4-FFF2-40B4-BE49-F238E27FC236}">
                <a16:creationId xmlns:a16="http://schemas.microsoft.com/office/drawing/2014/main" id="{2EC5EFFA-1254-4CE2-B13F-A1AD0B9887C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mock-explanation-2">
            <a:extLst>
              <a:ext uri="{FF2B5EF4-FFF2-40B4-BE49-F238E27FC236}">
                <a16:creationId xmlns:a16="http://schemas.microsoft.com/office/drawing/2014/main" id="{8A015C8B-D8BA-426C-8420-362CD1F5434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Mock 具体怎么模拟</a:t>
            </a:r>
          </a:p>
        </p:txBody>
      </p:sp>
      <p:sp>
        <p:nvSpPr>
          <p:cNvPr id="3" name="mock-explanation-3">
            <a:extLst>
              <a:ext uri="{FF2B5EF4-FFF2-40B4-BE49-F238E27FC236}">
                <a16:creationId xmlns:a16="http://schemas.microsoft.com/office/drawing/2014/main" id="{D3F829EE-BFD8-4377-A5A1-C84572CAB817}"/>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在本地保存数据与操作记录，按测试脚本改变状态和返回结果</a:t>
            </a:r>
          </a:p>
        </p:txBody>
      </p:sp>
      <p:graphicFrame>
        <p:nvGraphicFramePr>
          <p:cNvPr id="17" name="表格 16"/>
          <p:cNvGraphicFramePr/>
          <p:nvPr/>
        </p:nvGraphicFramePr>
        <p:xfrm>
          <a:off x="609600" y="1933575"/>
          <a:ext cx="10972800" cy="3036570"/>
        </p:xfrm>
        <a:graphic>
          <a:graphicData uri="http://schemas.openxmlformats.org/drawingml/2006/table">
            <a:tbl>
              <a:tblPr/>
              <a:tblGrid>
                <a:gridCol w="17716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400050">
                <a:tc>
                  <a:txBody>
                    <a:bodyPr/>
                    <a:lstStyle/>
                    <a:p>
                      <a:r>
                        <a:rPr sz="1800" b="1">
                          <a:solidFill>
                            <a:srgbClr val="FFFFFF"/>
                          </a:solidFill>
                          <a:latin typeface="Microsoft YaHei"/>
                          <a:ea typeface="Microsoft YaHei"/>
                          <a:cs typeface="Microsoft YaHei"/>
                        </a:rPr>
                        <a:t>模拟哪部分</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现在具体怎么做</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怎样检查结果</a:t>
                      </a:r>
                    </a:p>
                  </a:txBody>
                  <a:tcPr marL="133350" marR="95250" marT="66675" marB="66675" anchor="ctr">
                    <a:solidFill>
                      <a:srgbClr val="163044"/>
                    </a:solidFill>
                  </a:tcPr>
                </a:tc>
                <a:extLst>
                  <a:ext uri="{0D108BD9-81ED-4DB2-BD59-A6C34878D82A}">
                    <a16:rowId xmlns:a16="http://schemas.microsoft.com/office/drawing/2014/main" val="10000"/>
                  </a:ext>
                </a:extLst>
              </a:tr>
              <a:tr h="876300">
                <a:tc>
                  <a:txBody>
                    <a:bodyPr/>
                    <a:lstStyle/>
                    <a:p>
                      <a:r>
                        <a:rPr sz="1725" b="1">
                          <a:solidFill>
                            <a:srgbClr val="163044"/>
                          </a:solidFill>
                          <a:latin typeface="Microsoft YaHei"/>
                          <a:ea typeface="Microsoft YaHei"/>
                          <a:cs typeface="Microsoft YaHei"/>
                        </a:rPr>
                        <a:t>正文存取</a:t>
                      </a:r>
                    </a:p>
                    <a:p>
                      <a:r>
                        <a:rPr sz="1725" b="1">
                          <a:solidFill>
                            <a:srgbClr val="163044"/>
                          </a:solidFill>
                          <a:latin typeface="Microsoft YaHei"/>
                          <a:ea typeface="Microsoft YaHei"/>
                          <a:cs typeface="Microsoft YaHei"/>
                        </a:rPr>
                        <a:t>（本地服务）</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用 SQLite 保存正文和校验值</a:t>
                      </a:r>
                    </a:p>
                    <a:p>
                      <a:r>
                        <a:rPr sz="1725" b="0">
                          <a:solidFill>
                            <a:srgbClr val="163044"/>
                          </a:solidFill>
                          <a:latin typeface="Microsoft YaHei"/>
                          <a:ea typeface="Microsoft YaHei"/>
                          <a:cs typeface="Microsoft YaHei"/>
                        </a:rPr>
                        <a:t>按编号读取，支持分段读和删除</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重启后仍能读回原文</a:t>
                      </a:r>
                    </a:p>
                    <a:p>
                      <a:r>
                        <a:rPr sz="1725" b="0">
                          <a:solidFill>
                            <a:srgbClr val="163044"/>
                          </a:solidFill>
                          <a:latin typeface="Microsoft YaHei"/>
                          <a:ea typeface="Microsoft YaHei"/>
                          <a:cs typeface="Microsoft YaHei"/>
                        </a:rPr>
                        <a:t>同编号禁止覆盖不同正文</a:t>
                      </a:r>
                    </a:p>
                  </a:txBody>
                  <a:tcPr marL="133350" marR="95250" marT="66675" marB="66675" anchor="ctr">
                    <a:solidFill>
                      <a:srgbClr val="FFFFFF"/>
                    </a:solidFill>
                  </a:tcPr>
                </a:tc>
                <a:extLst>
                  <a:ext uri="{0D108BD9-81ED-4DB2-BD59-A6C34878D82A}">
                    <a16:rowId xmlns:a16="http://schemas.microsoft.com/office/drawing/2014/main" val="10001"/>
                  </a:ext>
                </a:extLst>
              </a:tr>
              <a:tr h="876300">
                <a:tc>
                  <a:txBody>
                    <a:bodyPr/>
                    <a:lstStyle/>
                    <a:p>
                      <a:r>
                        <a:rPr sz="1725" b="1">
                          <a:solidFill>
                            <a:srgbClr val="163044"/>
                          </a:solidFill>
                          <a:latin typeface="Microsoft YaHei"/>
                          <a:ea typeface="Microsoft YaHei"/>
                          <a:cs typeface="Microsoft YaHei"/>
                        </a:rPr>
                        <a:t>向量状态</a:t>
                      </a:r>
                    </a:p>
                    <a:p>
                      <a:r>
                        <a:rPr sz="1725" b="1">
                          <a:solidFill>
                            <a:srgbClr val="163044"/>
                          </a:solidFill>
                          <a:latin typeface="Microsoft YaHei"/>
                          <a:ea typeface="Microsoft YaHei"/>
                          <a:cs typeface="Microsoft YaHei"/>
                        </a:rPr>
                        <a:t>（契约测试）</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保存向量、目标版本和操作记录</a:t>
                      </a:r>
                    </a:p>
                    <a:p>
                      <a:r>
                        <a:rPr sz="1725" b="0">
                          <a:solidFill>
                            <a:srgbClr val="163044"/>
                          </a:solidFill>
                          <a:latin typeface="Microsoft YaHei"/>
                          <a:ea typeface="Microsoft YaHei"/>
                          <a:cs typeface="Microsoft YaHei"/>
                        </a:rPr>
                        <a:t>脚本控制“已接收”变为“可检索”</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核对写入状态与原始数据</a:t>
                      </a:r>
                    </a:p>
                    <a:p>
                      <a:r>
                        <a:rPr sz="1725" b="0">
                          <a:solidFill>
                            <a:srgbClr val="163044"/>
                          </a:solidFill>
                          <a:latin typeface="Microsoft YaHei"/>
                          <a:ea typeface="Microsoft YaHei"/>
                          <a:cs typeface="Microsoft YaHei"/>
                        </a:rPr>
                        <a:t>删除后旧请求不能恢复数据</a:t>
                      </a:r>
                    </a:p>
                  </a:txBody>
                  <a:tcPr marL="133350" marR="95250" marT="66675" marB="66675" anchor="ctr">
                    <a:solidFill>
                      <a:srgbClr val="F5F8FA"/>
                    </a:solidFill>
                  </a:tcPr>
                </a:tc>
                <a:extLst>
                  <a:ext uri="{0D108BD9-81ED-4DB2-BD59-A6C34878D82A}">
                    <a16:rowId xmlns:a16="http://schemas.microsoft.com/office/drawing/2014/main" val="10002"/>
                  </a:ext>
                </a:extLst>
              </a:tr>
              <a:tr h="876300">
                <a:tc>
                  <a:txBody>
                    <a:bodyPr/>
                    <a:lstStyle/>
                    <a:p>
                      <a:r>
                        <a:rPr sz="1725" b="1">
                          <a:solidFill>
                            <a:srgbClr val="163044"/>
                          </a:solidFill>
                          <a:latin typeface="Microsoft YaHei"/>
                          <a:ea typeface="Microsoft YaHei"/>
                          <a:cs typeface="Microsoft YaHei"/>
                        </a:rPr>
                        <a:t>分层调度</a:t>
                      </a:r>
                    </a:p>
                    <a:p>
                      <a:r>
                        <a:rPr sz="1725" b="1">
                          <a:solidFill>
                            <a:srgbClr val="163044"/>
                          </a:solidFill>
                          <a:latin typeface="Microsoft YaHei"/>
                          <a:ea typeface="Microsoft YaHei"/>
                          <a:cs typeface="Microsoft YaHei"/>
                        </a:rPr>
                        <a:t>（独立演示）</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在内存保存层级、容量和动作</a:t>
                      </a:r>
                    </a:p>
                    <a:p>
                      <a:r>
                        <a:rPr sz="1725" b="0">
                          <a:solidFill>
                            <a:srgbClr val="163044"/>
                          </a:solidFill>
                          <a:latin typeface="Microsoft YaHei"/>
                          <a:ea typeface="Microsoft YaHei"/>
                          <a:cs typeface="Microsoft YaHei"/>
                        </a:rPr>
                        <a:t>脚本推进后复制热副本或切换层级</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读取副本并核对校验值</a:t>
                      </a:r>
                    </a:p>
                    <a:p>
                      <a:r>
                        <a:rPr sz="1725" b="0">
                          <a:solidFill>
                            <a:srgbClr val="163044"/>
                          </a:solidFill>
                          <a:latin typeface="Microsoft YaHei"/>
                          <a:ea typeface="Microsoft YaHei"/>
                          <a:cs typeface="Microsoft YaHei"/>
                        </a:rPr>
                        <a:t>容量不足或版本变化则失败</a:t>
                      </a:r>
                    </a:p>
                  </a:txBody>
                  <a:tcPr marL="1333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5" name="mock-explanation-4">
            <a:extLst>
              <a:ext uri="{FF2B5EF4-FFF2-40B4-BE49-F238E27FC236}">
                <a16:creationId xmlns:a16="http://schemas.microsoft.com/office/drawing/2014/main" id="{48DAE1BD-4A34-435D-ABA5-7198E00AD9D3}"/>
              </a:ext>
            </a:extLst>
          </p:cNvPr>
          <p:cNvSpPr>
            <a:spLocks noGrp="1"/>
          </p:cNvSpPr>
          <p:nvPr/>
        </p:nvSpPr>
        <p:spPr>
          <a:xfrm>
            <a:off x="609600" y="5095875"/>
            <a:ext cx="10972800" cy="352425"/>
          </a:xfrm>
          <a:prstGeom prst="rect">
            <a:avLst/>
          </a:prstGeom>
          <a:noFill/>
          <a:ln w="0">
            <a:noFill/>
          </a:ln>
        </p:spPr>
        <p:txBody>
          <a:bodyPr wrap="square" lIns="0" tIns="0" rIns="0" bIns="0" anchor="ctr">
            <a:noAutofit/>
          </a:bodyPr>
          <a:lstStyle/>
          <a:p>
            <a:pPr algn="l">
              <a:defRPr sz="1875" b="1">
                <a:solidFill>
                  <a:srgbClr val="087F80"/>
                </a:solidFill>
                <a:latin typeface="Microsoft YaHei"/>
                <a:ea typeface="Microsoft YaHei"/>
                <a:cs typeface="Microsoft YaHei"/>
              </a:defRPr>
            </a:pPr>
            <a:r>
              <a:rPr sz="1875" b="1">
                <a:solidFill>
                  <a:srgbClr val="087F80"/>
                </a:solidFill>
                <a:latin typeface="Microsoft YaHei"/>
                <a:ea typeface="Microsoft YaHei"/>
                <a:cs typeface="Microsoft YaHei"/>
              </a:rPr>
              <a:t>故障示例：写入后丢回执，怎样检查恢复</a:t>
            </a:r>
          </a:p>
        </p:txBody>
      </p:sp>
      <p:sp>
        <p:nvSpPr>
          <p:cNvPr id="6" name="mock-explanation-5">
            <a:extLst>
              <a:ext uri="{FF2B5EF4-FFF2-40B4-BE49-F238E27FC236}">
                <a16:creationId xmlns:a16="http://schemas.microsoft.com/office/drawing/2014/main" id="{386CEBF9-64F2-45D3-A8AF-E72C92104694}"/>
              </a:ext>
            </a:extLst>
          </p:cNvPr>
          <p:cNvSpPr>
            <a:spLocks noGrp="1"/>
          </p:cNvSpPr>
          <p:nvPr/>
        </p:nvSpPr>
        <p:spPr>
          <a:xfrm>
            <a:off x="6096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① 写入记录后</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主动抛出超时</a:t>
            </a:r>
          </a:p>
        </p:txBody>
      </p:sp>
      <p:sp>
        <p:nvSpPr>
          <p:cNvPr id="7" name="mock-explanation-6">
            <a:extLst>
              <a:ext uri="{FF2B5EF4-FFF2-40B4-BE49-F238E27FC236}">
                <a16:creationId xmlns:a16="http://schemas.microsoft.com/office/drawing/2014/main" id="{3E61383A-06A6-4915-BE81-117A0C945236}"/>
              </a:ext>
            </a:extLst>
          </p:cNvPr>
          <p:cNvSpPr>
            <a:spLocks noGrp="1"/>
          </p:cNvSpPr>
          <p:nvPr/>
        </p:nvSpPr>
        <p:spPr>
          <a:xfrm>
            <a:off x="34290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② 重建模拟器</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查回原操作</a:t>
            </a:r>
          </a:p>
        </p:txBody>
      </p:sp>
      <p:sp>
        <p:nvSpPr>
          <p:cNvPr id="8" name="mock-explanation-7">
            <a:extLst>
              <a:ext uri="{FF2B5EF4-FFF2-40B4-BE49-F238E27FC236}">
                <a16:creationId xmlns:a16="http://schemas.microsoft.com/office/drawing/2014/main" id="{8132BCE8-2C01-4B14-A7D8-99004FEBCBD2}"/>
              </a:ext>
            </a:extLst>
          </p:cNvPr>
          <p:cNvSpPr>
            <a:spLocks noGrp="1"/>
          </p:cNvSpPr>
          <p:nvPr/>
        </p:nvSpPr>
        <p:spPr>
          <a:xfrm>
            <a:off x="62484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③ 重复写入</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返回同一操作</a:t>
            </a:r>
          </a:p>
        </p:txBody>
      </p:sp>
      <p:sp>
        <p:nvSpPr>
          <p:cNvPr id="9" name="mock-explanation-8">
            <a:extLst>
              <a:ext uri="{FF2B5EF4-FFF2-40B4-BE49-F238E27FC236}">
                <a16:creationId xmlns:a16="http://schemas.microsoft.com/office/drawing/2014/main" id="{63537F3D-AA19-4871-8396-637651039F66}"/>
              </a:ext>
            </a:extLst>
          </p:cNvPr>
          <p:cNvSpPr>
            <a:spLocks noGrp="1"/>
          </p:cNvSpPr>
          <p:nvPr/>
        </p:nvSpPr>
        <p:spPr>
          <a:xfrm>
            <a:off x="90678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④ 放开检索可见</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核对已存数据</a:t>
            </a:r>
          </a:p>
        </p:txBody>
      </p:sp>
      <p:sp>
        <p:nvSpPr>
          <p:cNvPr id="10" name="mock-explanation-9">
            <a:extLst>
              <a:ext uri="{FF2B5EF4-FFF2-40B4-BE49-F238E27FC236}">
                <a16:creationId xmlns:a16="http://schemas.microsoft.com/office/drawing/2014/main" id="{96D8709E-47DF-4CCB-B8C9-E9008E800676}"/>
              </a:ext>
            </a:extLst>
          </p:cNvPr>
          <p:cNvSpPr>
            <a:spLocks noGrp="1"/>
          </p:cNvSpPr>
          <p:nvPr/>
        </p:nvSpPr>
        <p:spPr>
          <a:xfrm>
            <a:off x="609600" y="6115050"/>
            <a:ext cx="10972800" cy="228600"/>
          </a:xfrm>
          <a:prstGeom prst="rect">
            <a:avLst/>
          </a:prstGeom>
          <a:noFill/>
          <a:ln w="0">
            <a:noFill/>
          </a:ln>
        </p:spPr>
        <p:txBody>
          <a:bodyPr wrap="square" lIns="0" tIns="0" rIns="0" bIns="0" anchor="ctr">
            <a:noAutofit/>
          </a:bodyPr>
          <a:lstStyle/>
          <a:p>
            <a:pPr algn="l">
              <a:defRPr sz="1350" b="0">
                <a:solidFill>
                  <a:srgbClr val="5B6D7A"/>
                </a:solidFill>
                <a:latin typeface="Microsoft YaHei"/>
                <a:ea typeface="Microsoft YaHei"/>
                <a:cs typeface="Microsoft YaHei"/>
              </a:defRPr>
            </a:pPr>
            <a:r>
              <a:rPr sz="1350" b="0">
                <a:solidFill>
                  <a:srgbClr val="5B6D7A"/>
                </a:solidFill>
                <a:latin typeface="Microsoft YaHei"/>
                <a:ea typeface="Microsoft YaHei"/>
                <a:cs typeface="Microsoft YaHei"/>
              </a:rPr>
              <a:t>当前按模块模拟，尚未合成覆盖全部 P2 接口的统一 Mock 服务。</a:t>
            </a:r>
          </a:p>
        </p:txBody>
      </p:sp>
      <p:sp>
        <p:nvSpPr>
          <p:cNvPr id="11" name="直接连接符 10">
            <a:extLst>
              <a:ext uri="{FF2B5EF4-FFF2-40B4-BE49-F238E27FC236}">
                <a16:creationId xmlns:a16="http://schemas.microsoft.com/office/drawing/2014/main" id="{AC7EE97B-2CA2-4599-B923-E3D3AF2FE049}"/>
              </a:ext>
            </a:extLst>
          </p:cNvPr>
          <p:cNvSpPr>
            <a:spLocks noGrp="1"/>
          </p:cNvSpPr>
          <p:nvPr/>
        </p:nvSpPr>
        <p:spPr>
          <a:xfrm>
            <a:off x="609600" y="6419850"/>
            <a:ext cx="10972800" cy="95"/>
          </a:xfrm>
          <a:prstGeom prst="line">
            <a:avLst/>
          </a:prstGeom>
          <a:noFill/>
          <a:ln w="9525">
            <a:solidFill>
              <a:srgbClr val="D7E2E8"/>
            </a:solidFill>
          </a:ln>
        </p:spPr>
      </p:sp>
      <p:sp>
        <p:nvSpPr>
          <p:cNvPr id="12" name="mock-explanation-10">
            <a:extLst>
              <a:ext uri="{FF2B5EF4-FFF2-40B4-BE49-F238E27FC236}">
                <a16:creationId xmlns:a16="http://schemas.microsoft.com/office/drawing/2014/main" id="{85170EEF-C1E1-401D-8188-6BD73728D852}"/>
              </a:ext>
            </a:extLst>
          </p:cNvPr>
          <p:cNvSpPr>
            <a:spLocks noGrp="1"/>
          </p:cNvSpPr>
          <p:nvPr/>
        </p:nvSpPr>
        <p:spPr>
          <a:xfrm>
            <a:off x="609600" y="6505575"/>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13" name="mock-explanation-11">
            <a:extLst>
              <a:ext uri="{FF2B5EF4-FFF2-40B4-BE49-F238E27FC236}">
                <a16:creationId xmlns:a16="http://schemas.microsoft.com/office/drawing/2014/main" id="{4D055FEE-E9E8-4F78-8742-6A406AC9F285}"/>
              </a:ext>
            </a:extLst>
          </p:cNvPr>
          <p:cNvSpPr>
            <a:spLocks noGrp="1"/>
          </p:cNvSpPr>
          <p:nvPr/>
        </p:nvSpPr>
        <p:spPr>
          <a:xfrm>
            <a:off x="10439400" y="6505575"/>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20</a:t>
            </a:r>
          </a:p>
        </p:txBody>
      </p:sp>
    </p:spTree>
    <p:extLst>
      <p:ext uri="{BB962C8B-B14F-4D97-AF65-F5344CB8AC3E}">
        <p14:creationId xmlns:p14="http://schemas.microsoft.com/office/powerpoint/2010/main" val="1304004879"/>
      </p:ext>
    </p:extLst>
  </p:cSld>
  <p:clrMapOvr>
    <a:masterClrMapping/>
  </p:clrMapOvr>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87630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59436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31242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9" name="flow-choice-1">
            <a:extLst xmlns:a="http://schemas.openxmlformats.org/drawingml/2006/main">
              <a:ext uri="{FF2B5EF4-FFF2-40B4-BE49-F238E27FC236}">
                <a16:creationId xmlns:a16="http://schemas.microsoft.com/office/drawing/2014/main" id="{F4F4C0A4-1414-403B-BA51-AB2D4E1EBB88}"/>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2">
            <a:extLst xmlns:a="http://schemas.openxmlformats.org/drawingml/2006/main">
              <a:ext uri="{FF2B5EF4-FFF2-40B4-BE49-F238E27FC236}">
                <a16:creationId xmlns:a16="http://schemas.microsoft.com/office/drawing/2014/main" id="{7E8D5CDA-27EB-4485-BCF6-9F4BEAA1D224}"/>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Remember：参考 LangMem 提取候选事实</a:t>
            </a:r>
          </a:p>
        </p:txBody>
      </p:sp>
      <p:sp>
        <p:nvSpPr>
          <p:cNvPr id="3" name="flow-choice-3">
            <a:extLst xmlns:a="http://schemas.openxmlformats.org/drawingml/2006/main">
              <a:ext uri="{FF2B5EF4-FFF2-40B4-BE49-F238E27FC236}">
                <a16:creationId xmlns:a16="http://schemas.microsoft.com/office/drawing/2014/main" id="{DE0E5D4B-9A0C-498F-BF55-5776E8BB9042}"/>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重点借鉴后台提取能力，正式记忆仍由 P3 审核和提交</a:t>
            </a:r>
          </a:p>
        </p:txBody>
      </p:sp>
      <p:sp>
        <p:nvSpPr>
          <p:cNvPr id="4" name="flow-step-0-0">
            <a:extLst xmlns:a="http://schemas.openxmlformats.org/drawingml/2006/main">
              <a:ext uri="{FF2B5EF4-FFF2-40B4-BE49-F238E27FC236}">
                <a16:creationId xmlns:a16="http://schemas.microsoft.com/office/drawing/2014/main" id="{BF59B2EF-A2D8-457F-9DA7-397A320E3ECB}"/>
              </a:ext>
            </a:extLst>
          </p:cNvPr>
          <p:cNvSpPr>
            <a:spLocks xmlns:a="http://schemas.openxmlformats.org/drawingml/2006/main" noGrp="1"/>
          </p:cNvSpPr>
          <p:nvPr/>
        </p:nvSpPr>
        <p:spPr>
          <a:xfrm xmlns:a="http://schemas.openxmlformats.org/drawingml/2006/main">
            <a:off x="609600" y="2009775"/>
            <a:ext cx="2514600" cy="5905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保存原始内容</a:t>
            </a:r>
          </a:p>
        </p:txBody>
      </p:sp>
      <p:sp>
        <p:nvSpPr>
          <p:cNvPr id="5" name="flow-step-0-1">
            <a:extLst xmlns:a="http://schemas.openxmlformats.org/drawingml/2006/main">
              <a:ext uri="{FF2B5EF4-FFF2-40B4-BE49-F238E27FC236}">
                <a16:creationId xmlns:a16="http://schemas.microsoft.com/office/drawing/2014/main" id="{01B27468-1AC7-44C7-BA50-B21BF328A4E4}"/>
              </a:ext>
            </a:extLst>
          </p:cNvPr>
          <p:cNvSpPr>
            <a:spLocks xmlns:a="http://schemas.openxmlformats.org/drawingml/2006/main" noGrp="1"/>
          </p:cNvSpPr>
          <p:nvPr/>
        </p:nvSpPr>
        <p:spPr>
          <a:xfrm xmlns:a="http://schemas.openxmlformats.org/drawingml/2006/main">
            <a:off x="34290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提取候选事实</a:t>
            </a:r>
          </a:p>
        </p:txBody>
      </p:sp>
      <p:sp>
        <p:nvSpPr>
          <p:cNvPr id="6" name="flow-step-0-2">
            <a:extLst xmlns:a="http://schemas.openxmlformats.org/drawingml/2006/main">
              <a:ext uri="{FF2B5EF4-FFF2-40B4-BE49-F238E27FC236}">
                <a16:creationId xmlns:a16="http://schemas.microsoft.com/office/drawing/2014/main" id="{94B5DDD0-8264-4ECB-AB0D-007A1A7B0F53}"/>
              </a:ext>
            </a:extLst>
          </p:cNvPr>
          <p:cNvSpPr>
            <a:spLocks xmlns:a="http://schemas.openxmlformats.org/drawingml/2006/main" noGrp="1"/>
          </p:cNvSpPr>
          <p:nvPr/>
        </p:nvSpPr>
        <p:spPr>
          <a:xfrm xmlns:a="http://schemas.openxmlformats.org/drawingml/2006/main">
            <a:off x="6248400" y="2009775"/>
            <a:ext cx="2514600" cy="5905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核对来源与版本</a:t>
            </a:r>
          </a:p>
        </p:txBody>
      </p:sp>
      <p:sp>
        <p:nvSpPr>
          <p:cNvPr id="7" name="flow-step-0-3">
            <a:extLst xmlns:a="http://schemas.openxmlformats.org/drawingml/2006/main">
              <a:ext uri="{FF2B5EF4-FFF2-40B4-BE49-F238E27FC236}">
                <a16:creationId xmlns:a16="http://schemas.microsoft.com/office/drawing/2014/main" id="{E8A32706-E121-4252-B4F3-45761ADC98F5}"/>
              </a:ext>
            </a:extLst>
          </p:cNvPr>
          <p:cNvSpPr>
            <a:spLocks xmlns:a="http://schemas.openxmlformats.org/drawingml/2006/main" noGrp="1"/>
          </p:cNvSpPr>
          <p:nvPr/>
        </p:nvSpPr>
        <p:spPr>
          <a:xfrm xmlns:a="http://schemas.openxmlformats.org/drawingml/2006/main">
            <a:off x="9067800" y="2009775"/>
            <a:ext cx="2514600" cy="5905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提交正式记忆</a:t>
            </a:r>
          </a:p>
        </p:txBody>
      </p:sp>
      <p:sp>
        <p:nvSpPr>
          <p:cNvPr id="11" name="flow-choice-4">
            <a:extLst xmlns:a="http://schemas.openxmlformats.org/drawingml/2006/main">
              <a:ext uri="{FF2B5EF4-FFF2-40B4-BE49-F238E27FC236}">
                <a16:creationId xmlns:a16="http://schemas.microsoft.com/office/drawing/2014/main" id="{C2A98009-4361-4FBA-B3D1-D156952C61C4}"/>
              </a:ext>
            </a:extLst>
          </p:cNvPr>
          <p:cNvSpPr>
            <a:spLocks xmlns:a="http://schemas.openxmlformats.org/drawingml/2006/main" noGrp="1"/>
          </p:cNvSpPr>
          <p:nvPr/>
        </p:nvSpPr>
        <p:spPr>
          <a:xfrm xmlns:a="http://schemas.openxmlformats.org/drawingml/2006/main">
            <a:off x="609600" y="28479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5">
            <a:extLst xmlns:a="http://schemas.openxmlformats.org/drawingml/2006/main">
              <a:ext uri="{FF2B5EF4-FFF2-40B4-BE49-F238E27FC236}">
                <a16:creationId xmlns:a16="http://schemas.microsoft.com/office/drawing/2014/main" id="{A9100421-E44F-49E4-B7DE-75B982CDC841}"/>
              </a:ext>
            </a:extLst>
          </p:cNvPr>
          <p:cNvSpPr>
            <a:spLocks xmlns:a="http://schemas.openxmlformats.org/drawingml/2006/main" noGrp="1"/>
          </p:cNvSpPr>
          <p:nvPr/>
        </p:nvSpPr>
        <p:spPr>
          <a:xfrm xmlns:a="http://schemas.openxmlformats.org/drawingml/2006/main">
            <a:off x="2867025" y="28479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结构化候选提取、自定义输出字段、已有记忆输入。</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把模型结果组织成候选，交给 P3 审核。</a:t>
            </a:r>
          </a:p>
        </p:txBody>
      </p:sp>
      <p:sp>
        <p:nvSpPr>
          <p:cNvPr id="13" name="">
            <a:extLst xmlns:a="http://schemas.openxmlformats.org/drawingml/2006/main">
              <a:ext uri="{FF2B5EF4-FFF2-40B4-BE49-F238E27FC236}">
                <a16:creationId xmlns:a16="http://schemas.microsoft.com/office/drawing/2014/main" id="{B208C90F-028B-4DDC-A6D4-5AFB7259EB5C}"/>
              </a:ext>
            </a:extLst>
          </p:cNvPr>
          <p:cNvSpPr>
            <a:spLocks xmlns:a="http://schemas.openxmlformats.org/drawingml/2006/main" noGrp="1"/>
          </p:cNvSpPr>
          <p:nvPr/>
        </p:nvSpPr>
        <p:spPr>
          <a:xfrm xmlns:a="http://schemas.openxmlformats.org/drawingml/2006/main">
            <a:off x="609600" y="35337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4" name="flow-choice-6">
            <a:extLst xmlns:a="http://schemas.openxmlformats.org/drawingml/2006/main">
              <a:ext uri="{FF2B5EF4-FFF2-40B4-BE49-F238E27FC236}">
                <a16:creationId xmlns:a16="http://schemas.microsoft.com/office/drawing/2014/main" id="{AE30E13D-BDB1-40E2-B89A-8068EA19E5E5}"/>
              </a:ext>
            </a:extLst>
          </p:cNvPr>
          <p:cNvSpPr>
            <a:spLocks xmlns:a="http://schemas.openxmlformats.org/drawingml/2006/main" noGrp="1"/>
          </p:cNvSpPr>
          <p:nvPr/>
        </p:nvSpPr>
        <p:spPr>
          <a:xfrm xmlns:a="http://schemas.openxmlformats.org/drawingml/2006/main">
            <a:off x="609600" y="35909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7">
            <a:extLst xmlns:a="http://schemas.openxmlformats.org/drawingml/2006/main">
              <a:ext uri="{FF2B5EF4-FFF2-40B4-BE49-F238E27FC236}">
                <a16:creationId xmlns:a16="http://schemas.microsoft.com/office/drawing/2014/main" id="{51313EFE-6CF2-4B70-A623-57CAEECA127D}"/>
              </a:ext>
            </a:extLst>
          </p:cNvPr>
          <p:cNvSpPr>
            <a:spLocks xmlns:a="http://schemas.openxmlformats.org/drawingml/2006/main" noGrp="1"/>
          </p:cNvSpPr>
          <p:nvPr/>
        </p:nvSpPr>
        <p:spPr>
          <a:xfrm xmlns:a="http://schemas.openxmlformats.org/drawingml/2006/main">
            <a:off x="2867025" y="35909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LangMem Core 可以独立使用并配合现有存储，</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便于保留 P2、版本管理和权限规则。</a:t>
            </a:r>
          </a:p>
        </p:txBody>
      </p:sp>
      <p:sp>
        <p:nvSpPr>
          <p:cNvPr id="16" name="">
            <a:extLst xmlns:a="http://schemas.openxmlformats.org/drawingml/2006/main">
              <a:ext uri="{FF2B5EF4-FFF2-40B4-BE49-F238E27FC236}">
                <a16:creationId xmlns:a16="http://schemas.microsoft.com/office/drawing/2014/main" id="{C4895126-B8CA-4244-BBBD-4904CAE66C3F}"/>
              </a:ext>
            </a:extLst>
          </p:cNvPr>
          <p:cNvSpPr>
            <a:spLocks xmlns:a="http://schemas.openxmlformats.org/drawingml/2006/main" noGrp="1"/>
          </p:cNvSpPr>
          <p:nvPr/>
        </p:nvSpPr>
        <p:spPr>
          <a:xfrm xmlns:a="http://schemas.openxmlformats.org/drawingml/2006/main">
            <a:off x="609600" y="427672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7" name="flow-choice-8">
            <a:extLst xmlns:a="http://schemas.openxmlformats.org/drawingml/2006/main">
              <a:ext uri="{FF2B5EF4-FFF2-40B4-BE49-F238E27FC236}">
                <a16:creationId xmlns:a16="http://schemas.microsoft.com/office/drawing/2014/main" id="{83F7B006-0C8D-4ACE-80F2-79A3D5CE3C53}"/>
              </a:ext>
            </a:extLst>
          </p:cNvPr>
          <p:cNvSpPr>
            <a:spLocks xmlns:a="http://schemas.openxmlformats.org/drawingml/2006/main" noGrp="1"/>
          </p:cNvSpPr>
          <p:nvPr/>
        </p:nvSpPr>
        <p:spPr>
          <a:xfrm xmlns:a="http://schemas.openxmlformats.org/drawingml/2006/main">
            <a:off x="609600" y="43338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9">
            <a:extLst xmlns:a="http://schemas.openxmlformats.org/drawingml/2006/main">
              <a:ext uri="{FF2B5EF4-FFF2-40B4-BE49-F238E27FC236}">
                <a16:creationId xmlns:a16="http://schemas.microsoft.com/office/drawing/2014/main" id="{19665412-77B2-4272-897C-25DAC0D455CF}"/>
              </a:ext>
            </a:extLst>
          </p:cNvPr>
          <p:cNvSpPr>
            <a:spLocks xmlns:a="http://schemas.openxmlformats.org/drawingml/2006/main" noGrp="1"/>
          </p:cNvSpPr>
          <p:nvPr/>
        </p:nvSpPr>
        <p:spPr>
          <a:xfrm xmlns:a="http://schemas.openxmlformats.org/drawingml/2006/main">
            <a:off x="2867025" y="43338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Mem0 整套接入需重接其存储和更新流程；</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全部自行实现提取，又会重复维护模型调用与输出约束。</a:t>
            </a:r>
          </a:p>
        </p:txBody>
      </p:sp>
      <p:sp>
        <p:nvSpPr>
          <p:cNvPr id="19" name="">
            <a:extLst xmlns:a="http://schemas.openxmlformats.org/drawingml/2006/main">
              <a:ext uri="{FF2B5EF4-FFF2-40B4-BE49-F238E27FC236}">
                <a16:creationId xmlns:a16="http://schemas.microsoft.com/office/drawing/2014/main" id="{30973690-01D5-442C-8DF0-25BB5286C9F4}"/>
              </a:ext>
            </a:extLst>
          </p:cNvPr>
          <p:cNvSpPr>
            <a:spLocks xmlns:a="http://schemas.openxmlformats.org/drawingml/2006/main" noGrp="1"/>
          </p:cNvSpPr>
          <p:nvPr/>
        </p:nvSpPr>
        <p:spPr>
          <a:xfrm xmlns:a="http://schemas.openxmlformats.org/drawingml/2006/main">
            <a:off x="609600" y="50196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0" name="flow-choice-10">
            <a:extLst xmlns:a="http://schemas.openxmlformats.org/drawingml/2006/main">
              <a:ext uri="{FF2B5EF4-FFF2-40B4-BE49-F238E27FC236}">
                <a16:creationId xmlns:a16="http://schemas.microsoft.com/office/drawing/2014/main" id="{C8986C5A-9FB2-4F8E-AFA9-43EED46DD31B}"/>
              </a:ext>
            </a:extLst>
          </p:cNvPr>
          <p:cNvSpPr>
            <a:spLocks xmlns:a="http://schemas.openxmlformats.org/drawingml/2006/main" noGrp="1"/>
          </p:cNvSpPr>
          <p:nvPr/>
        </p:nvSpPr>
        <p:spPr>
          <a:xfrm xmlns:a="http://schemas.openxmlformats.org/drawingml/2006/main">
            <a:off x="609600" y="50768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11">
            <a:extLst xmlns:a="http://schemas.openxmlformats.org/drawingml/2006/main">
              <a:ext uri="{FF2B5EF4-FFF2-40B4-BE49-F238E27FC236}">
                <a16:creationId xmlns:a16="http://schemas.microsoft.com/office/drawing/2014/main" id="{E9B206FF-FD16-4B82-9473-79A9D7429A52}"/>
              </a:ext>
            </a:extLst>
          </p:cNvPr>
          <p:cNvSpPr>
            <a:spLocks xmlns:a="http://schemas.openxmlformats.org/drawingml/2006/main" noGrp="1"/>
          </p:cNvSpPr>
          <p:nvPr/>
        </p:nvSpPr>
        <p:spPr>
          <a:xfrm xmlns:a="http://schemas.openxmlformats.org/drawingml/2006/main">
            <a:off x="2867025" y="50768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只接入候选提取，P3 核对原文证据后再保存。</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正式更正、删除、版本和任务提交由 P3 管理。</a:t>
            </a:r>
          </a:p>
        </p:txBody>
      </p:sp>
      <p:sp>
        <p:nvSpPr>
          <p:cNvPr id="22" name="flow-choice-12">
            <a:extLst xmlns:a="http://schemas.openxmlformats.org/drawingml/2006/main">
              <a:ext uri="{FF2B5EF4-FFF2-40B4-BE49-F238E27FC236}">
                <a16:creationId xmlns:a16="http://schemas.microsoft.com/office/drawing/2014/main" id="{AB125438-27A8-4D88-BB35-DA3927C9A99E}"/>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xmlns:ns0="http://schemas.openxmlformats.org/officeDocument/2006/relationships" ns0:id="rIdOfficialProject"/>
              </a:rPr>
              <a:t>开源项目：https://github.com/langchain-ai/langmem</a:t>
            </a:r>
          </a:p>
        </p:txBody>
      </p:sp>
      <p:sp>
        <p:nvSpPr>
          <p:cNvPr id="23" name="">
            <a:extLst xmlns:a="http://schemas.openxmlformats.org/drawingml/2006/main">
              <a:ext uri="{FF2B5EF4-FFF2-40B4-BE49-F238E27FC236}">
                <a16:creationId xmlns:a16="http://schemas.microsoft.com/office/drawing/2014/main" id="{10A264E1-5D2F-4F06-9889-FD625971ACE6}"/>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4" name="flow-choice-13">
            <a:extLst xmlns:a="http://schemas.openxmlformats.org/drawingml/2006/main">
              <a:ext uri="{FF2B5EF4-FFF2-40B4-BE49-F238E27FC236}">
                <a16:creationId xmlns:a16="http://schemas.microsoft.com/office/drawing/2014/main" id="{1BE74EAC-4383-40B4-B9D7-7C3B9D669F24}"/>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25" name="flow-choice-14">
            <a:extLst xmlns:a="http://schemas.openxmlformats.org/drawingml/2006/main">
              <a:ext uri="{FF2B5EF4-FFF2-40B4-BE49-F238E27FC236}">
                <a16:creationId xmlns:a16="http://schemas.microsoft.com/office/drawing/2014/main" id="{D3C46796-4FFB-4111-8EB4-8BDC4EFBF003}"/>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20</a:t>
            </a:r>
          </a:p>
        </p:txBody>
      </p:sp>
    </p:spTree>
    <p:extLst>
      <p:ext uri="{BB962C8B-B14F-4D97-AF65-F5344CB8AC3E}">
        <p14:creationId xmlns:p14="http://schemas.microsoft.com/office/powerpoint/2010/main" val="418900143"/>
      </p:ext>
    </p:extLst>
  </p:cSl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182">
            <a:extLst>
              <a:ext uri="{FF2B5EF4-FFF2-40B4-BE49-F238E27FC236}">
                <a16:creationId xmlns:a16="http://schemas.microsoft.com/office/drawing/2014/main" id="{7AC7B305-7BB4-40EA-A1A7-CED09632F0B7}"/>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183">
            <a:extLst>
              <a:ext uri="{FF2B5EF4-FFF2-40B4-BE49-F238E27FC236}">
                <a16:creationId xmlns:a16="http://schemas.microsoft.com/office/drawing/2014/main" id="{64E4F3A2-D57D-4745-8C98-03E4BFFFF6F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测试设计：从业务预期生成检查场景</a:t>
            </a:r>
          </a:p>
        </p:txBody>
      </p:sp>
      <p:sp>
        <p:nvSpPr>
          <p:cNvPr id="3" name="text-184">
            <a:extLst>
              <a:ext uri="{FF2B5EF4-FFF2-40B4-BE49-F238E27FC236}">
                <a16:creationId xmlns:a16="http://schemas.microsoft.com/office/drawing/2014/main" id="{FE28DE6A-8267-4ED0-BDA9-8BF1C56E636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先明确怎样算正确，再覆盖正常、边界和故障情况</a:t>
            </a:r>
          </a:p>
        </p:txBody>
      </p:sp>
      <p:sp>
        <p:nvSpPr>
          <p:cNvPr id="4" name="line-185">
            <a:extLst>
              <a:ext uri="{FF2B5EF4-FFF2-40B4-BE49-F238E27FC236}">
                <a16:creationId xmlns:a16="http://schemas.microsoft.com/office/drawing/2014/main" id="{C826650F-1E19-401C-8A11-81D1A7444872}"/>
              </a:ext>
            </a:extLst>
          </p:cNvPr>
          <p:cNvSpPr>
            <a:spLocks noGrp="1"/>
          </p:cNvSpPr>
          <p:nvPr/>
        </p:nvSpPr>
        <p:spPr>
          <a:xfrm>
            <a:off x="609600" y="6324600"/>
            <a:ext cx="10972800" cy="95"/>
          </a:xfrm>
          <a:prstGeom prst="line">
            <a:avLst/>
          </a:prstGeom>
          <a:noFill/>
          <a:ln w="9525">
            <a:solidFill>
              <a:srgbClr val="D7E2E8"/>
            </a:solidFill>
          </a:ln>
        </p:spPr>
      </p:sp>
      <p:sp>
        <p:nvSpPr>
          <p:cNvPr id="5" name="text-186">
            <a:extLst>
              <a:ext uri="{FF2B5EF4-FFF2-40B4-BE49-F238E27FC236}">
                <a16:creationId xmlns:a16="http://schemas.microsoft.com/office/drawing/2014/main" id="{84A438CE-9582-4A28-B14C-23A2C2A187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187">
            <a:extLst>
              <a:ext uri="{FF2B5EF4-FFF2-40B4-BE49-F238E27FC236}">
                <a16:creationId xmlns:a16="http://schemas.microsoft.com/office/drawing/2014/main" id="{FF680D2C-0D90-4735-95F9-BC72200A6E4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20</a:t>
            </a:r>
          </a:p>
        </p:txBody>
      </p:sp>
      <p:sp>
        <p:nvSpPr>
          <p:cNvPr id="7" name="text-188">
            <a:extLst>
              <a:ext uri="{FF2B5EF4-FFF2-40B4-BE49-F238E27FC236}">
                <a16:creationId xmlns:a16="http://schemas.microsoft.com/office/drawing/2014/main" id="{C0190A2C-C3AC-48D2-8E87-F69F063EB71B}"/>
              </a:ext>
            </a:extLst>
          </p:cNvPr>
          <p:cNvSpPr>
            <a:spLocks noGrp="1"/>
          </p:cNvSpPr>
          <p:nvPr/>
        </p:nvSpPr>
        <p:spPr>
          <a:xfrm>
            <a:off x="609600" y="19907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01</a:t>
            </a:r>
          </a:p>
        </p:txBody>
      </p:sp>
      <p:sp>
        <p:nvSpPr>
          <p:cNvPr id="8" name="text-189">
            <a:extLst>
              <a:ext uri="{FF2B5EF4-FFF2-40B4-BE49-F238E27FC236}">
                <a16:creationId xmlns:a16="http://schemas.microsoft.com/office/drawing/2014/main" id="{24A1E8F3-FA4C-4DE0-B8C1-B9111FB5EC3A}"/>
              </a:ext>
            </a:extLst>
          </p:cNvPr>
          <p:cNvSpPr>
            <a:spLocks noGrp="1"/>
          </p:cNvSpPr>
          <p:nvPr/>
        </p:nvSpPr>
        <p:spPr>
          <a:xfrm>
            <a:off x="1447800" y="19907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检查业务结果</a:t>
            </a:r>
          </a:p>
        </p:txBody>
      </p:sp>
      <p:sp>
        <p:nvSpPr>
          <p:cNvPr id="9" name="text-190">
            <a:extLst>
              <a:ext uri="{FF2B5EF4-FFF2-40B4-BE49-F238E27FC236}">
                <a16:creationId xmlns:a16="http://schemas.microsoft.com/office/drawing/2014/main" id="{65521F25-70F4-4EB2-9CAE-9D9CB084575B}"/>
              </a:ext>
            </a:extLst>
          </p:cNvPr>
          <p:cNvSpPr>
            <a:spLocks noGrp="1"/>
          </p:cNvSpPr>
          <p:nvPr/>
        </p:nvSpPr>
        <p:spPr>
          <a:xfrm>
            <a:off x="4619625" y="19907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核对内容、来源、当前版本和权限</a:t>
            </a:r>
          </a:p>
        </p:txBody>
      </p:sp>
      <p:sp>
        <p:nvSpPr>
          <p:cNvPr id="10" name="line-191">
            <a:extLst>
              <a:ext uri="{FF2B5EF4-FFF2-40B4-BE49-F238E27FC236}">
                <a16:creationId xmlns:a16="http://schemas.microsoft.com/office/drawing/2014/main" id="{E822333E-5823-4F41-B427-E1C79F5C8411}"/>
              </a:ext>
            </a:extLst>
          </p:cNvPr>
          <p:cNvSpPr>
            <a:spLocks noGrp="1"/>
          </p:cNvSpPr>
          <p:nvPr/>
        </p:nvSpPr>
        <p:spPr>
          <a:xfrm>
            <a:off x="1447800" y="2609850"/>
            <a:ext cx="10134600" cy="95"/>
          </a:xfrm>
          <a:prstGeom prst="line">
            <a:avLst/>
          </a:prstGeom>
          <a:noFill/>
          <a:ln w="9525">
            <a:solidFill>
              <a:srgbClr val="D7E2E8"/>
            </a:solidFill>
          </a:ln>
        </p:spPr>
      </p:sp>
      <p:sp>
        <p:nvSpPr>
          <p:cNvPr id="11" name="text-192">
            <a:extLst>
              <a:ext uri="{FF2B5EF4-FFF2-40B4-BE49-F238E27FC236}">
                <a16:creationId xmlns:a16="http://schemas.microsoft.com/office/drawing/2014/main" id="{C60173CF-2802-47AF-9B98-1A4DC276063D}"/>
              </a:ext>
            </a:extLst>
          </p:cNvPr>
          <p:cNvSpPr>
            <a:spLocks noGrp="1"/>
          </p:cNvSpPr>
          <p:nvPr/>
        </p:nvSpPr>
        <p:spPr>
          <a:xfrm>
            <a:off x="609600" y="27146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02</a:t>
            </a:r>
          </a:p>
        </p:txBody>
      </p:sp>
      <p:sp>
        <p:nvSpPr>
          <p:cNvPr id="12" name="text-193">
            <a:extLst>
              <a:ext uri="{FF2B5EF4-FFF2-40B4-BE49-F238E27FC236}">
                <a16:creationId xmlns:a16="http://schemas.microsoft.com/office/drawing/2014/main" id="{F7A890EF-B95A-44C3-B700-43D561DA075B}"/>
              </a:ext>
            </a:extLst>
          </p:cNvPr>
          <p:cNvSpPr>
            <a:spLocks noGrp="1"/>
          </p:cNvSpPr>
          <p:nvPr/>
        </p:nvSpPr>
        <p:spPr>
          <a:xfrm>
            <a:off x="1447800" y="27146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覆盖状态变化</a:t>
            </a:r>
          </a:p>
        </p:txBody>
      </p:sp>
      <p:sp>
        <p:nvSpPr>
          <p:cNvPr id="13" name="text-194">
            <a:extLst>
              <a:ext uri="{FF2B5EF4-FFF2-40B4-BE49-F238E27FC236}">
                <a16:creationId xmlns:a16="http://schemas.microsoft.com/office/drawing/2014/main" id="{0D41BE9E-85B9-491F-9D98-036604F7E24D}"/>
              </a:ext>
            </a:extLst>
          </p:cNvPr>
          <p:cNvSpPr>
            <a:spLocks noGrp="1"/>
          </p:cNvSpPr>
          <p:nvPr/>
        </p:nvSpPr>
        <p:spPr>
          <a:xfrm>
            <a:off x="4619625" y="27146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保存、更正、删除、撤权和处理中的变化</a:t>
            </a:r>
          </a:p>
        </p:txBody>
      </p:sp>
      <p:sp>
        <p:nvSpPr>
          <p:cNvPr id="14" name="line-195">
            <a:extLst>
              <a:ext uri="{FF2B5EF4-FFF2-40B4-BE49-F238E27FC236}">
                <a16:creationId xmlns:a16="http://schemas.microsoft.com/office/drawing/2014/main" id="{1A379A8C-4B1F-4A44-BCE5-8D9158C285FB}"/>
              </a:ext>
            </a:extLst>
          </p:cNvPr>
          <p:cNvSpPr>
            <a:spLocks noGrp="1"/>
          </p:cNvSpPr>
          <p:nvPr/>
        </p:nvSpPr>
        <p:spPr>
          <a:xfrm>
            <a:off x="1447800" y="3333750"/>
            <a:ext cx="10134600" cy="95"/>
          </a:xfrm>
          <a:prstGeom prst="line">
            <a:avLst/>
          </a:prstGeom>
          <a:noFill/>
          <a:ln w="9525">
            <a:solidFill>
              <a:srgbClr val="D7E2E8"/>
            </a:solidFill>
          </a:ln>
        </p:spPr>
      </p:sp>
      <p:sp>
        <p:nvSpPr>
          <p:cNvPr id="15" name="text-196">
            <a:extLst>
              <a:ext uri="{FF2B5EF4-FFF2-40B4-BE49-F238E27FC236}">
                <a16:creationId xmlns:a16="http://schemas.microsoft.com/office/drawing/2014/main" id="{D44461AE-C779-4364-A0FE-26535DCE5F05}"/>
              </a:ext>
            </a:extLst>
          </p:cNvPr>
          <p:cNvSpPr>
            <a:spLocks noGrp="1"/>
          </p:cNvSpPr>
          <p:nvPr/>
        </p:nvSpPr>
        <p:spPr>
          <a:xfrm>
            <a:off x="609600" y="34385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03</a:t>
            </a:r>
          </a:p>
        </p:txBody>
      </p:sp>
      <p:sp>
        <p:nvSpPr>
          <p:cNvPr id="16" name="text-197">
            <a:extLst>
              <a:ext uri="{FF2B5EF4-FFF2-40B4-BE49-F238E27FC236}">
                <a16:creationId xmlns:a16="http://schemas.microsoft.com/office/drawing/2014/main" id="{73143AF8-5CBE-4593-A345-37A48130AD24}"/>
              </a:ext>
            </a:extLst>
          </p:cNvPr>
          <p:cNvSpPr>
            <a:spLocks noGrp="1"/>
          </p:cNvSpPr>
          <p:nvPr/>
        </p:nvSpPr>
        <p:spPr>
          <a:xfrm>
            <a:off x="1447800" y="34385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覆盖异常恢复</a:t>
            </a:r>
          </a:p>
        </p:txBody>
      </p:sp>
      <p:sp>
        <p:nvSpPr>
          <p:cNvPr id="17" name="text-198">
            <a:extLst>
              <a:ext uri="{FF2B5EF4-FFF2-40B4-BE49-F238E27FC236}">
                <a16:creationId xmlns:a16="http://schemas.microsoft.com/office/drawing/2014/main" id="{046252E2-835F-49A7-AED7-39F817303318}"/>
              </a:ext>
            </a:extLst>
          </p:cNvPr>
          <p:cNvSpPr>
            <a:spLocks noGrp="1"/>
          </p:cNvSpPr>
          <p:nvPr/>
        </p:nvSpPr>
        <p:spPr>
          <a:xfrm>
            <a:off x="4619625" y="34385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超时、重复请求、丢回执和处理中重启</a:t>
            </a:r>
          </a:p>
        </p:txBody>
      </p:sp>
      <p:sp>
        <p:nvSpPr>
          <p:cNvPr id="18" name="line-199">
            <a:extLst>
              <a:ext uri="{FF2B5EF4-FFF2-40B4-BE49-F238E27FC236}">
                <a16:creationId xmlns:a16="http://schemas.microsoft.com/office/drawing/2014/main" id="{F0AD7FDE-AE43-49FF-9E42-0D7D1754370B}"/>
              </a:ext>
            </a:extLst>
          </p:cNvPr>
          <p:cNvSpPr>
            <a:spLocks noGrp="1"/>
          </p:cNvSpPr>
          <p:nvPr/>
        </p:nvSpPr>
        <p:spPr>
          <a:xfrm>
            <a:off x="1447800" y="4057650"/>
            <a:ext cx="10134600" cy="95"/>
          </a:xfrm>
          <a:prstGeom prst="line">
            <a:avLst/>
          </a:prstGeom>
          <a:noFill/>
          <a:ln w="9525">
            <a:solidFill>
              <a:srgbClr val="D7E2E8"/>
            </a:solidFill>
          </a:ln>
        </p:spPr>
      </p:sp>
      <p:sp>
        <p:nvSpPr>
          <p:cNvPr id="19" name="text-200">
            <a:extLst>
              <a:ext uri="{FF2B5EF4-FFF2-40B4-BE49-F238E27FC236}">
                <a16:creationId xmlns:a16="http://schemas.microsoft.com/office/drawing/2014/main" id="{A8EAD338-7F69-4757-A3DA-4FA3C83A3155}"/>
              </a:ext>
            </a:extLst>
          </p:cNvPr>
          <p:cNvSpPr>
            <a:spLocks noGrp="1"/>
          </p:cNvSpPr>
          <p:nvPr/>
        </p:nvSpPr>
        <p:spPr>
          <a:xfrm>
            <a:off x="609600" y="41624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04</a:t>
            </a:r>
          </a:p>
        </p:txBody>
      </p:sp>
      <p:sp>
        <p:nvSpPr>
          <p:cNvPr id="20" name="text-201">
            <a:extLst>
              <a:ext uri="{FF2B5EF4-FFF2-40B4-BE49-F238E27FC236}">
                <a16:creationId xmlns:a16="http://schemas.microsoft.com/office/drawing/2014/main" id="{737F892F-3E4C-4AB9-BE4E-790F4BC68888}"/>
              </a:ext>
            </a:extLst>
          </p:cNvPr>
          <p:cNvSpPr>
            <a:spLocks noGrp="1"/>
          </p:cNvSpPr>
          <p:nvPr/>
        </p:nvSpPr>
        <p:spPr>
          <a:xfrm>
            <a:off x="1447800" y="41624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分层记录结论</a:t>
            </a:r>
          </a:p>
        </p:txBody>
      </p:sp>
      <p:sp>
        <p:nvSpPr>
          <p:cNvPr id="21" name="text-202">
            <a:extLst>
              <a:ext uri="{FF2B5EF4-FFF2-40B4-BE49-F238E27FC236}">
                <a16:creationId xmlns:a16="http://schemas.microsoft.com/office/drawing/2014/main" id="{92600775-1171-4E13-ADF9-E636AF158517}"/>
              </a:ext>
            </a:extLst>
          </p:cNvPr>
          <p:cNvSpPr>
            <a:spLocks noGrp="1"/>
          </p:cNvSpPr>
          <p:nvPr/>
        </p:nvSpPr>
        <p:spPr>
          <a:xfrm>
            <a:off x="4619625" y="41624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本地、模拟、真实环境各有结果和未执行项</a:t>
            </a:r>
          </a:p>
        </p:txBody>
      </p:sp>
      <p:sp>
        <p:nvSpPr>
          <p:cNvPr id="22" name="line-203">
            <a:extLst>
              <a:ext uri="{FF2B5EF4-FFF2-40B4-BE49-F238E27FC236}">
                <a16:creationId xmlns:a16="http://schemas.microsoft.com/office/drawing/2014/main" id="{D9602CD3-ECBB-4FEA-93C9-516631A30F35}"/>
              </a:ext>
            </a:extLst>
          </p:cNvPr>
          <p:cNvSpPr>
            <a:spLocks noGrp="1"/>
          </p:cNvSpPr>
          <p:nvPr/>
        </p:nvSpPr>
        <p:spPr>
          <a:xfrm>
            <a:off x="1447800" y="4781550"/>
            <a:ext cx="10134600" cy="95"/>
          </a:xfrm>
          <a:prstGeom prst="line">
            <a:avLst/>
          </a:prstGeom>
          <a:noFill/>
          <a:ln w="9525">
            <a:solidFill>
              <a:srgbClr val="D7E2E8"/>
            </a:solidFill>
          </a:ln>
        </p:spPr>
      </p:sp>
      <p:sp>
        <p:nvSpPr>
          <p:cNvPr id="23" name="text-204">
            <a:extLst>
              <a:ext uri="{FF2B5EF4-FFF2-40B4-BE49-F238E27FC236}">
                <a16:creationId xmlns:a16="http://schemas.microsoft.com/office/drawing/2014/main" id="{AB57A89E-9BAB-4EF2-BC7B-F4ED1DD292AB}"/>
              </a:ext>
            </a:extLst>
          </p:cNvPr>
          <p:cNvSpPr>
            <a:spLocks noGrp="1"/>
          </p:cNvSpPr>
          <p:nvPr/>
        </p:nvSpPr>
        <p:spPr>
          <a:xfrm>
            <a:off x="609600" y="48863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05</a:t>
            </a:r>
          </a:p>
        </p:txBody>
      </p:sp>
      <p:sp>
        <p:nvSpPr>
          <p:cNvPr id="24" name="text-205">
            <a:extLst>
              <a:ext uri="{FF2B5EF4-FFF2-40B4-BE49-F238E27FC236}">
                <a16:creationId xmlns:a16="http://schemas.microsoft.com/office/drawing/2014/main" id="{4478CFE8-9731-4F65-B527-84854D914C1E}"/>
              </a:ext>
            </a:extLst>
          </p:cNvPr>
          <p:cNvSpPr>
            <a:spLocks noGrp="1"/>
          </p:cNvSpPr>
          <p:nvPr/>
        </p:nvSpPr>
        <p:spPr>
          <a:xfrm>
            <a:off x="1447800" y="48863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保证可以复现</a:t>
            </a:r>
          </a:p>
        </p:txBody>
      </p:sp>
      <p:sp>
        <p:nvSpPr>
          <p:cNvPr id="25" name="text-206">
            <a:extLst>
              <a:ext uri="{FF2B5EF4-FFF2-40B4-BE49-F238E27FC236}">
                <a16:creationId xmlns:a16="http://schemas.microsoft.com/office/drawing/2014/main" id="{778CC872-26ED-4E03-BBC6-6EBC95B19809}"/>
              </a:ext>
            </a:extLst>
          </p:cNvPr>
          <p:cNvSpPr>
            <a:spLocks noGrp="1"/>
          </p:cNvSpPr>
          <p:nvPr/>
        </p:nvSpPr>
        <p:spPr>
          <a:xfrm>
            <a:off x="4619625" y="48863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固定版本、样例和运行条件，保留失败与复测记录</a:t>
            </a:r>
          </a:p>
        </p:txBody>
      </p:sp>
      <p:sp>
        <p:nvSpPr>
          <p:cNvPr id="26" name="text-207">
            <a:extLst>
              <a:ext uri="{FF2B5EF4-FFF2-40B4-BE49-F238E27FC236}">
                <a16:creationId xmlns:a16="http://schemas.microsoft.com/office/drawing/2014/main" id="{75321811-2269-450A-B195-8DB8643DA48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每个场景写清：前置数据、操作、预期结果、失败条件和证据。</a:t>
            </a:r>
          </a:p>
        </p:txBody>
      </p:sp>
    </p:spTree>
    <p:extLst>
      <p:ext uri="{BB962C8B-B14F-4D97-AF65-F5344CB8AC3E}">
        <p14:creationId xmlns:p14="http://schemas.microsoft.com/office/powerpoint/2010/main" val="167232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08">
            <a:extLst>
              <a:ext uri="{FF2B5EF4-FFF2-40B4-BE49-F238E27FC236}">
                <a16:creationId xmlns:a16="http://schemas.microsoft.com/office/drawing/2014/main" id="{80F4BB79-E868-4B91-9C13-F3867E349E61}"/>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09">
            <a:extLst>
              <a:ext uri="{FF2B5EF4-FFF2-40B4-BE49-F238E27FC236}">
                <a16:creationId xmlns:a16="http://schemas.microsoft.com/office/drawing/2014/main" id="{076DA3DF-0159-4C4B-92BB-03A39178FF02}"/>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测试示例：更正和删除怎样验证</a:t>
            </a:r>
          </a:p>
        </p:txBody>
      </p:sp>
      <p:sp>
        <p:nvSpPr>
          <p:cNvPr id="3" name="text-210">
            <a:extLst>
              <a:ext uri="{FF2B5EF4-FFF2-40B4-BE49-F238E27FC236}">
                <a16:creationId xmlns:a16="http://schemas.microsoft.com/office/drawing/2014/main" id="{A1F99CCA-163E-4CEE-A363-708319032BC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同一条预算业务，同时检查应该发生和不能发生的结果</a:t>
            </a:r>
          </a:p>
        </p:txBody>
      </p:sp>
      <p:sp>
        <p:nvSpPr>
          <p:cNvPr id="4" name="line-211">
            <a:extLst>
              <a:ext uri="{FF2B5EF4-FFF2-40B4-BE49-F238E27FC236}">
                <a16:creationId xmlns:a16="http://schemas.microsoft.com/office/drawing/2014/main" id="{C6477C34-F481-4F85-8677-7FF77A1F72C7}"/>
              </a:ext>
            </a:extLst>
          </p:cNvPr>
          <p:cNvSpPr>
            <a:spLocks noGrp="1"/>
          </p:cNvSpPr>
          <p:nvPr/>
        </p:nvSpPr>
        <p:spPr>
          <a:xfrm>
            <a:off x="609600" y="6324600"/>
            <a:ext cx="10972800" cy="95"/>
          </a:xfrm>
          <a:prstGeom prst="line">
            <a:avLst/>
          </a:prstGeom>
          <a:noFill/>
          <a:ln w="9525">
            <a:solidFill>
              <a:srgbClr val="D7E2E8"/>
            </a:solidFill>
          </a:ln>
        </p:spPr>
      </p:sp>
      <p:sp>
        <p:nvSpPr>
          <p:cNvPr id="5" name="text-212">
            <a:extLst>
              <a:ext uri="{FF2B5EF4-FFF2-40B4-BE49-F238E27FC236}">
                <a16:creationId xmlns:a16="http://schemas.microsoft.com/office/drawing/2014/main" id="{F68091B0-A0B7-44F8-A12C-EA4960FD54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213">
            <a:extLst>
              <a:ext uri="{FF2B5EF4-FFF2-40B4-BE49-F238E27FC236}">
                <a16:creationId xmlns:a16="http://schemas.microsoft.com/office/drawing/2014/main" id="{31A595A7-988F-4474-9020-3E1C534C0A0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20</a:t>
            </a:r>
          </a:p>
        </p:txBody>
      </p:sp>
      <p:graphicFrame>
        <p:nvGraphicFramePr>
          <p:cNvPr id="15" name="表格 14"/>
          <p:cNvGraphicFramePr/>
          <p:nvPr/>
        </p:nvGraphicFramePr>
        <p:xfrm>
          <a:off x="609600" y="1952625"/>
          <a:ext cx="10972800" cy="3790950"/>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执行场景</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预期业务结果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重点补充的异常检查</a:t>
                      </a:r>
                    </a:p>
                  </a:txBody>
                  <a:tcPr marL="114300" marR="114300" marT="47625" marB="47625" anchor="ctr">
                    <a:solidFill>
                      <a:srgbClr val="163044"/>
                    </a:solidFill>
                  </a:tcPr>
                </a:tc>
                <a:extLst>
                  <a:ext uri="{0D108BD9-81ED-4DB2-BD59-A6C34878D82A}">
                    <a16:rowId xmlns:a16="http://schemas.microsoft.com/office/drawing/2014/main" val="10000"/>
                  </a:ext>
                </a:extLst>
              </a:tr>
              <a:tr h="838200">
                <a:tc>
                  <a:txBody>
                    <a:bodyPr/>
                    <a:lstStyle/>
                    <a:p>
                      <a:r>
                        <a:rPr sz="1800" b="1">
                          <a:solidFill>
                            <a:srgbClr val="163044"/>
                          </a:solidFill>
                          <a:latin typeface="Microsoft YaHei"/>
                          <a:ea typeface="Microsoft YaHei"/>
                          <a:cs typeface="Microsoft YaHei"/>
                        </a:rPr>
                        <a:t>保存 20 万</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有保存确认，保留原文与来源</a:t>
                      </a:r>
                    </a:p>
                    <a:p>
                      <a:r>
                        <a:rPr sz="1800" b="0">
                          <a:solidFill>
                            <a:srgbClr val="163044"/>
                          </a:solidFill>
                          <a:latin typeface="Microsoft YaHei"/>
                          <a:ea typeface="Microsoft YaHei"/>
                          <a:cs typeface="Microsoft YaHei"/>
                        </a:rPr>
                        <a:t>长期未就绪时状态如实表达</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重复提交、后台失败</a:t>
                      </a:r>
                    </a:p>
                    <a:p>
                      <a:r>
                        <a:rPr sz="1800" b="0">
                          <a:solidFill>
                            <a:srgbClr val="163044"/>
                          </a:solidFill>
                          <a:latin typeface="Microsoft YaHei"/>
                          <a:ea typeface="Microsoft YaHei"/>
                          <a:cs typeface="Microsoft YaHei"/>
                        </a:rPr>
                        <a:t>处理中重启</a:t>
                      </a:r>
                    </a:p>
                  </a:txBody>
                  <a:tcPr marL="114300" marR="114300" marT="47625" marB="47625" anchor="ctr">
                    <a:solidFill>
                      <a:srgbClr val="FFFFFF"/>
                    </a:solidFill>
                  </a:tcPr>
                </a:tc>
                <a:extLst>
                  <a:ext uri="{0D108BD9-81ED-4DB2-BD59-A6C34878D82A}">
                    <a16:rowId xmlns:a16="http://schemas.microsoft.com/office/drawing/2014/main" val="10001"/>
                  </a:ext>
                </a:extLst>
              </a:tr>
              <a:tr h="838200">
                <a:tc>
                  <a:txBody>
                    <a:bodyPr/>
                    <a:lstStyle/>
                    <a:p>
                      <a:r>
                        <a:rPr sz="1800" b="1">
                          <a:solidFill>
                            <a:srgbClr val="163044"/>
                          </a:solidFill>
                          <a:latin typeface="Microsoft YaHei"/>
                          <a:ea typeface="Microsoft YaHei"/>
                          <a:cs typeface="Microsoft YaHei"/>
                        </a:rPr>
                        <a:t>更正为 15 万</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后续使用新版本</a:t>
                      </a:r>
                    </a:p>
                    <a:p>
                      <a:r>
                        <a:rPr sz="1800" b="0">
                          <a:solidFill>
                            <a:srgbClr val="163044"/>
                          </a:solidFill>
                          <a:latin typeface="Microsoft YaHei"/>
                          <a:ea typeface="Microsoft YaHei"/>
                          <a:cs typeface="Microsoft YaHei"/>
                        </a:rPr>
                        <a:t>旧结果重新获取仍需复核</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旧索引命中、迟到加工</a:t>
                      </a:r>
                    </a:p>
                    <a:p>
                      <a:r>
                        <a:rPr sz="1800" b="0">
                          <a:solidFill>
                            <a:srgbClr val="163044"/>
                          </a:solidFill>
                          <a:latin typeface="Microsoft YaHei"/>
                          <a:ea typeface="Microsoft YaHei"/>
                          <a:cs typeface="Microsoft YaHei"/>
                        </a:rPr>
                        <a:t>更正与召回同时发生</a:t>
                      </a:r>
                    </a:p>
                  </a:txBody>
                  <a:tcPr marL="114300" marR="114300" marT="47625" marB="47625" anchor="ctr">
                    <a:solidFill>
                      <a:srgbClr val="F5F8FA"/>
                    </a:solidFill>
                  </a:tcPr>
                </a:tc>
                <a:extLst>
                  <a:ext uri="{0D108BD9-81ED-4DB2-BD59-A6C34878D82A}">
                    <a16:rowId xmlns:a16="http://schemas.microsoft.com/office/drawing/2014/main" val="10002"/>
                  </a:ext>
                </a:extLst>
              </a:tr>
              <a:tr h="838200">
                <a:tc>
                  <a:txBody>
                    <a:bodyPr/>
                    <a:lstStyle/>
                    <a:p>
                      <a:r>
                        <a:rPr sz="1800" b="1">
                          <a:solidFill>
                            <a:srgbClr val="163044"/>
                          </a:solidFill>
                          <a:latin typeface="Microsoft YaHei"/>
                          <a:ea typeface="Microsoft YaHei"/>
                          <a:cs typeface="Microsoft YaHei"/>
                        </a:rPr>
                        <a:t>删除或撤权</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删除后停止交付并后台清理</a:t>
                      </a:r>
                    </a:p>
                    <a:p>
                      <a:r>
                        <a:rPr sz="1800" b="0">
                          <a:solidFill>
                            <a:srgbClr val="163044"/>
                          </a:solidFill>
                          <a:latin typeface="Microsoft YaHei"/>
                          <a:ea typeface="Microsoft YaHei"/>
                          <a:cs typeface="Microsoft YaHei"/>
                        </a:rPr>
                        <a:t>撤权后仅停止向被撤权方交付</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旧结果重取、跨用户访问</a:t>
                      </a:r>
                    </a:p>
                    <a:p>
                      <a:r>
                        <a:rPr sz="1800" b="0">
                          <a:solidFill>
                            <a:srgbClr val="163044"/>
                          </a:solidFill>
                          <a:latin typeface="Microsoft YaHei"/>
                          <a:ea typeface="Microsoft YaHei"/>
                          <a:cs typeface="Microsoft YaHei"/>
                        </a:rPr>
                        <a:t>删除后迟到写入</a:t>
                      </a:r>
                    </a:p>
                  </a:txBody>
                  <a:tcPr marL="114300" marR="114300" marT="47625" marB="47625" anchor="ctr">
                    <a:solidFill>
                      <a:srgbClr val="FFFFFF"/>
                    </a:solidFill>
                  </a:tcPr>
                </a:tc>
                <a:extLst>
                  <a:ext uri="{0D108BD9-81ED-4DB2-BD59-A6C34878D82A}">
                    <a16:rowId xmlns:a16="http://schemas.microsoft.com/office/drawing/2014/main" val="10003"/>
                  </a:ext>
                </a:extLst>
              </a:tr>
              <a:tr h="838200">
                <a:tc>
                  <a:txBody>
                    <a:bodyPr/>
                    <a:lstStyle/>
                    <a:p>
                      <a:r>
                        <a:rPr sz="1800" b="1">
                          <a:solidFill>
                            <a:srgbClr val="163044"/>
                          </a:solidFill>
                          <a:latin typeface="Microsoft YaHei"/>
                          <a:ea typeface="Microsoft YaHei"/>
                          <a:cs typeface="Microsoft YaHei"/>
                        </a:rPr>
                        <a:t>执行后丢回执</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查询原动作，核对实际结果</a:t>
                      </a:r>
                    </a:p>
                    <a:p>
                      <a:r>
                        <a:rPr sz="1800" b="0">
                          <a:solidFill>
                            <a:srgbClr val="163044"/>
                          </a:solidFill>
                          <a:latin typeface="Microsoft YaHei"/>
                          <a:ea typeface="Microsoft YaHei"/>
                          <a:cs typeface="Microsoft YaHei"/>
                        </a:rPr>
                        <a:t>确认后继续处理</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操作是否重复</a:t>
                      </a:r>
                    </a:p>
                    <a:p>
                      <a:r>
                        <a:rPr sz="1800" b="0">
                          <a:solidFill>
                            <a:srgbClr val="163044"/>
                          </a:solidFill>
                          <a:latin typeface="Microsoft YaHei"/>
                          <a:ea typeface="Microsoft YaHei"/>
                          <a:cs typeface="Microsoft YaHei"/>
                        </a:rPr>
                        <a:t>未完成是否被误报成功</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14">
            <a:extLst>
              <a:ext uri="{FF2B5EF4-FFF2-40B4-BE49-F238E27FC236}">
                <a16:creationId xmlns:a16="http://schemas.microsoft.com/office/drawing/2014/main" id="{627D6673-E4A4-4AD2-9BC5-3848D34D9A6D}"/>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用两租户、两用户、两会话组织样例，固定来源与预期版本。</a:t>
            </a:r>
          </a:p>
        </p:txBody>
      </p:sp>
    </p:spTree>
    <p:extLst>
      <p:ext uri="{BB962C8B-B14F-4D97-AF65-F5344CB8AC3E}">
        <p14:creationId xmlns:p14="http://schemas.microsoft.com/office/powerpoint/2010/main" val="2120327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215">
            <a:extLst>
              <a:ext uri="{FF2B5EF4-FFF2-40B4-BE49-F238E27FC236}">
                <a16:creationId xmlns:a16="http://schemas.microsoft.com/office/drawing/2014/main" id="{91FC9A77-C91A-45D1-89C4-ED38690E74F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16">
            <a:extLst>
              <a:ext uri="{FF2B5EF4-FFF2-40B4-BE49-F238E27FC236}">
                <a16:creationId xmlns:a16="http://schemas.microsoft.com/office/drawing/2014/main" id="{B8CC88AD-9F1C-49F4-B4A2-B7392668435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真实联调：先打通首条链路，再扩展范围</a:t>
            </a:r>
          </a:p>
        </p:txBody>
      </p:sp>
      <p:sp>
        <p:nvSpPr>
          <p:cNvPr id="3" name="text-217">
            <a:extLst>
              <a:ext uri="{FF2B5EF4-FFF2-40B4-BE49-F238E27FC236}">
                <a16:creationId xmlns:a16="http://schemas.microsoft.com/office/drawing/2014/main" id="{A88AF73A-3554-4A73-A6A5-C9649553B6AF}"/>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接口对齐、业务贯通与故障恢复共同进入验证</a:t>
            </a:r>
          </a:p>
        </p:txBody>
      </p:sp>
      <p:sp>
        <p:nvSpPr>
          <p:cNvPr id="4" name="line-218">
            <a:extLst>
              <a:ext uri="{FF2B5EF4-FFF2-40B4-BE49-F238E27FC236}">
                <a16:creationId xmlns:a16="http://schemas.microsoft.com/office/drawing/2014/main" id="{AB1DA03A-D50F-48B1-93A0-12870F1638FF}"/>
              </a:ext>
            </a:extLst>
          </p:cNvPr>
          <p:cNvSpPr>
            <a:spLocks noGrp="1"/>
          </p:cNvSpPr>
          <p:nvPr/>
        </p:nvSpPr>
        <p:spPr>
          <a:xfrm>
            <a:off x="609600" y="6324600"/>
            <a:ext cx="10972800" cy="95"/>
          </a:xfrm>
          <a:prstGeom prst="line">
            <a:avLst/>
          </a:prstGeom>
          <a:noFill/>
          <a:ln w="9525">
            <a:solidFill>
              <a:srgbClr val="D7E2E8"/>
            </a:solidFill>
          </a:ln>
        </p:spPr>
      </p:sp>
      <p:sp>
        <p:nvSpPr>
          <p:cNvPr id="5" name="text-219">
            <a:extLst>
              <a:ext uri="{FF2B5EF4-FFF2-40B4-BE49-F238E27FC236}">
                <a16:creationId xmlns:a16="http://schemas.microsoft.com/office/drawing/2014/main" id="{1DEA952C-5ED7-42F7-BBC0-07741E4A205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220">
            <a:extLst>
              <a:ext uri="{FF2B5EF4-FFF2-40B4-BE49-F238E27FC236}">
                <a16:creationId xmlns:a16="http://schemas.microsoft.com/office/drawing/2014/main" id="{2E48356C-E31F-458A-992F-EF39A8D5B76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20</a:t>
            </a:r>
          </a:p>
        </p:txBody>
      </p:sp>
      <p:sp>
        <p:nvSpPr>
          <p:cNvPr id="7" name="box-221">
            <a:extLst>
              <a:ext uri="{FF2B5EF4-FFF2-40B4-BE49-F238E27FC236}">
                <a16:creationId xmlns:a16="http://schemas.microsoft.com/office/drawing/2014/main" id="{29219597-FAF8-4180-B82C-43C9B07D2699}"/>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接入准备</a:t>
            </a:r>
          </a:p>
        </p:txBody>
      </p:sp>
      <p:sp>
        <p:nvSpPr>
          <p:cNvPr id="8" name="text-222">
            <a:extLst>
              <a:ext uri="{FF2B5EF4-FFF2-40B4-BE49-F238E27FC236}">
                <a16:creationId xmlns:a16="http://schemas.microsoft.com/office/drawing/2014/main" id="{062C3F25-4E0B-4614-8C7E-263BA0E777A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环境、身份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样例与接口约定</a:t>
            </a:r>
          </a:p>
        </p:txBody>
      </p:sp>
      <p:sp>
        <p:nvSpPr>
          <p:cNvPr id="9" name="box-223">
            <a:extLst>
              <a:ext uri="{FF2B5EF4-FFF2-40B4-BE49-F238E27FC236}">
                <a16:creationId xmlns:a16="http://schemas.microsoft.com/office/drawing/2014/main" id="{9C594BF3-6214-4ACB-A8E0-4958115479EF}"/>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首条真实链路</a:t>
            </a:r>
          </a:p>
        </p:txBody>
      </p:sp>
      <p:sp>
        <p:nvSpPr>
          <p:cNvPr id="10" name="text-224">
            <a:extLst>
              <a:ext uri="{FF2B5EF4-FFF2-40B4-BE49-F238E27FC236}">
                <a16:creationId xmlns:a16="http://schemas.microsoft.com/office/drawing/2014/main" id="{2F76B4C8-699A-4275-BB02-B68A6C2AFF47}"/>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后台准备与召回</a:t>
            </a:r>
          </a:p>
        </p:txBody>
      </p:sp>
      <p:sp>
        <p:nvSpPr>
          <p:cNvPr id="11" name="box-225">
            <a:extLst>
              <a:ext uri="{FF2B5EF4-FFF2-40B4-BE49-F238E27FC236}">
                <a16:creationId xmlns:a16="http://schemas.microsoft.com/office/drawing/2014/main" id="{D02BF355-50C8-4D24-83AD-F15448FD7CF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完整业务回归</a:t>
            </a:r>
          </a:p>
        </p:txBody>
      </p:sp>
      <p:sp>
        <p:nvSpPr>
          <p:cNvPr id="12" name="text-226">
            <a:extLst>
              <a:ext uri="{FF2B5EF4-FFF2-40B4-BE49-F238E27FC236}">
                <a16:creationId xmlns:a16="http://schemas.microsoft.com/office/drawing/2014/main" id="{3E413860-8A68-4DD4-ABAC-DAD4450EC2E7}"/>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更正、删除、隔离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关系与调度</a:t>
            </a:r>
          </a:p>
        </p:txBody>
      </p:sp>
      <p:sp>
        <p:nvSpPr>
          <p:cNvPr id="13" name="box-227">
            <a:extLst>
              <a:ext uri="{FF2B5EF4-FFF2-40B4-BE49-F238E27FC236}">
                <a16:creationId xmlns:a16="http://schemas.microsoft.com/office/drawing/2014/main" id="{1C0AB3A7-0AB1-4C23-BF93-C7788D9F06ED}"/>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故障和运行验证</a:t>
            </a:r>
          </a:p>
        </p:txBody>
      </p:sp>
      <p:sp>
        <p:nvSpPr>
          <p:cNvPr id="14" name="text-228">
            <a:extLst>
              <a:ext uri="{FF2B5EF4-FFF2-40B4-BE49-F238E27FC236}">
                <a16:creationId xmlns:a16="http://schemas.microsoft.com/office/drawing/2014/main" id="{4D3D4A12-861D-40D3-9CC5-2FE136F4BC80}"/>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异常恢复、质量</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性能与持续运行</a:t>
            </a:r>
          </a:p>
        </p:txBody>
      </p:sp>
      <p:sp>
        <p:nvSpPr>
          <p:cNvPr id="18" name="line-229">
            <a:extLst>
              <a:ext uri="{FF2B5EF4-FFF2-40B4-BE49-F238E27FC236}">
                <a16:creationId xmlns:a16="http://schemas.microsoft.com/office/drawing/2014/main" id="{4E34B238-2454-4D82-BDDC-B61688A1443A}"/>
              </a:ext>
            </a:extLst>
          </p:cNvPr>
          <p:cNvSpPr>
            <a:spLocks noGrp="1"/>
          </p:cNvSpPr>
          <p:nvPr/>
        </p:nvSpPr>
        <p:spPr>
          <a:xfrm>
            <a:off x="609600" y="4219575"/>
            <a:ext cx="10972800" cy="95"/>
          </a:xfrm>
          <a:prstGeom prst="line">
            <a:avLst/>
          </a:prstGeom>
          <a:noFill/>
          <a:ln w="9525">
            <a:solidFill>
              <a:srgbClr val="D7E2E8"/>
            </a:solidFill>
          </a:ln>
        </p:spPr>
      </p:sp>
      <p:sp>
        <p:nvSpPr>
          <p:cNvPr id="19" name="text-230">
            <a:extLst>
              <a:ext uri="{FF2B5EF4-FFF2-40B4-BE49-F238E27FC236}">
                <a16:creationId xmlns:a16="http://schemas.microsoft.com/office/drawing/2014/main" id="{60F9E7B9-9CFA-4A3C-AB0C-7D381A3D4B28}"/>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每轮提交</a:t>
            </a:r>
          </a:p>
        </p:txBody>
      </p:sp>
      <p:sp>
        <p:nvSpPr>
          <p:cNvPr id="20" name="text-231">
            <a:extLst>
              <a:ext uri="{FF2B5EF4-FFF2-40B4-BE49-F238E27FC236}">
                <a16:creationId xmlns:a16="http://schemas.microsoft.com/office/drawing/2014/main" id="{4ACE402A-A720-4FAD-BC65-D38E81B6568A}"/>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实际业务结果、执行记录、问题归属和复测结果</a:t>
            </a:r>
          </a:p>
        </p:txBody>
      </p:sp>
      <p:sp>
        <p:nvSpPr>
          <p:cNvPr id="21" name="text-232">
            <a:extLst>
              <a:ext uri="{FF2B5EF4-FFF2-40B4-BE49-F238E27FC236}">
                <a16:creationId xmlns:a16="http://schemas.microsoft.com/office/drawing/2014/main" id="{9D5F9D43-4B94-4BDD-BE92-06A593689616}"/>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发现接口差异</a:t>
            </a:r>
          </a:p>
        </p:txBody>
      </p:sp>
      <p:sp>
        <p:nvSpPr>
          <p:cNvPr id="22" name="text-233">
            <a:extLst>
              <a:ext uri="{FF2B5EF4-FFF2-40B4-BE49-F238E27FC236}">
                <a16:creationId xmlns:a16="http://schemas.microsoft.com/office/drawing/2014/main" id="{E83DD031-7E6B-43A8-91AE-6AC419C73F05}"/>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P3 和 P2 分别修复自身实现，对接人员跟踪关闭</a:t>
            </a:r>
          </a:p>
        </p:txBody>
      </p:sp>
      <p:sp>
        <p:nvSpPr>
          <p:cNvPr id="23" name="text-234">
            <a:extLst>
              <a:ext uri="{FF2B5EF4-FFF2-40B4-BE49-F238E27FC236}">
                <a16:creationId xmlns:a16="http://schemas.microsoft.com/office/drawing/2014/main" id="{B751E648-30A0-4C0E-8239-063F93AD614E}"/>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用真实内容和实际效果判断贯通，连接成功或接口返回成功不足以验收。</a:t>
            </a:r>
          </a:p>
        </p:txBody>
      </p:sp>
    </p:spTree>
    <p:extLst>
      <p:ext uri="{BB962C8B-B14F-4D97-AF65-F5344CB8AC3E}">
        <p14:creationId xmlns:p14="http://schemas.microsoft.com/office/powerpoint/2010/main" val="69535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35">
            <a:extLst>
              <a:ext uri="{FF2B5EF4-FFF2-40B4-BE49-F238E27FC236}">
                <a16:creationId xmlns:a16="http://schemas.microsoft.com/office/drawing/2014/main" id="{2AFF6564-84E9-4443-B9DE-FB9C0D87289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36">
            <a:extLst>
              <a:ext uri="{FF2B5EF4-FFF2-40B4-BE49-F238E27FC236}">
                <a16:creationId xmlns:a16="http://schemas.microsoft.com/office/drawing/2014/main" id="{03CC4516-EE1E-4556-93CA-583E425876E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验收标准：按业务、质量和运行逐项通过</a:t>
            </a:r>
          </a:p>
        </p:txBody>
      </p:sp>
      <p:sp>
        <p:nvSpPr>
          <p:cNvPr id="3" name="text-237">
            <a:extLst>
              <a:ext uri="{FF2B5EF4-FFF2-40B4-BE49-F238E27FC236}">
                <a16:creationId xmlns:a16="http://schemas.microsoft.com/office/drawing/2014/main" id="{73816040-B414-4A52-966D-2E3B225A35B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测试提供证据，技术负责人组织验收，业务方完成签收</a:t>
            </a:r>
          </a:p>
        </p:txBody>
      </p:sp>
      <p:sp>
        <p:nvSpPr>
          <p:cNvPr id="4" name="line-238">
            <a:extLst>
              <a:ext uri="{FF2B5EF4-FFF2-40B4-BE49-F238E27FC236}">
                <a16:creationId xmlns:a16="http://schemas.microsoft.com/office/drawing/2014/main" id="{C103B018-3025-4FA7-A229-D3A5587FEC07}"/>
              </a:ext>
            </a:extLst>
          </p:cNvPr>
          <p:cNvSpPr>
            <a:spLocks noGrp="1"/>
          </p:cNvSpPr>
          <p:nvPr/>
        </p:nvSpPr>
        <p:spPr>
          <a:xfrm>
            <a:off x="609600" y="6324600"/>
            <a:ext cx="10972800" cy="95"/>
          </a:xfrm>
          <a:prstGeom prst="line">
            <a:avLst/>
          </a:prstGeom>
          <a:noFill/>
          <a:ln w="9525">
            <a:solidFill>
              <a:srgbClr val="D7E2E8"/>
            </a:solidFill>
          </a:ln>
        </p:spPr>
      </p:sp>
      <p:sp>
        <p:nvSpPr>
          <p:cNvPr id="5" name="text-239">
            <a:extLst>
              <a:ext uri="{FF2B5EF4-FFF2-40B4-BE49-F238E27FC236}">
                <a16:creationId xmlns:a16="http://schemas.microsoft.com/office/drawing/2014/main" id="{B97B0765-9105-4709-84DF-26BD447A3EC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240">
            <a:extLst>
              <a:ext uri="{FF2B5EF4-FFF2-40B4-BE49-F238E27FC236}">
                <a16:creationId xmlns:a16="http://schemas.microsoft.com/office/drawing/2014/main" id="{0A9B5E2C-E85F-42E8-B4B7-172345197D7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20</a:t>
            </a:r>
          </a:p>
        </p:txBody>
      </p:sp>
      <p:graphicFrame>
        <p:nvGraphicFramePr>
          <p:cNvPr id="15" name="表格 14"/>
          <p:cNvGraphicFramePr/>
          <p:nvPr/>
        </p:nvGraphicFramePr>
        <p:xfrm>
          <a:off x="609600" y="1952625"/>
          <a:ext cx="10972800" cy="3752850"/>
        </p:xfrm>
        <a:graphic>
          <a:graphicData uri="http://schemas.openxmlformats.org/drawingml/2006/table">
            <a:tbl>
              <a:tblPr/>
              <a:tblGrid>
                <a:gridCol w="219075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验收范围</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必须证明什么</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谁确认</a:t>
                      </a:r>
                    </a:p>
                  </a:txBody>
                  <a:tcPr marL="114300" marR="114300" marT="47625" marB="47625" anchor="ctr">
                    <a:solidFill>
                      <a:srgbClr val="163044"/>
                    </a:solidFill>
                  </a:tcPr>
                </a:tc>
                <a:extLst>
                  <a:ext uri="{0D108BD9-81ED-4DB2-BD59-A6C34878D82A}">
                    <a16:rowId xmlns:a16="http://schemas.microsoft.com/office/drawing/2014/main" val="10000"/>
                  </a:ext>
                </a:extLst>
              </a:tr>
              <a:tr h="828675">
                <a:tc>
                  <a:txBody>
                    <a:bodyPr/>
                    <a:lstStyle/>
                    <a:p>
                      <a:r>
                        <a:rPr sz="1800" b="1">
                          <a:solidFill>
                            <a:srgbClr val="163044"/>
                          </a:solidFill>
                          <a:latin typeface="Microsoft YaHei"/>
                          <a:ea typeface="Microsoft YaHei"/>
                          <a:cs typeface="Microsoft YaHei"/>
                        </a:rPr>
                        <a:t>业务与真实集成</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保存、召回、更正、删除、隔离与恢复通过</a:t>
                      </a:r>
                    </a:p>
                    <a:p>
                      <a:r>
                        <a:rPr sz="1800" b="0">
                          <a:solidFill>
                            <a:srgbClr val="163044"/>
                          </a:solidFill>
                          <a:latin typeface="Microsoft YaHei"/>
                          <a:ea typeface="Microsoft YaHei"/>
                          <a:cs typeface="Microsoft YaHei"/>
                        </a:rPr>
                        <a:t>约定的 P2、模型和身份链路有真实结果</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测试出报告</a:t>
                      </a:r>
                    </a:p>
                    <a:p>
                      <a:r>
                        <a:rPr sz="1800" b="0">
                          <a:solidFill>
                            <a:srgbClr val="163044"/>
                          </a:solidFill>
                          <a:latin typeface="Microsoft YaHei"/>
                          <a:ea typeface="Microsoft YaHei"/>
                          <a:cs typeface="Microsoft YaHei"/>
                        </a:rPr>
                        <a:t>技术负责人组织验收</a:t>
                      </a:r>
                    </a:p>
                  </a:txBody>
                  <a:tcPr marL="114300" marR="114300" marT="47625" marB="47625" anchor="ctr">
                    <a:solidFill>
                      <a:srgbClr val="FFFFFF"/>
                    </a:solidFill>
                  </a:tcPr>
                </a:tc>
                <a:extLst>
                  <a:ext uri="{0D108BD9-81ED-4DB2-BD59-A6C34878D82A}">
                    <a16:rowId xmlns:a16="http://schemas.microsoft.com/office/drawing/2014/main" val="10001"/>
                  </a:ext>
                </a:extLst>
              </a:tr>
              <a:tr h="828675">
                <a:tc>
                  <a:txBody>
                    <a:bodyPr/>
                    <a:lstStyle/>
                    <a:p>
                      <a:r>
                        <a:rPr sz="1800" b="1">
                          <a:solidFill>
                            <a:srgbClr val="163044"/>
                          </a:solidFill>
                          <a:latin typeface="Microsoft YaHei"/>
                          <a:ea typeface="Microsoft YaHei"/>
                          <a:cs typeface="Microsoft YaHei"/>
                        </a:rPr>
                        <a:t>质量与运行</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达到约定质量和性能指标</a:t>
                      </a:r>
                    </a:p>
                    <a:p>
                      <a:r>
                        <a:rPr sz="1800" b="0">
                          <a:solidFill>
                            <a:srgbClr val="163044"/>
                          </a:solidFill>
                          <a:latin typeface="Microsoft YaHei"/>
                          <a:ea typeface="Microsoft YaHei"/>
                          <a:cs typeface="Microsoft YaHei"/>
                        </a:rPr>
                        <a:t>最终候选连续运行至少 24 小时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测试测量</a:t>
                      </a:r>
                    </a:p>
                    <a:p>
                      <a:r>
                        <a:rPr sz="1800" b="0">
                          <a:solidFill>
                            <a:srgbClr val="163044"/>
                          </a:solidFill>
                          <a:latin typeface="Microsoft YaHei"/>
                          <a:ea typeface="Microsoft YaHei"/>
                          <a:cs typeface="Microsoft YaHei"/>
                        </a:rPr>
                        <a:t>开发修复并复测</a:t>
                      </a:r>
                    </a:p>
                  </a:txBody>
                  <a:tcPr marL="114300" marR="114300" marT="47625" marB="47625" anchor="ctr">
                    <a:solidFill>
                      <a:srgbClr val="F5F8FA"/>
                    </a:solidFill>
                  </a:tcPr>
                </a:tc>
                <a:extLst>
                  <a:ext uri="{0D108BD9-81ED-4DB2-BD59-A6C34878D82A}">
                    <a16:rowId xmlns:a16="http://schemas.microsoft.com/office/drawing/2014/main" val="10002"/>
                  </a:ext>
                </a:extLst>
              </a:tr>
              <a:tr h="828675">
                <a:tc>
                  <a:txBody>
                    <a:bodyPr/>
                    <a:lstStyle/>
                    <a:p>
                      <a:r>
                        <a:rPr sz="1800" b="1">
                          <a:solidFill>
                            <a:srgbClr val="163044"/>
                          </a:solidFill>
                          <a:latin typeface="Microsoft YaHei"/>
                          <a:ea typeface="Microsoft YaHei"/>
                          <a:cs typeface="Microsoft YaHei"/>
                        </a:rPr>
                        <a:t>部署与恢复</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部署、备份恢复、回滚和监测演练通过</a:t>
                      </a:r>
                    </a:p>
                    <a:p>
                      <a:r>
                        <a:rPr sz="1800" b="0">
                          <a:solidFill>
                            <a:srgbClr val="163044"/>
                          </a:solidFill>
                          <a:latin typeface="Microsoft YaHei"/>
                          <a:ea typeface="Microsoft YaHei"/>
                          <a:cs typeface="Microsoft YaHei"/>
                        </a:rPr>
                        <a:t>关键业务在交付环境可复现</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技术负责人</a:t>
                      </a:r>
                    </a:p>
                    <a:p>
                      <a:r>
                        <a:rPr sz="1800" b="0">
                          <a:solidFill>
                            <a:srgbClr val="163044"/>
                          </a:solidFill>
                          <a:latin typeface="Microsoft YaHei"/>
                          <a:ea typeface="Microsoft YaHei"/>
                          <a:cs typeface="Microsoft YaHei"/>
                        </a:rPr>
                        <a:t>运行接手人</a:t>
                      </a:r>
                    </a:p>
                  </a:txBody>
                  <a:tcPr marL="114300" marR="114300" marT="47625" marB="47625" anchor="ctr">
                    <a:solidFill>
                      <a:srgbClr val="FFFFFF"/>
                    </a:solidFill>
                  </a:tcPr>
                </a:tc>
                <a:extLst>
                  <a:ext uri="{0D108BD9-81ED-4DB2-BD59-A6C34878D82A}">
                    <a16:rowId xmlns:a16="http://schemas.microsoft.com/office/drawing/2014/main" val="10003"/>
                  </a:ext>
                </a:extLst>
              </a:tr>
              <a:tr h="828675">
                <a:tc>
                  <a:txBody>
                    <a:bodyPr/>
                    <a:lstStyle/>
                    <a:p>
                      <a:r>
                        <a:rPr sz="1800" b="1">
                          <a:solidFill>
                            <a:srgbClr val="163044"/>
                          </a:solidFill>
                          <a:latin typeface="Microsoft YaHei"/>
                          <a:ea typeface="Microsoft YaHei"/>
                          <a:cs typeface="Microsoft YaHei"/>
                        </a:rPr>
                        <a:t>业务签收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业务必验场景通过</a:t>
                      </a:r>
                    </a:p>
                    <a:p>
                      <a:r>
                        <a:rPr sz="1800" b="0">
                          <a:solidFill>
                            <a:srgbClr val="163044"/>
                          </a:solidFill>
                          <a:latin typeface="Microsoft YaHei"/>
                          <a:ea typeface="Microsoft YaHei"/>
                          <a:cs typeface="Microsoft YaHei"/>
                        </a:rPr>
                        <a:t>使用说明、限制和交接记录完整</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业务验收代表签收</a:t>
                      </a:r>
                    </a:p>
                    <a:p>
                      <a:r>
                        <a:rPr sz="1800" b="0">
                          <a:solidFill>
                            <a:srgbClr val="163044"/>
                          </a:solidFill>
                          <a:latin typeface="Microsoft YaHei"/>
                          <a:ea typeface="Microsoft YaHei"/>
                          <a:cs typeface="Microsoft YaHei"/>
                        </a:rPr>
                        <a:t>测试见证</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41">
            <a:extLst>
              <a:ext uri="{FF2B5EF4-FFF2-40B4-BE49-F238E27FC236}">
                <a16:creationId xmlns:a16="http://schemas.microsoft.com/office/drawing/2014/main" id="{1E998C7F-9C35-43FC-A5B1-7DDCB6375B2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阻断问题关闭并复验，日期到达不会自动满足验收条件。</a:t>
            </a:r>
          </a:p>
        </p:txBody>
      </p:sp>
    </p:spTree>
    <p:extLst>
      <p:ext uri="{BB962C8B-B14F-4D97-AF65-F5344CB8AC3E}">
        <p14:creationId xmlns:p14="http://schemas.microsoft.com/office/powerpoint/2010/main" val="549515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20</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测试设计与回归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设计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20</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样例数据、测试原则和责任清单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20</a:t>
            </a:r>
          </a:p>
        </p:txBody>
      </p:sp>
      <p:graphicFrame>
        <p:nvGraphicFramePr>
          <p:cNvPr id="14" name="表格 13"/>
          <p:cNvGraphicFramePr/>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20</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87630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59436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31242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9" name="flow-choice-15">
            <a:extLst xmlns:a="http://schemas.openxmlformats.org/drawingml/2006/main">
              <a:ext uri="{FF2B5EF4-FFF2-40B4-BE49-F238E27FC236}">
                <a16:creationId xmlns:a16="http://schemas.microsoft.com/office/drawing/2014/main" id="{D8B9DD56-1309-41B0-A7B0-6248B8099F7C}"/>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16">
            <a:extLst xmlns:a="http://schemas.openxmlformats.org/drawingml/2006/main">
              <a:ext uri="{FF2B5EF4-FFF2-40B4-BE49-F238E27FC236}">
                <a16:creationId xmlns:a16="http://schemas.microsoft.com/office/drawing/2014/main" id="{079DC45E-51D3-4FF9-BCD3-5C221F093AB9}"/>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Recall：参考 LlamaIndex 拆分检索步骤</a:t>
            </a:r>
          </a:p>
        </p:txBody>
      </p:sp>
      <p:sp>
        <p:nvSpPr>
          <p:cNvPr id="3" name="flow-choice-17">
            <a:extLst xmlns:a="http://schemas.openxmlformats.org/drawingml/2006/main">
              <a:ext uri="{FF2B5EF4-FFF2-40B4-BE49-F238E27FC236}">
                <a16:creationId xmlns:a16="http://schemas.microsoft.com/office/drawing/2014/main" id="{844F523D-C9C7-4B64-8FF4-51AC4EB538C6}"/>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借鉴检索、融合和后处理分层，交付带来源的记忆材料</a:t>
            </a:r>
          </a:p>
        </p:txBody>
      </p:sp>
      <p:sp>
        <p:nvSpPr>
          <p:cNvPr id="4" name="flow-step-1-0">
            <a:extLst xmlns:a="http://schemas.openxmlformats.org/drawingml/2006/main">
              <a:ext uri="{FF2B5EF4-FFF2-40B4-BE49-F238E27FC236}">
                <a16:creationId xmlns:a16="http://schemas.microsoft.com/office/drawing/2014/main" id="{FAE3FD26-43A2-4443-8851-F99D7B11A238}"/>
              </a:ext>
            </a:extLst>
          </p:cNvPr>
          <p:cNvSpPr>
            <a:spLocks xmlns:a="http://schemas.openxmlformats.org/drawingml/2006/main" noGrp="1"/>
          </p:cNvSpPr>
          <p:nvPr/>
        </p:nvSpPr>
        <p:spPr>
          <a:xfrm xmlns:a="http://schemas.openxmlformats.org/drawingml/2006/main">
            <a:off x="6096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多来源找候选</a:t>
            </a:r>
          </a:p>
        </p:txBody>
      </p:sp>
      <p:sp>
        <p:nvSpPr>
          <p:cNvPr id="5" name="flow-step-1-1">
            <a:extLst xmlns:a="http://schemas.openxmlformats.org/drawingml/2006/main">
              <a:ext uri="{FF2B5EF4-FFF2-40B4-BE49-F238E27FC236}">
                <a16:creationId xmlns:a16="http://schemas.microsoft.com/office/drawing/2014/main" id="{06AA2993-9651-4207-B78C-A81D4FDA0DB5}"/>
              </a:ext>
            </a:extLst>
          </p:cNvPr>
          <p:cNvSpPr>
            <a:spLocks xmlns:a="http://schemas.openxmlformats.org/drawingml/2006/main" noGrp="1"/>
          </p:cNvSpPr>
          <p:nvPr/>
        </p:nvSpPr>
        <p:spPr>
          <a:xfrm xmlns:a="http://schemas.openxmlformats.org/drawingml/2006/main">
            <a:off x="34290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合并候选与去重</a:t>
            </a:r>
          </a:p>
        </p:txBody>
      </p:sp>
      <p:sp>
        <p:nvSpPr>
          <p:cNvPr id="6" name="flow-step-1-2">
            <a:extLst xmlns:a="http://schemas.openxmlformats.org/drawingml/2006/main">
              <a:ext uri="{FF2B5EF4-FFF2-40B4-BE49-F238E27FC236}">
                <a16:creationId xmlns:a16="http://schemas.microsoft.com/office/drawing/2014/main" id="{8DF48DEA-2F33-4F34-A1DC-442441960237}"/>
              </a:ext>
            </a:extLst>
          </p:cNvPr>
          <p:cNvSpPr>
            <a:spLocks xmlns:a="http://schemas.openxmlformats.org/drawingml/2006/main" noGrp="1"/>
          </p:cNvSpPr>
          <p:nvPr/>
        </p:nvSpPr>
        <p:spPr>
          <a:xfrm xmlns:a="http://schemas.openxmlformats.org/drawingml/2006/main">
            <a:off x="62484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重排与预算装配</a:t>
            </a:r>
          </a:p>
        </p:txBody>
      </p:sp>
      <p:sp>
        <p:nvSpPr>
          <p:cNvPr id="7" name="flow-step-1-3">
            <a:extLst xmlns:a="http://schemas.openxmlformats.org/drawingml/2006/main">
              <a:ext uri="{FF2B5EF4-FFF2-40B4-BE49-F238E27FC236}">
                <a16:creationId xmlns:a16="http://schemas.microsoft.com/office/drawing/2014/main" id="{3308E316-0EC2-4A20-95B8-C5E2D7E566D3}"/>
              </a:ext>
            </a:extLst>
          </p:cNvPr>
          <p:cNvSpPr>
            <a:spLocks xmlns:a="http://schemas.openxmlformats.org/drawingml/2006/main" noGrp="1"/>
          </p:cNvSpPr>
          <p:nvPr/>
        </p:nvSpPr>
        <p:spPr>
          <a:xfrm xmlns:a="http://schemas.openxmlformats.org/drawingml/2006/main">
            <a:off x="9067800" y="2009775"/>
            <a:ext cx="2514600" cy="590550"/>
          </a:xfrm>
          <a:prstGeom xmlns:a="http://schemas.openxmlformats.org/drawingml/2006/main" prst="rect">
            <a:avLst/>
          </a:prstGeom>
          <a:solidFill xmlns:a="http://schemas.openxmlformats.org/drawingml/2006/main">
            <a:srgbClr val="EDF4F8"/>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复核后交付材料</a:t>
            </a:r>
          </a:p>
        </p:txBody>
      </p:sp>
      <p:sp>
        <p:nvSpPr>
          <p:cNvPr id="11" name="flow-choice-18">
            <a:extLst xmlns:a="http://schemas.openxmlformats.org/drawingml/2006/main">
              <a:ext uri="{FF2B5EF4-FFF2-40B4-BE49-F238E27FC236}">
                <a16:creationId xmlns:a16="http://schemas.microsoft.com/office/drawing/2014/main" id="{F79633A6-801F-4B55-9AEC-FC983016370D}"/>
              </a:ext>
            </a:extLst>
          </p:cNvPr>
          <p:cNvSpPr>
            <a:spLocks xmlns:a="http://schemas.openxmlformats.org/drawingml/2006/main" noGrp="1"/>
          </p:cNvSpPr>
          <p:nvPr/>
        </p:nvSpPr>
        <p:spPr>
          <a:xfrm xmlns:a="http://schemas.openxmlformats.org/drawingml/2006/main">
            <a:off x="609600" y="28479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19">
            <a:extLst xmlns:a="http://schemas.openxmlformats.org/drawingml/2006/main">
              <a:ext uri="{FF2B5EF4-FFF2-40B4-BE49-F238E27FC236}">
                <a16:creationId xmlns:a16="http://schemas.microsoft.com/office/drawing/2014/main" id="{D273A320-E836-48DE-A42E-697EEA98B961}"/>
              </a:ext>
            </a:extLst>
          </p:cNvPr>
          <p:cNvSpPr>
            <a:spLocks xmlns:a="http://schemas.openxmlformats.org/drawingml/2006/main" noGrp="1"/>
          </p:cNvSpPr>
          <p:nvPr/>
        </p:nvSpPr>
        <p:spPr>
          <a:xfrm xmlns:a="http://schemas.openxmlformats.org/drawingml/2006/main">
            <a:off x="2867025" y="28479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检索器拆分不同来源，融合器汇总候选，</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后处理器组织过滤和排序，便于逐步组合。</a:t>
            </a:r>
          </a:p>
        </p:txBody>
      </p:sp>
      <p:sp>
        <p:nvSpPr>
          <p:cNvPr id="13" name="">
            <a:extLst xmlns:a="http://schemas.openxmlformats.org/drawingml/2006/main">
              <a:ext uri="{FF2B5EF4-FFF2-40B4-BE49-F238E27FC236}">
                <a16:creationId xmlns:a16="http://schemas.microsoft.com/office/drawing/2014/main" id="{1741A628-F5AD-4D93-B94E-BE80700E59AC}"/>
              </a:ext>
            </a:extLst>
          </p:cNvPr>
          <p:cNvSpPr>
            <a:spLocks xmlns:a="http://schemas.openxmlformats.org/drawingml/2006/main" noGrp="1"/>
          </p:cNvSpPr>
          <p:nvPr/>
        </p:nvSpPr>
        <p:spPr>
          <a:xfrm xmlns:a="http://schemas.openxmlformats.org/drawingml/2006/main">
            <a:off x="609600" y="35337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4" name="flow-choice-20">
            <a:extLst xmlns:a="http://schemas.openxmlformats.org/drawingml/2006/main">
              <a:ext uri="{FF2B5EF4-FFF2-40B4-BE49-F238E27FC236}">
                <a16:creationId xmlns:a16="http://schemas.microsoft.com/office/drawing/2014/main" id="{0D588B88-0E47-479B-B13B-B166B08DA674}"/>
              </a:ext>
            </a:extLst>
          </p:cNvPr>
          <p:cNvSpPr>
            <a:spLocks xmlns:a="http://schemas.openxmlformats.org/drawingml/2006/main" noGrp="1"/>
          </p:cNvSpPr>
          <p:nvPr/>
        </p:nvSpPr>
        <p:spPr>
          <a:xfrm xmlns:a="http://schemas.openxmlformats.org/drawingml/2006/main">
            <a:off x="609600" y="35909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21">
            <a:extLst xmlns:a="http://schemas.openxmlformats.org/drawingml/2006/main">
              <a:ext uri="{FF2B5EF4-FFF2-40B4-BE49-F238E27FC236}">
                <a16:creationId xmlns:a16="http://schemas.microsoft.com/office/drawing/2014/main" id="{33B837B9-392E-4FB6-8BC6-EA4F95318169}"/>
              </a:ext>
            </a:extLst>
          </p:cNvPr>
          <p:cNvSpPr>
            <a:spLocks xmlns:a="http://schemas.openxmlformats.org/drawingml/2006/main" noGrp="1"/>
          </p:cNvSpPr>
          <p:nvPr/>
        </p:nvSpPr>
        <p:spPr>
          <a:xfrm xmlns:a="http://schemas.openxmlformats.org/drawingml/2006/main">
            <a:off x="2867025" y="35909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这些模块与 P3 的召回步骤直接对应，</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便于独立测试、替换检索来源和增加重排。</a:t>
            </a:r>
          </a:p>
        </p:txBody>
      </p:sp>
      <p:sp>
        <p:nvSpPr>
          <p:cNvPr id="16" name="">
            <a:extLst xmlns:a="http://schemas.openxmlformats.org/drawingml/2006/main">
              <a:ext uri="{FF2B5EF4-FFF2-40B4-BE49-F238E27FC236}">
                <a16:creationId xmlns:a16="http://schemas.microsoft.com/office/drawing/2014/main" id="{4C2F14A2-3B34-479E-A689-18788ABB2E0A}"/>
              </a:ext>
            </a:extLst>
          </p:cNvPr>
          <p:cNvSpPr>
            <a:spLocks xmlns:a="http://schemas.openxmlformats.org/drawingml/2006/main" noGrp="1"/>
          </p:cNvSpPr>
          <p:nvPr/>
        </p:nvSpPr>
        <p:spPr>
          <a:xfrm xmlns:a="http://schemas.openxmlformats.org/drawingml/2006/main">
            <a:off x="609600" y="427672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7" name="flow-choice-22">
            <a:extLst xmlns:a="http://schemas.openxmlformats.org/drawingml/2006/main">
              <a:ext uri="{FF2B5EF4-FFF2-40B4-BE49-F238E27FC236}">
                <a16:creationId xmlns:a16="http://schemas.microsoft.com/office/drawing/2014/main" id="{84861A43-684B-4447-9D7E-6DB151DE48F7}"/>
              </a:ext>
            </a:extLst>
          </p:cNvPr>
          <p:cNvSpPr>
            <a:spLocks xmlns:a="http://schemas.openxmlformats.org/drawingml/2006/main" noGrp="1"/>
          </p:cNvSpPr>
          <p:nvPr/>
        </p:nvSpPr>
        <p:spPr>
          <a:xfrm xmlns:a="http://schemas.openxmlformats.org/drawingml/2006/main">
            <a:off x="609600" y="43338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23">
            <a:extLst xmlns:a="http://schemas.openxmlformats.org/drawingml/2006/main">
              <a:ext uri="{FF2B5EF4-FFF2-40B4-BE49-F238E27FC236}">
                <a16:creationId xmlns:a16="http://schemas.microsoft.com/office/drawing/2014/main" id="{43063818-B5BB-416C-B851-67AA00351759}"/>
              </a:ext>
            </a:extLst>
          </p:cNvPr>
          <p:cNvSpPr>
            <a:spLocks xmlns:a="http://schemas.openxmlformats.org/drawingml/2006/main" noGrp="1"/>
          </p:cNvSpPr>
          <p:nvPr/>
        </p:nvSpPr>
        <p:spPr>
          <a:xfrm xmlns:a="http://schemas.openxmlformats.org/drawingml/2006/main">
            <a:off x="2867025" y="43338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Haystack 整体接管需重接 P3 的任务和失败处理；</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当前已有召回分层，再增加一套流水线的收益有限。</a:t>
            </a:r>
          </a:p>
        </p:txBody>
      </p:sp>
      <p:sp>
        <p:nvSpPr>
          <p:cNvPr id="19" name="">
            <a:extLst xmlns:a="http://schemas.openxmlformats.org/drawingml/2006/main">
              <a:ext uri="{FF2B5EF4-FFF2-40B4-BE49-F238E27FC236}">
                <a16:creationId xmlns:a16="http://schemas.microsoft.com/office/drawing/2014/main" id="{2CBE84DD-AEA0-4F8A-9BD4-5DA9F07A10DE}"/>
              </a:ext>
            </a:extLst>
          </p:cNvPr>
          <p:cNvSpPr>
            <a:spLocks xmlns:a="http://schemas.openxmlformats.org/drawingml/2006/main" noGrp="1"/>
          </p:cNvSpPr>
          <p:nvPr/>
        </p:nvSpPr>
        <p:spPr>
          <a:xfrm xmlns:a="http://schemas.openxmlformats.org/drawingml/2006/main">
            <a:off x="609600" y="50196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0" name="flow-choice-24">
            <a:extLst xmlns:a="http://schemas.openxmlformats.org/drawingml/2006/main">
              <a:ext uri="{FF2B5EF4-FFF2-40B4-BE49-F238E27FC236}">
                <a16:creationId xmlns:a16="http://schemas.microsoft.com/office/drawing/2014/main" id="{37AF32E4-A1FA-41BF-8003-C12C118258CD}"/>
              </a:ext>
            </a:extLst>
          </p:cNvPr>
          <p:cNvSpPr>
            <a:spLocks xmlns:a="http://schemas.openxmlformats.org/drawingml/2006/main" noGrp="1"/>
          </p:cNvSpPr>
          <p:nvPr/>
        </p:nvSpPr>
        <p:spPr>
          <a:xfrm xmlns:a="http://schemas.openxmlformats.org/drawingml/2006/main">
            <a:off x="609600" y="50768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25">
            <a:extLst xmlns:a="http://schemas.openxmlformats.org/drawingml/2006/main">
              <a:ext uri="{FF2B5EF4-FFF2-40B4-BE49-F238E27FC236}">
                <a16:creationId xmlns:a16="http://schemas.microsoft.com/office/drawing/2014/main" id="{0E0FBB8A-3A9D-496C-AD4C-16942B701840}"/>
              </a:ext>
            </a:extLst>
          </p:cNvPr>
          <p:cNvSpPr>
            <a:spLocks xmlns:a="http://schemas.openxmlformats.org/drawingml/2006/main" noGrp="1"/>
          </p:cNvSpPr>
          <p:nvPr/>
        </p:nvSpPr>
        <p:spPr>
          <a:xfrm xmlns:a="http://schemas.openxmlformats.org/drawingml/2006/main">
            <a:off x="2867025" y="50768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参考分层思路，由 P3 实现召回流程与候选融合。</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来源状态、版本权限、冲突处理和上下文预算由 P3 核对。</a:t>
            </a:r>
          </a:p>
        </p:txBody>
      </p:sp>
      <p:sp>
        <p:nvSpPr>
          <p:cNvPr id="22" name="flow-choice-26">
            <a:extLst xmlns:a="http://schemas.openxmlformats.org/drawingml/2006/main">
              <a:ext uri="{FF2B5EF4-FFF2-40B4-BE49-F238E27FC236}">
                <a16:creationId xmlns:a16="http://schemas.microsoft.com/office/drawing/2014/main" id="{6931851D-F902-4C5B-82DB-44A6F6D98695}"/>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xmlns:ns0="http://schemas.openxmlformats.org/officeDocument/2006/relationships" ns0:id="rIdOfficialProject"/>
              </a:rPr>
              <a:t>开源项目：https://github.com/run-llama/llama_index</a:t>
            </a:r>
          </a:p>
        </p:txBody>
      </p:sp>
      <p:sp>
        <p:nvSpPr>
          <p:cNvPr id="23" name="">
            <a:extLst xmlns:a="http://schemas.openxmlformats.org/drawingml/2006/main">
              <a:ext uri="{FF2B5EF4-FFF2-40B4-BE49-F238E27FC236}">
                <a16:creationId xmlns:a16="http://schemas.microsoft.com/office/drawing/2014/main" id="{7C2C398D-32C9-4EEE-B2E3-35A8B477C238}"/>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4" name="flow-choice-27">
            <a:extLst xmlns:a="http://schemas.openxmlformats.org/drawingml/2006/main">
              <a:ext uri="{FF2B5EF4-FFF2-40B4-BE49-F238E27FC236}">
                <a16:creationId xmlns:a16="http://schemas.microsoft.com/office/drawing/2014/main" id="{10B32CA9-FC98-4881-B168-9A46CC0B15BE}"/>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25" name="flow-choice-28">
            <a:extLst xmlns:a="http://schemas.openxmlformats.org/drawingml/2006/main">
              <a:ext uri="{FF2B5EF4-FFF2-40B4-BE49-F238E27FC236}">
                <a16:creationId xmlns:a16="http://schemas.microsoft.com/office/drawing/2014/main" id="{40E28C38-026A-46EA-81F4-A0F5D2E51610}"/>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20</a:t>
            </a:r>
          </a:p>
        </p:txBody>
      </p:sp>
    </p:spTree>
    <p:extLst>
      <p:ext uri="{BB962C8B-B14F-4D97-AF65-F5344CB8AC3E}">
        <p14:creationId xmlns:p14="http://schemas.microsoft.com/office/powerpoint/2010/main" val="11188933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87630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59436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3124200" y="2305050"/>
            <a:ext cx="304800" cy="0"/>
          </a:xfrm>
          <a:prstGeom xmlns:a="http://schemas.openxmlformats.org/drawingml/2006/main" prst="straightConnector1">
            <a:avLst/>
          </a:prstGeom>
          <a:ln xmlns:a="http://schemas.openxmlformats.org/drawingml/2006/main" w="19050">
            <a:solidFill>
              <a:srgbClr val="25699A"/>
            </a:solidFill>
            <a:tailEnd type="arrow" w="med" len="med"/>
          </a:ln>
        </p:spPr>
      </p:cxnSp>
      <p:sp>
        <p:nvSpPr>
          <p:cNvPr id="29" name="flow-choice-29">
            <a:extLst xmlns:a="http://schemas.openxmlformats.org/drawingml/2006/main">
              <a:ext uri="{FF2B5EF4-FFF2-40B4-BE49-F238E27FC236}">
                <a16:creationId xmlns:a16="http://schemas.microsoft.com/office/drawing/2014/main" id="{0E24507D-29AD-48DF-B92E-10DB2725E35C}"/>
              </a:ext>
            </a:extLst>
          </p:cNvPr>
          <p:cNvSpPr>
            <a:spLocks xmlns:a="http://schemas.openxmlformats.org/drawingml/2006/main" noGrp="1"/>
          </p:cNvSpPr>
          <p:nvPr/>
        </p:nvSpPr>
        <p:spPr>
          <a:xfrm xmlns:a="http://schemas.openxmlformats.org/drawingml/2006/main">
            <a:off x="609600" y="161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flow-choice-30">
            <a:extLst xmlns:a="http://schemas.openxmlformats.org/drawingml/2006/main">
              <a:ext uri="{FF2B5EF4-FFF2-40B4-BE49-F238E27FC236}">
                <a16:creationId xmlns:a16="http://schemas.microsoft.com/office/drawing/2014/main" id="{FE608615-D327-4090-994A-3D6BC0E7122B}"/>
              </a:ext>
            </a:extLst>
          </p:cNvPr>
          <p:cNvSpPr>
            <a:spLocks xmlns:a="http://schemas.openxmlformats.org/drawingml/2006/main" noGrp="1"/>
          </p:cNvSpPr>
          <p:nvPr/>
        </p:nvSpPr>
        <p:spPr>
          <a:xfrm xmlns:a="http://schemas.openxmlformats.org/drawingml/2006/main">
            <a:off x="609600" y="7239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1">
                <a:solidFill>
                  <a:srgbClr val="163044"/>
                </a:solidFill>
                <a:latin typeface="Microsoft YaHei"/>
                <a:ea typeface="Microsoft YaHei"/>
                <a:cs typeface="Microsoft YaHei"/>
              </a:defRPr>
            </a:pPr>
            <a:r>
              <a:rPr sz="2925" b="1">
                <a:solidFill>
                  <a:srgbClr val="163044"/>
                </a:solidFill>
                <a:latin typeface="Microsoft YaHei"/>
                <a:ea typeface="Microsoft YaHei"/>
                <a:cs typeface="Microsoft YaHei"/>
              </a:rPr>
              <a:t>Operate：参考 Controller 持续核对状态</a:t>
            </a:r>
          </a:p>
        </p:txBody>
      </p:sp>
      <p:sp>
        <p:nvSpPr>
          <p:cNvPr id="3" name="flow-choice-31">
            <a:extLst xmlns:a="http://schemas.openxmlformats.org/drawingml/2006/main">
              <a:ext uri="{FF2B5EF4-FFF2-40B4-BE49-F238E27FC236}">
                <a16:creationId xmlns:a16="http://schemas.microsoft.com/office/drawing/2014/main" id="{7FD5275D-FEA1-40E8-9CA3-5BD6B0D90CBE}"/>
              </a:ext>
            </a:extLst>
          </p:cNvPr>
          <p:cNvSpPr>
            <a:spLocks xmlns:a="http://schemas.openxmlformats.org/drawingml/2006/main" noGrp="1"/>
          </p:cNvSpPr>
          <p:nvPr/>
        </p:nvSpPr>
        <p:spPr>
          <a:xfrm xmlns:a="http://schemas.openxmlformats.org/drawingml/2006/main">
            <a:off x="609600" y="136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借鉴 Kubernetes Controller 模式，由 P3 实现记忆调度控制器</a:t>
            </a:r>
          </a:p>
        </p:txBody>
      </p:sp>
      <p:sp>
        <p:nvSpPr>
          <p:cNvPr id="4" name="flow-step-2-0">
            <a:extLst xmlns:a="http://schemas.openxmlformats.org/drawingml/2006/main">
              <a:ext uri="{FF2B5EF4-FFF2-40B4-BE49-F238E27FC236}">
                <a16:creationId xmlns:a16="http://schemas.microsoft.com/office/drawing/2014/main" id="{90CA3145-466B-4B9B-9AB6-A7C4FA842291}"/>
              </a:ext>
            </a:extLst>
          </p:cNvPr>
          <p:cNvSpPr>
            <a:spLocks xmlns:a="http://schemas.openxmlformats.org/drawingml/2006/main" noGrp="1"/>
          </p:cNvSpPr>
          <p:nvPr/>
        </p:nvSpPr>
        <p:spPr>
          <a:xfrm xmlns:a="http://schemas.openxmlformats.org/drawingml/2006/main">
            <a:off x="6096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观察当前状态</a:t>
            </a:r>
          </a:p>
        </p:txBody>
      </p:sp>
      <p:sp>
        <p:nvSpPr>
          <p:cNvPr id="5" name="flow-step-2-1">
            <a:extLst xmlns:a="http://schemas.openxmlformats.org/drawingml/2006/main">
              <a:ext uri="{FF2B5EF4-FFF2-40B4-BE49-F238E27FC236}">
                <a16:creationId xmlns:a16="http://schemas.microsoft.com/office/drawing/2014/main" id="{77D7BC94-48CB-40C5-A8AB-265E3700AE95}"/>
              </a:ext>
            </a:extLst>
          </p:cNvPr>
          <p:cNvSpPr>
            <a:spLocks xmlns:a="http://schemas.openxmlformats.org/drawingml/2006/main" noGrp="1"/>
          </p:cNvSpPr>
          <p:nvPr/>
        </p:nvSpPr>
        <p:spPr>
          <a:xfrm xmlns:a="http://schemas.openxmlformats.org/drawingml/2006/main">
            <a:off x="34290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计算期望状态</a:t>
            </a:r>
          </a:p>
        </p:txBody>
      </p:sp>
      <p:sp>
        <p:nvSpPr>
          <p:cNvPr id="6" name="flow-step-2-2">
            <a:extLst xmlns:a="http://schemas.openxmlformats.org/drawingml/2006/main">
              <a:ext uri="{FF2B5EF4-FFF2-40B4-BE49-F238E27FC236}">
                <a16:creationId xmlns:a16="http://schemas.microsoft.com/office/drawing/2014/main" id="{396E6311-4162-4EE3-86A2-1B8DF8DD5E9E}"/>
              </a:ext>
            </a:extLst>
          </p:cNvPr>
          <p:cNvSpPr>
            <a:spLocks xmlns:a="http://schemas.openxmlformats.org/drawingml/2006/main" noGrp="1"/>
          </p:cNvSpPr>
          <p:nvPr/>
        </p:nvSpPr>
        <p:spPr>
          <a:xfrm xmlns:a="http://schemas.openxmlformats.org/drawingml/2006/main">
            <a:off x="62484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执行差异动作</a:t>
            </a:r>
          </a:p>
        </p:txBody>
      </p:sp>
      <p:sp>
        <p:nvSpPr>
          <p:cNvPr id="7" name="flow-step-2-3">
            <a:extLst xmlns:a="http://schemas.openxmlformats.org/drawingml/2006/main">
              <a:ext uri="{FF2B5EF4-FFF2-40B4-BE49-F238E27FC236}">
                <a16:creationId xmlns:a16="http://schemas.microsoft.com/office/drawing/2014/main" id="{787372BF-F1E6-4A35-A819-9FB4A1F452AC}"/>
              </a:ext>
            </a:extLst>
          </p:cNvPr>
          <p:cNvSpPr>
            <a:spLocks xmlns:a="http://schemas.openxmlformats.org/drawingml/2006/main" noGrp="1"/>
          </p:cNvSpPr>
          <p:nvPr/>
        </p:nvSpPr>
        <p:spPr>
          <a:xfrm xmlns:a="http://schemas.openxmlformats.org/drawingml/2006/main">
            <a:off x="9067800" y="2009775"/>
            <a:ext cx="2514600" cy="590550"/>
          </a:xfrm>
          <a:prstGeom xmlns:a="http://schemas.openxmlformats.org/drawingml/2006/main" prst="rect">
            <a:avLst/>
          </a:prstGeom>
          <a:solidFill xmlns:a="http://schemas.openxmlformats.org/drawingml/2006/main">
            <a:srgbClr val="EAF5F2"/>
          </a:solidFill>
          <a:ln xmlns:a="http://schemas.openxmlformats.org/drawingml/2006/main" w="9525">
            <a:solidFill>
              <a:srgbClr val="D7E2E8"/>
            </a:solidFill>
          </a:ln>
        </p:spPr>
        <p:txBody>
          <a:bodyPr xmlns:a="http://schemas.openxmlformats.org/drawingml/2006/main" lIns="47625" tIns="38100" rIns="47625" bIns="38100" anchor="ctr">
            <a:noAutofit/>
          </a:bodyPr>
          <a:lstStyle xmlns:a="http://schemas.openxmlformats.org/drawingml/2006/main"/>
          <a:p xmlns:a="http://schemas.openxmlformats.org/drawingml/2006/main">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重新核对效果</a:t>
            </a:r>
          </a:p>
        </p:txBody>
      </p:sp>
      <p:sp>
        <p:nvSpPr>
          <p:cNvPr id="11" name="flow-choice-32">
            <a:extLst xmlns:a="http://schemas.openxmlformats.org/drawingml/2006/main">
              <a:ext uri="{FF2B5EF4-FFF2-40B4-BE49-F238E27FC236}">
                <a16:creationId xmlns:a16="http://schemas.microsoft.com/office/drawing/2014/main" id="{910DEE70-92B6-4D46-B9A7-0249B4E97E48}"/>
              </a:ext>
            </a:extLst>
          </p:cNvPr>
          <p:cNvSpPr>
            <a:spLocks xmlns:a="http://schemas.openxmlformats.org/drawingml/2006/main" noGrp="1"/>
          </p:cNvSpPr>
          <p:nvPr/>
        </p:nvSpPr>
        <p:spPr>
          <a:xfrm xmlns:a="http://schemas.openxmlformats.org/drawingml/2006/main">
            <a:off x="609600" y="28479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参考了什么</a:t>
            </a:r>
          </a:p>
        </p:txBody>
      </p:sp>
      <p:sp>
        <p:nvSpPr>
          <p:cNvPr id="12" name="flow-choice-33">
            <a:extLst xmlns:a="http://schemas.openxmlformats.org/drawingml/2006/main">
              <a:ext uri="{FF2B5EF4-FFF2-40B4-BE49-F238E27FC236}">
                <a16:creationId xmlns:a16="http://schemas.microsoft.com/office/drawing/2014/main" id="{058158BA-E345-440E-B9D4-D824B319BB46}"/>
              </a:ext>
            </a:extLst>
          </p:cNvPr>
          <p:cNvSpPr>
            <a:spLocks xmlns:a="http://schemas.openxmlformats.org/drawingml/2006/main" noGrp="1"/>
          </p:cNvSpPr>
          <p:nvPr/>
        </p:nvSpPr>
        <p:spPr>
          <a:xfrm xmlns:a="http://schemas.openxmlformats.org/drawingml/2006/main">
            <a:off x="2867025" y="28479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事件触发后重新读取当前状态，比较实际与期望，</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再执行必要动作，并重新观察结果。</a:t>
            </a:r>
          </a:p>
        </p:txBody>
      </p:sp>
      <p:sp>
        <p:nvSpPr>
          <p:cNvPr id="13" name="">
            <a:extLst xmlns:a="http://schemas.openxmlformats.org/drawingml/2006/main">
              <a:ext uri="{FF2B5EF4-FFF2-40B4-BE49-F238E27FC236}">
                <a16:creationId xmlns:a16="http://schemas.microsoft.com/office/drawing/2014/main" id="{AC5F7D47-8121-41E8-AC42-C9FF5E92524A}"/>
              </a:ext>
            </a:extLst>
          </p:cNvPr>
          <p:cNvSpPr>
            <a:spLocks xmlns:a="http://schemas.openxmlformats.org/drawingml/2006/main" noGrp="1"/>
          </p:cNvSpPr>
          <p:nvPr/>
        </p:nvSpPr>
        <p:spPr>
          <a:xfrm xmlns:a="http://schemas.openxmlformats.org/drawingml/2006/main">
            <a:off x="609600" y="35337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4" name="flow-choice-34">
            <a:extLst xmlns:a="http://schemas.openxmlformats.org/drawingml/2006/main">
              <a:ext uri="{FF2B5EF4-FFF2-40B4-BE49-F238E27FC236}">
                <a16:creationId xmlns:a16="http://schemas.microsoft.com/office/drawing/2014/main" id="{88E74266-DAC1-4753-9186-FC1E0A852ED0}"/>
              </a:ext>
            </a:extLst>
          </p:cNvPr>
          <p:cNvSpPr>
            <a:spLocks xmlns:a="http://schemas.openxmlformats.org/drawingml/2006/main" noGrp="1"/>
          </p:cNvSpPr>
          <p:nvPr/>
        </p:nvSpPr>
        <p:spPr>
          <a:xfrm xmlns:a="http://schemas.openxmlformats.org/drawingml/2006/main">
            <a:off x="609600" y="35909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为什么参考</a:t>
            </a:r>
          </a:p>
        </p:txBody>
      </p:sp>
      <p:sp>
        <p:nvSpPr>
          <p:cNvPr id="15" name="flow-choice-35">
            <a:extLst xmlns:a="http://schemas.openxmlformats.org/drawingml/2006/main">
              <a:ext uri="{FF2B5EF4-FFF2-40B4-BE49-F238E27FC236}">
                <a16:creationId xmlns:a16="http://schemas.microsoft.com/office/drawing/2014/main" id="{B4C8962B-FE48-426C-B80C-CD82651917BB}"/>
              </a:ext>
            </a:extLst>
          </p:cNvPr>
          <p:cNvSpPr>
            <a:spLocks xmlns:a="http://schemas.openxmlformats.org/drawingml/2006/main" noGrp="1"/>
          </p:cNvSpPr>
          <p:nvPr/>
        </p:nvSpPr>
        <p:spPr>
          <a:xfrm xmlns:a="http://schemas.openxmlformats.org/drawingml/2006/main">
            <a:off x="2867025" y="35909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冷热状态会变化，也会出现重复事件或回执丢失。</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反复核对当前状态，便于恢复并避免重复执行。</a:t>
            </a:r>
          </a:p>
        </p:txBody>
      </p:sp>
      <p:sp>
        <p:nvSpPr>
          <p:cNvPr id="16" name="">
            <a:extLst xmlns:a="http://schemas.openxmlformats.org/drawingml/2006/main">
              <a:ext uri="{FF2B5EF4-FFF2-40B4-BE49-F238E27FC236}">
                <a16:creationId xmlns:a16="http://schemas.microsoft.com/office/drawing/2014/main" id="{CD244E23-3624-436B-9BE5-A85F6D483323}"/>
              </a:ext>
            </a:extLst>
          </p:cNvPr>
          <p:cNvSpPr>
            <a:spLocks xmlns:a="http://schemas.openxmlformats.org/drawingml/2006/main" noGrp="1"/>
          </p:cNvSpPr>
          <p:nvPr/>
        </p:nvSpPr>
        <p:spPr>
          <a:xfrm xmlns:a="http://schemas.openxmlformats.org/drawingml/2006/main">
            <a:off x="609600" y="427672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17" name="flow-choice-36">
            <a:extLst xmlns:a="http://schemas.openxmlformats.org/drawingml/2006/main">
              <a:ext uri="{FF2B5EF4-FFF2-40B4-BE49-F238E27FC236}">
                <a16:creationId xmlns:a16="http://schemas.microsoft.com/office/drawing/2014/main" id="{673D5972-DFC8-4CE7-A9DB-8FC11ED8483E}"/>
              </a:ext>
            </a:extLst>
          </p:cNvPr>
          <p:cNvSpPr>
            <a:spLocks xmlns:a="http://schemas.openxmlformats.org/drawingml/2006/main" noGrp="1"/>
          </p:cNvSpPr>
          <p:nvPr/>
        </p:nvSpPr>
        <p:spPr>
          <a:xfrm xmlns:a="http://schemas.openxmlformats.org/drawingml/2006/main">
            <a:off x="609600" y="433387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与其他方案比较</a:t>
            </a:r>
          </a:p>
        </p:txBody>
      </p:sp>
      <p:sp>
        <p:nvSpPr>
          <p:cNvPr id="18" name="flow-choice-37">
            <a:extLst xmlns:a="http://schemas.openxmlformats.org/drawingml/2006/main">
              <a:ext uri="{FF2B5EF4-FFF2-40B4-BE49-F238E27FC236}">
                <a16:creationId xmlns:a16="http://schemas.microsoft.com/office/drawing/2014/main" id="{9CC85BF7-A53E-4758-9C6A-B5380DACADFA}"/>
              </a:ext>
            </a:extLst>
          </p:cNvPr>
          <p:cNvSpPr>
            <a:spLocks xmlns:a="http://schemas.openxmlformats.org/drawingml/2006/main" noGrp="1"/>
          </p:cNvSpPr>
          <p:nvPr/>
        </p:nvSpPr>
        <p:spPr>
          <a:xfrm xmlns:a="http://schemas.openxmlformats.org/drawingml/2006/main">
            <a:off x="2867025" y="433387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定时任务或队列仍需补上状态判断和效果核对；</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Temporal 适合复杂长流程，本期引入会增加服务与迁移。</a:t>
            </a:r>
          </a:p>
        </p:txBody>
      </p:sp>
      <p:sp>
        <p:nvSpPr>
          <p:cNvPr id="19" name="">
            <a:extLst xmlns:a="http://schemas.openxmlformats.org/drawingml/2006/main">
              <a:ext uri="{FF2B5EF4-FFF2-40B4-BE49-F238E27FC236}">
                <a16:creationId xmlns:a16="http://schemas.microsoft.com/office/drawing/2014/main" id="{ED16EA89-BA76-44F7-843C-72A5885DC9F7}"/>
              </a:ext>
            </a:extLst>
          </p:cNvPr>
          <p:cNvSpPr>
            <a:spLocks xmlns:a="http://schemas.openxmlformats.org/drawingml/2006/main" noGrp="1"/>
          </p:cNvSpPr>
          <p:nvPr/>
        </p:nvSpPr>
        <p:spPr>
          <a:xfrm xmlns:a="http://schemas.openxmlformats.org/drawingml/2006/main">
            <a:off x="609600" y="5019675"/>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0" name="flow-choice-38">
            <a:extLst xmlns:a="http://schemas.openxmlformats.org/drawingml/2006/main">
              <a:ext uri="{FF2B5EF4-FFF2-40B4-BE49-F238E27FC236}">
                <a16:creationId xmlns:a16="http://schemas.microsoft.com/office/drawing/2014/main" id="{7F9141B9-70D3-435B-92B5-77B81CAAADFA}"/>
              </a:ext>
            </a:extLst>
          </p:cNvPr>
          <p:cNvSpPr>
            <a:spLocks xmlns:a="http://schemas.openxmlformats.org/drawingml/2006/main" noGrp="1"/>
          </p:cNvSpPr>
          <p:nvPr/>
        </p:nvSpPr>
        <p:spPr>
          <a:xfrm xmlns:a="http://schemas.openxmlformats.org/drawingml/2006/main">
            <a:off x="609600" y="5076825"/>
            <a:ext cx="2076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本项目怎样采用</a:t>
            </a:r>
          </a:p>
        </p:txBody>
      </p:sp>
      <p:sp>
        <p:nvSpPr>
          <p:cNvPr id="21" name="flow-choice-39">
            <a:extLst xmlns:a="http://schemas.openxmlformats.org/drawingml/2006/main">
              <a:ext uri="{FF2B5EF4-FFF2-40B4-BE49-F238E27FC236}">
                <a16:creationId xmlns:a16="http://schemas.microsoft.com/office/drawing/2014/main" id="{82F11CB3-B173-486A-AB18-A58D607E20B6}"/>
              </a:ext>
            </a:extLst>
          </p:cNvPr>
          <p:cNvSpPr>
            <a:spLocks xmlns:a="http://schemas.openxmlformats.org/drawingml/2006/main" noGrp="1"/>
          </p:cNvSpPr>
          <p:nvPr/>
        </p:nvSpPr>
        <p:spPr>
          <a:xfrm xmlns:a="http://schemas.openxmlformats.org/drawingml/2006/main">
            <a:off x="2867025" y="5076825"/>
            <a:ext cx="8715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用 Python 实现控制循环，保留动作编号、查询与核验。</a:t>
            </a:r>
          </a:p>
          <a:p xmlns:a="http://schemas.openxmlformats.org/drawingml/2006/main">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不直接引入 Go 控制器库，也不要求为记忆建设 K8s 集群。</a:t>
            </a:r>
          </a:p>
        </p:txBody>
      </p:sp>
      <p:sp>
        <p:nvSpPr>
          <p:cNvPr id="22" name="flow-choice-40">
            <a:extLst xmlns:a="http://schemas.openxmlformats.org/drawingml/2006/main">
              <a:ext uri="{FF2B5EF4-FFF2-40B4-BE49-F238E27FC236}">
                <a16:creationId xmlns:a16="http://schemas.microsoft.com/office/drawing/2014/main" id="{9D603A33-1069-43A1-A09B-A5DECE07DBC4}"/>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hlinkClick xmlns:ns0="http://schemas.openxmlformats.org/officeDocument/2006/relationships" ns0:id="rIdOfficialProject"/>
              </a:rPr>
              <a:t>开源项目：https://github.com/kubernetes-sigs/controller-runtime</a:t>
            </a:r>
          </a:p>
        </p:txBody>
      </p:sp>
      <p:sp>
        <p:nvSpPr>
          <p:cNvPr id="23" name="">
            <a:extLst xmlns:a="http://schemas.openxmlformats.org/drawingml/2006/main">
              <a:ext uri="{FF2B5EF4-FFF2-40B4-BE49-F238E27FC236}">
                <a16:creationId xmlns:a16="http://schemas.microsoft.com/office/drawing/2014/main" id="{D84CD378-CFC2-4B7A-8607-9FFAFF7B2E29}"/>
              </a:ext>
            </a:extLst>
          </p:cNvPr>
          <p:cNvSpPr>
            <a:spLocks xmlns:a="http://schemas.openxmlformats.org/drawingml/2006/main" noGrp="1"/>
          </p:cNvSpPr>
          <p:nvPr/>
        </p:nvSpPr>
        <p:spPr>
          <a:xfrm xmlns:a="http://schemas.openxmlformats.org/drawingml/2006/main">
            <a:off x="609600" y="6324600"/>
            <a:ext cx="10972800" cy="95"/>
          </a:xfrm>
          <a:prstGeom xmlns:a="http://schemas.openxmlformats.org/drawingml/2006/main" prst="line">
            <a:avLst/>
          </a:prstGeom>
          <a:noFill xmlns:a="http://schemas.openxmlformats.org/drawingml/2006/main"/>
          <a:ln xmlns:a="http://schemas.openxmlformats.org/drawingml/2006/main" w="9525">
            <a:solidFill>
              <a:srgbClr val="D7E2E8"/>
            </a:solidFill>
          </a:ln>
        </p:spPr>
      </p:sp>
      <p:sp>
        <p:nvSpPr>
          <p:cNvPr id="24" name="flow-choice-41">
            <a:extLst xmlns:a="http://schemas.openxmlformats.org/drawingml/2006/main">
              <a:ext uri="{FF2B5EF4-FFF2-40B4-BE49-F238E27FC236}">
                <a16:creationId xmlns:a16="http://schemas.microsoft.com/office/drawing/2014/main" id="{197B200A-D101-460C-BF12-817774D3B30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V4.2</a:t>
            </a:r>
          </a:p>
        </p:txBody>
      </p:sp>
      <p:sp>
        <p:nvSpPr>
          <p:cNvPr id="25" name="flow-choice-42">
            <a:extLst xmlns:a="http://schemas.openxmlformats.org/drawingml/2006/main">
              <a:ext uri="{FF2B5EF4-FFF2-40B4-BE49-F238E27FC236}">
                <a16:creationId xmlns:a16="http://schemas.microsoft.com/office/drawing/2014/main" id="{186DCB8C-0FD0-4FC9-A7C9-70450A315680}"/>
              </a:ext>
            </a:extLst>
          </p:cNvPr>
          <p:cNvSpPr>
            <a:spLocks xmlns:a="http://schemas.openxmlformats.org/drawingml/2006/main" noGrp="1"/>
          </p:cNvSpPr>
          <p:nvPr/>
        </p:nvSpPr>
        <p:spPr>
          <a:xfrm xmlns:a="http://schemas.openxmlformats.org/drawingml/2006/main">
            <a:off x="10439400" y="643890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20</a:t>
            </a:r>
          </a:p>
        </p:txBody>
      </p:sp>
    </p:spTree>
    <p:extLst>
      <p:ext uri="{BB962C8B-B14F-4D97-AF65-F5344CB8AC3E}">
        <p14:creationId xmlns:p14="http://schemas.microsoft.com/office/powerpoint/2010/main" val="217409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2902</Words>
  <Application>Microsoft Office PowerPoint</Application>
  <DocSecurity>0</DocSecurity>
  <PresentationFormat>宽屏</PresentationFormat>
  <Paragraphs>572</Paragraphs>
  <Slides>20</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2</cp:revision>
  <dcterms:created xsi:type="dcterms:W3CDTF">2026-09-29T09:29:51Z</dcterms:created>
  <dcterms:modified xsi:type="dcterms:W3CDTF">2026-09-29T10:28:21Z</dcterms:modified>
</cp:coreProperties>
</file>