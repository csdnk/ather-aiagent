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03d4151fe49b9" /><Relationship Type="http://schemas.openxmlformats.org/officeDocument/2006/relationships/extended-properties" Target="/docProps/app.xml" Id="Rdc3021da86624476" /><Relationship Type="http://schemas.openxmlformats.org/officeDocument/2006/relationships/officeDocument" Target="/ppt/presentation.xml" Id="Redcc4003b664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4a7368bf5437f"/>
  </p:sldMasterIdLst>
  <p:notesMasterIdLst>
    <p:notesMasterId xmlns:r="http://schemas.openxmlformats.org/officeDocument/2006/relationships" r:id="R70c9be346b9541a4"/>
  </p:notesMasterIdLst>
  <p:sldIdLst>
    <p:sldId xmlns:r="http://schemas.openxmlformats.org/officeDocument/2006/relationships" id="256" r:id="R2b7b84e1f2fb46fc"/>
    <p:sldId xmlns:r="http://schemas.openxmlformats.org/officeDocument/2006/relationships" id="257" r:id="R3dcbf2d2ffa1494d"/>
    <p:sldId xmlns:r="http://schemas.openxmlformats.org/officeDocument/2006/relationships" id="258" r:id="R8d2f3968557e46f2"/>
    <p:sldId xmlns:r="http://schemas.openxmlformats.org/officeDocument/2006/relationships" id="259" r:id="R978794d5e2624bbc"/>
    <p:sldId xmlns:r="http://schemas.openxmlformats.org/officeDocument/2006/relationships" id="260" r:id="Re19cde90590a4b10"/>
    <p:sldId xmlns:r="http://schemas.openxmlformats.org/officeDocument/2006/relationships" id="261" r:id="Rfa8ee494cb464480"/>
    <p:sldId xmlns:r="http://schemas.openxmlformats.org/officeDocument/2006/relationships" id="262" r:id="R3e896dcf71464f9d"/>
    <p:sldId xmlns:r="http://schemas.openxmlformats.org/officeDocument/2006/relationships" id="263" r:id="R76f13563f6f34262"/>
    <p:sldId xmlns:r="http://schemas.openxmlformats.org/officeDocument/2006/relationships" id="264" r:id="Ra391751fa1cd4ff8"/>
    <p:sldId xmlns:r="http://schemas.openxmlformats.org/officeDocument/2006/relationships" id="265" r:id="Rd39ff103346b485e"/>
    <p:sldId xmlns:r="http://schemas.openxmlformats.org/officeDocument/2006/relationships" id="266" r:id="Re2ac4f5ce3ce4b89"/>
    <p:sldId xmlns:r="http://schemas.openxmlformats.org/officeDocument/2006/relationships" id="267" r:id="R70169439e9d74f4a"/>
    <p:sldId xmlns:r="http://schemas.openxmlformats.org/officeDocument/2006/relationships" id="268" r:id="R45dbf31a5a25494f"/>
    <p:sldId xmlns:r="http://schemas.openxmlformats.org/officeDocument/2006/relationships" id="269" r:id="Rfee70e5e957e4189"/>
    <p:sldId xmlns:r="http://schemas.openxmlformats.org/officeDocument/2006/relationships" id="270" r:id="R4eb59da5d6ff46e4"/>
    <p:sldId xmlns:r="http://schemas.openxmlformats.org/officeDocument/2006/relationships" id="271" r:id="R725deabd50e74b05"/>
    <p:sldId xmlns:r="http://schemas.openxmlformats.org/officeDocument/2006/relationships" id="272" r:id="R79281d9774e24201"/>
    <p:sldId xmlns:r="http://schemas.openxmlformats.org/officeDocument/2006/relationships" id="273" r:id="Re66d08bfc0904e3a"/>
    <p:sldId xmlns:r="http://schemas.openxmlformats.org/officeDocument/2006/relationships" id="274" r:id="R672cf06741ad4af1"/>
    <p:sldId xmlns:r="http://schemas.openxmlformats.org/officeDocument/2006/relationships" id="275" r:id="R171418c67de64852"/>
    <p:sldId xmlns:r="http://schemas.openxmlformats.org/officeDocument/2006/relationships" id="276" r:id="Rdfa62446a6da4f0d"/>
    <p:sldId xmlns:r="http://schemas.openxmlformats.org/officeDocument/2006/relationships" id="277" r:id="R8aadea8f503e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e8ce3a697e4165" /><Relationship Type="http://schemas.openxmlformats.org/officeDocument/2006/relationships/slideMaster" Target="/ppt/slideMasters/slideMaster1.xml" Id="R61e4a7368bf5437f" /><Relationship Type="http://schemas.openxmlformats.org/officeDocument/2006/relationships/notesMaster" Target="/ppt/notesMasters/notesMaster1.xml" Id="R70c9be346b9541a4" /><Relationship Type="http://schemas.openxmlformats.org/officeDocument/2006/relationships/presProps" Target="/ppt/presProps.xml" Id="R560d9310201b4f94" /><Relationship Type="http://schemas.openxmlformats.org/officeDocument/2006/relationships/tableStyles" Target="/ppt/tableStyles.xml" Id="R5843fb42557a449c" /><Relationship Type="http://schemas.openxmlformats.org/officeDocument/2006/relationships/slide" Target="/ppt/slides/slide1.xml" Id="R2b7b84e1f2fb46fc" /><Relationship Type="http://schemas.openxmlformats.org/officeDocument/2006/relationships/slide" Target="/ppt/slides/slide2.xml" Id="R3dcbf2d2ffa1494d" /><Relationship Type="http://schemas.openxmlformats.org/officeDocument/2006/relationships/slide" Target="/ppt/slides/slide3.xml" Id="R8d2f3968557e46f2" /><Relationship Type="http://schemas.openxmlformats.org/officeDocument/2006/relationships/slide" Target="/ppt/slides/slide4.xml" Id="R978794d5e2624bbc" /><Relationship Type="http://schemas.openxmlformats.org/officeDocument/2006/relationships/slide" Target="/ppt/slides/slide5.xml" Id="Re19cde90590a4b10" /><Relationship Type="http://schemas.openxmlformats.org/officeDocument/2006/relationships/slide" Target="/ppt/slides/slide6.xml" Id="Rfa8ee494cb464480" /><Relationship Type="http://schemas.openxmlformats.org/officeDocument/2006/relationships/slide" Target="/ppt/slides/slide7.xml" Id="R3e896dcf71464f9d" /><Relationship Type="http://schemas.openxmlformats.org/officeDocument/2006/relationships/slide" Target="/ppt/slides/slide8.xml" Id="R76f13563f6f34262" /><Relationship Type="http://schemas.openxmlformats.org/officeDocument/2006/relationships/slide" Target="/ppt/slides/slide9.xml" Id="Ra391751fa1cd4ff8" /><Relationship Type="http://schemas.openxmlformats.org/officeDocument/2006/relationships/slide" Target="/ppt/slides/slide10.xml" Id="Rd39ff103346b485e" /><Relationship Type="http://schemas.openxmlformats.org/officeDocument/2006/relationships/slide" Target="/ppt/slides/slide11.xml" Id="Re2ac4f5ce3ce4b89" /><Relationship Type="http://schemas.openxmlformats.org/officeDocument/2006/relationships/slide" Target="/ppt/slides/slide12.xml" Id="R70169439e9d74f4a" /><Relationship Type="http://schemas.openxmlformats.org/officeDocument/2006/relationships/slide" Target="/ppt/slides/slide13.xml" Id="R45dbf31a5a25494f" /><Relationship Type="http://schemas.openxmlformats.org/officeDocument/2006/relationships/slide" Target="/ppt/slides/slide14.xml" Id="Rfee70e5e957e4189" /><Relationship Type="http://schemas.openxmlformats.org/officeDocument/2006/relationships/slide" Target="/ppt/slides/slide15.xml" Id="R4eb59da5d6ff46e4" /><Relationship Type="http://schemas.openxmlformats.org/officeDocument/2006/relationships/slide" Target="/ppt/slides/slide16.xml" Id="R725deabd50e74b05" /><Relationship Type="http://schemas.openxmlformats.org/officeDocument/2006/relationships/slide" Target="/ppt/slides/slide17.xml" Id="R79281d9774e24201" /><Relationship Type="http://schemas.openxmlformats.org/officeDocument/2006/relationships/slide" Target="/ppt/slides/slide18.xml" Id="Re66d08bfc0904e3a" /><Relationship Type="http://schemas.openxmlformats.org/officeDocument/2006/relationships/slide" Target="/ppt/slides/slide19.xml" Id="R672cf06741ad4af1" /><Relationship Type="http://schemas.openxmlformats.org/officeDocument/2006/relationships/slide" Target="/ppt/slides/slide20.xml" Id="R171418c67de64852" /><Relationship Type="http://schemas.openxmlformats.org/officeDocument/2006/relationships/slide" Target="/ppt/slides/slide21.xml" Id="Rdfa62446a6da4f0d" /><Relationship Type="http://schemas.openxmlformats.org/officeDocument/2006/relationships/slide" Target="/ppt/slides/slide22.xml" Id="R8aadea8f503e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4820b7d5a4d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a4f5108fe460d" /><Relationship Type="http://schemas.openxmlformats.org/officeDocument/2006/relationships/notesMaster" Target="/ppt/notesMasters/notesMaster1.xml" Id="Ra7580e5be650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b9d6e77e54b97" /><Relationship Type="http://schemas.openxmlformats.org/officeDocument/2006/relationships/notesMaster" Target="/ppt/notesMasters/notesMaster1.xml" Id="R77b1ddd03cb7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50f85f2674779" /><Relationship Type="http://schemas.openxmlformats.org/officeDocument/2006/relationships/notesMaster" Target="/ppt/notesMasters/notesMaster1.xml" Id="Rff15ee77d4fc4d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9d28bcf5748ac" /><Relationship Type="http://schemas.openxmlformats.org/officeDocument/2006/relationships/notesMaster" Target="/ppt/notesMasters/notesMaster1.xml" Id="R911873c03d16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9ea6f864342d0" /><Relationship Type="http://schemas.openxmlformats.org/officeDocument/2006/relationships/notesMaster" Target="/ppt/notesMasters/notesMaster1.xml" Id="Rbebfa2cad1a0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5d71ac46234345" /><Relationship Type="http://schemas.openxmlformats.org/officeDocument/2006/relationships/notesMaster" Target="/ppt/notesMasters/notesMaster1.xml" Id="Rd19dd2739bdc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798e45155f475e" /><Relationship Type="http://schemas.openxmlformats.org/officeDocument/2006/relationships/notesMaster" Target="/ppt/notesMasters/notesMaster1.xml" Id="Re915460e299048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af4bc70b2f4f00" /><Relationship Type="http://schemas.openxmlformats.org/officeDocument/2006/relationships/notesMaster" Target="/ppt/notesMasters/notesMaster1.xml" Id="Rd8b7d66f055f4e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21e3a9f4c74907" /><Relationship Type="http://schemas.openxmlformats.org/officeDocument/2006/relationships/notesMaster" Target="/ppt/notesMasters/notesMaster1.xml" Id="R9dadf0e3902949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5f090697134398" /><Relationship Type="http://schemas.openxmlformats.org/officeDocument/2006/relationships/notesMaster" Target="/ppt/notesMasters/notesMaster1.xml" Id="Rb3e5101a814c4c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ab2d6800a34e8f" /><Relationship Type="http://schemas.openxmlformats.org/officeDocument/2006/relationships/notesMaster" Target="/ppt/notesMasters/notesMaster1.xml" Id="R36756ac9b2ac4a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bc7bf73da4a12" /><Relationship Type="http://schemas.openxmlformats.org/officeDocument/2006/relationships/notesMaster" Target="/ppt/notesMasters/notesMaster1.xml" Id="R8b9a9f4ce61e4f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0357124e164560" /><Relationship Type="http://schemas.openxmlformats.org/officeDocument/2006/relationships/notesMaster" Target="/ppt/notesMasters/notesMaster1.xml" Id="R2ba56c13dc8247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71d3cce4064146" /><Relationship Type="http://schemas.openxmlformats.org/officeDocument/2006/relationships/notesMaster" Target="/ppt/notesMasters/notesMaster1.xml" Id="R0c477e4c81384d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d83989072f4b58" /><Relationship Type="http://schemas.openxmlformats.org/officeDocument/2006/relationships/notesMaster" Target="/ppt/notesMasters/notesMaster1.xml" Id="R9da41d15d66242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c411b3c8f6444b" /><Relationship Type="http://schemas.openxmlformats.org/officeDocument/2006/relationships/notesMaster" Target="/ppt/notesMasters/notesMaster1.xml" Id="R10fed5ca9ab643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fefa5ad30b4a81" /><Relationship Type="http://schemas.openxmlformats.org/officeDocument/2006/relationships/notesMaster" Target="/ppt/notesMasters/notesMaster1.xml" Id="R21a1c5c9b9464f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0a4f6dd16c4f62" /><Relationship Type="http://schemas.openxmlformats.org/officeDocument/2006/relationships/notesMaster" Target="/ppt/notesMasters/notesMaster1.xml" Id="Rafc61ca9bca342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939c516990407e" /><Relationship Type="http://schemas.openxmlformats.org/officeDocument/2006/relationships/notesMaster" Target="/ppt/notesMasters/notesMaster1.xml" Id="R3994f26856e14a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897d90d7674115" /><Relationship Type="http://schemas.openxmlformats.org/officeDocument/2006/relationships/notesMaster" Target="/ppt/notesMasters/notesMaster1.xml" Id="Ra554cd1f3d5a47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8453967e474e4c" /><Relationship Type="http://schemas.openxmlformats.org/officeDocument/2006/relationships/notesMaster" Target="/ppt/notesMasters/notesMaster1.xml" Id="R95a39661833942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6a99ece7c64999" /><Relationship Type="http://schemas.openxmlformats.org/officeDocument/2006/relationships/notesMaster" Target="/ppt/notesMasters/notesMaster1.xml" Id="R4744fbc48848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　P3 方案与 MVP 交付计划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主旨：讲清当前系统怎样工作，以及到 12 月 1 日交付什么。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讲述：今天按照四个部分讲：先看我们的流程框架，再讲具体设计和选择理由，然后用代码和已保存的验证记录说明现在做到了哪里，最后讲到 12 月 1 日 MVP 的完整交付安排。请大家围绕每个阶段能交付什么业务结果来评价。需求和方案以当前材料为依据，排期中的新增细分安排是本次建议，尚未作为团队承诺。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　目录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主旨：四个部分分别回答流程、方案、现状和交付。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讲述：第一部分用四页讲框架和三条流程。第二部分讲事实与索引、语义计算、可靠运行和技术选择。第三部分展示统一服务、各模块实现和已验证行为。第四部分从完整 MVP 的范围开始，展开日期、工作包、指标、人员依赖和最终交付物。主讲控制在约 28 分钟，完整原图和测试明细放在答疑附件。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　P3 整体流程框架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主旨：对外保存和召回记忆，内部持续维护访问准备。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讲述：先看两条业务路径。应用把对话、任务状态或文档交给 Remember，它维护来源、正文和当前有效版本。应用需要继续任务时，再向 Recall 提问，Recall 取回当前有效、有权限、可核对来源的上下文。最终回答仍由应用或 Agent 生成。两条业务持续产生事件，交给内部 Operate 判断访问热度、规划动作并核对执行结果。它持续运行，不需要应用在每次召回后再调用一次。这里沿用原图 P3.1 的关系，公共底座负责身份、任务、事件和恢复，P2 等底层依赖负责真实存储与执行。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　Remember：保存、加工与长期就绪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主旨：已保存、当前任务可用、长期检索就绪，是三个不同结果。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讲述：按原图 B.1、B.3、B.4 到 B.6 看这条路径。第一步确认身份、来源和请求，可靠保存原文与记忆记录。适用的当前任务记忆可以先供下一轮使用。长期部分由持久后台任务继续加工，形成事件或稳定事实，完成分块、编码、索引写入和完整性核验后，才发布长期就绪。比如预算 20 万保存后，当前任务可使用；后续会话需要等对应长期内容就绪。更正为 15 万时，Remember 更新有效版本。删除时先阻断读取和旧结果交付，再跟踪异步清理。保存成功不能解释为所有长期加工已完成。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　Recall：把有效记忆组织成上下文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主旨：块检索负责找到线索，正文核验和组包负责交付可用材料。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讲述：这页保留原图 A.1 的主路径和 Working 分支。调用方可以选择当前、长期或两者，也可以让系统自动选路。只查当前记忆时直接读有效正文。包含长期时，先编码问题并取得块命中，再按记忆 ID 聚合、核验资格、分批读完整正文。之后补齐必要冲突关系，排序、核算整个上下文预算，并在提交前再次核验。向量命中里的旧预算不能直接交给用户。PRD 还要求部分来源失败时，若存在独立完整可信材料，可以说明缺失后降级交付。原图某些详细失败分支与这一要求尚有差异，方案定版时需要同步。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　Operate：持续判断、执行与核对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主旨：调度要确认真实效果，再把新状态用于下一轮判断。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讲述：沿原图 C.1 至 C.3 看：存储变化和实际读取形成调度依据，重复事件不能重复计热。同一记忆按序处理，先比较目标和实际状态，再核对当前权限、版本、容量和已有动作。需要调整时，保存动作编号再执行。执行后查询原动作，核对目标内容是否真的可读，最后向 Remember 交接有效地址。如果执行成功但回执丢了，状态仍然未知，应继续查询原动作，避免重复搬运。当前代码已经让准备过的本地缓存进入 Recall 的真实读取路径；生产物理分层仍要和 P2 按约定路径联调。普通升降层按相邻层执行，预测预热属于后续阶段。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cache: E:/projects/codex/aether/AgentJYS-main/src/aether_agent_memory/operate/basic/body_cache.py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　总体方案与模块协作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主旨：Remember 管事实，Recall 管交付，Operate 管访问准备。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讲述：这张图讲责任分配。接入层把身份、范围和请求规则统一起来。Remember 维护事实与使用资格，Recall 向 Remember 取得资格、完整正文和关系，再交付上下文。Operate 根据事件进行调度，动作生效后的地址仍需要 Remember 按当前版本确认。共享编码和向量机制由 A 侧维护，B 调用它构建索引，但不会进入整条 Recall 流程。三条流程共享 RF 的事务、任务、事件和诊断机制。当前以单进程模块化服务装配，P2 提供方对自己的真实存储、检索和执行负责。主 ADR 仍待联合评审，这页是当前方案，不是评审签字。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　记忆与数据方案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主旨：原文、事实版本和检索索引分开维护。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讲述：这里把业务类型和数据位置分开。Working 是当前目标、约束和进度；Episodic 是有时间和来源的经历；Semantic 是经证据确认的事实或偏好。它们都不等于热、温、冷层。原文保存来源，记忆记录保存当前版本、状态和正文引用，索引只帮助定位候选。预算更正后，旧索引可能尚未清掉，但资格校验会排除旧版本。压缩产物还必须绑定来源、版本和质量结论，不能因为变短就自动变成可使用事实。这样做增加了引用和一致性维护，但可以控制更正、删除和异步加工之间的竞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boundary: E:/projects/codex/aether/AgentJYS-main/src/aether_agent_memory/remember/basic/boundary.py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　语义检索与上下文方案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主旨：模型提供候选，业务规则控制正式记忆和最终交付。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讲述：模型在两个位置提供能力。写入侧对原文抽取、比较和压缩，输出候选，再由 Remember 审核证据与版本后提交。查询侧使用与建库兼容的 BGE 模型空间编码问题，取得块命中。多个块命中同一记忆，只占一个主候选名额。Recall 再读取完整正文与关系，按整条记忆或完整冲突组计算预算。模型和向量分数都不能代替授权、当前版本或完整性判断。压缩质量和冲突判断目前仍需要真实模型评测，尤其要覆盖数值、否定、条件和多来源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model: E:/projects/codex/aether/AgentJYS-main/src/aether_agent_memory/remember/model_provider.py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　可靠运行与租户隔离方案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主旨：后台执行、结果重取和故障恢复都遵守当前权限与版本。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三个例子说明公共底座的作用。保存事实时同时登记任务和事件，防止保存成功后后台待办丢失。任务执行中断时按原任务和检查点恢复，旧执行者不能在恢复后覆盖新结果。租户停用或共享撤权后，当前读取、后台提交和旧结果重取都再次核验。技术日志用于定位原因，业务是否完成仍要查看持久任务、当前版本和真实副作用。现有身份是受控配置接入，真实外部身份撤权如何获知、最长多久生效，需要和提供方共同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identity: E:/projects/codex/aether/AgentJYS-main/src/aether_agent_memory/runtime/foundation/identity.py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>tenant: E:/projects/codex/aether/交付成果/测试与验收/租户与身份接入测试及回归方案.md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　技术选择与工程代价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主旨：当前技术选型服务于可信保存、可靠恢复和完整上下文。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讲述：当前统一入口采用 Python 和 FastAPI，单进程装配三流程；SQLite 承接本地事务、任务和事件。这样容易复现一致性，但不能据此宣称多副本和集群扩展已经完成。BGE 的 FastEmbed、ONNX 路径已有真实验证；真实大模型和重排质量仍需要评测。LangMem 是提取机制参考，当前统一服务接入的是 JSON 模型协议适配；不能把图上的框架名当成已完成整框架接入。Milvus、Redis 和 P2 具有配置或适配入口，真实部署必须独立证明。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model: E:/projects/codex/aether/AgentJYS-main/src/aether_agent_memory/remember/model_provider.py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　当前已形成统一运行的本地服务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主旨：统一入口已经装配保存、召回和持续后台任务。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讲述：现在看实际代码。9 月 28 日当前提交为 74f71bc，统一服务由 application.py 创建运行时和持续执行器，Remember 的装配把真实 B 资格、正文、最终复核接口接给 Recall。后台任务和定时调度由 Supervisor 持续推动，服务重启按持久状态恢复。当前可复现的工程形态是单进程、SQLite 和本地文件缓存，BGE 有真实加载记录。工作区还有新增监测代码等未提交修改，所以交付基线需要同时记录提交和工作区差异。生产配置要求真实模型和 P2，但配置校验不等于这些服务已联调。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http: E:/projects/codex/aether/AgentJYS-main/src/aether_agent_memory/runtime/flows/http.py</a:t>
            </a:r>
          </a:p>
          <a:p xmlns:a="http://schemas.openxmlformats.org/drawingml/2006/main">
            <a:r>
              <a:t>config: E:/projects/codex/aether/AgentJYS-main/src/aether_agent_memory/runtime/flows/config.py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　各模块已实现什么，还需要验证什么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主旨：实现与本地整合已有证据，真实环境和产品效果仍需逐项验收。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讲述：Remember 已接入保存、文档原件、后台加工、版本更正、删除和长期索引。Recall 已接入来源选择、多块聚合、精确正文、预算与历史结果重取。Operate 已具备持续计热、定时衰减、容量等待、动作持久化和真实本地缓存读回。公共底座支持租户、共享撤权、重启恢复和日志追踪。右侧是每部分剩余的验收工作：模型效果、真实 P2 和 Milvus、生产执行、外部身份以及长稳运行。这里不使用总体完成百分比，因为不同层级的完成不能相互替代。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identity: E:/projects/codex/aether/AgentJYS-main/src/aether_agent_memory/runtime/foundation/identity.py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　已有验证证据与最新监测代码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主旨：已验证的业务行为，与新增但未在本次复测的代码分开记录。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讲述：9 月 26 日报告记录了真实 HTTP 保存、长期化、召回，以及重启后按原 Recall ID 获取结果；更正删除使旧结果失效，共享撤权和租户重新启用也有本地用例。调度缓存确实进入了读取路径。最新工作区还增加了运行总览、依赖、任务、Trace 和异常查询前端，后端新增授权分页目录。此次只核对其代码与说明，没有重跑服务和前端验收，也没有新的远端 CI 结论。监测页面是已有实现增量，MVP 必须交付的是可靠诊断能力，不因此扩建独立管理平台。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>web: E:/projects/codex/aether/AgentJYS-main/web/README.md</a:t>
            </a:r>
          </a:p>
          <a:p xmlns:a="http://schemas.openxmlformats.org/drawingml/2006/main">
            <a:r>
              <a:t>webapp: E:/projects/codex/aether/AgentJYS-main/web/src/App.tsx</a:t>
            </a:r>
          </a:p>
          <a:p xmlns:a="http://schemas.openxmlformats.org/drawingml/2006/main">
            <a:r>
              <a:t>http: E:/projects/codex/aether/AgentJYS-main/src/aether_agent_memory/runtime/flows/http.py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　完整 MVP 的交付范围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主旨：交付可接入、可持续运行、能够通过连续业务验收的记忆服务。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讲述：MVP 的终点是应用能够在约定环境独立接入，完成保存、当前使用、长期记忆、跨会话召回、更正和删除。内部基础调度必须有真实执行和结果确认，多租户隔离与故障恢复贯穿全过程。除了功能，还需要模型质量、性能和不少于 24 小时稳定运行的证据，并交付版本一致的代码、配置、使用和运维材料。FR01 至 FR15 以及 FR17、FR18 属于 P0。预测预热 FR16 在下一阶段，Final 的 72 小时和正式纳管也与本次 MVP 分开。生产分层的具体目标路径仍待联合确认，但在没有批准变更前，不能自行削减 PRD 的实际执行要求。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　到 12 月 1 日的整体交付安排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主旨：沿用现有 MVP 目标日期，按可验收交付物细化六个阶段。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讲述：PRD 规定 MVP 阶段到 12 月 1 日，11 月 14 日前推进独立能力，11 月 15 日起真实集成。这张表保留原有节点，并给出建议细分：先统一范围、接口和样本；十月完成 P0 缺口及真实依赖预联调；十一月中旬前形成独立能力候选和指标基线；之后联合验证，完成系统指标和 24 小时稳定运行，最后业务验收与交付。模型评测、环境和运维材料从前面同步准备，不能等集成完成才开始。日期是日历窗口，节假日可用工时、A 负责人和 P2 到位时间须在会议里落实，任何关键依赖变化都要更新受影响里程碑。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　功能与模型工作包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主旨：按业务结果补齐 P0，并用真实模型验证内容质量。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讲述：功能工作分到现有三条流程。B 负责原文到正式记忆、压缩、冲突更正和生命周期，A 负责来源选择、记忆级聚合、完整正文及预算交付，C 负责轨迹驱动的真实调整、未知结果恢复和地址交接。对应测试人员同时准备样例、环境和故障用例。第一轮重点不是继续堆接口，而是用同一套预算、长文、冲突和删除数据贯穿所有模块。原图中合并来源降级、冲突组缺失和压缩表示使用的差异，也要在这一步和 PRD、代码一起收敛。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　真实依赖与联合集成工作包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主旨：每个外部依赖都落实提供方、接口版本、环境和验证证据。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讲述：真实集成不是只把配置地址换掉。A 的检索和 B 的写入要使用同一模型空间、版本和索引批次。正文保存及读取要能确认精确版本。C 的执行要能查询原动作、核对真实目标和读取证据。身份接入需要确认租户映射、撤权传播窗口和配置责任。P4 或首批应用要跑完整业务场景。十月先做能力探测和接口预联调，11 月 15 日进入正式联合验证。P3 适配由对应开发负责，P2 服务缺口由 P2 提供方负责，对接和证据由现有三名测试人员跟进。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　MVP 质量、性能与长稳验收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主旨：PRD 的数值目标保留，先固定测量条件，再提交真实结果。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讲述：这里把验收标准写具体。当前记忆核心读写 P99 小于 10 毫秒，测量从 P3 接收有效请求到返回业务结果，不能拿完整上下文延迟与它混用。语义计算每秒不少于 2000 条有效内容，不能把缓存命中算成计算。压缩至少五倍，按实际保存字节比较，同时保留关键事实、数字、否定与条件。基础调度规则正确率 100%，错误降层为零，实际执行另行核对。MVP 连续运行至少 24 小时，观察错误、积压、资源影响和未完成操作。硬件、输入长度、并发、规模和样本标注要提前固定。这些是目标，当前报告未把它们判为通过。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　部署、业务验收与运行交接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主旨：验收以真实候选版本完成业务，并由接入和运行人员实际接手。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讲述：部署包需要固定代码、依赖、模型、身份配置和数据目录，完成构建、启动、健康检查、备份恢复和回滚演练。数据库备份不能替代正文、索引和配置的整体恢复。业务验收按现有 UAT 的连续场景执行，包括跨会话记忆、更正删除、故障恢复、冲突和预算、租户隔离、后台动作以及运行交接。全部必验场景通过、阻断缺陷关闭后，由业务方签收；测试通过不自动等于签收。当前部署交接负责人和业务验收代表尚未落实，需要本次会议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　责任分工与关键依赖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主旨：沿用现有 7 人分工，把未落实的岗位和外部日期明确列出来。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讲述：目前分工由陈凯负责总体架构和 RF 规则，A 开发负责人待确定，B 是杨鹏通，C 是沈佳隆。肖宇、赵旭东、谭旭梁分别负责 A、B、C 测试、环境和 P2 对接。P3 内部接口由相关开发协作，陈凯协调；RF 编码任务要逐项指定实现人，不能默认由架构负责人或测试承担全部编码。外部需要 P2 各能力联系人、身份与部署环境负责人，以及应用验收代表。9 月底到第一阶段应落实这些责任和可用时间，才能确认后续承诺。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　MVP 最终交付物与会议结论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主旨：用同一发布版本的服务、材料和验收记录判断 MVP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讲述：到 MVP 交付时，应拿出五类对应同一版本的成果：可运行服务和配置、应用接入与场景说明、测试评测和缺陷报告、部署恢复回滚及监测说明、业务签收与遗留问题记录。今天需要形成四项具体结论：P0 和实际执行范围，方案定版需要解决的差异，关键人员与外部依赖日期，以及按这些验收条件推进到 12 月 1 日的排期。存在分歧的地方，落成有负责人、有日期、有证据要求的任务。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材料口径：需求采用 PRD V1.3；代码核对截至 2026-09-28（HEAD 74f71bc + 工作区修改）；工程测试引用 2026-09-26 整合报告。本次未重新执行业务测试。新增细分排期为建议，正式日期与签收按会议结论记录。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3bd30475d4e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6dae6523f48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5c286269747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67b3f0c3848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df4b436ea48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55262c4ad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7860B1-B8D2-4E2D-88F3-CA27D44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451969-1248-401D-88B9-BE177D1DA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A84D3CA-AE83-4A77-A657-880CAE03FA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31BBC3-4523-4773-9683-DDCABC5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BEB65F-5853-46FB-9857-3C5604D5C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EF1324-B555-4CDE-812D-853103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986C0-A233-491F-A089-E68C618D7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4CF4BE0-83AB-4342-9414-4C0C653CD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E16352-E0D0-4592-A8A3-3568967C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116F11-BABE-446D-8E59-49B9A3D1A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EB161-7DD0-47E4-B4D4-05413BB47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58049-B99B-40D2-A720-7FEFC752F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38ED56-58A4-4F4E-87D0-ED20F4AC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5E51A-524F-4507-AF30-FCCFA7273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0092E8-C16F-4DB9-BDED-334974F68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07861fc894dd0" /><Relationship Type="http://schemas.openxmlformats.org/officeDocument/2006/relationships/slideLayout" Target="/ppt/slideLayouts/slideLayout1.xml" Id="R1879840befbd4035" /><Relationship Type="http://schemas.openxmlformats.org/officeDocument/2006/relationships/slideLayout" Target="/ppt/slideLayouts/slideLayout2.xml" Id="Rbaf4f906bebe484d" /><Relationship Type="http://schemas.openxmlformats.org/officeDocument/2006/relationships/slideLayout" Target="/ppt/slideLayouts/slideLayout3.xml" Id="R023a4ca180224bd3" /><Relationship Type="http://schemas.openxmlformats.org/officeDocument/2006/relationships/slideLayout" Target="/ppt/slideLayouts/slideLayout4.xml" Id="R2055e56f13fa4025" /><Relationship Type="http://schemas.openxmlformats.org/officeDocument/2006/relationships/slideLayout" Target="/ppt/slideLayouts/slideLayout5.xml" Id="Rb91f9a94f43049c9" /><Relationship Type="http://schemas.openxmlformats.org/officeDocument/2006/relationships/slideLayout" Target="/ppt/slideLayouts/slideLayout6.xml" Id="Rfdf3011b0b854a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9840befbd4035"/>
    <p:sldLayoutId xmlns:r="http://schemas.openxmlformats.org/officeDocument/2006/relationships" id="2147483650" r:id="Rbaf4f906bebe484d"/>
    <p:sldLayoutId xmlns:r="http://schemas.openxmlformats.org/officeDocument/2006/relationships" id="2147483651" r:id="R023a4ca180224bd3"/>
    <p:sldLayoutId xmlns:r="http://schemas.openxmlformats.org/officeDocument/2006/relationships" id="2147483652" r:id="R2055e56f13fa4025"/>
    <p:sldLayoutId xmlns:r="http://schemas.openxmlformats.org/officeDocument/2006/relationships" id="2147483653" r:id="Rb91f9a94f43049c9"/>
    <p:sldLayoutId xmlns:r="http://schemas.openxmlformats.org/officeDocument/2006/relationships" id="2147483654" r:id="Rfdf3011b0b854a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f619c7061420e" /><Relationship Type="http://schemas.openxmlformats.org/officeDocument/2006/relationships/notesSlide" Target="/ppt/notesSlides/notesSlide1.xml" Id="R276ef76f513345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70e3238814b8f" /><Relationship Type="http://schemas.openxmlformats.org/officeDocument/2006/relationships/notesSlide" Target="/ppt/notesSlides/notesSlide2.xml" Id="Rf3b459cfcc52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90910924d4070" /><Relationship Type="http://schemas.openxmlformats.org/officeDocument/2006/relationships/notesSlide" Target="/ppt/notesSlides/notesSlide3.xml" Id="R346bfdfd690248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6aa8eb8034ffe" /><Relationship Type="http://schemas.openxmlformats.org/officeDocument/2006/relationships/notesSlide" Target="/ppt/notesSlides/notesSlide4.xml" Id="Re28d643a4fea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1b1ca13a44450" /><Relationship Type="http://schemas.openxmlformats.org/officeDocument/2006/relationships/notesSlide" Target="/ppt/notesSlides/notesSlide5.xml" Id="R7175413c2d324e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0f4fa1d5f416e" /><Relationship Type="http://schemas.openxmlformats.org/officeDocument/2006/relationships/notesSlide" Target="/ppt/notesSlides/notesSlide6.xml" Id="R63985fb1564a46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3714771d14962" /><Relationship Type="http://schemas.openxmlformats.org/officeDocument/2006/relationships/notesSlide" Target="/ppt/notesSlides/notesSlide7.xml" Id="Rc9b9da1a28974a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5463dda2d41ca" /><Relationship Type="http://schemas.openxmlformats.org/officeDocument/2006/relationships/notesSlide" Target="/ppt/notesSlides/notesSlide8.xml" Id="Rfdfc4fcc13e84b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2216a61564ed7" /><Relationship Type="http://schemas.openxmlformats.org/officeDocument/2006/relationships/notesSlide" Target="/ppt/notesSlides/notesSlide9.xml" Id="R86e77b780aff4f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e97e4e1904c16" /><Relationship Type="http://schemas.openxmlformats.org/officeDocument/2006/relationships/notesSlide" Target="/ppt/notesSlides/notesSlide10.xml" Id="Rbec5cdd88d4c47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446a1df4c4367" /><Relationship Type="http://schemas.openxmlformats.org/officeDocument/2006/relationships/notesSlide" Target="/ppt/notesSlides/notesSlide11.xml" Id="R70163a5a830a46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5e4750b50465c" /><Relationship Type="http://schemas.openxmlformats.org/officeDocument/2006/relationships/notesSlide" Target="/ppt/notesSlides/notesSlide12.xml" Id="R9d1f5ae3020341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445255e4044aa" /><Relationship Type="http://schemas.openxmlformats.org/officeDocument/2006/relationships/notesSlide" Target="/ppt/notesSlides/notesSlide13.xml" Id="R4a71ab908ed549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23e431d554302" /><Relationship Type="http://schemas.openxmlformats.org/officeDocument/2006/relationships/notesSlide" Target="/ppt/notesSlides/notesSlide14.xml" Id="R6115350bbe8b47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30e7a4dc1449d" /><Relationship Type="http://schemas.openxmlformats.org/officeDocument/2006/relationships/notesSlide" Target="/ppt/notesSlides/notesSlide15.xml" Id="Rd59d6c2fc83740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a6d4039994c93" /><Relationship Type="http://schemas.openxmlformats.org/officeDocument/2006/relationships/notesSlide" Target="/ppt/notesSlides/notesSlide16.xml" Id="R51b3d7217b6f4b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0d7535a174a56" /><Relationship Type="http://schemas.openxmlformats.org/officeDocument/2006/relationships/notesSlide" Target="/ppt/notesSlides/notesSlide17.xml" Id="Rd0cec7f49b4d48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aafa5469c41ea" /><Relationship Type="http://schemas.openxmlformats.org/officeDocument/2006/relationships/notesSlide" Target="/ppt/notesSlides/notesSlide18.xml" Id="Rc1dfc476f0f847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98000f6e840ed" /><Relationship Type="http://schemas.openxmlformats.org/officeDocument/2006/relationships/notesSlide" Target="/ppt/notesSlides/notesSlide19.xml" Id="Rad84a5921ae74f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90afa8c73483f" /><Relationship Type="http://schemas.openxmlformats.org/officeDocument/2006/relationships/notesSlide" Target="/ppt/notesSlides/notesSlide20.xml" Id="R1c94eac28a054f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455817aac4d89" /><Relationship Type="http://schemas.openxmlformats.org/officeDocument/2006/relationships/notesSlide" Target="/ppt/notesSlides/notesSlide21.xml" Id="R75779f2dde664f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a01a0ac584fa2" /><Relationship Type="http://schemas.openxmlformats.org/officeDocument/2006/relationships/notesSlide" Target="/ppt/notesSlides/notesSlide22.xml" Id="Rc58f8e2204fa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48E45ED2-CE29-4A1C-BA66-F205564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4029695-3AF9-4AB0-ADC0-68E0B84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方案与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976B5CD-45F9-483B-86D7-6862EA1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rPr>
              <a:t>流程框架  /  具体方案  /  当前成果  /  完整计划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B616582-C445-4E5A-AE14-B7DD842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2026 年 9 月 29 日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74CCCA7-E45E-4B95-AEDC-34F6EA30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MVP 目标：2026 年 12 月 1 日</a:t>
            </a:r>
          </a:p>
        </p:txBody>
      </p:sp>
    </p:spTree>
    <p:extLst>
      <p:ext uri="{BB962C8B-B14F-4D97-AF65-F5344CB8AC3E}">
        <p14:creationId xmlns:p14="http://schemas.microsoft.com/office/powerpoint/2010/main" val="251270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6">
            <a:extLst xmlns:a="http://schemas.openxmlformats.org/drawingml/2006/main">
              <a:ext uri="{FF2B5EF4-FFF2-40B4-BE49-F238E27FC236}">
                <a16:creationId xmlns:a16="http://schemas.microsoft.com/office/drawing/2014/main" id="{38FD4E08-451A-4CC7-B172-5441EF7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P3 项目评审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52FC70D-0EDB-4563-A52E-F3C333B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3D6A4BA8-7118-4A8A-896B-87DFFC0E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主讲约 28 分钟，另留讨论；完整流程分图和测试明细见答疑附件</a:t>
            </a:r>
          </a:p>
        </p:txBody>
      </p:sp>
      <p:sp>
        <p:nvSpPr>
          <p:cNvPr id="4" name="route-9">
            <a:extLst xmlns:a="http://schemas.openxmlformats.org/drawingml/2006/main">
              <a:ext uri="{FF2B5EF4-FFF2-40B4-BE49-F238E27FC236}">
                <a16:creationId xmlns:a16="http://schemas.microsoft.com/office/drawing/2014/main" id="{556B0F10-BE9A-4D83-822F-EC520BA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18E47C53-77B4-4EDC-BDD1-0FDC2C0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77837D0F-5892-4766-B0EC-11B8F39A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02 / 22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BEC7A540-9C4D-4669-8783-F5EC803A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2E1CADA6-DFDF-4B84-AC32-932AB0E1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431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流程框架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AB8F412A-AB70-4EAA-9DE7-26CBB75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系统怎样工作，三条流程怎样配合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1E0688FB-D56D-455A-943D-BC3BB6F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431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03—06</a:t>
            </a:r>
          </a:p>
        </p:txBody>
      </p:sp>
      <p:sp>
        <p:nvSpPr>
          <p:cNvPr id="11" name="route-16">
            <a:extLst xmlns:a="http://schemas.openxmlformats.org/drawingml/2006/main">
              <a:ext uri="{FF2B5EF4-FFF2-40B4-BE49-F238E27FC236}">
                <a16:creationId xmlns:a16="http://schemas.microsoft.com/office/drawing/2014/main" id="{BA54B64F-A116-4228-909E-BE46555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3200C5B5-0FEF-421A-8FBF-BE88381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E8F82D95-F1C3-4F77-AE3B-3E581C7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8607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具体方案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99F8002F-8286-4FE8-8A8C-9F23881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860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数据、语义计算、可靠运行与技术选择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524FCCF3-74BC-4CB8-93F4-AE3F4786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860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07—11</a:t>
            </a:r>
          </a:p>
        </p:txBody>
      </p:sp>
      <p:sp>
        <p:nvSpPr>
          <p:cNvPr id="16" name="route-21">
            <a:extLst xmlns:a="http://schemas.openxmlformats.org/drawingml/2006/main">
              <a:ext uri="{FF2B5EF4-FFF2-40B4-BE49-F238E27FC236}">
                <a16:creationId xmlns:a16="http://schemas.microsoft.com/office/drawing/2014/main" id="{61858BFD-85B9-4ED5-BBE1-E575A10E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48075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8F3A4A41-14AF-4B92-AFD6-9FBA28FC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-23">
            <a:extLst xmlns:a="http://schemas.openxmlformats.org/drawingml/2006/main">
              <a:ext uri="{FF2B5EF4-FFF2-40B4-BE49-F238E27FC236}">
                <a16:creationId xmlns:a16="http://schemas.microsoft.com/office/drawing/2014/main" id="{24D3D1E8-DF6D-42E5-9F69-DC253E4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B7A16D4B-9FBF-4FB6-A9CB-83DEB636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已经实现什么，已经验证到哪一层</a:t>
            </a:r>
          </a:p>
        </p:txBody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72B0C74F-FDDC-4C66-A448-AFFE655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290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12—14</a:t>
            </a:r>
          </a:p>
        </p:txBody>
      </p:sp>
      <p:sp>
        <p:nvSpPr>
          <p:cNvPr id="21" name="route-26">
            <a:extLst xmlns:a="http://schemas.openxmlformats.org/drawingml/2006/main">
              <a:ext uri="{FF2B5EF4-FFF2-40B4-BE49-F238E27FC236}">
                <a16:creationId xmlns:a16="http://schemas.microsoft.com/office/drawing/2014/main" id="{9490C3B2-047B-4312-8E12-EF937E4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2" name="text-27">
            <a:extLst xmlns:a="http://schemas.openxmlformats.org/drawingml/2006/main">
              <a:ext uri="{FF2B5EF4-FFF2-40B4-BE49-F238E27FC236}">
                <a16:creationId xmlns:a16="http://schemas.microsoft.com/office/drawing/2014/main" id="{CE1B449A-A715-450D-8433-70ED379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28">
            <a:extLst xmlns:a="http://schemas.openxmlformats.org/drawingml/2006/main">
              <a:ext uri="{FF2B5EF4-FFF2-40B4-BE49-F238E27FC236}">
                <a16:creationId xmlns:a16="http://schemas.microsoft.com/office/drawing/2014/main" id="{CC9CA751-2C92-4FBB-B0F5-D706702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7202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24" name="text-29">
            <a:extLst xmlns:a="http://schemas.openxmlformats.org/drawingml/2006/main">
              <a:ext uri="{FF2B5EF4-FFF2-40B4-BE49-F238E27FC236}">
                <a16:creationId xmlns:a16="http://schemas.microsoft.com/office/drawing/2014/main" id="{342C7A47-C89C-4829-BE6E-1F589C0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范围、日期、工作包、责任与完成标准</a:t>
            </a:r>
          </a:p>
        </p:txBody>
      </p:sp>
      <p:sp>
        <p:nvSpPr>
          <p:cNvPr id="25" name="text-30">
            <a:extLst xmlns:a="http://schemas.openxmlformats.org/drawingml/2006/main">
              <a:ext uri="{FF2B5EF4-FFF2-40B4-BE49-F238E27FC236}">
                <a16:creationId xmlns:a16="http://schemas.microsoft.com/office/drawing/2014/main" id="{8FD44B49-C2B7-417A-8DF0-A910197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7202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15—22</a:t>
            </a:r>
          </a:p>
        </p:txBody>
      </p:sp>
    </p:spTree>
    <p:extLst>
      <p:ext uri="{BB962C8B-B14F-4D97-AF65-F5344CB8AC3E}">
        <p14:creationId xmlns:p14="http://schemas.microsoft.com/office/powerpoint/2010/main" val="898158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31">
            <a:extLst xmlns:a="http://schemas.openxmlformats.org/drawingml/2006/main">
              <a:ext uri="{FF2B5EF4-FFF2-40B4-BE49-F238E27FC236}">
                <a16:creationId xmlns:a16="http://schemas.microsoft.com/office/drawing/2014/main" id="{A544B985-481C-4226-BF54-D9ACB4C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D0F13C7B-9545-4F53-BB30-6F18B8A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 整体流程框架</a:t>
            </a:r>
          </a:p>
        </p:txBody>
      </p:sp>
      <p:sp>
        <p:nvSpPr>
          <p:cNvPr id="3" name="text-33">
            <a:extLst xmlns:a="http://schemas.openxmlformats.org/drawingml/2006/main">
              <a:ext uri="{FF2B5EF4-FFF2-40B4-BE49-F238E27FC236}">
                <a16:creationId xmlns:a16="http://schemas.microsoft.com/office/drawing/2014/main" id="{0672F08F-6183-4F81-AB77-EE6AF0C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原图 P3.1 的业务关系；应用决定调用时机，P3 交付记忆和处理状态</a:t>
            </a:r>
          </a:p>
        </p:txBody>
      </p:sp>
      <p:sp>
        <p:nvSpPr>
          <p:cNvPr id="4" name="route-34">
            <a:extLst xmlns:a="http://schemas.openxmlformats.org/drawingml/2006/main">
              <a:ext uri="{FF2B5EF4-FFF2-40B4-BE49-F238E27FC236}">
                <a16:creationId xmlns:a16="http://schemas.microsoft.com/office/drawing/2014/main" id="{DFB79459-D731-4A90-8B0C-FAF6338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5">
            <a:extLst xmlns:a="http://schemas.openxmlformats.org/drawingml/2006/main">
              <a:ext uri="{FF2B5EF4-FFF2-40B4-BE49-F238E27FC236}">
                <a16:creationId xmlns:a16="http://schemas.microsoft.com/office/drawing/2014/main" id="{58D0524D-7834-4D88-BEFA-F578095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6">
            <a:extLst xmlns:a="http://schemas.openxmlformats.org/drawingml/2006/main">
              <a:ext uri="{FF2B5EF4-FFF2-40B4-BE49-F238E27FC236}">
                <a16:creationId xmlns:a16="http://schemas.microsoft.com/office/drawing/2014/main" id="{705A4218-8D9C-4A8D-ADDC-78C32600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 / 22</a:t>
            </a:r>
          </a:p>
        </p:txBody>
      </p:sp>
      <p:sp>
        <p:nvSpPr>
          <p:cNvPr id="7" name="node-37">
            <a:extLst xmlns:a="http://schemas.openxmlformats.org/drawingml/2006/main">
              <a:ext uri="{FF2B5EF4-FFF2-40B4-BE49-F238E27FC236}">
                <a16:creationId xmlns:a16="http://schemas.microsoft.com/office/drawing/2014/main" id="{F167A2D2-342D-45E6-B5E1-02E738C0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24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 / Agent / P4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带身份与范围调用</a:t>
            </a:r>
          </a:p>
        </p:txBody>
      </p:sp>
      <p:sp>
        <p:nvSpPr>
          <p:cNvPr id="8" name="node-38">
            <a:extLst xmlns:a="http://schemas.openxmlformats.org/drawingml/2006/main">
              <a:ext uri="{FF2B5EF4-FFF2-40B4-BE49-F238E27FC236}">
                <a16:creationId xmlns:a16="http://schemas.microsoft.com/office/drawing/2014/main" id="{6C59264D-6D3C-4EEA-8324-895C0390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存储记忆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来源、版本、生命周期</a:t>
            </a:r>
          </a:p>
        </p:txBody>
      </p:sp>
      <p:sp>
        <p:nvSpPr>
          <p:cNvPr id="9" name="node-39">
            <a:extLst xmlns:a="http://schemas.openxmlformats.org/drawingml/2006/main">
              <a:ext uri="{FF2B5EF4-FFF2-40B4-BE49-F238E27FC236}">
                <a16:creationId xmlns:a16="http://schemas.microsoft.com/office/drawing/2014/main" id="{5936CC05-776D-460D-8D6C-CB1E045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 召回记忆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核验、组包、交付上下文</a:t>
            </a:r>
          </a:p>
        </p:txBody>
      </p:sp>
      <p:sp>
        <p:nvSpPr>
          <p:cNvPr id="10" name="route-40">
            <a:extLst xmlns:a="http://schemas.openxmlformats.org/drawingml/2006/main">
              <a:ext uri="{FF2B5EF4-FFF2-40B4-BE49-F238E27FC236}">
                <a16:creationId xmlns:a16="http://schemas.microsoft.com/office/drawing/2014/main" id="{4136D32E-ACAA-4FCD-9E59-EE48B5B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1047750" cy="95"/>
          </a:xfrm>
          <a:custGeom xmlns:a="http://schemas.openxmlformats.org/drawingml/2006/main"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route-41">
            <a:extLst xmlns:a="http://schemas.openxmlformats.org/drawingml/2006/main">
              <a:ext uri="{FF2B5EF4-FFF2-40B4-BE49-F238E27FC236}">
                <a16:creationId xmlns:a16="http://schemas.microsoft.com/office/drawing/2014/main" id="{98612AD4-2936-46E0-B8FD-F21AFFB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42">
            <a:extLst xmlns:a="http://schemas.openxmlformats.org/drawingml/2006/main">
              <a:ext uri="{FF2B5EF4-FFF2-40B4-BE49-F238E27FC236}">
                <a16:creationId xmlns:a16="http://schemas.microsoft.com/office/drawing/2014/main" id="{256B3127-8318-4B27-A923-BEE0559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09900"/>
            <a:ext cx="8067675" cy="419100"/>
          </a:xfrm>
          <a:custGeom xmlns:a="http://schemas.openxmlformats.org/drawingml/2006/main">
            <a:pathLst>
              <a:path w="8067675" h="419100">
                <a:moveTo>
                  <a:pt x="0" y="0"/>
                </a:moveTo>
                <a:lnTo>
                  <a:pt x="0" y="419100"/>
                </a:lnTo>
                <a:lnTo>
                  <a:pt x="8067675" y="419100"/>
                </a:lnTo>
                <a:lnTo>
                  <a:pt x="806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43">
            <a:extLst xmlns:a="http://schemas.openxmlformats.org/drawingml/2006/main">
              <a:ext uri="{FF2B5EF4-FFF2-40B4-BE49-F238E27FC236}">
                <a16:creationId xmlns:a16="http://schemas.microsoft.com/office/drawing/2014/main" id="{A0F3D2B9-26A8-4DE0-96CD-A6B54A8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09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CBADEC87-9884-4861-941C-C348BCC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242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发起召回</a:t>
            </a:r>
          </a:p>
        </p:txBody>
      </p:sp>
      <p:sp>
        <p:nvSpPr>
          <p:cNvPr id="15" name="route-45">
            <a:extLst xmlns:a="http://schemas.openxmlformats.org/drawingml/2006/main">
              <a:ext uri="{FF2B5EF4-FFF2-40B4-BE49-F238E27FC236}">
                <a16:creationId xmlns:a16="http://schemas.microsoft.com/office/drawing/2014/main" id="{9101D799-B8B6-470C-A63D-9FECE80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9555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46">
            <a:extLst xmlns:a="http://schemas.openxmlformats.org/drawingml/2006/main">
              <a:ext uri="{FF2B5EF4-FFF2-40B4-BE49-F238E27FC236}">
                <a16:creationId xmlns:a16="http://schemas.microsoft.com/office/drawing/2014/main" id="{626483F6-2469-4228-B977-AAA6E7E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5BE75AE0-9F27-485B-92B0-632FFB7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95450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资格 / 正文</a:t>
            </a:r>
          </a:p>
        </p:txBody>
      </p:sp>
      <p:sp>
        <p:nvSpPr>
          <p:cNvPr id="18" name="node-48">
            <a:extLst xmlns:a="http://schemas.openxmlformats.org/drawingml/2006/main">
              <a:ext uri="{FF2B5EF4-FFF2-40B4-BE49-F238E27FC236}">
                <a16:creationId xmlns:a16="http://schemas.microsoft.com/office/drawing/2014/main" id="{CF5AA2DB-F056-4DDF-BC8B-C6A2903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存储变化与实际读取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通过 RF 可靠交接</a:t>
            </a:r>
          </a:p>
        </p:txBody>
      </p:sp>
      <p:sp>
        <p:nvSpPr>
          <p:cNvPr id="19" name="node-49">
            <a:extLst xmlns:a="http://schemas.openxmlformats.org/drawingml/2006/main">
              <a:ext uri="{FF2B5EF4-FFF2-40B4-BE49-F238E27FC236}">
                <a16:creationId xmlns:a16="http://schemas.microsoft.com/office/drawing/2014/main" id="{96376587-6A5F-45BD-9456-3A00C342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内部运行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判断、执行、核对结果</a:t>
            </a:r>
          </a:p>
        </p:txBody>
      </p:sp>
      <p:sp>
        <p:nvSpPr>
          <p:cNvPr id="20" name="route-50">
            <a:extLst xmlns:a="http://schemas.openxmlformats.org/drawingml/2006/main">
              <a:ext uri="{FF2B5EF4-FFF2-40B4-BE49-F238E27FC236}">
                <a16:creationId xmlns:a16="http://schemas.microsoft.com/office/drawing/2014/main" id="{1450E9B3-BD97-4544-8EA8-25DF894C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1" name="route-51">
            <a:extLst xmlns:a="http://schemas.openxmlformats.org/drawingml/2006/main">
              <a:ext uri="{FF2B5EF4-FFF2-40B4-BE49-F238E27FC236}">
                <a16:creationId xmlns:a16="http://schemas.microsoft.com/office/drawing/2014/main" id="{EFC25144-CC0D-4A1B-9115-9896BD47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52">
            <a:extLst xmlns:a="http://schemas.openxmlformats.org/drawingml/2006/main">
              <a:ext uri="{FF2B5EF4-FFF2-40B4-BE49-F238E27FC236}">
                <a16:creationId xmlns:a16="http://schemas.microsoft.com/office/drawing/2014/main" id="{F7A5CA18-8973-4E4B-B209-F53F855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3" name="route-53">
            <a:extLst xmlns:a="http://schemas.openxmlformats.org/drawingml/2006/main">
              <a:ext uri="{FF2B5EF4-FFF2-40B4-BE49-F238E27FC236}">
                <a16:creationId xmlns:a16="http://schemas.microsoft.com/office/drawing/2014/main" id="{ECD2C041-7230-4E09-927B-0175580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4" name="route-54">
            <a:extLst xmlns:a="http://schemas.openxmlformats.org/drawingml/2006/main">
              <a:ext uri="{FF2B5EF4-FFF2-40B4-BE49-F238E27FC236}">
                <a16:creationId xmlns:a16="http://schemas.microsoft.com/office/drawing/2014/main" id="{1764E62F-168A-486F-A1D1-58A63F9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7200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route-55">
            <a:extLst xmlns:a="http://schemas.openxmlformats.org/drawingml/2006/main">
              <a:ext uri="{FF2B5EF4-FFF2-40B4-BE49-F238E27FC236}">
                <a16:creationId xmlns:a16="http://schemas.microsoft.com/office/drawing/2014/main" id="{BC2DAA26-9D4F-4FC2-BFEA-C8D0859C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6" name="text-56">
            <a:extLst xmlns:a="http://schemas.openxmlformats.org/drawingml/2006/main">
              <a:ext uri="{FF2B5EF4-FFF2-40B4-BE49-F238E27FC236}">
                <a16:creationId xmlns:a16="http://schemas.microsoft.com/office/drawing/2014/main" id="{AFE7A0CE-BCF0-44A3-8353-A56C2A3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P2 等底层依赖</a:t>
            </a:r>
          </a:p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提供存取和执行能力</a:t>
            </a:r>
          </a:p>
        </p:txBody>
      </p:sp>
      <p:sp>
        <p:nvSpPr>
          <p:cNvPr id="27" name="text-57">
            <a:extLst xmlns:a="http://schemas.openxmlformats.org/drawingml/2006/main">
              <a:ext uri="{FF2B5EF4-FFF2-40B4-BE49-F238E27FC236}">
                <a16:creationId xmlns:a16="http://schemas.microsoft.com/office/drawing/2014/main" id="{8114BC10-2C0B-4132-99D0-5477BA5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同一场景贯穿：预算 20 万保存，后续更正为 15 万，再跨会话使用</a:t>
            </a:r>
          </a:p>
        </p:txBody>
      </p:sp>
    </p:spTree>
    <p:extLst>
      <p:ext uri="{BB962C8B-B14F-4D97-AF65-F5344CB8AC3E}">
        <p14:creationId xmlns:p14="http://schemas.microsoft.com/office/powerpoint/2010/main" val="294374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8">
            <a:extLst xmlns:a="http://schemas.openxmlformats.org/drawingml/2006/main">
              <a:ext uri="{FF2B5EF4-FFF2-40B4-BE49-F238E27FC236}">
                <a16:creationId xmlns:a16="http://schemas.microsoft.com/office/drawing/2014/main" id="{7CC11C76-BC79-43C0-99D1-7A8625C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59">
            <a:extLst xmlns:a="http://schemas.openxmlformats.org/drawingml/2006/main">
              <a:ext uri="{FF2B5EF4-FFF2-40B4-BE49-F238E27FC236}">
                <a16:creationId xmlns:a16="http://schemas.microsoft.com/office/drawing/2014/main" id="{F91E5CD3-F400-40A4-B7BE-2FDBD75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Remember：保存、加工与长期就绪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1D602063-6883-4473-B23A-89920B7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B.1 / B.3 / B.4 / B.5 / B.6 / B.7，按主路径展开</a:t>
            </a:r>
          </a:p>
        </p:txBody>
      </p:sp>
      <p:sp>
        <p:nvSpPr>
          <p:cNvPr id="4" name="route-61">
            <a:extLst xmlns:a="http://schemas.openxmlformats.org/drawingml/2006/main">
              <a:ext uri="{FF2B5EF4-FFF2-40B4-BE49-F238E27FC236}">
                <a16:creationId xmlns:a16="http://schemas.microsoft.com/office/drawing/2014/main" id="{C6ABBCF2-063B-4C73-8A0D-D0EF07F9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32DCCF94-5EDE-41C8-A6BE-8E34A81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529C4EF5-9359-48F6-8DEB-C9CAF9EA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04 / 22</a:t>
            </a:r>
          </a:p>
        </p:txBody>
      </p:sp>
      <p:sp>
        <p:nvSpPr>
          <p:cNvPr id="7" name="node-64">
            <a:extLst xmlns:a="http://schemas.openxmlformats.org/drawingml/2006/main">
              <a:ext uri="{FF2B5EF4-FFF2-40B4-BE49-F238E27FC236}">
                <a16:creationId xmlns:a16="http://schemas.microsoft.com/office/drawing/2014/main" id="{FABF4E71-FF2A-408C-81E8-E209335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 接入与保存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身份、来源、请求去重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原文与记忆记录可靠保存</a:t>
            </a:r>
          </a:p>
        </p:txBody>
      </p:sp>
      <p:sp>
        <p:nvSpPr>
          <p:cNvPr id="8" name="node-65">
            <a:extLst xmlns:a="http://schemas.openxmlformats.org/drawingml/2006/main">
              <a:ext uri="{FF2B5EF4-FFF2-40B4-BE49-F238E27FC236}">
                <a16:creationId xmlns:a16="http://schemas.microsoft.com/office/drawing/2014/main" id="{57DFB037-92ED-4957-BC79-57848D8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B.3 当前任务可用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写入适用 Working 内容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返回实际可用状态</a:t>
            </a:r>
          </a:p>
        </p:txBody>
      </p:sp>
      <p:sp>
        <p:nvSpPr>
          <p:cNvPr id="9" name="route-66">
            <a:extLst xmlns:a="http://schemas.openxmlformats.org/drawingml/2006/main">
              <a:ext uri="{FF2B5EF4-FFF2-40B4-BE49-F238E27FC236}">
                <a16:creationId xmlns:a16="http://schemas.microsoft.com/office/drawing/2014/main" id="{77AB54FF-9268-44A8-A124-97EA4B7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7652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0" name="route-67">
            <a:extLst xmlns:a="http://schemas.openxmlformats.org/drawingml/2006/main">
              <a:ext uri="{FF2B5EF4-FFF2-40B4-BE49-F238E27FC236}">
                <a16:creationId xmlns:a16="http://schemas.microsoft.com/office/drawing/2014/main" id="{1F463D54-F073-4A4F-BAE2-CF68806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38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text-68">
            <a:extLst xmlns:a="http://schemas.openxmlformats.org/drawingml/2006/main">
              <a:ext uri="{FF2B5EF4-FFF2-40B4-BE49-F238E27FC236}">
                <a16:creationId xmlns:a16="http://schemas.microsoft.com/office/drawing/2014/main" id="{4CDB923B-FAF1-4DFE-A5CB-E3EE90E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1623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先供当前任务使用</a:t>
            </a:r>
          </a:p>
        </p:txBody>
      </p:sp>
      <p:sp>
        <p:nvSpPr>
          <p:cNvPr id="12" name="node-69">
            <a:extLst xmlns:a="http://schemas.openxmlformats.org/drawingml/2006/main">
              <a:ext uri="{FF2B5EF4-FFF2-40B4-BE49-F238E27FC236}">
                <a16:creationId xmlns:a16="http://schemas.microsoft.com/office/drawing/2014/main" id="{8FFD8874-7CF3-4CE8-A39B-94D0DC78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持久后台加工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固定来源与版本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分段、压缩、摘要</a:t>
            </a:r>
          </a:p>
        </p:txBody>
      </p:sp>
      <p:sp>
        <p:nvSpPr>
          <p:cNvPr id="13" name="node-70">
            <a:extLst xmlns:a="http://schemas.openxmlformats.org/drawingml/2006/main">
              <a:ext uri="{FF2B5EF4-FFF2-40B4-BE49-F238E27FC236}">
                <a16:creationId xmlns:a16="http://schemas.microsoft.com/office/drawing/2014/main" id="{B6B7E061-C930-4BBD-AF38-0EF9974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B.5 形成正式记忆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模型提出候选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审核证据、冲突与版本</a:t>
            </a:r>
          </a:p>
        </p:txBody>
      </p:sp>
      <p:sp>
        <p:nvSpPr>
          <p:cNvPr id="14" name="node-71">
            <a:extLst xmlns:a="http://schemas.openxmlformats.org/drawingml/2006/main">
              <a:ext uri="{FF2B5EF4-FFF2-40B4-BE49-F238E27FC236}">
                <a16:creationId xmlns:a16="http://schemas.microsoft.com/office/drawing/2014/main" id="{59255368-A5B4-449C-BE69-C89E0D2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48125"/>
            <a:ext cx="32099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长期检索就绪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分块编码、写入索引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全部预期块核验后发布</a:t>
            </a:r>
          </a:p>
        </p:txBody>
      </p:sp>
      <p:sp>
        <p:nvSpPr>
          <p:cNvPr id="15" name="route-72">
            <a:extLst xmlns:a="http://schemas.openxmlformats.org/drawingml/2006/main">
              <a:ext uri="{FF2B5EF4-FFF2-40B4-BE49-F238E27FC236}">
                <a16:creationId xmlns:a16="http://schemas.microsoft.com/office/drawing/2014/main" id="{0B48ABBC-2357-4A04-B09E-CBA23EED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43275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73">
            <a:extLst xmlns:a="http://schemas.openxmlformats.org/drawingml/2006/main">
              <a:ext uri="{FF2B5EF4-FFF2-40B4-BE49-F238E27FC236}">
                <a16:creationId xmlns:a16="http://schemas.microsoft.com/office/drawing/2014/main" id="{41BBA65D-5F9B-4B85-A70D-E3A36E8F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719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74">
            <a:extLst xmlns:a="http://schemas.openxmlformats.org/drawingml/2006/main">
              <a:ext uri="{FF2B5EF4-FFF2-40B4-BE49-F238E27FC236}">
                <a16:creationId xmlns:a16="http://schemas.microsoft.com/office/drawing/2014/main" id="{C6A120EA-FE7F-41C4-A9B7-7AB0E1A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75">
            <a:extLst xmlns:a="http://schemas.openxmlformats.org/drawingml/2006/main">
              <a:ext uri="{FF2B5EF4-FFF2-40B4-BE49-F238E27FC236}">
                <a16:creationId xmlns:a16="http://schemas.microsoft.com/office/drawing/2014/main" id="{604F4CF7-934F-4D2F-9E5B-5B930A13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76">
            <a:extLst xmlns:a="http://schemas.openxmlformats.org/drawingml/2006/main">
              <a:ext uri="{FF2B5EF4-FFF2-40B4-BE49-F238E27FC236}">
                <a16:creationId xmlns:a16="http://schemas.microsoft.com/office/drawing/2014/main" id="{971329B4-C882-49DE-BBA5-1B691D8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14875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77">
            <a:extLst xmlns:a="http://schemas.openxmlformats.org/drawingml/2006/main">
              <a:ext uri="{FF2B5EF4-FFF2-40B4-BE49-F238E27FC236}">
                <a16:creationId xmlns:a16="http://schemas.microsoft.com/office/drawing/2014/main" id="{723AE279-1729-48CC-8229-0C45B98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text-78">
            <a:extLst xmlns:a="http://schemas.openxmlformats.org/drawingml/2006/main">
              <a:ext uri="{FF2B5EF4-FFF2-40B4-BE49-F238E27FC236}">
                <a16:creationId xmlns:a16="http://schemas.microsoft.com/office/drawing/2014/main" id="{577F2B3C-4C11-4586-9056-C2F4916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95675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B.7 更正 / 删除：更新有效资格，阻断旧版本，再跟踪清理</a:t>
            </a:r>
          </a:p>
        </p:txBody>
      </p:sp>
      <p:sp>
        <p:nvSpPr>
          <p:cNvPr id="22" name="text-79">
            <a:extLst xmlns:a="http://schemas.openxmlformats.org/drawingml/2006/main">
              <a:ext uri="{FF2B5EF4-FFF2-40B4-BE49-F238E27FC236}">
                <a16:creationId xmlns:a16="http://schemas.microsoft.com/office/drawing/2014/main" id="{5AD90FBD-70EF-42EF-A91A-444D6B1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“已保存”“当前可用”“长期就绪”分别报告，后台失败保留已确认事实</a:t>
            </a:r>
          </a:p>
        </p:txBody>
      </p:sp>
    </p:spTree>
    <p:extLst>
      <p:ext uri="{BB962C8B-B14F-4D97-AF65-F5344CB8AC3E}">
        <p14:creationId xmlns:p14="http://schemas.microsoft.com/office/powerpoint/2010/main" val="680446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0">
            <a:extLst xmlns:a="http://schemas.openxmlformats.org/drawingml/2006/main">
              <a:ext uri="{FF2B5EF4-FFF2-40B4-BE49-F238E27FC236}">
                <a16:creationId xmlns:a16="http://schemas.microsoft.com/office/drawing/2014/main" id="{4B141769-8BBD-4CD6-A08A-A93AC03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81">
            <a:extLst xmlns:a="http://schemas.openxmlformats.org/drawingml/2006/main">
              <a:ext uri="{FF2B5EF4-FFF2-40B4-BE49-F238E27FC236}">
                <a16:creationId xmlns:a16="http://schemas.microsoft.com/office/drawing/2014/main" id="{9FC364CA-4BDC-4D62-9FB8-2E5B1EC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Recall：把有效记忆组织成上下文</a:t>
            </a:r>
          </a:p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E50C8D02-EC1A-415B-851B-C646818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A.1 主流程，保留仅 Working 的独立读取路径</a:t>
            </a:r>
          </a:p>
        </p:txBody>
      </p:sp>
      <p:sp>
        <p:nvSpPr>
          <p:cNvPr id="4" name="route-83">
            <a:extLst xmlns:a="http://schemas.openxmlformats.org/drawingml/2006/main">
              <a:ext uri="{FF2B5EF4-FFF2-40B4-BE49-F238E27FC236}">
                <a16:creationId xmlns:a16="http://schemas.microsoft.com/office/drawing/2014/main" id="{21809C2A-4EDF-42CF-8669-456A3F8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34FE844F-299F-47C5-A8AE-9917A28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653DFFCD-AE4B-489D-AA0B-CFD2330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05 / 22</a:t>
            </a:r>
          </a:p>
        </p:txBody>
      </p:sp>
      <p:sp>
        <p:nvSpPr>
          <p:cNvPr id="7" name="node-86">
            <a:extLst xmlns:a="http://schemas.openxmlformats.org/drawingml/2006/main">
              <a:ext uri="{FF2B5EF4-FFF2-40B4-BE49-F238E27FC236}">
                <a16:creationId xmlns:a16="http://schemas.microsoft.com/office/drawing/2014/main" id="{969C98A3-417C-4FAA-A1EF-9E56F0E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接收问题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范围与预算</a:t>
            </a:r>
          </a:p>
        </p:txBody>
      </p:sp>
      <p:sp>
        <p:nvSpPr>
          <p:cNvPr id="8" name="node-87">
            <a:extLst xmlns:a="http://schemas.openxmlformats.org/drawingml/2006/main">
              <a:ext uri="{FF2B5EF4-FFF2-40B4-BE49-F238E27FC236}">
                <a16:creationId xmlns:a16="http://schemas.microsoft.com/office/drawing/2014/main" id="{F3E11DCF-5423-45A5-845C-05CDDD0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 / 长期 / 两者</a:t>
            </a:r>
          </a:p>
        </p:txBody>
      </p:sp>
      <p:sp>
        <p:nvSpPr>
          <p:cNvPr id="9" name="node-88">
            <a:extLst xmlns:a="http://schemas.openxmlformats.org/drawingml/2006/main">
              <a:ext uri="{FF2B5EF4-FFF2-40B4-BE49-F238E27FC236}">
                <a16:creationId xmlns:a16="http://schemas.microsoft.com/office/drawing/2014/main" id="{5C347C0A-AC59-47C6-AD18-3CA4C0D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A.1a / A.1c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编码、块检索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聚合记忆候选</a:t>
            </a:r>
          </a:p>
        </p:txBody>
      </p:sp>
      <p:sp>
        <p:nvSpPr>
          <p:cNvPr id="10" name="node-89">
            <a:extLst xmlns:a="http://schemas.openxmlformats.org/drawingml/2006/main">
              <a:ext uri="{FF2B5EF4-FFF2-40B4-BE49-F238E27FC236}">
                <a16:creationId xmlns:a16="http://schemas.microsoft.com/office/drawing/2014/main" id="{FF1E7EC8-DDB6-4576-802B-28ED1A2A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A.1b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读取完整正文</a:t>
            </a:r>
          </a:p>
        </p:txBody>
      </p:sp>
      <p:sp>
        <p:nvSpPr>
          <p:cNvPr id="11" name="node-90">
            <a:extLst xmlns:a="http://schemas.openxmlformats.org/drawingml/2006/main">
              <a:ext uri="{FF2B5EF4-FFF2-40B4-BE49-F238E27FC236}">
                <a16:creationId xmlns:a16="http://schemas.microsoft.com/office/drawing/2014/main" id="{AFA3763B-820A-4AFE-AAF7-3C3299A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关系与排序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整包预算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12" name="route-91">
            <a:extLst xmlns:a="http://schemas.openxmlformats.org/drawingml/2006/main">
              <a:ext uri="{FF2B5EF4-FFF2-40B4-BE49-F238E27FC236}">
                <a16:creationId xmlns:a16="http://schemas.microsoft.com/office/drawing/2014/main" id="{B57317B0-5995-40C9-88D7-3F2EE921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92">
            <a:extLst xmlns:a="http://schemas.openxmlformats.org/drawingml/2006/main">
              <a:ext uri="{FF2B5EF4-FFF2-40B4-BE49-F238E27FC236}">
                <a16:creationId xmlns:a16="http://schemas.microsoft.com/office/drawing/2014/main" id="{FB47B9CC-77CA-4B33-B592-6B4A166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93">
            <a:extLst xmlns:a="http://schemas.openxmlformats.org/drawingml/2006/main">
              <a:ext uri="{FF2B5EF4-FFF2-40B4-BE49-F238E27FC236}">
                <a16:creationId xmlns:a16="http://schemas.microsoft.com/office/drawing/2014/main" id="{EA659334-1033-4E35-89D3-9438CD4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94">
            <a:extLst xmlns:a="http://schemas.openxmlformats.org/drawingml/2006/main">
              <a:ext uri="{FF2B5EF4-FFF2-40B4-BE49-F238E27FC236}">
                <a16:creationId xmlns:a16="http://schemas.microsoft.com/office/drawing/2014/main" id="{2AEC1E56-8D6A-4267-B3F7-177B82E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95">
            <a:extLst xmlns:a="http://schemas.openxmlformats.org/drawingml/2006/main">
              <a:ext uri="{FF2B5EF4-FFF2-40B4-BE49-F238E27FC236}">
                <a16:creationId xmlns:a16="http://schemas.microsoft.com/office/drawing/2014/main" id="{81442609-05E9-48B8-816C-E5C94E59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96">
            <a:extLst xmlns:a="http://schemas.openxmlformats.org/drawingml/2006/main">
              <a:ext uri="{FF2B5EF4-FFF2-40B4-BE49-F238E27FC236}">
                <a16:creationId xmlns:a16="http://schemas.microsoft.com/office/drawing/2014/main" id="{7B9B30A7-44A2-4CE5-B564-25B88A0A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97">
            <a:extLst xmlns:a="http://schemas.openxmlformats.org/drawingml/2006/main">
              <a:ext uri="{FF2B5EF4-FFF2-40B4-BE49-F238E27FC236}">
                <a16:creationId xmlns:a16="http://schemas.microsoft.com/office/drawing/2014/main" id="{1A9CE652-C3ED-4C65-AD01-F6B241A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98">
            <a:extLst xmlns:a="http://schemas.openxmlformats.org/drawingml/2006/main">
              <a:ext uri="{FF2B5EF4-FFF2-40B4-BE49-F238E27FC236}">
                <a16:creationId xmlns:a16="http://schemas.microsoft.com/office/drawing/2014/main" id="{B9E22559-4FC6-4E27-8AAF-C148E4BB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node-99">
            <a:extLst xmlns:a="http://schemas.openxmlformats.org/drawingml/2006/main">
              <a:ext uri="{FF2B5EF4-FFF2-40B4-BE49-F238E27FC236}">
                <a16:creationId xmlns:a16="http://schemas.microsoft.com/office/drawing/2014/main" id="{AB145FD0-A65F-45D5-B7D8-7DAD91A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71950"/>
            <a:ext cx="25146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直接读取有效正文</a:t>
            </a:r>
          </a:p>
        </p:txBody>
      </p:sp>
      <p:sp>
        <p:nvSpPr>
          <p:cNvPr id="21" name="route-100">
            <a:extLst xmlns:a="http://schemas.openxmlformats.org/drawingml/2006/main">
              <a:ext uri="{FF2B5EF4-FFF2-40B4-BE49-F238E27FC236}">
                <a16:creationId xmlns:a16="http://schemas.microsoft.com/office/drawing/2014/main" id="{CCB2040A-9088-4CFF-B425-4892F202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00425"/>
            <a:ext cx="285750" cy="771525"/>
          </a:xfrm>
          <a:custGeom xmlns:a="http://schemas.openxmlformats.org/drawingml/2006/main">
            <a:pathLst>
              <a:path w="285750" h="771525">
                <a:moveTo>
                  <a:pt x="0" y="0"/>
                </a:moveTo>
                <a:lnTo>
                  <a:pt x="0" y="381000"/>
                </a:lnTo>
                <a:lnTo>
                  <a:pt x="285750" y="381000"/>
                </a:lnTo>
                <a:lnTo>
                  <a:pt x="2857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01">
            <a:extLst xmlns:a="http://schemas.openxmlformats.org/drawingml/2006/main">
              <a:ext uri="{FF2B5EF4-FFF2-40B4-BE49-F238E27FC236}">
                <a16:creationId xmlns:a16="http://schemas.microsoft.com/office/drawing/2014/main" id="{45398A8A-8F7E-4630-A707-F25F1C1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node-102">
            <a:extLst xmlns:a="http://schemas.openxmlformats.org/drawingml/2006/main">
              <a:ext uri="{FF2B5EF4-FFF2-40B4-BE49-F238E27FC236}">
                <a16:creationId xmlns:a16="http://schemas.microsoft.com/office/drawing/2014/main" id="{8181A90E-5B16-421E-8FAA-02FB79D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71950"/>
            <a:ext cx="31337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条件提交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上下文、来源与原请求</a:t>
            </a:r>
          </a:p>
        </p:txBody>
      </p:sp>
      <p:sp>
        <p:nvSpPr>
          <p:cNvPr id="24" name="route-103">
            <a:extLst xmlns:a="http://schemas.openxmlformats.org/drawingml/2006/main">
              <a:ext uri="{FF2B5EF4-FFF2-40B4-BE49-F238E27FC236}">
                <a16:creationId xmlns:a16="http://schemas.microsoft.com/office/drawing/2014/main" id="{ACA7FB6A-22CD-48AD-A21A-9CABB8DC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538" y="3400425"/>
            <a:ext cx="1033463" cy="771525"/>
          </a:xfrm>
          <a:custGeom xmlns:a="http://schemas.openxmlformats.org/drawingml/2006/main">
            <a:pathLst>
              <a:path w="1033463" h="771525">
                <a:moveTo>
                  <a:pt x="1033463" y="0"/>
                </a:moveTo>
                <a:lnTo>
                  <a:pt x="1033463" y="504825"/>
                </a:lnTo>
                <a:lnTo>
                  <a:pt x="0" y="504825"/>
                </a:ln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5" name="route-104">
            <a:extLst xmlns:a="http://schemas.openxmlformats.org/drawingml/2006/main">
              <a:ext uri="{FF2B5EF4-FFF2-40B4-BE49-F238E27FC236}">
                <a16:creationId xmlns:a16="http://schemas.microsoft.com/office/drawing/2014/main" id="{A33F4CF8-8ACD-48C9-850A-9CCD4AB1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6" name="route-105">
            <a:extLst xmlns:a="http://schemas.openxmlformats.org/drawingml/2006/main">
              <a:ext uri="{FF2B5EF4-FFF2-40B4-BE49-F238E27FC236}">
                <a16:creationId xmlns:a16="http://schemas.microsoft.com/office/drawing/2014/main" id="{E364B665-94D5-4A83-8CFD-02A0697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00425"/>
            <a:ext cx="4714875" cy="1262063"/>
          </a:xfrm>
          <a:custGeom xmlns:a="http://schemas.openxmlformats.org/drawingml/2006/main">
            <a:pathLst>
              <a:path w="4714875" h="1262063">
                <a:moveTo>
                  <a:pt x="0" y="1262063"/>
                </a:moveTo>
                <a:lnTo>
                  <a:pt x="1238250" y="1262063"/>
                </a:lnTo>
                <a:lnTo>
                  <a:pt x="1238250" y="333375"/>
                </a:lnTo>
                <a:lnTo>
                  <a:pt x="4714875" y="333375"/>
                </a:lnTo>
                <a:lnTo>
                  <a:pt x="471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7" name="route-106">
            <a:extLst xmlns:a="http://schemas.openxmlformats.org/drawingml/2006/main">
              <a:ext uri="{FF2B5EF4-FFF2-40B4-BE49-F238E27FC236}">
                <a16:creationId xmlns:a16="http://schemas.microsoft.com/office/drawing/2014/main" id="{8A9AA7D9-A12C-4550-8522-692ECC72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00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2A3DD460-2093-4EA6-9E89-E6F2D3B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210175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跳过长期检索，仍核验与组包</a:t>
            </a:r>
          </a:p>
        </p:txBody>
      </p:sp>
      <p:sp>
        <p:nvSpPr>
          <p:cNvPr id="29" name="text-108">
            <a:extLst xmlns:a="http://schemas.openxmlformats.org/drawingml/2006/main">
              <a:ext uri="{FF2B5EF4-FFF2-40B4-BE49-F238E27FC236}">
                <a16:creationId xmlns:a16="http://schemas.microsoft.com/office/drawing/2014/main" id="{B1F2F063-6D7D-41DB-8461-63FA988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9907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完整 / 正常空</a:t>
            </a:r>
          </a:p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降级可用 / 不可用</a:t>
            </a:r>
          </a:p>
        </p:txBody>
      </p:sp>
      <p:sp>
        <p:nvSpPr>
          <p:cNvPr id="30" name="text-109">
            <a:extLst xmlns:a="http://schemas.openxmlformats.org/drawingml/2006/main">
              <a:ext uri="{FF2B5EF4-FFF2-40B4-BE49-F238E27FC236}">
                <a16:creationId xmlns:a16="http://schemas.microsoft.com/office/drawing/2014/main" id="{DAE347EF-7791-4603-AB00-AFE032C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有独立可信材料时可说明缺失后降级；权限或有效性无法确认时阻断</a:t>
            </a:r>
          </a:p>
        </p:txBody>
      </p:sp>
    </p:spTree>
    <p:extLst>
      <p:ext uri="{BB962C8B-B14F-4D97-AF65-F5344CB8AC3E}">
        <p14:creationId xmlns:p14="http://schemas.microsoft.com/office/powerpoint/2010/main" val="1883031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10">
            <a:extLst xmlns:a="http://schemas.openxmlformats.org/drawingml/2006/main">
              <a:ext uri="{FF2B5EF4-FFF2-40B4-BE49-F238E27FC236}">
                <a16:creationId xmlns:a16="http://schemas.microsoft.com/office/drawing/2014/main" id="{61EBB016-FAF7-445B-AA13-D95190B4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111">
            <a:extLst xmlns:a="http://schemas.openxmlformats.org/drawingml/2006/main">
              <a:ext uri="{FF2B5EF4-FFF2-40B4-BE49-F238E27FC236}">
                <a16:creationId xmlns:a16="http://schemas.microsoft.com/office/drawing/2014/main" id="{E4B29707-4D6B-442B-9713-A1BA59FB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Operate：持续判断、执行与核对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299B0805-9FEF-40A2-B894-80A428F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C.1—C.3；存储、读取和周期检查共同触发</a:t>
            </a:r>
          </a:p>
        </p:txBody>
      </p:sp>
      <p:sp>
        <p:nvSpPr>
          <p:cNvPr id="4" name="route-113">
            <a:extLst xmlns:a="http://schemas.openxmlformats.org/drawingml/2006/main">
              <a:ext uri="{FF2B5EF4-FFF2-40B4-BE49-F238E27FC236}">
                <a16:creationId xmlns:a16="http://schemas.microsoft.com/office/drawing/2014/main" id="{1BF48130-3F3B-4890-92E2-79EE35B7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14">
            <a:extLst xmlns:a="http://schemas.openxmlformats.org/drawingml/2006/main">
              <a:ext uri="{FF2B5EF4-FFF2-40B4-BE49-F238E27FC236}">
                <a16:creationId xmlns:a16="http://schemas.microsoft.com/office/drawing/2014/main" id="{3EBEF510-78D1-48E0-9FC7-09819049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5">
            <a:extLst xmlns:a="http://schemas.openxmlformats.org/drawingml/2006/main">
              <a:ext uri="{FF2B5EF4-FFF2-40B4-BE49-F238E27FC236}">
                <a16:creationId xmlns:a16="http://schemas.microsoft.com/office/drawing/2014/main" id="{8257438F-2B01-4E70-AA2F-872BCDEB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06 / 22</a:t>
            </a:r>
          </a:p>
        </p:txBody>
      </p:sp>
      <p:sp>
        <p:nvSpPr>
          <p:cNvPr id="7" name="node-116">
            <a:extLst xmlns:a="http://schemas.openxmlformats.org/drawingml/2006/main">
              <a:ext uri="{FF2B5EF4-FFF2-40B4-BE49-F238E27FC236}">
                <a16:creationId xmlns:a16="http://schemas.microsoft.com/office/drawing/2014/main" id="{5C330C83-7AB2-4D68-8C22-7CE30D71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聚合与准入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事件去重、更新热度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同一记忆按序处理</a:t>
            </a:r>
          </a:p>
        </p:txBody>
      </p:sp>
      <p:sp>
        <p:nvSpPr>
          <p:cNvPr id="8" name="node-117">
            <a:extLst xmlns:a="http://schemas.openxmlformats.org/drawingml/2006/main">
              <a:ext uri="{FF2B5EF4-FFF2-40B4-BE49-F238E27FC236}">
                <a16:creationId xmlns:a16="http://schemas.microsoft.com/office/drawing/2014/main" id="{920D905A-6A4F-413C-9847-CC36F17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目标与资源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查实际状态、资格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核对容量和已有动作</a:t>
            </a:r>
          </a:p>
        </p:txBody>
      </p:sp>
      <p:sp>
        <p:nvSpPr>
          <p:cNvPr id="9" name="node-118">
            <a:extLst xmlns:a="http://schemas.openxmlformats.org/drawingml/2006/main">
              <a:ext uri="{FF2B5EF4-FFF2-40B4-BE49-F238E27FC236}">
                <a16:creationId xmlns:a16="http://schemas.microsoft.com/office/drawing/2014/main" id="{A20934EF-E870-43F6-B504-36BF8AAD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保存动作并执行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固定原 action_id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执行约定的真实调整</a:t>
            </a:r>
          </a:p>
        </p:txBody>
      </p:sp>
      <p:sp>
        <p:nvSpPr>
          <p:cNvPr id="10" name="route-119">
            <a:extLst xmlns:a="http://schemas.openxmlformats.org/drawingml/2006/main">
              <a:ext uri="{FF2B5EF4-FFF2-40B4-BE49-F238E27FC236}">
                <a16:creationId xmlns:a16="http://schemas.microsoft.com/office/drawing/2014/main" id="{16DB02EF-C3C3-4CD8-9531-EAB3475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1" name="route-120">
            <a:extLst xmlns:a="http://schemas.openxmlformats.org/drawingml/2006/main">
              <a:ext uri="{FF2B5EF4-FFF2-40B4-BE49-F238E27FC236}">
                <a16:creationId xmlns:a16="http://schemas.microsoft.com/office/drawing/2014/main" id="{4DB86C49-E9E0-4B8F-B7A3-B54BC033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2" name="route-121">
            <a:extLst xmlns:a="http://schemas.openxmlformats.org/drawingml/2006/main">
              <a:ext uri="{FF2B5EF4-FFF2-40B4-BE49-F238E27FC236}">
                <a16:creationId xmlns:a16="http://schemas.microsoft.com/office/drawing/2014/main" id="{AC6857B9-A558-4CDA-BAB5-21C9AC0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3" name="route-122">
            <a:extLst xmlns:a="http://schemas.openxmlformats.org/drawingml/2006/main">
              <a:ext uri="{FF2B5EF4-FFF2-40B4-BE49-F238E27FC236}">
                <a16:creationId xmlns:a16="http://schemas.microsoft.com/office/drawing/2014/main" id="{C8654D49-EC8D-4CF8-90B8-DF9CEE3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4" name="node-123">
            <a:extLst xmlns:a="http://schemas.openxmlformats.org/drawingml/2006/main">
              <a:ext uri="{FF2B5EF4-FFF2-40B4-BE49-F238E27FC236}">
                <a16:creationId xmlns:a16="http://schemas.microsoft.com/office/drawing/2014/main" id="{30C1A880-9CE9-495C-A835-47852A6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查询与读回核验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确认目标版本和真实效果</a:t>
            </a:r>
          </a:p>
        </p:txBody>
      </p:sp>
      <p:sp>
        <p:nvSpPr>
          <p:cNvPr id="15" name="node-124">
            <a:extLst xmlns:a="http://schemas.openxmlformats.org/drawingml/2006/main">
              <a:ext uri="{FF2B5EF4-FFF2-40B4-BE49-F238E27FC236}">
                <a16:creationId xmlns:a16="http://schemas.microsoft.com/office/drawing/2014/main" id="{661CD099-589C-4035-9807-84C0D1FE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向 Remember 交接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条件更新地址后完成本轮</a:t>
            </a:r>
          </a:p>
        </p:txBody>
      </p:sp>
      <p:sp>
        <p:nvSpPr>
          <p:cNvPr id="16" name="node-125">
            <a:extLst xmlns:a="http://schemas.openxmlformats.org/drawingml/2006/main">
              <a:ext uri="{FF2B5EF4-FFF2-40B4-BE49-F238E27FC236}">
                <a16:creationId xmlns:a16="http://schemas.microsoft.com/office/drawing/2014/main" id="{F574470D-C988-44FE-A14A-F990C06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下一轮判断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按最新状态继续</a:t>
            </a:r>
          </a:p>
        </p:txBody>
      </p:sp>
      <p:sp>
        <p:nvSpPr>
          <p:cNvPr id="17" name="route-126">
            <a:extLst xmlns:a="http://schemas.openxmlformats.org/drawingml/2006/main">
              <a:ext uri="{FF2B5EF4-FFF2-40B4-BE49-F238E27FC236}">
                <a16:creationId xmlns:a16="http://schemas.microsoft.com/office/drawing/2014/main" id="{DA3EE334-9508-4B9A-809F-F4DBD16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623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8" name="route-127">
            <a:extLst xmlns:a="http://schemas.openxmlformats.org/drawingml/2006/main">
              <a:ext uri="{FF2B5EF4-FFF2-40B4-BE49-F238E27FC236}">
                <a16:creationId xmlns:a16="http://schemas.microsoft.com/office/drawing/2014/main" id="{BA672A7C-659A-4C5A-A71E-CF5BD592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862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28">
            <a:extLst xmlns:a="http://schemas.openxmlformats.org/drawingml/2006/main">
              <a:ext uri="{FF2B5EF4-FFF2-40B4-BE49-F238E27FC236}">
                <a16:creationId xmlns:a16="http://schemas.microsoft.com/office/drawing/2014/main" id="{B3DC70DA-51BF-4314-98FE-E82D52E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0" name="route-129">
            <a:extLst xmlns:a="http://schemas.openxmlformats.org/drawingml/2006/main">
              <a:ext uri="{FF2B5EF4-FFF2-40B4-BE49-F238E27FC236}">
                <a16:creationId xmlns:a16="http://schemas.microsoft.com/office/drawing/2014/main" id="{346A6DA8-3EBA-40E2-A822-2BBA286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route-130">
            <a:extLst xmlns:a="http://schemas.openxmlformats.org/drawingml/2006/main">
              <a:ext uri="{FF2B5EF4-FFF2-40B4-BE49-F238E27FC236}">
                <a16:creationId xmlns:a16="http://schemas.microsoft.com/office/drawing/2014/main" id="{F59DC284-FDD9-4568-BEA5-9874866E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31">
            <a:extLst xmlns:a="http://schemas.openxmlformats.org/drawingml/2006/main">
              <a:ext uri="{FF2B5EF4-FFF2-40B4-BE49-F238E27FC236}">
                <a16:creationId xmlns:a16="http://schemas.microsoft.com/office/drawing/2014/main" id="{8B536E7E-C338-4C94-9384-717CD9A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route-132">
            <a:extLst xmlns:a="http://schemas.openxmlformats.org/drawingml/2006/main">
              <a:ext uri="{FF2B5EF4-FFF2-40B4-BE49-F238E27FC236}">
                <a16:creationId xmlns:a16="http://schemas.microsoft.com/office/drawing/2014/main" id="{3912CF5E-8817-4A1D-AEAA-A4C27CE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209550" cy="2000250"/>
          </a:xfrm>
          <a:custGeom xmlns:a="http://schemas.openxmlformats.org/drawingml/2006/main">
            <a:pathLst>
              <a:path w="209550" h="2000250">
                <a:moveTo>
                  <a:pt x="209550" y="2000250"/>
                </a:moveTo>
                <a:lnTo>
                  <a:pt x="0" y="2000250"/>
                </a:lnTo>
                <a:lnTo>
                  <a:pt x="0" y="0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4" name="route-133">
            <a:extLst xmlns:a="http://schemas.openxmlformats.org/drawingml/2006/main">
              <a:ext uri="{FF2B5EF4-FFF2-40B4-BE49-F238E27FC236}">
                <a16:creationId xmlns:a16="http://schemas.microsoft.com/office/drawing/2014/main" id="{6A217D77-D342-4000-A520-6AF2A1D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E1C77E52-91C9-4B6F-B920-2959BD5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回执丢失或结果未知：保留原动作，继续查询；不盲目重复执行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3B37703D-67DC-4145-9428-4F87CAB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已验证本地缓存执行；P2 生产物理调整仍需约定目标并提供真实证据</a:t>
            </a:r>
          </a:p>
        </p:txBody>
      </p:sp>
    </p:spTree>
    <p:extLst>
      <p:ext uri="{BB962C8B-B14F-4D97-AF65-F5344CB8AC3E}">
        <p14:creationId xmlns:p14="http://schemas.microsoft.com/office/powerpoint/2010/main" val="655053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8AF72E9B-952F-4E4A-A518-D7EDF1D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37">
            <a:extLst xmlns:a="http://schemas.openxmlformats.org/drawingml/2006/main">
              <a:ext uri="{FF2B5EF4-FFF2-40B4-BE49-F238E27FC236}">
                <a16:creationId xmlns:a16="http://schemas.microsoft.com/office/drawing/2014/main" id="{868A6E1B-12F3-4741-994C-8F26B00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总体方案与模块协作</a:t>
            </a:r>
          </a:p>
        </p:txBody>
      </p:sp>
      <p:sp>
        <p:nvSpPr>
          <p:cNvPr id="3" name="text-138">
            <a:extLst xmlns:a="http://schemas.openxmlformats.org/drawingml/2006/main">
              <a:ext uri="{FF2B5EF4-FFF2-40B4-BE49-F238E27FC236}">
                <a16:creationId xmlns:a16="http://schemas.microsoft.com/office/drawing/2014/main" id="{2E4651E9-ED9F-4DA2-B2FD-FBF5FD9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逻辑模块共享可靠底座，当前采用单进程模块化装配</a:t>
            </a:r>
          </a:p>
        </p:txBody>
      </p:sp>
      <p:sp>
        <p:nvSpPr>
          <p:cNvPr id="4" name="route-139">
            <a:extLst xmlns:a="http://schemas.openxmlformats.org/drawingml/2006/main">
              <a:ext uri="{FF2B5EF4-FFF2-40B4-BE49-F238E27FC236}">
                <a16:creationId xmlns:a16="http://schemas.microsoft.com/office/drawing/2014/main" id="{8EB61B4F-F033-4111-9EFA-6353D4A3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40">
            <a:extLst xmlns:a="http://schemas.openxmlformats.org/drawingml/2006/main">
              <a:ext uri="{FF2B5EF4-FFF2-40B4-BE49-F238E27FC236}">
                <a16:creationId xmlns:a16="http://schemas.microsoft.com/office/drawing/2014/main" id="{2815DFC1-C70F-470D-93D0-D7CA616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41">
            <a:extLst xmlns:a="http://schemas.openxmlformats.org/drawingml/2006/main">
              <a:ext uri="{FF2B5EF4-FFF2-40B4-BE49-F238E27FC236}">
                <a16:creationId xmlns:a16="http://schemas.microsoft.com/office/drawing/2014/main" id="{B5ADB9E8-F4F9-43B5-8D12-57C5657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07 / 22</a:t>
            </a:r>
          </a:p>
        </p:txBody>
      </p:sp>
      <p:sp>
        <p:nvSpPr>
          <p:cNvPr id="7" name="node-142">
            <a:extLst xmlns:a="http://schemas.openxmlformats.org/drawingml/2006/main">
              <a:ext uri="{FF2B5EF4-FFF2-40B4-BE49-F238E27FC236}">
                <a16:creationId xmlns:a16="http://schemas.microsoft.com/office/drawing/2014/main" id="{F8E95767-60E9-4311-8BD7-47CA0B46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统一接入：可信身份、租户范围、请求标识、状态查询</a:t>
            </a:r>
          </a:p>
        </p:txBody>
      </p:sp>
      <p:sp>
        <p:nvSpPr>
          <p:cNvPr id="8" name="node-143">
            <a:extLst xmlns:a="http://schemas.openxmlformats.org/drawingml/2006/main">
              <a:ext uri="{FF2B5EF4-FFF2-40B4-BE49-F238E27FC236}">
                <a16:creationId xmlns:a16="http://schemas.microsoft.com/office/drawing/2014/main" id="{201B83C1-934F-485E-83E6-8E56918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Remember（B）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维护事实与使用资格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提供正文、关系和复核</a:t>
            </a:r>
          </a:p>
        </p:txBody>
      </p:sp>
      <p:sp>
        <p:nvSpPr>
          <p:cNvPr id="9" name="node-144">
            <a:extLst xmlns:a="http://schemas.openxmlformats.org/drawingml/2006/main">
              <a:ext uri="{FF2B5EF4-FFF2-40B4-BE49-F238E27FC236}">
                <a16:creationId xmlns:a16="http://schemas.microsoft.com/office/drawing/2014/main" id="{F2B01A44-370D-453D-B587-335270D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Recall（A）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选择有效候选并组包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维护共享编码 / 向量机制</a:t>
            </a:r>
          </a:p>
        </p:txBody>
      </p:sp>
      <p:sp>
        <p:nvSpPr>
          <p:cNvPr id="10" name="node-145">
            <a:extLst xmlns:a="http://schemas.openxmlformats.org/drawingml/2006/main">
              <a:ext uri="{FF2B5EF4-FFF2-40B4-BE49-F238E27FC236}">
                <a16:creationId xmlns:a16="http://schemas.microsoft.com/office/drawing/2014/main" id="{7F3BCD63-04B5-4FEE-AC26-FE26BCA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Operate（C）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调度访问准备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核对动作、向 B 交接</a:t>
            </a:r>
          </a:p>
        </p:txBody>
      </p:sp>
      <p:sp>
        <p:nvSpPr>
          <p:cNvPr id="11" name="route-146">
            <a:extLst xmlns:a="http://schemas.openxmlformats.org/drawingml/2006/main">
              <a:ext uri="{FF2B5EF4-FFF2-40B4-BE49-F238E27FC236}">
                <a16:creationId xmlns:a16="http://schemas.microsoft.com/office/drawing/2014/main" id="{8193A37C-DE1A-4F7A-BBFA-22F3D10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05075"/>
            <a:ext cx="3867150" cy="533400"/>
          </a:xfrm>
          <a:custGeom xmlns:a="http://schemas.openxmlformats.org/drawingml/2006/main">
            <a:pathLst>
              <a:path w="3867150" h="533400">
                <a:moveTo>
                  <a:pt x="3867150" y="0"/>
                </a:moveTo>
                <a:lnTo>
                  <a:pt x="3867150" y="219075"/>
                </a:lnTo>
                <a:lnTo>
                  <a:pt x="0" y="219075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47">
            <a:extLst xmlns:a="http://schemas.openxmlformats.org/drawingml/2006/main">
              <a:ext uri="{FF2B5EF4-FFF2-40B4-BE49-F238E27FC236}">
                <a16:creationId xmlns:a16="http://schemas.microsoft.com/office/drawing/2014/main" id="{4947DA11-B48A-4E8E-8F6E-852ACD3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48">
            <a:extLst xmlns:a="http://schemas.openxmlformats.org/drawingml/2006/main">
              <a:ext uri="{FF2B5EF4-FFF2-40B4-BE49-F238E27FC236}">
                <a16:creationId xmlns:a16="http://schemas.microsoft.com/office/drawing/2014/main" id="{E9D628E5-2DEC-4120-9476-203D0B1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95" cy="314325"/>
          </a:xfrm>
          <a:custGeom xmlns:a="http://schemas.openxmlformats.org/drawingml/2006/main"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49">
            <a:extLst xmlns:a="http://schemas.openxmlformats.org/drawingml/2006/main">
              <a:ext uri="{FF2B5EF4-FFF2-40B4-BE49-F238E27FC236}">
                <a16:creationId xmlns:a16="http://schemas.microsoft.com/office/drawing/2014/main" id="{EDBA99D0-8B44-4DBA-9B8B-164BA02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150">
            <a:extLst xmlns:a="http://schemas.openxmlformats.org/drawingml/2006/main">
              <a:ext uri="{FF2B5EF4-FFF2-40B4-BE49-F238E27FC236}">
                <a16:creationId xmlns:a16="http://schemas.microsoft.com/office/drawing/2014/main" id="{7C3EBC99-CF23-4301-A694-872D991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628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151">
            <a:extLst xmlns:a="http://schemas.openxmlformats.org/drawingml/2006/main">
              <a:ext uri="{FF2B5EF4-FFF2-40B4-BE49-F238E27FC236}">
                <a16:creationId xmlns:a16="http://schemas.microsoft.com/office/drawing/2014/main" id="{A09386E5-8AF6-4A2D-BC29-EB2896C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152">
            <a:extLst xmlns:a="http://schemas.openxmlformats.org/drawingml/2006/main">
              <a:ext uri="{FF2B5EF4-FFF2-40B4-BE49-F238E27FC236}">
                <a16:creationId xmlns:a16="http://schemas.microsoft.com/office/drawing/2014/main" id="{E3DC30D6-61CD-48E0-97B8-E2508F4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18" name="route-153">
            <a:extLst xmlns:a="http://schemas.openxmlformats.org/drawingml/2006/main">
              <a:ext uri="{FF2B5EF4-FFF2-40B4-BE49-F238E27FC236}">
                <a16:creationId xmlns:a16="http://schemas.microsoft.com/office/drawing/2014/main" id="{A76C00D2-468C-4861-ABB7-412C8D2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54">
            <a:extLst xmlns:a="http://schemas.openxmlformats.org/drawingml/2006/main">
              <a:ext uri="{FF2B5EF4-FFF2-40B4-BE49-F238E27FC236}">
                <a16:creationId xmlns:a16="http://schemas.microsoft.com/office/drawing/2014/main" id="{19D142C7-9EEA-460F-9E21-8E3C32C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24350"/>
            <a:ext cx="7734300" cy="180975"/>
          </a:xfrm>
          <a:custGeom xmlns:a="http://schemas.openxmlformats.org/drawingml/2006/main">
            <a:pathLst>
              <a:path w="7734300" h="180975">
                <a:moveTo>
                  <a:pt x="0" y="0"/>
                </a:moveTo>
                <a:lnTo>
                  <a:pt x="0" y="180975"/>
                </a:lnTo>
                <a:lnTo>
                  <a:pt x="7734300" y="180975"/>
                </a:lnTo>
                <a:lnTo>
                  <a:pt x="773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0" name="route-155">
            <a:extLst xmlns:a="http://schemas.openxmlformats.org/drawingml/2006/main">
              <a:ext uri="{FF2B5EF4-FFF2-40B4-BE49-F238E27FC236}">
                <a16:creationId xmlns:a16="http://schemas.microsoft.com/office/drawing/2014/main" id="{F172AD85-1F6B-4516-9B86-955DC4C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text-156">
            <a:extLst xmlns:a="http://schemas.openxmlformats.org/drawingml/2006/main">
              <a:ext uri="{FF2B5EF4-FFF2-40B4-BE49-F238E27FC236}">
                <a16:creationId xmlns:a16="http://schemas.microsoft.com/office/drawing/2014/main" id="{61B83D95-D626-45AC-9EF9-39BE226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910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存储变更事件</a:t>
            </a:r>
          </a:p>
        </p:txBody>
      </p:sp>
      <p:sp>
        <p:nvSpPr>
          <p:cNvPr id="22" name="node-157">
            <a:extLst xmlns:a="http://schemas.openxmlformats.org/drawingml/2006/main">
              <a:ext uri="{FF2B5EF4-FFF2-40B4-BE49-F238E27FC236}">
                <a16:creationId xmlns:a16="http://schemas.microsoft.com/office/drawing/2014/main" id="{63EAE9DD-754B-4919-869F-4B66B980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3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公共底座：事务、持久任务、可靠事件、授权、日志和恢复</a:t>
            </a:r>
          </a:p>
        </p:txBody>
      </p:sp>
      <p:sp>
        <p:nvSpPr>
          <p:cNvPr id="23" name="node-158">
            <a:extLst xmlns:a="http://schemas.openxmlformats.org/drawingml/2006/main">
              <a:ext uri="{FF2B5EF4-FFF2-40B4-BE49-F238E27FC236}">
                <a16:creationId xmlns:a16="http://schemas.microsoft.com/office/drawing/2014/main" id="{44DCA816-609C-46B5-8DE5-0EBADC7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/ 约定提供方：对象、向量、关系、执行及可核对的结果</a:t>
            </a:r>
          </a:p>
        </p:txBody>
      </p:sp>
    </p:spTree>
    <p:extLst>
      <p:ext uri="{BB962C8B-B14F-4D97-AF65-F5344CB8AC3E}">
        <p14:creationId xmlns:p14="http://schemas.microsoft.com/office/powerpoint/2010/main" val="1195959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EDBAA14F-30BD-4F48-AE31-02F2E075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0">
            <a:extLst xmlns:a="http://schemas.openxmlformats.org/drawingml/2006/main">
              <a:ext uri="{FF2B5EF4-FFF2-40B4-BE49-F238E27FC236}">
                <a16:creationId xmlns:a16="http://schemas.microsoft.com/office/drawing/2014/main" id="{4C21020A-9F86-4E69-9A33-5CBF140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记忆与数据方案</a:t>
            </a:r>
          </a:p>
        </p:txBody>
      </p:sp>
      <p:sp>
        <p:nvSpPr>
          <p:cNvPr id="3" name="text-161">
            <a:extLst xmlns:a="http://schemas.openxmlformats.org/drawingml/2006/main">
              <a:ext uri="{FF2B5EF4-FFF2-40B4-BE49-F238E27FC236}">
                <a16:creationId xmlns:a16="http://schemas.microsoft.com/office/drawing/2014/main" id="{1B5AEB0B-5386-4721-B2C9-9F88B85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记忆业务类型与访问层级是两个维度；热、温、冷不改变事实含义</a:t>
            </a:r>
          </a:p>
        </p:txBody>
      </p:sp>
      <p:sp>
        <p:nvSpPr>
          <p:cNvPr id="4" name="route-162">
            <a:extLst xmlns:a="http://schemas.openxmlformats.org/drawingml/2006/main">
              <a:ext uri="{FF2B5EF4-FFF2-40B4-BE49-F238E27FC236}">
                <a16:creationId xmlns:a16="http://schemas.microsoft.com/office/drawing/2014/main" id="{9CDCF0AC-E763-4F6E-9449-CC6560D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63">
            <a:extLst xmlns:a="http://schemas.openxmlformats.org/drawingml/2006/main">
              <a:ext uri="{FF2B5EF4-FFF2-40B4-BE49-F238E27FC236}">
                <a16:creationId xmlns:a16="http://schemas.microsoft.com/office/drawing/2014/main" id="{7E7327F4-F124-4A75-98E3-1AFB1E4D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4801ACD7-8527-4C6F-A822-935A4F7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08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333875"/>
                <a:gridCol w="4295775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预算案例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原件、来源版本、权限和位置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“预算 20 万”的会议原文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业务类型、当前版本、状态、正文引用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更正后，当前有效预算为 15 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加工产物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/ 摘要、来源及质量结论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合格压缩保留数值、否定和条件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向量索引与缓存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检索位置 / 可选访问副本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旧命中和旧副本服从当前资格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165">
            <a:extLst xmlns:a="http://schemas.openxmlformats.org/drawingml/2006/main">
              <a:ext uri="{FF2B5EF4-FFF2-40B4-BE49-F238E27FC236}">
                <a16:creationId xmlns:a16="http://schemas.microsoft.com/office/drawing/2014/main" id="{3BDF0BE9-FC57-48D6-AAC7-66824ECC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Working 当前任务　Episodic 事件经历　Semantic 稳定事实</a:t>
            </a:r>
          </a:p>
        </p:txBody>
      </p:sp>
    </p:spTree>
    <p:extLst>
      <p:ext uri="{BB962C8B-B14F-4D97-AF65-F5344CB8AC3E}">
        <p14:creationId xmlns:p14="http://schemas.microsoft.com/office/powerpoint/2010/main" val="556976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66">
            <a:extLst xmlns:a="http://schemas.openxmlformats.org/drawingml/2006/main">
              <a:ext uri="{FF2B5EF4-FFF2-40B4-BE49-F238E27FC236}">
                <a16:creationId xmlns:a16="http://schemas.microsoft.com/office/drawing/2014/main" id="{881FE081-9DF6-4081-92CF-37B926B7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7">
            <a:extLst xmlns:a="http://schemas.openxmlformats.org/drawingml/2006/main">
              <a:ext uri="{FF2B5EF4-FFF2-40B4-BE49-F238E27FC236}">
                <a16:creationId xmlns:a16="http://schemas.microsoft.com/office/drawing/2014/main" id="{8536F3D4-2279-4B77-8856-985A5D7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语义检索与上下文方案</a:t>
            </a:r>
          </a:p>
        </p:txBody>
      </p:sp>
      <p:sp>
        <p:nvSpPr>
          <p:cNvPr id="3" name="text-168">
            <a:extLst xmlns:a="http://schemas.openxmlformats.org/drawingml/2006/main">
              <a:ext uri="{FF2B5EF4-FFF2-40B4-BE49-F238E27FC236}">
                <a16:creationId xmlns:a16="http://schemas.microsoft.com/office/drawing/2014/main" id="{8EC967A3-B2F1-4E0A-973D-00CA1E5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写入侧形成候选事实，查询侧找到线索；正式使用由业务规则控制</a:t>
            </a:r>
          </a:p>
        </p:txBody>
      </p:sp>
      <p:sp>
        <p:nvSpPr>
          <p:cNvPr id="4" name="route-169">
            <a:extLst xmlns:a="http://schemas.openxmlformats.org/drawingml/2006/main">
              <a:ext uri="{FF2B5EF4-FFF2-40B4-BE49-F238E27FC236}">
                <a16:creationId xmlns:a16="http://schemas.microsoft.com/office/drawing/2014/main" id="{77B7FBBE-DC70-4FDD-8C88-F28C090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E2AA7754-4035-44AD-8A79-CBA3563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71">
            <a:extLst xmlns:a="http://schemas.openxmlformats.org/drawingml/2006/main">
              <a:ext uri="{FF2B5EF4-FFF2-40B4-BE49-F238E27FC236}">
                <a16:creationId xmlns:a16="http://schemas.microsoft.com/office/drawing/2014/main" id="{8AE97228-5094-4FFC-999D-3EE50CB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 / 22</a:t>
            </a:r>
          </a:p>
        </p:txBody>
      </p:sp>
      <p:sp>
        <p:nvSpPr>
          <p:cNvPr id="7" name="text-172">
            <a:extLst xmlns:a="http://schemas.openxmlformats.org/drawingml/2006/main">
              <a:ext uri="{FF2B5EF4-FFF2-40B4-BE49-F238E27FC236}">
                <a16:creationId xmlns:a16="http://schemas.microsoft.com/office/drawing/2014/main" id="{62C3F76D-5DD1-41B9-9B44-310FE08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写入侧</a:t>
            </a:r>
          </a:p>
        </p:txBody>
      </p:sp>
      <p:sp>
        <p:nvSpPr>
          <p:cNvPr id="8" name="node-173">
            <a:extLst xmlns:a="http://schemas.openxmlformats.org/drawingml/2006/main">
              <a:ext uri="{FF2B5EF4-FFF2-40B4-BE49-F238E27FC236}">
                <a16:creationId xmlns:a16="http://schemas.microsoft.com/office/drawing/2014/main" id="{5757E71F-5E2E-4C23-84F5-9EFCDE7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22669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原文与旧记忆</a:t>
            </a:r>
          </a:p>
        </p:txBody>
      </p:sp>
      <p:sp>
        <p:nvSpPr>
          <p:cNvPr id="9" name="node-174">
            <a:extLst xmlns:a="http://schemas.openxmlformats.org/drawingml/2006/main">
              <a:ext uri="{FF2B5EF4-FFF2-40B4-BE49-F238E27FC236}">
                <a16:creationId xmlns:a16="http://schemas.microsoft.com/office/drawing/2014/main" id="{8DA122E5-1883-485F-BF2B-24C50220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76425"/>
            <a:ext cx="2762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抽取 / 比较 / 压缩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模型给出建议</a:t>
            </a:r>
          </a:p>
        </p:txBody>
      </p:sp>
      <p:sp>
        <p:nvSpPr>
          <p:cNvPr id="10" name="node-175">
            <a:extLst xmlns:a="http://schemas.openxmlformats.org/drawingml/2006/main">
              <a:ext uri="{FF2B5EF4-FFF2-40B4-BE49-F238E27FC236}">
                <a16:creationId xmlns:a16="http://schemas.microsoft.com/office/drawing/2014/main" id="{C97BEBBB-0AE8-4CC8-8E93-2D3DAE4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76425"/>
            <a:ext cx="32004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审核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证据、版本与质量</a:t>
            </a:r>
          </a:p>
        </p:txBody>
      </p:sp>
      <p:sp>
        <p:nvSpPr>
          <p:cNvPr id="11" name="route-176">
            <a:extLst xmlns:a="http://schemas.openxmlformats.org/drawingml/2006/main">
              <a:ext uri="{FF2B5EF4-FFF2-40B4-BE49-F238E27FC236}">
                <a16:creationId xmlns:a16="http://schemas.microsoft.com/office/drawing/2014/main" id="{449DF67C-72A5-4559-B9F2-7CBD423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77">
            <a:extLst xmlns:a="http://schemas.openxmlformats.org/drawingml/2006/main">
              <a:ext uri="{FF2B5EF4-FFF2-40B4-BE49-F238E27FC236}">
                <a16:creationId xmlns:a16="http://schemas.microsoft.com/office/drawing/2014/main" id="{15BFECE3-7576-4E16-9A11-5BE7750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78">
            <a:extLst xmlns:a="http://schemas.openxmlformats.org/drawingml/2006/main">
              <a:ext uri="{FF2B5EF4-FFF2-40B4-BE49-F238E27FC236}">
                <a16:creationId xmlns:a16="http://schemas.microsoft.com/office/drawing/2014/main" id="{F23DCA5A-467C-4DEA-AF1E-B9560F1D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79">
            <a:extLst xmlns:a="http://schemas.openxmlformats.org/drawingml/2006/main">
              <a:ext uri="{FF2B5EF4-FFF2-40B4-BE49-F238E27FC236}">
                <a16:creationId xmlns:a16="http://schemas.microsoft.com/office/drawing/2014/main" id="{A30370CB-E9F7-4080-AA96-B84B57DB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180">
            <a:extLst xmlns:a="http://schemas.openxmlformats.org/drawingml/2006/main">
              <a:ext uri="{FF2B5EF4-FFF2-40B4-BE49-F238E27FC236}">
                <a16:creationId xmlns:a16="http://schemas.microsoft.com/office/drawing/2014/main" id="{E6945B39-FDE5-4509-B224-B99060F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查询侧</a:t>
            </a:r>
          </a:p>
        </p:txBody>
      </p:sp>
      <p:sp>
        <p:nvSpPr>
          <p:cNvPr id="16" name="node-181">
            <a:extLst xmlns:a="http://schemas.openxmlformats.org/drawingml/2006/main">
              <a:ext uri="{FF2B5EF4-FFF2-40B4-BE49-F238E27FC236}">
                <a16:creationId xmlns:a16="http://schemas.microsoft.com/office/drawing/2014/main" id="{8C23A575-9BCB-4372-8481-D56B614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兼容 BGE 模型空间</a:t>
            </a:r>
          </a:p>
        </p:txBody>
      </p:sp>
      <p:sp>
        <p:nvSpPr>
          <p:cNvPr id="17" name="node-182">
            <a:extLst xmlns:a="http://schemas.openxmlformats.org/drawingml/2006/main">
              <a:ext uri="{FF2B5EF4-FFF2-40B4-BE49-F238E27FC236}">
                <a16:creationId xmlns:a16="http://schemas.microsoft.com/office/drawing/2014/main" id="{07D35C95-7CDE-401B-BB28-7EE8D42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块检索与记忆聚合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一个记忆只占一位</a:t>
            </a:r>
          </a:p>
        </p:txBody>
      </p:sp>
      <p:sp>
        <p:nvSpPr>
          <p:cNvPr id="18" name="node-183">
            <a:extLst xmlns:a="http://schemas.openxmlformats.org/drawingml/2006/main">
              <a:ext uri="{FF2B5EF4-FFF2-40B4-BE49-F238E27FC236}">
                <a16:creationId xmlns:a16="http://schemas.microsoft.com/office/drawing/2014/main" id="{A866AC59-501B-4A43-AE34-0B289D6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2876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完整正文与冲突组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排序、预算、最终复核</a:t>
            </a:r>
          </a:p>
        </p:txBody>
      </p:sp>
      <p:sp>
        <p:nvSpPr>
          <p:cNvPr id="19" name="route-184">
            <a:extLst xmlns:a="http://schemas.openxmlformats.org/drawingml/2006/main">
              <a:ext uri="{FF2B5EF4-FFF2-40B4-BE49-F238E27FC236}">
                <a16:creationId xmlns:a16="http://schemas.microsoft.com/office/drawing/2014/main" id="{BEBC1E86-8D15-4087-B9A1-6574C22C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185">
            <a:extLst xmlns:a="http://schemas.openxmlformats.org/drawingml/2006/main">
              <a:ext uri="{FF2B5EF4-FFF2-40B4-BE49-F238E27FC236}">
                <a16:creationId xmlns:a16="http://schemas.microsoft.com/office/drawing/2014/main" id="{76D2E7EC-E104-4C5F-BD93-173D97B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route-186">
            <a:extLst xmlns:a="http://schemas.openxmlformats.org/drawingml/2006/main">
              <a:ext uri="{FF2B5EF4-FFF2-40B4-BE49-F238E27FC236}">
                <a16:creationId xmlns:a16="http://schemas.microsoft.com/office/drawing/2014/main" id="{1DDF7380-9B87-4212-857F-D4A2634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2" name="route-187">
            <a:extLst xmlns:a="http://schemas.openxmlformats.org/drawingml/2006/main">
              <a:ext uri="{FF2B5EF4-FFF2-40B4-BE49-F238E27FC236}">
                <a16:creationId xmlns:a16="http://schemas.microsoft.com/office/drawing/2014/main" id="{BEE27861-D1D2-449D-8C24-67BEDF8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3" name="text-188">
            <a:extLst xmlns:a="http://schemas.openxmlformats.org/drawingml/2006/main">
              <a:ext uri="{FF2B5EF4-FFF2-40B4-BE49-F238E27FC236}">
                <a16:creationId xmlns:a16="http://schemas.microsoft.com/office/drawing/2014/main" id="{FBE452E2-5A7E-4E7A-A37D-A5C3E99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390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模型与向量分数</a:t>
            </a:r>
          </a:p>
        </p:txBody>
      </p:sp>
      <p:sp>
        <p:nvSpPr>
          <p:cNvPr id="24" name="text-189">
            <a:extLst xmlns:a="http://schemas.openxmlformats.org/drawingml/2006/main">
              <a:ext uri="{FF2B5EF4-FFF2-40B4-BE49-F238E27FC236}">
                <a16:creationId xmlns:a16="http://schemas.microsoft.com/office/drawing/2014/main" id="{F4735F27-C3CC-4EE0-B678-3ADBA658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14875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提供抽取和相关性线索；不能代替授权、有效版本或完整性核验</a:t>
            </a:r>
          </a:p>
        </p:txBody>
      </p:sp>
      <p:sp>
        <p:nvSpPr>
          <p:cNvPr id="25" name="text-190">
            <a:extLst xmlns:a="http://schemas.openxmlformats.org/drawingml/2006/main">
              <a:ext uri="{FF2B5EF4-FFF2-40B4-BE49-F238E27FC236}">
                <a16:creationId xmlns:a16="http://schemas.microsoft.com/office/drawing/2014/main" id="{B45AC6EE-69C0-48FE-9C24-EB8F235C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真实模型评测要覆盖数值更正、否定、条件、多来源冲突和长文压缩</a:t>
            </a:r>
          </a:p>
        </p:txBody>
      </p:sp>
    </p:spTree>
    <p:extLst>
      <p:ext uri="{BB962C8B-B14F-4D97-AF65-F5344CB8AC3E}">
        <p14:creationId xmlns:p14="http://schemas.microsoft.com/office/powerpoint/2010/main" val="388985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7E2608F9-047F-439E-9C35-37CA9CA1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92">
            <a:extLst xmlns:a="http://schemas.openxmlformats.org/drawingml/2006/main">
              <a:ext uri="{FF2B5EF4-FFF2-40B4-BE49-F238E27FC236}">
                <a16:creationId xmlns:a16="http://schemas.microsoft.com/office/drawing/2014/main" id="{FFA24472-B756-4A37-98C8-582E41ED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可靠运行与租户隔离方案</a:t>
            </a:r>
          </a:p>
        </p:txBody>
      </p:sp>
      <p:sp>
        <p:nvSpPr>
          <p:cNvPr id="3" name="text-193">
            <a:extLst xmlns:a="http://schemas.openxmlformats.org/drawingml/2006/main">
              <a:ext uri="{FF2B5EF4-FFF2-40B4-BE49-F238E27FC236}">
                <a16:creationId xmlns:a16="http://schemas.microsoft.com/office/drawing/2014/main" id="{545B004E-5F6D-4A95-A5EC-97AC2694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公共机制覆盖前台、后台、历史结果和恢复路径</a:t>
            </a:r>
          </a:p>
        </p:txBody>
      </p:sp>
      <p:sp>
        <p:nvSpPr>
          <p:cNvPr id="4" name="route-194">
            <a:extLst xmlns:a="http://schemas.openxmlformats.org/drawingml/2006/main">
              <a:ext uri="{FF2B5EF4-FFF2-40B4-BE49-F238E27FC236}">
                <a16:creationId xmlns:a16="http://schemas.microsoft.com/office/drawing/2014/main" id="{3569D675-E39D-4D2A-8803-0346B8F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95">
            <a:extLst xmlns:a="http://schemas.openxmlformats.org/drawingml/2006/main">
              <a:ext uri="{FF2B5EF4-FFF2-40B4-BE49-F238E27FC236}">
                <a16:creationId xmlns:a16="http://schemas.microsoft.com/office/drawing/2014/main" id="{87BDFF2F-78E4-41AF-975E-BB13123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96">
            <a:extLst xmlns:a="http://schemas.openxmlformats.org/drawingml/2006/main">
              <a:ext uri="{FF2B5EF4-FFF2-40B4-BE49-F238E27FC236}">
                <a16:creationId xmlns:a16="http://schemas.microsoft.com/office/drawing/2014/main" id="{89D9E208-244C-4E69-9177-E1D1F3F8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 / 22</a:t>
            </a:r>
          </a:p>
        </p:txBody>
      </p:sp>
      <p:sp>
        <p:nvSpPr>
          <p:cNvPr id="7" name="text-197">
            <a:extLst xmlns:a="http://schemas.openxmlformats.org/drawingml/2006/main">
              <a:ext uri="{FF2B5EF4-FFF2-40B4-BE49-F238E27FC236}">
                <a16:creationId xmlns:a16="http://schemas.microsoft.com/office/drawing/2014/main" id="{77F038A7-5C04-49C9-9EBB-F5C49D8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保存后进程中断</a:t>
            </a:r>
          </a:p>
        </p:txBody>
      </p:sp>
      <p:sp>
        <p:nvSpPr>
          <p:cNvPr id="8" name="text-198">
            <a:extLst xmlns:a="http://schemas.openxmlformats.org/drawingml/2006/main">
              <a:ext uri="{FF2B5EF4-FFF2-40B4-BE49-F238E27FC236}">
                <a16:creationId xmlns:a16="http://schemas.microsoft.com/office/drawing/2014/main" id="{9DE482F3-03D2-41DC-B2CD-4FC6618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821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事实与待办一起提交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按原任务和检查点继续，避免漏处理或重复效果</a:t>
            </a:r>
          </a:p>
        </p:txBody>
      </p:sp>
      <p:sp>
        <p:nvSpPr>
          <p:cNvPr id="9" name="route-199">
            <a:extLst xmlns:a="http://schemas.openxmlformats.org/drawingml/2006/main">
              <a:ext uri="{FF2B5EF4-FFF2-40B4-BE49-F238E27FC236}">
                <a16:creationId xmlns:a16="http://schemas.microsoft.com/office/drawing/2014/main" id="{D8B7FF4A-21A5-4D81-B374-C3B1CC0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86100"/>
            <a:ext cx="8210550" cy="95"/>
          </a:xfrm>
          <a:custGeom xmlns:a="http://schemas.openxmlformats.org/drawingml/2006/main">
            <a:pathLst>
              <a:path w="8210550" h="95">
                <a:moveTo>
                  <a:pt x="0" y="0"/>
                </a:moveTo>
                <a:lnTo>
                  <a:pt x="821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0" name="text-200">
            <a:extLst xmlns:a="http://schemas.openxmlformats.org/drawingml/2006/main">
              <a:ext uri="{FF2B5EF4-FFF2-40B4-BE49-F238E27FC236}">
                <a16:creationId xmlns:a16="http://schemas.microsoft.com/office/drawing/2014/main" id="{F62E95AF-861F-42B1-8AE4-A4F02C0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更正、删除或撤权</a:t>
            </a:r>
          </a:p>
        </p:txBody>
      </p:sp>
      <p:sp>
        <p:nvSpPr>
          <p:cNvPr id="11" name="text-201">
            <a:extLst xmlns:a="http://schemas.openxmlformats.org/drawingml/2006/main">
              <a:ext uri="{FF2B5EF4-FFF2-40B4-BE49-F238E27FC236}">
                <a16:creationId xmlns:a16="http://schemas.microsoft.com/office/drawing/2014/main" id="{0FCF5E22-BE6B-43FA-98F7-E6B210F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821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读取和提交前重验当前资格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旧索引、旧缓存和旧结果不能绕过</a:t>
            </a:r>
          </a:p>
        </p:txBody>
      </p:sp>
      <p:sp>
        <p:nvSpPr>
          <p:cNvPr id="12" name="route-202">
            <a:extLst xmlns:a="http://schemas.openxmlformats.org/drawingml/2006/main">
              <a:ext uri="{FF2B5EF4-FFF2-40B4-BE49-F238E27FC236}">
                <a16:creationId xmlns:a16="http://schemas.microsoft.com/office/drawing/2014/main" id="{A4F45DCA-36D0-4D84-A7D9-330BC82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57675"/>
            <a:ext cx="8210550" cy="95"/>
          </a:xfrm>
          <a:custGeom xmlns:a="http://schemas.openxmlformats.org/drawingml/2006/main">
            <a:pathLst>
              <a:path w="8210550" h="95">
                <a:moveTo>
                  <a:pt x="0" y="0"/>
                </a:moveTo>
                <a:lnTo>
                  <a:pt x="821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text-203">
            <a:extLst xmlns:a="http://schemas.openxmlformats.org/drawingml/2006/main">
              <a:ext uri="{FF2B5EF4-FFF2-40B4-BE49-F238E27FC236}">
                <a16:creationId xmlns:a16="http://schemas.microsoft.com/office/drawing/2014/main" id="{52ABAF68-123E-4017-8EB6-9017A3D7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执行后丢失回执</a:t>
            </a:r>
          </a:p>
        </p:txBody>
      </p:sp>
      <p:sp>
        <p:nvSpPr>
          <p:cNvPr id="14" name="text-204">
            <a:extLst xmlns:a="http://schemas.openxmlformats.org/drawingml/2006/main">
              <a:ext uri="{FF2B5EF4-FFF2-40B4-BE49-F238E27FC236}">
                <a16:creationId xmlns:a16="http://schemas.microsoft.com/office/drawing/2014/main" id="{A40C1988-4067-49EE-9999-83D8B4E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81500"/>
            <a:ext cx="821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保留原动作编号，查询实际状态并核对目标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结果未知就继续跟踪</a:t>
            </a:r>
          </a:p>
        </p:txBody>
      </p:sp>
      <p:sp>
        <p:nvSpPr>
          <p:cNvPr id="15" name="text-205">
            <a:extLst xmlns:a="http://schemas.openxmlformats.org/drawingml/2006/main">
              <a:ext uri="{FF2B5EF4-FFF2-40B4-BE49-F238E27FC236}">
                <a16:creationId xmlns:a16="http://schemas.microsoft.com/office/drawing/2014/main" id="{1A974461-22FD-403C-9D0B-BBAE96B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Trace 帮助定位问题；完成与恢复结论依据持久事实和真实效果</a:t>
            </a:r>
          </a:p>
        </p:txBody>
      </p:sp>
    </p:spTree>
    <p:extLst>
      <p:ext uri="{BB962C8B-B14F-4D97-AF65-F5344CB8AC3E}">
        <p14:creationId xmlns:p14="http://schemas.microsoft.com/office/powerpoint/2010/main" val="2072934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06">
            <a:extLst xmlns:a="http://schemas.openxmlformats.org/drawingml/2006/main">
              <a:ext uri="{FF2B5EF4-FFF2-40B4-BE49-F238E27FC236}">
                <a16:creationId xmlns:a16="http://schemas.microsoft.com/office/drawing/2014/main" id="{4442CD40-80E0-4D2F-AFD4-4BB77EB9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207">
            <a:extLst xmlns:a="http://schemas.openxmlformats.org/drawingml/2006/main">
              <a:ext uri="{FF2B5EF4-FFF2-40B4-BE49-F238E27FC236}">
                <a16:creationId xmlns:a16="http://schemas.microsoft.com/office/drawing/2014/main" id="{D753408E-924C-4213-A19D-7737BD2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技术选择与工程代价</a:t>
            </a:r>
          </a:p>
        </p:txBody>
      </p:sp>
      <p:sp>
        <p:nvSpPr>
          <p:cNvPr id="3" name="text-208">
            <a:extLst xmlns:a="http://schemas.openxmlformats.org/drawingml/2006/main">
              <a:ext uri="{FF2B5EF4-FFF2-40B4-BE49-F238E27FC236}">
                <a16:creationId xmlns:a16="http://schemas.microsoft.com/office/drawing/2014/main" id="{C0D45484-8D3F-43C6-AF64-3D8E84A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运行依赖、设计参考与真实环境验证分别说明</a:t>
            </a:r>
          </a:p>
        </p:txBody>
      </p:sp>
      <p:sp>
        <p:nvSpPr>
          <p:cNvPr id="4" name="route-209">
            <a:extLst xmlns:a="http://schemas.openxmlformats.org/drawingml/2006/main">
              <a:ext uri="{FF2B5EF4-FFF2-40B4-BE49-F238E27FC236}">
                <a16:creationId xmlns:a16="http://schemas.microsoft.com/office/drawing/2014/main" id="{9DBBAF30-0C44-4A85-9C27-4B02F36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0">
            <a:extLst xmlns:a="http://schemas.openxmlformats.org/drawingml/2006/main">
              <a:ext uri="{FF2B5EF4-FFF2-40B4-BE49-F238E27FC236}">
                <a16:creationId xmlns:a16="http://schemas.microsoft.com/office/drawing/2014/main" id="{3F5E9979-EB86-4738-918F-194C3FA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1">
            <a:extLst xmlns:a="http://schemas.openxmlformats.org/drawingml/2006/main">
              <a:ext uri="{FF2B5EF4-FFF2-40B4-BE49-F238E27FC236}">
                <a16:creationId xmlns:a16="http://schemas.microsoft.com/office/drawing/2014/main" id="{34CADF61-42E0-4956-A488-F87DBA6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850"/>
                <a:gridCol w="4057650"/>
                <a:gridCol w="4305300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解决的问题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代价与当前边界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FastAPI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单进程 + 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统一入口；业务与任务事件一致提交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易于本地复现；多副本与规模性能待验证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/ FastEmbed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ONNX Runtime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 与 Passage 使用兼容模型空间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BGE 已验证；目标吞吐及检索质量待验收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模型协议适配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抽取、比较、压缩及质量审核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需标注集和模型评测；LangMem 为机制参考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/ Milvus / Redis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可配置适配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对象、索引、缓存和约定执行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协议或本地证据已有；真实依赖需联调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12">
            <a:extLst xmlns:a="http://schemas.openxmlformats.org/drawingml/2006/main">
              <a:ext uri="{FF2B5EF4-FFF2-40B4-BE49-F238E27FC236}">
                <a16:creationId xmlns:a16="http://schemas.microsoft.com/office/drawing/2014/main" id="{CFAF0498-DA99-442E-8C56-BA56F11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主 ADR 状态仍为 Proposed；选型与性能结论需要联合评审和实测</a:t>
            </a:r>
          </a:p>
        </p:txBody>
      </p:sp>
    </p:spTree>
    <p:extLst>
      <p:ext uri="{BB962C8B-B14F-4D97-AF65-F5344CB8AC3E}">
        <p14:creationId xmlns:p14="http://schemas.microsoft.com/office/powerpoint/2010/main" val="855003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13">
            <a:extLst xmlns:a="http://schemas.openxmlformats.org/drawingml/2006/main">
              <a:ext uri="{FF2B5EF4-FFF2-40B4-BE49-F238E27FC236}">
                <a16:creationId xmlns:a16="http://schemas.microsoft.com/office/drawing/2014/main" id="{7CFD1015-8E46-49BB-96E9-3478576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14">
            <a:extLst xmlns:a="http://schemas.openxmlformats.org/drawingml/2006/main">
              <a:ext uri="{FF2B5EF4-FFF2-40B4-BE49-F238E27FC236}">
                <a16:creationId xmlns:a16="http://schemas.microsoft.com/office/drawing/2014/main" id="{4CBE0BC5-236C-4A39-837B-5ED4AB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当前已形成统一运行的本地服务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2686F442-120B-40D2-B45F-D9285E2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代码核对截至 2026.09.28：HEAD 74f71bc，另有工作区监测等修改</a:t>
            </a:r>
          </a:p>
        </p:txBody>
      </p:sp>
      <p:sp>
        <p:nvSpPr>
          <p:cNvPr id="4" name="route-216">
            <a:extLst xmlns:a="http://schemas.openxmlformats.org/drawingml/2006/main">
              <a:ext uri="{FF2B5EF4-FFF2-40B4-BE49-F238E27FC236}">
                <a16:creationId xmlns:a16="http://schemas.microsoft.com/office/drawing/2014/main" id="{B63D78E9-0F17-450C-B57C-C0CBFFB7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7">
            <a:extLst xmlns:a="http://schemas.openxmlformats.org/drawingml/2006/main">
              <a:ext uri="{FF2B5EF4-FFF2-40B4-BE49-F238E27FC236}">
                <a16:creationId xmlns:a16="http://schemas.microsoft.com/office/drawing/2014/main" id="{79C1A00A-B839-446F-9283-38DE565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8">
            <a:extLst xmlns:a="http://schemas.openxmlformats.org/drawingml/2006/main">
              <a:ext uri="{FF2B5EF4-FFF2-40B4-BE49-F238E27FC236}">
                <a16:creationId xmlns:a16="http://schemas.microsoft.com/office/drawing/2014/main" id="{B0B97641-257B-4B55-929C-3F9612D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 / 22</a:t>
            </a:r>
          </a:p>
        </p:txBody>
      </p:sp>
      <p:sp>
        <p:nvSpPr>
          <p:cNvPr id="7" name="text-219">
            <a:extLst xmlns:a="http://schemas.openxmlformats.org/drawingml/2006/main">
              <a:ext uri="{FF2B5EF4-FFF2-40B4-BE49-F238E27FC236}">
                <a16:creationId xmlns:a16="http://schemas.microsoft.com/office/drawing/2014/main" id="{451BCF32-24EA-47B2-83C0-8B2CF78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一个配置，一套服务入口</a:t>
            </a:r>
          </a:p>
        </p:txBody>
      </p:sp>
      <p:sp>
        <p:nvSpPr>
          <p:cNvPr id="8" name="node-220">
            <a:extLst xmlns:a="http://schemas.openxmlformats.org/drawingml/2006/main">
              <a:ext uri="{FF2B5EF4-FFF2-40B4-BE49-F238E27FC236}">
                <a16:creationId xmlns:a16="http://schemas.microsoft.com/office/drawing/2014/main" id="{D9919326-0FE9-4A08-8DB3-86C7CCC4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HTTP 接入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 / 召回 / 查询</a:t>
            </a:r>
          </a:p>
        </p:txBody>
      </p:sp>
      <p:sp>
        <p:nvSpPr>
          <p:cNvPr id="9" name="node-221">
            <a:extLst xmlns:a="http://schemas.openxmlformats.org/drawingml/2006/main">
              <a:ext uri="{FF2B5EF4-FFF2-40B4-BE49-F238E27FC236}">
                <a16:creationId xmlns:a16="http://schemas.microsoft.com/office/drawing/2014/main" id="{08DFA104-AF3E-4F76-891B-9659E41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统一运行时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+ Recall</a:t>
            </a:r>
          </a:p>
        </p:txBody>
      </p:sp>
      <p:sp>
        <p:nvSpPr>
          <p:cNvPr id="10" name="node-222">
            <a:extLst xmlns:a="http://schemas.openxmlformats.org/drawingml/2006/main">
              <a:ext uri="{FF2B5EF4-FFF2-40B4-BE49-F238E27FC236}">
                <a16:creationId xmlns:a16="http://schemas.microsoft.com/office/drawing/2014/main" id="{AC0BC6EA-EDA9-45FC-8665-B029624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持续后台执行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任务 + Operate</a:t>
            </a:r>
          </a:p>
        </p:txBody>
      </p:sp>
      <p:sp>
        <p:nvSpPr>
          <p:cNvPr id="11" name="route-223">
            <a:extLst xmlns:a="http://schemas.openxmlformats.org/drawingml/2006/main">
              <a:ext uri="{FF2B5EF4-FFF2-40B4-BE49-F238E27FC236}">
                <a16:creationId xmlns:a16="http://schemas.microsoft.com/office/drawing/2014/main" id="{3FD00D70-D307-41E4-A1CA-A46A055B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224">
            <a:extLst xmlns:a="http://schemas.openxmlformats.org/drawingml/2006/main">
              <a:ext uri="{FF2B5EF4-FFF2-40B4-BE49-F238E27FC236}">
                <a16:creationId xmlns:a16="http://schemas.microsoft.com/office/drawing/2014/main" id="{A4EEC833-F47E-4998-AA59-B671AE76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225">
            <a:extLst xmlns:a="http://schemas.openxmlformats.org/drawingml/2006/main">
              <a:ext uri="{FF2B5EF4-FFF2-40B4-BE49-F238E27FC236}">
                <a16:creationId xmlns:a16="http://schemas.microsoft.com/office/drawing/2014/main" id="{A59D09E2-DFC7-4B51-871C-2A9FFA6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226">
            <a:extLst xmlns:a="http://schemas.openxmlformats.org/drawingml/2006/main">
              <a:ext uri="{FF2B5EF4-FFF2-40B4-BE49-F238E27FC236}">
                <a16:creationId xmlns:a16="http://schemas.microsoft.com/office/drawing/2014/main" id="{794D81E0-56FD-4A7E-B9F9-07EFA51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227">
            <a:extLst xmlns:a="http://schemas.openxmlformats.org/drawingml/2006/main">
              <a:ext uri="{FF2B5EF4-FFF2-40B4-BE49-F238E27FC236}">
                <a16:creationId xmlns:a16="http://schemas.microsoft.com/office/drawing/2014/main" id="{4382E5E1-4BD5-47A5-B199-8747D9E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当前运行形态</a:t>
            </a:r>
          </a:p>
        </p:txBody>
      </p:sp>
      <p:sp>
        <p:nvSpPr>
          <p:cNvPr id="16" name="text-228">
            <a:extLst xmlns:a="http://schemas.openxmlformats.org/drawingml/2006/main">
              <a:ext uri="{FF2B5EF4-FFF2-40B4-BE49-F238E27FC236}">
                <a16:creationId xmlns:a16="http://schemas.microsoft.com/office/drawing/2014/main" id="{EC5A9F14-1E3C-44E9-B0A9-F7426783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8058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单进程、SQLite、本地文件缓存；真实 BGE 有验证记录</a:t>
            </a:r>
          </a:p>
        </p:txBody>
      </p:sp>
      <p:sp>
        <p:nvSpPr>
          <p:cNvPr id="17" name="text-229">
            <a:extLst xmlns:a="http://schemas.openxmlformats.org/drawingml/2006/main">
              <a:ext uri="{FF2B5EF4-FFF2-40B4-BE49-F238E27FC236}">
                <a16:creationId xmlns:a16="http://schemas.microsoft.com/office/drawing/2014/main" id="{920870C8-5717-4327-9131-B522C63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724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外部配置入口</a:t>
            </a:r>
          </a:p>
        </p:txBody>
      </p:sp>
      <p:sp>
        <p:nvSpPr>
          <p:cNvPr id="18" name="text-230">
            <a:extLst xmlns:a="http://schemas.openxmlformats.org/drawingml/2006/main">
              <a:ext uri="{FF2B5EF4-FFF2-40B4-BE49-F238E27FC236}">
                <a16:creationId xmlns:a16="http://schemas.microsoft.com/office/drawing/2014/main" id="{73FCD591-055C-494D-B81B-D9006097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真实模型、P2，以及可选 Milvus / Redis</a:t>
            </a:r>
          </a:p>
        </p:txBody>
      </p:sp>
      <p:sp>
        <p:nvSpPr>
          <p:cNvPr id="19" name="text-231">
            <a:extLst xmlns:a="http://schemas.openxmlformats.org/drawingml/2006/main">
              <a:ext uri="{FF2B5EF4-FFF2-40B4-BE49-F238E27FC236}">
                <a16:creationId xmlns:a16="http://schemas.microsoft.com/office/drawing/2014/main" id="{56CE9021-9B31-4B86-B0D9-D5C76035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生产配置检查只是准入条件，真实服务接通与部署效果需另行验证</a:t>
            </a:r>
          </a:p>
        </p:txBody>
      </p:sp>
    </p:spTree>
    <p:extLst>
      <p:ext uri="{BB962C8B-B14F-4D97-AF65-F5344CB8AC3E}">
        <p14:creationId xmlns:p14="http://schemas.microsoft.com/office/powerpoint/2010/main" val="602454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2">
            <a:extLst xmlns:a="http://schemas.openxmlformats.org/drawingml/2006/main">
              <a:ext uri="{FF2B5EF4-FFF2-40B4-BE49-F238E27FC236}">
                <a16:creationId xmlns:a16="http://schemas.microsoft.com/office/drawing/2014/main" id="{47737A7F-5893-484C-A9C2-21C0172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33">
            <a:extLst xmlns:a="http://schemas.openxmlformats.org/drawingml/2006/main">
              <a:ext uri="{FF2B5EF4-FFF2-40B4-BE49-F238E27FC236}">
                <a16:creationId xmlns:a16="http://schemas.microsoft.com/office/drawing/2014/main" id="{4B78D7A3-80CB-4CC4-9BDD-45D0BD93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各模块已实现什么，还需要验证什么</a:t>
            </a:r>
          </a:p>
        </p:txBody>
      </p:sp>
      <p:sp>
        <p:nvSpPr>
          <p:cNvPr id="3" name="text-234">
            <a:extLst xmlns:a="http://schemas.openxmlformats.org/drawingml/2006/main">
              <a:ext uri="{FF2B5EF4-FFF2-40B4-BE49-F238E27FC236}">
                <a16:creationId xmlns:a16="http://schemas.microsoft.com/office/drawing/2014/main" id="{4C6204CE-2793-4C54-9975-7F3D2EE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本地工程证据来自 2026.09.26 整合报告；本次未重跑业务测试</a:t>
            </a:r>
          </a:p>
        </p:txBody>
      </p:sp>
      <p:sp>
        <p:nvSpPr>
          <p:cNvPr id="4" name="route-235">
            <a:extLst xmlns:a="http://schemas.openxmlformats.org/drawingml/2006/main">
              <a:ext uri="{FF2B5EF4-FFF2-40B4-BE49-F238E27FC236}">
                <a16:creationId xmlns:a16="http://schemas.microsoft.com/office/drawing/2014/main" id="{9E8A1C0A-5E56-4255-8F59-8705462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36">
            <a:extLst xmlns:a="http://schemas.openxmlformats.org/drawingml/2006/main">
              <a:ext uri="{FF2B5EF4-FFF2-40B4-BE49-F238E27FC236}">
                <a16:creationId xmlns:a16="http://schemas.microsoft.com/office/drawing/2014/main" id="{8D04B2E7-7578-4381-A3CA-68194EF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715D7B79-E857-4FCC-B5C5-7876F2E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638675"/>
                <a:gridCol w="4476750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已有实现与本地整合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剩余主要验收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保存、文档、加工、版本、更正删除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完整代际索引发布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LLM 的抽取 / 冲突 / 压缩质量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真实对象与索引服务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来源选择、多块聚合、精确正文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预算、复核和历史重取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Milvus / 重排环境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相关性、降级与性能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持续计热、周期衰减、容量等待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原动作恢复、真实缓存进入读取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生产实际调整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目标读回与资源效果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运行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统一身份、共享撤权、持久恢复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日志、健康与运行查询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真实外部身份与租户隔离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部署、规模和整体灾备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38">
            <a:extLst xmlns:a="http://schemas.openxmlformats.org/drawingml/2006/main">
              <a:ext uri="{FF2B5EF4-FFF2-40B4-BE49-F238E27FC236}">
                <a16:creationId xmlns:a16="http://schemas.microsoft.com/office/drawing/2014/main" id="{9527A6B9-8683-49B1-9833-9535543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当前阶段：统一本地服务已形成；完整 MVP 与业务签收尚未完成</a:t>
            </a:r>
          </a:p>
        </p:txBody>
      </p:sp>
    </p:spTree>
    <p:extLst>
      <p:ext uri="{BB962C8B-B14F-4D97-AF65-F5344CB8AC3E}">
        <p14:creationId xmlns:p14="http://schemas.microsoft.com/office/powerpoint/2010/main" val="18542696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39">
            <a:extLst xmlns:a="http://schemas.openxmlformats.org/drawingml/2006/main">
              <a:ext uri="{FF2B5EF4-FFF2-40B4-BE49-F238E27FC236}">
                <a16:creationId xmlns:a16="http://schemas.microsoft.com/office/drawing/2014/main" id="{9D714555-3E7D-4BCC-B43C-4E4336D3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40">
            <a:extLst xmlns:a="http://schemas.openxmlformats.org/drawingml/2006/main">
              <a:ext uri="{FF2B5EF4-FFF2-40B4-BE49-F238E27FC236}">
                <a16:creationId xmlns:a16="http://schemas.microsoft.com/office/drawing/2014/main" id="{26DB11F7-8AE6-4A01-BE6B-F63EB6A9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已有验证证据与最新监测代码</a:t>
            </a:r>
          </a:p>
        </p:txBody>
      </p:sp>
      <p:sp>
        <p:nvSpPr>
          <p:cNvPr id="3" name="text-241">
            <a:extLst xmlns:a="http://schemas.openxmlformats.org/drawingml/2006/main">
              <a:ext uri="{FF2B5EF4-FFF2-40B4-BE49-F238E27FC236}">
                <a16:creationId xmlns:a16="http://schemas.microsoft.com/office/drawing/2014/main" id="{816693B8-5E2D-49A0-9E09-CCDD560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本地服务已有工程记录，监测界面为工作区新增实现</a:t>
            </a:r>
          </a:p>
        </p:txBody>
      </p:sp>
      <p:sp>
        <p:nvSpPr>
          <p:cNvPr id="4" name="route-242">
            <a:extLst xmlns:a="http://schemas.openxmlformats.org/drawingml/2006/main">
              <a:ext uri="{FF2B5EF4-FFF2-40B4-BE49-F238E27FC236}">
                <a16:creationId xmlns:a16="http://schemas.microsoft.com/office/drawing/2014/main" id="{49A4599A-80A8-4313-814E-BABC03B9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43">
            <a:extLst xmlns:a="http://schemas.openxmlformats.org/drawingml/2006/main">
              <a:ext uri="{FF2B5EF4-FFF2-40B4-BE49-F238E27FC236}">
                <a16:creationId xmlns:a16="http://schemas.microsoft.com/office/drawing/2014/main" id="{3E976776-7633-4AEF-8E77-F2417EC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44">
            <a:extLst xmlns:a="http://schemas.openxmlformats.org/drawingml/2006/main">
              <a:ext uri="{FF2B5EF4-FFF2-40B4-BE49-F238E27FC236}">
                <a16:creationId xmlns:a16="http://schemas.microsoft.com/office/drawing/2014/main" id="{E7839C8B-E297-40BD-BF20-53DF21B9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  <p:sp>
        <p:nvSpPr>
          <p:cNvPr id="7" name="text-245">
            <a:extLst xmlns:a="http://schemas.openxmlformats.org/drawingml/2006/main">
              <a:ext uri="{FF2B5EF4-FFF2-40B4-BE49-F238E27FC236}">
                <a16:creationId xmlns:a16="http://schemas.microsoft.com/office/drawing/2014/main" id="{6FC49515-05EF-4F65-A8FD-11ACF944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19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已有运行证据</a:t>
            </a:r>
          </a:p>
        </p:txBody>
      </p:sp>
      <p:sp>
        <p:nvSpPr>
          <p:cNvPr id="8" name="text-246">
            <a:extLst xmlns:a="http://schemas.openxmlformats.org/drawingml/2006/main">
              <a:ext uri="{FF2B5EF4-FFF2-40B4-BE49-F238E27FC236}">
                <a16:creationId xmlns:a16="http://schemas.microsoft.com/office/drawing/2014/main" id="{3D1D873E-3936-45FB-81F6-3675D5F0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8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最新工作区代码</a:t>
            </a:r>
          </a:p>
        </p:txBody>
      </p:sp>
      <p:sp>
        <p:nvSpPr>
          <p:cNvPr id="9" name="text-247">
            <a:extLst xmlns:a="http://schemas.openxmlformats.org/drawingml/2006/main">
              <a:ext uri="{FF2B5EF4-FFF2-40B4-BE49-F238E27FC236}">
                <a16:creationId xmlns:a16="http://schemas.microsoft.com/office/drawing/2014/main" id="{9F4762D5-CE4D-4A2B-969E-11B18845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219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 HTTP 保存、长期化和召回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重启后按原 Recall ID 重取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更正 / 删除使旧结果失效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共享撤权、租户 epoch 阻断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调度准备缓存被正文读取使用</a:t>
            </a:r>
          </a:p>
        </p:txBody>
      </p:sp>
      <p:sp>
        <p:nvSpPr>
          <p:cNvPr id="10" name="text-248">
            <a:extLst xmlns:a="http://schemas.openxmlformats.org/drawingml/2006/main">
              <a:ext uri="{FF2B5EF4-FFF2-40B4-BE49-F238E27FC236}">
                <a16:creationId xmlns:a16="http://schemas.microsoft.com/office/drawing/2014/main" id="{3AFB133F-1FE8-4B2B-978F-A0C86D56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51816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运行总览、服务与依赖监测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任务、Trace、异常查询界面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后端任务与 Trace 授权分页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本次仅核对源码和说明</a:t>
            </a:r>
          </a:p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未复测前端或联合运行效果</a:t>
            </a:r>
          </a:p>
        </p:txBody>
      </p:sp>
      <p:sp>
        <p:nvSpPr>
          <p:cNvPr id="11" name="route-249">
            <a:extLst xmlns:a="http://schemas.openxmlformats.org/drawingml/2006/main">
              <a:ext uri="{FF2B5EF4-FFF2-40B4-BE49-F238E27FC236}">
                <a16:creationId xmlns:a16="http://schemas.microsoft.com/office/drawing/2014/main" id="{C5BDCEF3-FF4A-4457-A730-998DF530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2" name="text-250">
            <a:extLst xmlns:a="http://schemas.openxmlformats.org/drawingml/2006/main">
              <a:ext uri="{FF2B5EF4-FFF2-40B4-BE49-F238E27FC236}">
                <a16:creationId xmlns:a16="http://schemas.microsoft.com/office/drawing/2014/main" id="{2CA52B35-082B-4A9F-A6EE-79388F0B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5219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9/26 已保存工程报告</a:t>
            </a:r>
          </a:p>
        </p:txBody>
      </p:sp>
      <p:sp>
        <p:nvSpPr>
          <p:cNvPr id="13" name="text-251">
            <a:extLst xmlns:a="http://schemas.openxmlformats.org/drawingml/2006/main">
              <a:ext uri="{FF2B5EF4-FFF2-40B4-BE49-F238E27FC236}">
                <a16:creationId xmlns:a16="http://schemas.microsoft.com/office/drawing/2014/main" id="{44C4B26F-E493-4A65-82A0-5D28C3E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34025"/>
            <a:ext cx="5181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9/28 静态核对，含未提交修改</a:t>
            </a:r>
          </a:p>
        </p:txBody>
      </p:sp>
    </p:spTree>
    <p:extLst>
      <p:ext uri="{BB962C8B-B14F-4D97-AF65-F5344CB8AC3E}">
        <p14:creationId xmlns:p14="http://schemas.microsoft.com/office/powerpoint/2010/main" val="12247764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2">
            <a:extLst xmlns:a="http://schemas.openxmlformats.org/drawingml/2006/main">
              <a:ext uri="{FF2B5EF4-FFF2-40B4-BE49-F238E27FC236}">
                <a16:creationId xmlns:a16="http://schemas.microsoft.com/office/drawing/2014/main" id="{D10E4CBF-6471-4899-8E2A-99DA0FD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53">
            <a:extLst xmlns:a="http://schemas.openxmlformats.org/drawingml/2006/main">
              <a:ext uri="{FF2B5EF4-FFF2-40B4-BE49-F238E27FC236}">
                <a16:creationId xmlns:a16="http://schemas.microsoft.com/office/drawing/2014/main" id="{B21D193C-46D6-4D84-9C74-F7A7CDE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 MVP 的交付范围</a:t>
            </a:r>
          </a:p>
        </p:txBody>
      </p:sp>
      <p:sp>
        <p:nvSpPr>
          <p:cNvPr id="3" name="text-254">
            <a:extLst xmlns:a="http://schemas.openxmlformats.org/drawingml/2006/main">
              <a:ext uri="{FF2B5EF4-FFF2-40B4-BE49-F238E27FC236}">
                <a16:creationId xmlns:a16="http://schemas.microsoft.com/office/drawing/2014/main" id="{94414F11-72F6-4ECB-8226-C9AE09A2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PRD V1.3：FR01—15、FR17—18 为 P0；本期覆盖基础调度真实执行</a:t>
            </a:r>
          </a:p>
        </p:txBody>
      </p:sp>
      <p:sp>
        <p:nvSpPr>
          <p:cNvPr id="4" name="route-255">
            <a:extLst xmlns:a="http://schemas.openxmlformats.org/drawingml/2006/main">
              <a:ext uri="{FF2B5EF4-FFF2-40B4-BE49-F238E27FC236}">
                <a16:creationId xmlns:a16="http://schemas.microsoft.com/office/drawing/2014/main" id="{6EC3DCC2-9FB1-4897-97D1-A33D20F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56">
            <a:extLst xmlns:a="http://schemas.openxmlformats.org/drawingml/2006/main">
              <a:ext uri="{FF2B5EF4-FFF2-40B4-BE49-F238E27FC236}">
                <a16:creationId xmlns:a16="http://schemas.microsoft.com/office/drawing/2014/main" id="{6AD7DA32-4D0E-4CB4-991C-C4A44F2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57">
            <a:extLst xmlns:a="http://schemas.openxmlformats.org/drawingml/2006/main">
              <a:ext uri="{FF2B5EF4-FFF2-40B4-BE49-F238E27FC236}">
                <a16:creationId xmlns:a16="http://schemas.microsoft.com/office/drawing/2014/main" id="{1B09F086-A7B4-490B-8063-70CAECC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15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267700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交付领域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必须得到的结果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记忆形成与维护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保存事件和文档；形成可追溯记忆；更正、删除和生命周期生效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可信上下文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跨会话取回当前有效材料；来源、冲突、预算与缺失说明准确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内部基础调度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两侧轨迹驱动判断；自动执行、真实核验并更新下一轮状态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隔离与运行保障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真实租户及权限验证；任务可跟进，故障可定位和恢复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质量与完整交接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指标、至少 24h 长稳；可运行版本、资料与业务验收一致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58">
            <a:extLst xmlns:a="http://schemas.openxmlformats.org/drawingml/2006/main">
              <a:ext uri="{FF2B5EF4-FFF2-40B4-BE49-F238E27FC236}">
                <a16:creationId xmlns:a16="http://schemas.microsoft.com/office/drawing/2014/main" id="{D1DFD5A4-0A4D-439E-9A43-BBDFBB7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FR16 预测预热为后续 P1；Final 的 72h 与正式纳管另列阶段</a:t>
            </a:r>
          </a:p>
        </p:txBody>
      </p:sp>
    </p:spTree>
    <p:extLst>
      <p:ext uri="{BB962C8B-B14F-4D97-AF65-F5344CB8AC3E}">
        <p14:creationId xmlns:p14="http://schemas.microsoft.com/office/powerpoint/2010/main" val="6760202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9">
            <a:extLst xmlns:a="http://schemas.openxmlformats.org/drawingml/2006/main">
              <a:ext uri="{FF2B5EF4-FFF2-40B4-BE49-F238E27FC236}">
                <a16:creationId xmlns:a16="http://schemas.microsoft.com/office/drawing/2014/main" id="{64BAC425-A4C5-4CD2-87D3-21DAF6E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0">
            <a:extLst xmlns:a="http://schemas.openxmlformats.org/drawingml/2006/main">
              <a:ext uri="{FF2B5EF4-FFF2-40B4-BE49-F238E27FC236}">
                <a16:creationId xmlns:a16="http://schemas.microsoft.com/office/drawing/2014/main" id="{7978CE46-F4F0-4F61-8609-4EFB05BE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到 12 月 1 日的整体交付安排</a:t>
            </a:r>
          </a:p>
        </p:txBody>
      </p:sp>
      <p:sp>
        <p:nvSpPr>
          <p:cNvPr id="3" name="text-261">
            <a:extLst xmlns:a="http://schemas.openxmlformats.org/drawingml/2006/main">
              <a:ext uri="{FF2B5EF4-FFF2-40B4-BE49-F238E27FC236}">
                <a16:creationId xmlns:a16="http://schemas.microsoft.com/office/drawing/2014/main" id="{9E33AEBE-0933-4939-B4DC-E6EC187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原计划节点：11/14 独立能力、11/15 真实集成、12/01 MVP；细分窗口为建议</a:t>
            </a:r>
          </a:p>
        </p:txBody>
      </p:sp>
      <p:sp>
        <p:nvSpPr>
          <p:cNvPr id="4" name="route-262">
            <a:extLst xmlns:a="http://schemas.openxmlformats.org/drawingml/2006/main">
              <a:ext uri="{FF2B5EF4-FFF2-40B4-BE49-F238E27FC236}">
                <a16:creationId xmlns:a16="http://schemas.microsoft.com/office/drawing/2014/main" id="{7C98E2A3-5161-4030-98C4-B1F21A11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63">
            <a:extLst xmlns:a="http://schemas.openxmlformats.org/drawingml/2006/main">
              <a:ext uri="{FF2B5EF4-FFF2-40B4-BE49-F238E27FC236}">
                <a16:creationId xmlns:a16="http://schemas.microsoft.com/office/drawing/2014/main" id="{D36EDF30-E1D7-4363-9C0C-3F4DD5F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64">
            <a:extLst xmlns:a="http://schemas.openxmlformats.org/drawingml/2006/main">
              <a:ext uri="{FF2B5EF4-FFF2-40B4-BE49-F238E27FC236}">
                <a16:creationId xmlns:a16="http://schemas.microsoft.com/office/drawing/2014/main" id="{C23DA963-C843-45B5-9B96-77904B3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686050"/>
                <a:gridCol w="6143625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建议日期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本阶段交付物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9/30—10/11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范围与接口定版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PRD/ADR/原图差异、契约、样本、人员与环境清单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10/12—10/25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缺口与依赖预联调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三流程缺口修复、真实模型样本集、P2 能力探测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10/26—11/14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独立能力候选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功能回归、质量/性能基线、部署及恢复演练初版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11/15—11/22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真实联合闭环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约定 P2/模型/身份/应用链路及故障报告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11/23—11/27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系统验收候选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质量/性能、24h 长稳、缺陷复验、运行材料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11/28—12/01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业务验收与交付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UAT、部署交接、同版本资料与签收记录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65">
            <a:extLst xmlns:a="http://schemas.openxmlformats.org/drawingml/2006/main">
              <a:ext uri="{FF2B5EF4-FFF2-40B4-BE49-F238E27FC236}">
                <a16:creationId xmlns:a16="http://schemas.microsoft.com/office/drawing/2014/main" id="{0744FAEB-A661-4A64-A023-ABC7085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模型评测、环境和运维准备同步推进；节假日工时与依赖日期在会上落实</a:t>
            </a:r>
          </a:p>
        </p:txBody>
      </p:sp>
    </p:spTree>
    <p:extLst>
      <p:ext uri="{BB962C8B-B14F-4D97-AF65-F5344CB8AC3E}">
        <p14:creationId xmlns:p14="http://schemas.microsoft.com/office/powerpoint/2010/main" val="20650270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66">
            <a:extLst xmlns:a="http://schemas.openxmlformats.org/drawingml/2006/main">
              <a:ext uri="{FF2B5EF4-FFF2-40B4-BE49-F238E27FC236}">
                <a16:creationId xmlns:a16="http://schemas.microsoft.com/office/drawing/2014/main" id="{EC6720F0-B469-4080-A41B-2A9CB26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7">
            <a:extLst xmlns:a="http://schemas.openxmlformats.org/drawingml/2006/main">
              <a:ext uri="{FF2B5EF4-FFF2-40B4-BE49-F238E27FC236}">
                <a16:creationId xmlns:a16="http://schemas.microsoft.com/office/drawing/2014/main" id="{57884C28-10A9-4227-9F7E-77170B3A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功能与模型工作包</a:t>
            </a:r>
          </a:p>
        </p:txBody>
      </p:sp>
      <p:sp>
        <p:nvSpPr>
          <p:cNvPr id="3" name="text-268">
            <a:extLst xmlns:a="http://schemas.openxmlformats.org/drawingml/2006/main">
              <a:ext uri="{FF2B5EF4-FFF2-40B4-BE49-F238E27FC236}">
                <a16:creationId xmlns:a16="http://schemas.microsoft.com/office/drawing/2014/main" id="{6DB395F1-565C-482A-B220-4301D4ED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10/12—10/25 补齐首轮；10/26—11/14 完成独立回归与候选版本（建议）</a:t>
            </a:r>
          </a:p>
        </p:txBody>
      </p:sp>
      <p:sp>
        <p:nvSpPr>
          <p:cNvPr id="4" name="route-269">
            <a:extLst xmlns:a="http://schemas.openxmlformats.org/drawingml/2006/main">
              <a:ext uri="{FF2B5EF4-FFF2-40B4-BE49-F238E27FC236}">
                <a16:creationId xmlns:a16="http://schemas.microsoft.com/office/drawing/2014/main" id="{D003881A-326D-46C4-AA22-087A656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0">
            <a:extLst xmlns:a="http://schemas.openxmlformats.org/drawingml/2006/main">
              <a:ext uri="{FF2B5EF4-FFF2-40B4-BE49-F238E27FC236}">
                <a16:creationId xmlns:a16="http://schemas.microsoft.com/office/drawing/2014/main" id="{55B036F1-9A3E-4ED4-B4A2-38B1B33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1">
            <a:extLst xmlns:a="http://schemas.openxmlformats.org/drawingml/2006/main">
              <a:ext uri="{FF2B5EF4-FFF2-40B4-BE49-F238E27FC236}">
                <a16:creationId xmlns:a16="http://schemas.microsoft.com/office/drawing/2014/main" id="{D938FE7C-D4B8-4B04-B517-BF0F407A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17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7425"/>
                <a:gridCol w="5362575"/>
                <a:gridCol w="33528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工作包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/ 测试与 P2 对接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文档、事实、压缩、冲突、更正删除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来源与版本可追溯，长期就绪可确认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/ 编码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兼容模型空间、记忆级 Top 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完整正文、整组预算、降级与最终复核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双侧轨迹、相邻层调整与真实核验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 恢复、版本受控的地址交接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模型质量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租户和恢复回归；真实模型标注评测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同步修正 PRD、原图与实现差异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实现人由陈凯逐项指定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三流程开发和对应测试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2">
            <a:extLst xmlns:a="http://schemas.openxmlformats.org/drawingml/2006/main">
              <a:ext uri="{FF2B5EF4-FFF2-40B4-BE49-F238E27FC236}">
                <a16:creationId xmlns:a16="http://schemas.microsoft.com/office/drawing/2014/main" id="{BDBB6E54-2454-40D3-B95C-9293FB74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通过标准：统一样本上的正常、边界与故障结果可复现，有版本和来源证据</a:t>
            </a:r>
          </a:p>
        </p:txBody>
      </p:sp>
    </p:spTree>
    <p:extLst>
      <p:ext uri="{BB962C8B-B14F-4D97-AF65-F5344CB8AC3E}">
        <p14:creationId xmlns:p14="http://schemas.microsoft.com/office/powerpoint/2010/main" val="2643829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3">
            <a:extLst xmlns:a="http://schemas.openxmlformats.org/drawingml/2006/main">
              <a:ext uri="{FF2B5EF4-FFF2-40B4-BE49-F238E27FC236}">
                <a16:creationId xmlns:a16="http://schemas.microsoft.com/office/drawing/2014/main" id="{7969C222-E481-404C-8F51-CF8B66D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74">
            <a:extLst xmlns:a="http://schemas.openxmlformats.org/drawingml/2006/main">
              <a:ext uri="{FF2B5EF4-FFF2-40B4-BE49-F238E27FC236}">
                <a16:creationId xmlns:a16="http://schemas.microsoft.com/office/drawing/2014/main" id="{D411EF0C-18F2-42AE-B2AE-A2D71BB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真实依赖与联合集成工作包</a:t>
            </a:r>
          </a:p>
        </p:txBody>
      </p:sp>
      <p:sp>
        <p:nvSpPr>
          <p:cNvPr id="3" name="text-275">
            <a:extLst xmlns:a="http://schemas.openxmlformats.org/drawingml/2006/main">
              <a:ext uri="{FF2B5EF4-FFF2-40B4-BE49-F238E27FC236}">
                <a16:creationId xmlns:a16="http://schemas.microsoft.com/office/drawing/2014/main" id="{46C8E50D-34F0-4D45-BA47-0EA579E0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十月开始接口和环境预联调；11/15—11/22 正式联合验证（建议细分）</a:t>
            </a:r>
          </a:p>
        </p:txBody>
      </p:sp>
      <p:sp>
        <p:nvSpPr>
          <p:cNvPr id="4" name="route-276">
            <a:extLst xmlns:a="http://schemas.openxmlformats.org/drawingml/2006/main">
              <a:ext uri="{FF2B5EF4-FFF2-40B4-BE49-F238E27FC236}">
                <a16:creationId xmlns:a16="http://schemas.microsoft.com/office/drawing/2014/main" id="{B33D1DA2-6F65-402C-ACC4-0D43233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7">
            <a:extLst xmlns:a="http://schemas.openxmlformats.org/drawingml/2006/main">
              <a:ext uri="{FF2B5EF4-FFF2-40B4-BE49-F238E27FC236}">
                <a16:creationId xmlns:a16="http://schemas.microsoft.com/office/drawing/2014/main" id="{7F6DA73C-B66A-4205-A982-F099039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8">
            <a:extLst xmlns:a="http://schemas.openxmlformats.org/drawingml/2006/main">
              <a:ext uri="{FF2B5EF4-FFF2-40B4-BE49-F238E27FC236}">
                <a16:creationId xmlns:a16="http://schemas.microsoft.com/office/drawing/2014/main" id="{A93596EF-870B-495F-93EC-A67B531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18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5381625"/>
                <a:gridCol w="32766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必须验证的真实结果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对接与关闭责任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对象 / 向量 / 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写入、检索、精确读取关联同一版本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跨租户及故障语义一致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肖宇、赵旭东跟进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对应开发 + P2 提供方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约定执行能力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目标/原动作可查询，真实读回可确认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迁移范围与介质在阶段一落实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+ P2 执行方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模型与身份来源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真实模型可用；身份绑定和撤权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在批准的传播窗口内生效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对应开发 / 测试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身份与模型提供方待落实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/ 首批应用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真实保存、长期化、跨会话召回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更正删除、共享与故障恢复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接入负责人待落实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9">
            <a:extLst xmlns:a="http://schemas.openxmlformats.org/drawingml/2006/main">
              <a:ext uri="{FF2B5EF4-FFF2-40B4-BE49-F238E27FC236}">
                <a16:creationId xmlns:a16="http://schemas.microsoft.com/office/drawing/2014/main" id="{8F57C557-6038-4809-BBEA-6E7E199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外部接口缺失就登记提供方和日期；替身通过不能关闭真实联调任务</a:t>
            </a:r>
          </a:p>
        </p:txBody>
      </p:sp>
    </p:spTree>
    <p:extLst>
      <p:ext uri="{BB962C8B-B14F-4D97-AF65-F5344CB8AC3E}">
        <p14:creationId xmlns:p14="http://schemas.microsoft.com/office/powerpoint/2010/main" val="2678515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80">
            <a:extLst xmlns:a="http://schemas.openxmlformats.org/drawingml/2006/main">
              <a:ext uri="{FF2B5EF4-FFF2-40B4-BE49-F238E27FC236}">
                <a16:creationId xmlns:a16="http://schemas.microsoft.com/office/drawing/2014/main" id="{AD88D635-D834-4464-9D2E-6DF9B2C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1">
            <a:extLst xmlns:a="http://schemas.openxmlformats.org/drawingml/2006/main">
              <a:ext uri="{FF2B5EF4-FFF2-40B4-BE49-F238E27FC236}">
                <a16:creationId xmlns:a16="http://schemas.microsoft.com/office/drawing/2014/main" id="{14F7872B-2402-4B5A-AEE4-D4195028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质量、性能与长稳验收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2E8AF4DD-5203-43F9-9C3B-8E916194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10/26 起建立基线；11/23—11/27 在联合候选版本复验（建议）</a:t>
            </a:r>
          </a:p>
        </p:txBody>
      </p:sp>
      <p:sp>
        <p:nvSpPr>
          <p:cNvPr id="4" name="route-283">
            <a:extLst xmlns:a="http://schemas.openxmlformats.org/drawingml/2006/main">
              <a:ext uri="{FF2B5EF4-FFF2-40B4-BE49-F238E27FC236}">
                <a16:creationId xmlns:a16="http://schemas.microsoft.com/office/drawing/2014/main" id="{7AF8CE91-1D32-4E37-BDAE-569236F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9D98999F-2C63-454D-9883-D724AEA3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0DA524D4-716B-4A07-A4F3-2831D45C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533775"/>
                <a:gridCol w="4819650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验收项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测量边界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当前记忆核心读写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&lt; 10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接收有效请求到返回业务结果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语义计算吞吐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2000 条有效内容 / 秒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实际完成计算；排除缓存替代计数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内容压缩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5 倍且质量合格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同批内容实际保存字节；保留关键事实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基础调度规则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 100%，错误降层 0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固定规则、负载和资源条件；另核对生效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持续运行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24 小时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无重大正确性/隔离问题；记录错误与积压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86">
            <a:extLst xmlns:a="http://schemas.openxmlformats.org/drawingml/2006/main">
              <a:ext uri="{FF2B5EF4-FFF2-40B4-BE49-F238E27FC236}">
                <a16:creationId xmlns:a16="http://schemas.microsoft.com/office/drawing/2014/main" id="{8FA6D986-4B81-444F-946E-C9E9792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先固定硬件、规模、并发、输入长度与质量判定；以上目标目前未验收</a:t>
            </a:r>
          </a:p>
        </p:txBody>
      </p:sp>
    </p:spTree>
    <p:extLst>
      <p:ext uri="{BB962C8B-B14F-4D97-AF65-F5344CB8AC3E}">
        <p14:creationId xmlns:p14="http://schemas.microsoft.com/office/powerpoint/2010/main" val="17941378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87">
            <a:extLst xmlns:a="http://schemas.openxmlformats.org/drawingml/2006/main">
              <a:ext uri="{FF2B5EF4-FFF2-40B4-BE49-F238E27FC236}">
                <a16:creationId xmlns:a16="http://schemas.microsoft.com/office/drawing/2014/main" id="{B90EEF09-5C80-4AE0-B4A5-9D3960F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8">
            <a:extLst xmlns:a="http://schemas.openxmlformats.org/drawingml/2006/main">
              <a:ext uri="{FF2B5EF4-FFF2-40B4-BE49-F238E27FC236}">
                <a16:creationId xmlns:a16="http://schemas.microsoft.com/office/drawing/2014/main" id="{0FE1DC04-3044-4439-89E0-E1C99BC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部署、业务验收与运行交接</a:t>
            </a:r>
          </a:p>
        </p:txBody>
      </p:sp>
      <p:sp>
        <p:nvSpPr>
          <p:cNvPr id="3" name="text-289">
            <a:extLst xmlns:a="http://schemas.openxmlformats.org/drawingml/2006/main">
              <a:ext uri="{FF2B5EF4-FFF2-40B4-BE49-F238E27FC236}">
                <a16:creationId xmlns:a16="http://schemas.microsoft.com/office/drawing/2014/main" id="{A80551C2-C3B0-42AF-822D-AA450A7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运行准备从十月启动；11/27 前演练，11/28—12/01 UAT 与交接（建议）</a:t>
            </a:r>
          </a:p>
        </p:txBody>
      </p:sp>
      <p:sp>
        <p:nvSpPr>
          <p:cNvPr id="4" name="route-290">
            <a:extLst xmlns:a="http://schemas.openxmlformats.org/drawingml/2006/main">
              <a:ext uri="{FF2B5EF4-FFF2-40B4-BE49-F238E27FC236}">
                <a16:creationId xmlns:a16="http://schemas.microsoft.com/office/drawing/2014/main" id="{DAAA9D74-4503-47D0-912F-AC61D1D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91">
            <a:extLst xmlns:a="http://schemas.openxmlformats.org/drawingml/2006/main">
              <a:ext uri="{FF2B5EF4-FFF2-40B4-BE49-F238E27FC236}">
                <a16:creationId xmlns:a16="http://schemas.microsoft.com/office/drawing/2014/main" id="{5ACE726C-7C7F-440B-B2F4-4BCC7517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92">
            <a:extLst xmlns:a="http://schemas.openxmlformats.org/drawingml/2006/main">
              <a:ext uri="{FF2B5EF4-FFF2-40B4-BE49-F238E27FC236}">
                <a16:creationId xmlns:a16="http://schemas.microsoft.com/office/drawing/2014/main" id="{5C24B4FB-53BE-4C8A-AF28-B24A24C7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 / 22</a:t>
            </a:r>
          </a:p>
        </p:txBody>
      </p:sp>
      <p:sp>
        <p:nvSpPr>
          <p:cNvPr id="7" name="text-293">
            <a:extLst xmlns:a="http://schemas.openxmlformats.org/drawingml/2006/main">
              <a:ext uri="{FF2B5EF4-FFF2-40B4-BE49-F238E27FC236}">
                <a16:creationId xmlns:a16="http://schemas.microsoft.com/office/drawing/2014/main" id="{E4350373-DD33-4044-8B7C-386459B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部署可复现</a:t>
            </a:r>
          </a:p>
        </p:txBody>
      </p:sp>
      <p:sp>
        <p:nvSpPr>
          <p:cNvPr id="8" name="text-294">
            <a:extLst xmlns:a="http://schemas.openxmlformats.org/drawingml/2006/main">
              <a:ext uri="{FF2B5EF4-FFF2-40B4-BE49-F238E27FC236}">
                <a16:creationId xmlns:a16="http://schemas.microsoft.com/office/drawing/2014/main" id="{B5EDE83D-BEDC-44DB-A0A8-23E0DB7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28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固定版本、依赖和配置；构建、启动、健康检查与运行限制清楚。</a:t>
            </a:r>
          </a:p>
        </p:txBody>
      </p:sp>
      <p:sp>
        <p:nvSpPr>
          <p:cNvPr id="9" name="route-295">
            <a:extLst xmlns:a="http://schemas.openxmlformats.org/drawingml/2006/main">
              <a:ext uri="{FF2B5EF4-FFF2-40B4-BE49-F238E27FC236}">
                <a16:creationId xmlns:a16="http://schemas.microsoft.com/office/drawing/2014/main" id="{14C402EA-7892-4464-80DF-F5C61FA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0" name="text-296">
            <a:extLst xmlns:a="http://schemas.openxmlformats.org/drawingml/2006/main">
              <a:ext uri="{FF2B5EF4-FFF2-40B4-BE49-F238E27FC236}">
                <a16:creationId xmlns:a16="http://schemas.microsoft.com/office/drawing/2014/main" id="{4B6E044C-836A-419F-866E-ECB3906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恢复可核对</a:t>
            </a:r>
          </a:p>
        </p:txBody>
      </p:sp>
      <p:sp>
        <p:nvSpPr>
          <p:cNvPr id="11" name="text-297">
            <a:extLst xmlns:a="http://schemas.openxmlformats.org/drawingml/2006/main">
              <a:ext uri="{FF2B5EF4-FFF2-40B4-BE49-F238E27FC236}">
                <a16:creationId xmlns:a16="http://schemas.microsoft.com/office/drawing/2014/main" id="{E2EEC5B2-17DC-4D5F-B52A-1436B25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71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正文、配置、索引和元数据共同恢复；演练备份、回滚及故障接手。</a:t>
            </a:r>
          </a:p>
        </p:txBody>
      </p:sp>
      <p:sp>
        <p:nvSpPr>
          <p:cNvPr id="12" name="route-298">
            <a:extLst xmlns:a="http://schemas.openxmlformats.org/drawingml/2006/main">
              <a:ext uri="{FF2B5EF4-FFF2-40B4-BE49-F238E27FC236}">
                <a16:creationId xmlns:a16="http://schemas.microsoft.com/office/drawing/2014/main" id="{9013D81F-5877-4DF1-830D-A695182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1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text-299">
            <a:extLst xmlns:a="http://schemas.openxmlformats.org/drawingml/2006/main">
              <a:ext uri="{FF2B5EF4-FFF2-40B4-BE49-F238E27FC236}">
                <a16:creationId xmlns:a16="http://schemas.microsoft.com/office/drawing/2014/main" id="{0C4FFEBC-2113-4AE3-9D9B-5227B4E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业务可签收</a:t>
            </a:r>
          </a:p>
        </p:txBody>
      </p:sp>
      <p:sp>
        <p:nvSpPr>
          <p:cNvPr id="14" name="text-300">
            <a:extLst xmlns:a="http://schemas.openxmlformats.org/drawingml/2006/main">
              <a:ext uri="{FF2B5EF4-FFF2-40B4-BE49-F238E27FC236}">
                <a16:creationId xmlns:a16="http://schemas.microsoft.com/office/drawing/2014/main" id="{70F23685-4243-471E-A374-9A44C0BD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14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跨会话、更正删除、冲突预算、隔离、故障和后台动作通过必验 UAT。</a:t>
            </a:r>
          </a:p>
        </p:txBody>
      </p:sp>
      <p:sp>
        <p:nvSpPr>
          <p:cNvPr id="15" name="text-301">
            <a:extLst xmlns:a="http://schemas.openxmlformats.org/drawingml/2006/main">
              <a:ext uri="{FF2B5EF4-FFF2-40B4-BE49-F238E27FC236}">
                <a16:creationId xmlns:a16="http://schemas.microsoft.com/office/drawing/2014/main" id="{8038F188-A0A4-4115-B901-8FFCAFA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功能、集成及系统指标通过后进入业务验收；签收并明确运行接手人</a:t>
            </a:r>
          </a:p>
        </p:txBody>
      </p:sp>
    </p:spTree>
    <p:extLst>
      <p:ext uri="{BB962C8B-B14F-4D97-AF65-F5344CB8AC3E}">
        <p14:creationId xmlns:p14="http://schemas.microsoft.com/office/powerpoint/2010/main" val="9978318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02">
            <a:extLst xmlns:a="http://schemas.openxmlformats.org/drawingml/2006/main">
              <a:ext uri="{FF2B5EF4-FFF2-40B4-BE49-F238E27FC236}">
                <a16:creationId xmlns:a16="http://schemas.microsoft.com/office/drawing/2014/main" id="{48F0AFD0-5D89-4AD0-A816-864BA2A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03">
            <a:extLst xmlns:a="http://schemas.openxmlformats.org/drawingml/2006/main">
              <a:ext uri="{FF2B5EF4-FFF2-40B4-BE49-F238E27FC236}">
                <a16:creationId xmlns:a16="http://schemas.microsoft.com/office/drawing/2014/main" id="{5229D469-15B9-4A12-83BE-446106E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责任分工与关键依赖</a:t>
            </a:r>
          </a:p>
        </p:txBody>
      </p:sp>
      <p:sp>
        <p:nvSpPr>
          <p:cNvPr id="3" name="text-304">
            <a:extLst xmlns:a="http://schemas.openxmlformats.org/drawingml/2006/main">
              <a:ext uri="{FF2B5EF4-FFF2-40B4-BE49-F238E27FC236}">
                <a16:creationId xmlns:a16="http://schemas.microsoft.com/office/drawing/2014/main" id="{B23357C8-6668-46EA-9736-D233938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 2026.09.23 分工；P2 提供方另行落实，不计入 P3 的 7 人</a:t>
            </a:r>
          </a:p>
        </p:txBody>
      </p:sp>
      <p:sp>
        <p:nvSpPr>
          <p:cNvPr id="4" name="route-305">
            <a:extLst xmlns:a="http://schemas.openxmlformats.org/drawingml/2006/main">
              <a:ext uri="{FF2B5EF4-FFF2-40B4-BE49-F238E27FC236}">
                <a16:creationId xmlns:a16="http://schemas.microsoft.com/office/drawing/2014/main" id="{68CB7F55-81CF-4AC8-899F-88CD95F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06">
            <a:extLst xmlns:a="http://schemas.openxmlformats.org/drawingml/2006/main">
              <a:ext uri="{FF2B5EF4-FFF2-40B4-BE49-F238E27FC236}">
                <a16:creationId xmlns:a16="http://schemas.microsoft.com/office/drawing/2014/main" id="{02F8C066-D11C-4006-BC70-A9B6AD3C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07">
            <a:extLst xmlns:a="http://schemas.openxmlformats.org/drawingml/2006/main">
              <a:ext uri="{FF2B5EF4-FFF2-40B4-BE49-F238E27FC236}">
                <a16:creationId xmlns:a16="http://schemas.microsoft.com/office/drawing/2014/main" id="{91B49241-E292-4319-8E1B-76FD821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21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14675"/>
                <a:gridCol w="3276600"/>
                <a:gridCol w="4581525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现有人选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还需落实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总体架构 / RF 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每项代码任务指定唯一实现人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开发负责人、检索与模型环境日期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对象、索引、模型及样本可用日期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实际执行路径、目标介质及状态查询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 / 业务验收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负责人待指定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环境、身份、应用接入与签收代表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308">
            <a:extLst xmlns:a="http://schemas.openxmlformats.org/drawingml/2006/main">
              <a:ext uri="{FF2B5EF4-FFF2-40B4-BE49-F238E27FC236}">
                <a16:creationId xmlns:a16="http://schemas.microsoft.com/office/drawing/2014/main" id="{DCF11AFF-B5F9-482D-9D63-08B24216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阶段一形成责任与依赖日期表；未到位的人员或环境影响相应里程碑</a:t>
            </a:r>
          </a:p>
        </p:txBody>
      </p:sp>
    </p:spTree>
    <p:extLst>
      <p:ext uri="{BB962C8B-B14F-4D97-AF65-F5344CB8AC3E}">
        <p14:creationId xmlns:p14="http://schemas.microsoft.com/office/powerpoint/2010/main" val="10716981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9">
            <a:extLst xmlns:a="http://schemas.openxmlformats.org/drawingml/2006/main">
              <a:ext uri="{FF2B5EF4-FFF2-40B4-BE49-F238E27FC236}">
                <a16:creationId xmlns:a16="http://schemas.microsoft.com/office/drawing/2014/main" id="{3A6DD72D-8850-4D0F-950A-C2AD858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10">
            <a:extLst xmlns:a="http://schemas.openxmlformats.org/drawingml/2006/main">
              <a:ext uri="{FF2B5EF4-FFF2-40B4-BE49-F238E27FC236}">
                <a16:creationId xmlns:a16="http://schemas.microsoft.com/office/drawing/2014/main" id="{49A2E558-A702-493C-A318-3B1E97CE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最终交付物与会议结论</a:t>
            </a:r>
          </a:p>
        </p:txBody>
      </p:sp>
      <p:sp>
        <p:nvSpPr>
          <p:cNvPr id="3" name="text-311">
            <a:extLst xmlns:a="http://schemas.openxmlformats.org/drawingml/2006/main">
              <a:ext uri="{FF2B5EF4-FFF2-40B4-BE49-F238E27FC236}">
                <a16:creationId xmlns:a16="http://schemas.microsoft.com/office/drawing/2014/main" id="{F26A3A06-2BAC-4E36-93FA-97AA357C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交付包与验收记录对应同一发布版本</a:t>
            </a:r>
          </a:p>
        </p:txBody>
      </p:sp>
      <p:sp>
        <p:nvSpPr>
          <p:cNvPr id="4" name="route-312">
            <a:extLst xmlns:a="http://schemas.openxmlformats.org/drawingml/2006/main">
              <a:ext uri="{FF2B5EF4-FFF2-40B4-BE49-F238E27FC236}">
                <a16:creationId xmlns:a16="http://schemas.microsoft.com/office/drawing/2014/main" id="{A90F8EB5-9577-433E-828A-E2338A4B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13">
            <a:extLst xmlns:a="http://schemas.openxmlformats.org/drawingml/2006/main">
              <a:ext uri="{FF2B5EF4-FFF2-40B4-BE49-F238E27FC236}">
                <a16:creationId xmlns:a16="http://schemas.microsoft.com/office/drawing/2014/main" id="{333E5921-BFED-426C-BFA4-509649FB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14">
            <a:extLst xmlns:a="http://schemas.openxmlformats.org/drawingml/2006/main">
              <a:ext uri="{FF2B5EF4-FFF2-40B4-BE49-F238E27FC236}">
                <a16:creationId xmlns:a16="http://schemas.microsoft.com/office/drawing/2014/main" id="{158E4F47-3066-48CE-8B9E-AA2A6EB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22 / 22</a:t>
            </a:r>
          </a:p>
        </p:txBody>
      </p:sp>
      <p:sp>
        <p:nvSpPr>
          <p:cNvPr id="7" name="text-315">
            <a:extLst xmlns:a="http://schemas.openxmlformats.org/drawingml/2006/main">
              <a:ext uri="{FF2B5EF4-FFF2-40B4-BE49-F238E27FC236}">
                <a16:creationId xmlns:a16="http://schemas.microsoft.com/office/drawing/2014/main" id="{855FF0B8-D001-40C0-A7C1-E2711D6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8" name="text-316">
            <a:extLst xmlns:a="http://schemas.openxmlformats.org/drawingml/2006/main">
              <a:ext uri="{FF2B5EF4-FFF2-40B4-BE49-F238E27FC236}">
                <a16:creationId xmlns:a16="http://schemas.microsoft.com/office/drawing/2014/main" id="{15839B23-29EF-4A23-AB3E-36F6F87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4673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可运行服务、源码与配置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应用接入和连续场景说明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测试、质量性能与 24h 报告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部署、恢复、回滚和监测说明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业务签收、遗留问题与接手记录</a:t>
            </a:r>
          </a:p>
        </p:txBody>
      </p:sp>
      <p:sp>
        <p:nvSpPr>
          <p:cNvPr id="9" name="text-317">
            <a:extLst xmlns:a="http://schemas.openxmlformats.org/drawingml/2006/main">
              <a:ext uri="{FF2B5EF4-FFF2-40B4-BE49-F238E27FC236}">
                <a16:creationId xmlns:a16="http://schemas.microsoft.com/office/drawing/2014/main" id="{95AD5C2D-3C65-42F8-B38B-7CB57B1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907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本次会议形成的结论</a:t>
            </a:r>
          </a:p>
        </p:txBody>
      </p:sp>
      <p:sp>
        <p:nvSpPr>
          <p:cNvPr id="10" name="text-318">
            <a:extLst xmlns:a="http://schemas.openxmlformats.org/drawingml/2006/main">
              <a:ext uri="{FF2B5EF4-FFF2-40B4-BE49-F238E27FC236}">
                <a16:creationId xmlns:a16="http://schemas.microsoft.com/office/drawing/2014/main" id="{04E052A8-437C-4C7A-BC62-D1D3231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47625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 P0 与实际执行范围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关闭方案与原图关键差异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落实人员和外部依赖日期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确认阶段交付物与验收标准</a:t>
            </a:r>
          </a:p>
        </p:txBody>
      </p:sp>
      <p:sp>
        <p:nvSpPr>
          <p:cNvPr id="11" name="text-319">
            <a:extLst xmlns:a="http://schemas.openxmlformats.org/drawingml/2006/main">
              <a:ext uri="{FF2B5EF4-FFF2-40B4-BE49-F238E27FC236}">
                <a16:creationId xmlns:a16="http://schemas.microsoft.com/office/drawing/2014/main" id="{A129E367-8585-416C-8B5A-1BFBC24F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按现有目标推进至 12 月 1 日；细分排期经团队确认后形成承诺</a:t>
            </a:r>
          </a:p>
        </p:txBody>
      </p:sp>
    </p:spTree>
    <p:extLst>
      <p:ext uri="{BB962C8B-B14F-4D97-AF65-F5344CB8AC3E}">
        <p14:creationId xmlns:p14="http://schemas.microsoft.com/office/powerpoint/2010/main" val="1218660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2026-09-28T04:50:07.9710000Z</dcterms:created>
  <dcterms:modified xsi:type="dcterms:W3CDTF">2026-09-28T04:50:07.9710000Z</dcterms:modified>
</coreProperties>
</file>