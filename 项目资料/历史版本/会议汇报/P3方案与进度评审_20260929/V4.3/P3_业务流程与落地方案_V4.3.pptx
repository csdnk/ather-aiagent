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5" r:id="rId10"/>
    <p:sldId id="266" r:id="rId11"/>
    <p:sldId id="276" r:id="rId12"/>
    <p:sldId id="277" r:id="rId13"/>
    <p:sldId id="268" r:id="rId14"/>
    <p:sldId id="269" r:id="rId15"/>
    <p:sldId id="270" r:id="rId16"/>
    <p:sldId id="271" r:id="rId17"/>
    <p:sldId id="278" r:id="rId18"/>
    <p:sldId id="279" r:id="rId19"/>
    <p:sldId id="280" r:id="rId20"/>
    <p:sldId id="281" r:id="rId21"/>
    <p:sldId id="272" r:id="rId22"/>
    <p:sldId id="273" r:id="rId23"/>
    <p:sldId id="274" r:id="rId24"/>
    <p:sldId id="275" r:id="rId25"/>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5" d="100"/>
          <a:sy n="115" d="100"/>
        </p:scale>
        <p:origin x="51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今天先说明 P3 解决的业务问题以及整体流程，再说明我们准备怎样把方案做成可以交付的服务。汇报分为流程设计、方案与技术选择、测试与验收、时间节点四部分。判断方案的依据是：是否覆盖实际业务，实施路线是否可行，验证是否充分，交付责任是否清楚。</a:t>
            </a:r>
          </a:p>
          <a:p>
            <a:endParaRPr/>
          </a:p>
          <a:p>
            <a:r>
              <a:t>建议讲述：0.4 分钟</a:t>
            </a:r>
          </a:p>
          <a:p>
            <a:endParaRPr/>
          </a:p>
          <a:p>
            <a:r>
              <a:t>依据：</a:t>
            </a:r>
          </a:p>
          <a:p>
            <a:r>
              <a:t>E:/projects/codex/aether/交付成果/PRD版本/AetherBrain_P3_PRD_租户补全版_V1.3.docx</a:t>
            </a:r>
          </a:p>
          <a:p>
            <a:r>
              <a:t>E:/projects/codex/aether/交付成果/ADR版本/ADR-P2P3-001_总体架构决策.md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先讲业务要达到什么结果，再讲采取什么实施方案，接着说明如何证明方案有效，最后讲计划与协作。整个过程用预算从 20 万更正为 15 万这一场景贯穿。</a:t>
            </a:r>
          </a:p>
          <a:p>
            <a:endParaRPr/>
          </a:p>
          <a:p>
            <a:r>
              <a:t>建议讲述：0.6 分钟</a:t>
            </a:r>
          </a:p>
          <a:p>
            <a:endParaRPr/>
          </a:p>
          <a:p>
            <a:r>
              <a:t>依据：</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P3 的价值是让已经产生的信息可以在后续任务里持续使用。它不仅要存得下来，还要区分当前有效的版本、允许使用的范围，并说明材料来自哪里。应用或 Agent 用 P3 返回的材料完成回答和任务。项目目标包括内部维护与恢复，使服务在任务重试和进程重启后仍能继续工作。</a:t>
            </a:r>
          </a:p>
          <a:p>
            <a:endParaRPr/>
          </a:p>
          <a:p>
            <a:r>
              <a:t>建议讲述：1.1 分钟</a:t>
            </a:r>
          </a:p>
          <a:p>
            <a:endParaRPr/>
          </a:p>
          <a:p>
            <a:r>
              <a:t>依据：</a:t>
            </a:r>
          </a:p>
          <a:p>
            <a:r>
              <a:t>E:/projects/codex/aether/交付成果/PRD版本/AetherBrain_P3_PRD_租户补全版_V1.3.docx</a:t>
            </a:r>
          </a:p>
          <a:p>
            <a:r>
              <a:t>E:/projects/codex/aether/交付成果/ADR版本/ADR-P2P3-001_总体架构决策.md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用户第一次保存预算 20 万。适用的当前任务内容可以先使用，后台继续准备长期检索。跨会话请求时，系统取回相关且有效的材料。预算更正为 15 万后，旧版本不能继续作为当前预算交付。删除后，新查询和旧结果重取均不再交付相关正文，后台继续清理。撤权后，仅停止向被撤权方交付，其他有效授权仍可使用。外部身份撤销按双方约定的生效时间验证。物理清理可以在后台推进，但停止交付不能等待全部清理结束。</a:t>
            </a:r>
          </a:p>
          <a:p>
            <a:endParaRPr/>
          </a:p>
          <a:p>
            <a:r>
              <a:t>建议讲述：1.4 分钟</a:t>
            </a:r>
          </a:p>
          <a:p>
            <a:endParaRPr/>
          </a:p>
          <a:p>
            <a:r>
              <a:t>依据：</a:t>
            </a:r>
          </a:p>
          <a:p>
            <a:r>
              <a:t>E:/projects/codex/aether/交付成果/PRD版本/AetherBrain_P3_PRD_租户补全版_V1.3.docx</a:t>
            </a:r>
          </a:p>
          <a:p>
            <a:r>
              <a:t>E:/projects/codex/aether/交付成果/ADR版本/ADR-P2P3-001_总体架构决策.md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应用决定何时保存信息、何时请求记忆。Remember 负责来源、版本和内容的维护，Recall 负责为一次请求组织可用材料。存储变化和实际使用记录交给内部 Operate，结合当前状态调整访问准备并核对执行结果。统一身份、任务和恢复机制支撑三条流程。P2 为各流程提供实际存取和约定的控制能力，不能替代 P3 判断一条事实是否当前有效。</a:t>
            </a:r>
          </a:p>
          <a:p>
            <a:endParaRPr/>
          </a:p>
          <a:p>
            <a:r>
              <a:t>建议讲述：1.6 分钟</a:t>
            </a:r>
          </a:p>
          <a:p>
            <a:endParaRPr/>
          </a:p>
          <a:p>
            <a:r>
              <a:t>依据：</a:t>
            </a:r>
          </a:p>
          <a:p>
            <a:r>
              <a:t>E:/projects/codex/aether/交付成果/PRD版本/AetherBrain_P3_PRD_租户补全版_V1.3.docx</a:t>
            </a:r>
          </a:p>
          <a:p>
            <a:r>
              <a:t>E:/projects/codex/aether/交付成果/ADR版本/ADR-P2P3-001_总体架构决策.md</a:t>
            </a:r>
          </a:p>
          <a:p>
            <a:r>
              <a:t>E:/projects/codex/aether/交付成果/架构设计/P3全景流程_Excalidraw/P3_整体架构与完整流程.excalidraw</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保存时检查身份、来源和重复请求，确认原始内容可靠保存。适用的当前任务记忆可以先用于当前工作。需要长期复用的内容，在后台获取固定版本、解析分块，并按需要抽取和压缩。模型生成候选后还要审核来源与内容，写入检索表示并核验，才能宣布长期检索就绪。不是每条记忆都必须经过全部加工步骤。任务可恢复，但旧版本或已删除内容不能因为迟到的后台结果重新生效。</a:t>
            </a:r>
          </a:p>
          <a:p>
            <a:endParaRPr/>
          </a:p>
          <a:p>
            <a:r>
              <a:t>建议讲述：1.6 分钟</a:t>
            </a:r>
          </a:p>
          <a:p>
            <a:endParaRPr/>
          </a:p>
          <a:p>
            <a:r>
              <a:t>依据：</a:t>
            </a:r>
          </a:p>
          <a:p>
            <a:r>
              <a:t>E:/projects/codex/aether/交付成果/ADR版本/ADR-P2P3-001_总体架构决策.md</a:t>
            </a:r>
          </a:p>
          <a:p>
            <a:r>
              <a:t>E:/projects/codex/aether/AgentJYS-main/src/aether_agent_memory/remember/basic/content.py</a:t>
            </a:r>
          </a:p>
          <a:p>
            <a:r>
              <a:t>E:/projects/codex/aether/AgentJYS-main/src/aether_agent_memory/remember/model_provider.py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判断要查哪些来源以及当前身份是否允许使用。检索获得候选之后，需要去掉不适用的版本、读取准确正文，再组织成有来源的材料。仍然有效但彼此冲突的内容要保留必要限定，不随意删去否定、数字和条件来压缩长度。交付前再核验一次，回应处理中发生的删除和撤权。返回的结果区分可用、正常空以及来源失败等情况，上层据此继续处理。</a:t>
            </a:r>
          </a:p>
          <a:p>
            <a:endParaRPr/>
          </a:p>
          <a:p>
            <a:r>
              <a:t>建议讲述：1.5 分钟</a:t>
            </a:r>
          </a:p>
          <a:p>
            <a:endParaRPr/>
          </a:p>
          <a:p>
            <a:r>
              <a:t>依据：</a:t>
            </a:r>
          </a:p>
          <a:p>
            <a:r>
              <a:t>E:/projects/codex/aether/交付成果/ADR版本/ADR-P2P3-001_总体架构决策.md</a:t>
            </a:r>
          </a:p>
          <a:p>
            <a:r>
              <a:t>E:/projects/codex/aether/交付成果/PRD版本/AetherBrain_P3_PRD_租户补全版_V1.3.docx</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Operate 是内部持续运行机制。它依据存储与读取历史、当前有效性和资源情况决定访问准备。一次操作可能耗时或遇到超时，所以发起前保留动作身份，执行后核对目标内容和可读性，再交接读取地址。热、温、冷描述访问准备，与工作记忆、经历记忆和语义记忆的业务分类不同。MVP 覆盖基础规则与约定动作，具体存储介质和执行范围在联调基线中明确。</a:t>
            </a:r>
          </a:p>
          <a:p>
            <a:endParaRPr/>
          </a:p>
          <a:p>
            <a:r>
              <a:t>建议讲述：1.4 分钟</a:t>
            </a:r>
          </a:p>
          <a:p>
            <a:endParaRPr/>
          </a:p>
          <a:p>
            <a:r>
              <a:t>依据：</a:t>
            </a:r>
          </a:p>
          <a:p>
            <a:r>
              <a:t>E:/projects/codex/aether/交付成果/ADR版本/ADR-P2P3-001_总体架构决策.md</a:t>
            </a:r>
          </a:p>
          <a:p>
            <a:r>
              <a:t>E:/projects/codex/aether/AgentJYS-main/src/aether_agent_memory/runtime/flows/host.py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这里讲目前代码怎样模拟 P2。三类替身分别用于本地服务、契约测试和独立调度演示，并非一个已经覆盖所有 P2 接口的统一服务。</a:t>
            </a:r>
          </a:p>
          <a:p>
            <a:r>
              <a:t>正文替身把正文和 SHA-256 校验值写进独立 SQLite 文件，按对象编号读取，支持字节范围读取和删除。相同编号重复保存相同内容不会新增对象，换成不同内容会报错。重新建立实例后仍能读回原文，也能主动设置不可用来模拟存储故障。</a:t>
            </a:r>
          </a:p>
          <a:p>
            <a:r>
              <a:t>向量状态模拟器保存目标身份、版本、向量数据、操作编号和幂等键。写入先显示已接收，检索可见标记保持关闭。测试脚本明确推进后，查询才显示可检索。它验证写入、状态查询、删除和迟到写入屏障，不计算真实向量相似度。</a:t>
            </a:r>
          </a:p>
          <a:p>
            <a:r>
              <a:t>Operate 独立演示把正文、基础层级、热副本、剩余容量和动作保存在内存里。提交动作只进入运行中，测试驱动推进动作后才复制热副本、调整基础层级或删除热副本。随后读取内容并检查校验值；容量不足、版本变化和执行失败都可以模拟。</a:t>
            </a:r>
          </a:p>
          <a:p>
            <a:r>
              <a:t>用页面下方的现有向量测试举例：先把向量和操作记录写入数据库，再主动抛出超时，模拟写入成功但回执丢失。测试重新建立模拟器，用原幂等键查回同一操作。重复提交得到同一个操作编号。此时仍不可检索，脚本显式开放检索可见后，再核对保存的数据。这里的重建是同一数据库上的实例重建。</a:t>
            </a:r>
          </a:p>
          <a:p>
            <a:r>
              <a:t>现有对应专项测试本次重跑 4 项通过，仅证明上述本地模拟行为。</a:t>
            </a:r>
          </a:p>
          <a:p>
            <a:r>
              <a:t>建议讲述：1.8 分钟</a:t>
            </a:r>
          </a:p>
          <a:p>
            <a:r>
              <a:t>依据：</a:t>
            </a:r>
          </a:p>
          <a:p>
            <a:r>
              <a:t>E:/projects/codex/aether/AgentJYS-main/src/aether_agent_memory/remember/basic/sqlite_p2.py</a:t>
            </a:r>
          </a:p>
          <a:p>
            <a:r>
              <a:t>E:/projects/codex/aether/AgentJYS-main/src/aether_agent_memory/p2/simulator.py</a:t>
            </a:r>
          </a:p>
          <a:p>
            <a:r>
              <a:t>E:/projects/codex/aether/AgentJYS-main/src/aether_agent_memory/operate/standalone/mock_p2.py</a:t>
            </a:r>
          </a:p>
          <a:p>
            <a:r>
              <a:t>E:/projects/codex/aether/AgentJYS-main/tests/unit/recall/test_provider.py</a:t>
            </a:r>
          </a:p>
          <a:p>
            <a:r>
              <a:t>E:/projects/codex/aether/AgentJYS-main/tests/unit/test_operate_standalone.py</a:t>
            </a:r>
          </a:p>
          <a:p>
            <a:r>
              <a:t>E:/projects/codex/aether/AgentJYS-main/tests/runtime/flows/test_remember_v3.py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Remember 的目标是把允许使用的原始内容加工成可长期复用的正式记忆。这里选择参考 LangMem Core 的候选提取能力，而不是让框架拥有整条记忆生命周期。</a:t>
            </a:r>
          </a:p>
          <a:p>
            <a:r>
              <a:t>具体借鉴三点：组织模型调用并约束输出字段，生成结构化候选，支持已有记忆参与提取。LangMem 的 Core 可以配合不同存储使用，这与 P3 保留自己的事实、来源、版本和 P2 存储边界相符。例如输入“预算上限为十五万元”，提取器返回候选事实和原文依据，P3 核对依据后才提交正式记忆。</a:t>
            </a:r>
          </a:p>
          <a:p>
            <a:r>
              <a:t>对比 Mem0：它也提供可配置能力，并非不能适配。其整体记忆流程已经串联提取、存储更新和检索，若整套接入 P3，就需要重新衔接这些职责与 P2、版本和事务边界。本期只需要候选提取，因此优先选择接入范围更明确的 LangMem Core。若完全自行编写提取层，则还要维护模型调用、输出约束及已有事实输入。</a:t>
            </a:r>
          </a:p>
          <a:p>
            <a:r>
              <a:t>现有代码已有 LangMem 提取适配，关闭模型自主正式更新和删除，并检查原文证据。已存在的旧记忆输入能力不等于当前单条适配已经全面启用它。真实模型质量与中文否定、引述、假设仍需验证，不能把这页理解为理解质量已验收。</a:t>
            </a:r>
          </a:p>
          <a:p>
            <a:r>
              <a:t>本页比较的是与本项目现有边界的适配代价，未做各框架统一性能排名。</a:t>
            </a:r>
          </a:p>
          <a:p>
            <a:endParaRPr/>
          </a:p>
          <a:p>
            <a:r>
              <a:t>建议讲述：1.8 分钟</a:t>
            </a:r>
          </a:p>
          <a:p>
            <a:endParaRPr/>
          </a:p>
          <a:p>
            <a:r>
              <a:t>依据：</a:t>
            </a:r>
          </a:p>
          <a:p>
            <a:r>
              <a:t>E:/projects/codex/aether/交付成果/ADR版本/ADR-P2P3-001_总体架构决策.md</a:t>
            </a:r>
          </a:p>
          <a:p>
            <a:r>
              <a:t>E:/projects/codex/aether/交付成果/ADR版本/P3_技术选型与框架研读指南_V1.0.md</a:t>
            </a:r>
          </a:p>
          <a:p>
            <a:r>
              <a:t>E:/projects/codex/aether/AgentJYS-main/src/aether_agent_memory/remember/basic/extraction.py</a:t>
            </a:r>
          </a:p>
          <a:p>
            <a:r>
              <a:t>https://github.com/langchain-ai/langmem</a:t>
            </a:r>
          </a:p>
          <a:p>
            <a:r>
              <a:t>https://github.com/mem0ai/mem0</a:t>
            </a:r>
          </a:p>
          <a:p>
            <a:r>
              <a:t>https://github.com/mem0ai/mem0/blob/main/mem0/memory/main.py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Recall 要解决的是如何找到相关记忆，并交付当前有效、权限允许且可追溯的上下文材料。选择 LlamaIndex 作为主要参考，重点看检索器、向量后端适配、候选融合和后处理分层。</a:t>
            </a:r>
          </a:p>
          <a:p>
            <a:r>
              <a:t>在 P3 中，当前任务记忆和长期记忆分别找候选，随后合并与去重，必要时重排，再装配上下文。每一步都可以单独验证和替换。比如旧预算20万和新预算15万都被检索命中，框架的分层机制帮助组织候选，P3仍需依据Remember的正式版本判断哪条可交付。</a:t>
            </a:r>
          </a:p>
          <a:p>
            <a:r>
              <a:t>Haystack 也具备检索、合并和组件组织能力，现有材料已把它作为补充研读对象。这里不声称它能力不足。选择 LlamaIndex 作为主要参考，是因为已有检索、融合和后处理模块与本项目的步骤及研读成果直接对应。若改由 Haystack 完整流水线接管，需要重新适配来源状态、错误传播及现有任务边界，当前没有足够收益支持再引入一套主编排。</a:t>
            </a:r>
          </a:p>
          <a:p>
            <a:r>
              <a:t>LlamaIndex 的 Query Engine 可以只调用检索，也提供答案生成能力，因此不是“使用就一定生成回答”。P3只交付上下文，本期不采用整套问答链。默认节点去重和融合口径也不能直接替代P3的记忆编号、版本和排序规则。</a:t>
            </a:r>
          </a:p>
          <a:p>
            <a:r>
              <a:t>当前采用的是模块划分思路，自有Recall编排保留。向量编码、可选重排和长期存储分别由对应适配器承担，不能把LlamaIndex称为P3的完整运行平台。</a:t>
            </a:r>
          </a:p>
          <a:p>
            <a:endParaRPr/>
          </a:p>
          <a:p>
            <a:r>
              <a:t>建议讲述：1.8 分钟</a:t>
            </a:r>
          </a:p>
          <a:p>
            <a:endParaRPr/>
          </a:p>
          <a:p>
            <a:r>
              <a:t>依据：</a:t>
            </a:r>
          </a:p>
          <a:p>
            <a:r>
              <a:t>E:/projects/codex/aether/交付成果/ADR版本/ADR-P2P3-001_总体架构决策.md</a:t>
            </a:r>
          </a:p>
          <a:p>
            <a:r>
              <a:t>E:/projects/codex/aether/交付成果/架构设计/Recall与Embedding_开源框架参考与接入指南.md</a:t>
            </a:r>
          </a:p>
          <a:p>
            <a:r>
              <a:t>E:/projects/codex/aether/交付成果/架构设计/Recall与Embedding_流程实现说明.md</a:t>
            </a:r>
          </a:p>
          <a:p>
            <a:r>
              <a:t>https://github.com/run-llama/llama_index</a:t>
            </a:r>
          </a:p>
          <a:p>
            <a:r>
              <a:t>https://github.com/deepset-ai/haystack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Operate 的问题是让内容的访问准备跟上实际使用情况。我们参考 Kubernetes Controller 的控制循环：事件用于唤醒，执行前重新读取当前状态，比较期望与现实，只做必要动作，再重新观察和核验。</a:t>
            </a:r>
          </a:p>
          <a:p>
            <a:r>
              <a:t>例如一条冷层记忆被频繁使用，P3决定准备热副本。提交动作后如果回执丢失，不能把同一事件再次到来解释成再创建一个副本，而应查询原动作和当前状态。读取内容、核对版本与校验值后，才判断是否达到期望效果。</a:t>
            </a:r>
          </a:p>
          <a:p>
            <a:r>
              <a:t>普通定时任务和任务队列擅长触发、排队或执行工作，本身不决定哪条记忆应位于什么层，也不替代P3的实际效果核验。因此可以作为执行部件，但不能单独充当整套调度方案。Temporal提供持久工作流和恢复能力，若将来存在更复杂的长流程或补偿需求，可以重新评估；目前接管已有任务会增加服务部署及在途任务迁移成本。</a:t>
            </a:r>
          </a:p>
          <a:p>
            <a:r>
              <a:t>采用的是Controller模式，以Python实现领域控制器。Go controller-runtime面向Kubernetes资源控制，不直接作为本项目运行依赖，也不把每条记忆变成集群资源。重试、持久动作、并发约束、热度策略和P2动作协议仍需我们实现和测试。</a:t>
            </a:r>
          </a:p>
          <a:p>
            <a:endParaRPr/>
          </a:p>
          <a:p>
            <a:r>
              <a:t>建议讲述：1.8 分钟</a:t>
            </a:r>
          </a:p>
          <a:p>
            <a:endParaRPr/>
          </a:p>
          <a:p>
            <a:r>
              <a:t>依据：</a:t>
            </a:r>
          </a:p>
          <a:p>
            <a:r>
              <a:t>E:/projects/codex/aether/交付成果/ADR版本/ADR-P2P3-001_总体架构决策.md</a:t>
            </a:r>
          </a:p>
          <a:p>
            <a:r>
              <a:t>E:/projects/codex/aether/AgentJYS-main/docs/p3/adr/ADR-P3-001_V1.2产品基线与框架采用.md</a:t>
            </a:r>
          </a:p>
          <a:p>
            <a:r>
              <a:t>E:/projects/codex/aether/AgentJYS-main/src/aether_agent_memory/operate/standalone/controller.py</a:t>
            </a:r>
          </a:p>
          <a:p>
            <a:r>
              <a:t>https://github.com/kubernetes-sigs/controller-runtime</a:t>
            </a:r>
          </a:p>
          <a:p>
            <a:r>
              <a:t>https://github.com/kubernetes-sigs/controller-runtime/blob/main/pkg/reconcile/reconcile.go</a:t>
            </a:r>
          </a:p>
          <a:p>
            <a:r>
              <a:t>https://github.com/temporalio/sdk-python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这一页说明测试怎样嵌入整个 MVP，而非集中到最后一周。9 月 30 日至 10 月 9 日，三位测试与 P2 对接负责人按各自流程完成首批用例、样例数据和环境说明，开发同步检查可执行性。10 月 10 日至 11 月 6 日，模块交付一批就验证一批，先跑可控模拟，再在真实 P2 上重跑同一业务预期。10 月 16 日检查首链阻塞，10 月 23 日形成首条真实链路记录。11 月 7 日至 13 日完成系统首轮测试，14 日至 20 日修复复测并形成最终候选的长稳证据。21 日至 27 日由业务代表完成 UAT，最后保留发布验证窗口。以上为建议安排，不代表已执行或人员已经承诺日期。真实依赖延迟时更新交付预期，不能挤掉验收和修复时间。</a:t>
            </a:r>
          </a:p>
          <a:p>
            <a:endParaRPr/>
          </a:p>
          <a:p>
            <a:r>
              <a:t>建议讲述：1.4 分钟</a:t>
            </a:r>
          </a:p>
          <a:p>
            <a:endParaRPr/>
          </a:p>
          <a:p>
            <a:r>
              <a:t>依据：</a:t>
            </a:r>
          </a:p>
          <a:p>
            <a:r>
              <a:t>E:/projects/codex/aether/交付成果/里程碑与交付/P3方案与进度评审_20260929/MVP完整交付计划_20260929.md</a:t>
            </a:r>
          </a:p>
          <a:p>
            <a:r>
              <a:t>E:/projects/codex/aether/交付成果/测试与验收/UAT计划与记录.md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谁写测试用例有明确分工。Remember 的业务用例由赵旭东负责，Recall/Embedding 由肖宇负责，Operate 由谭旭梁负责。他们还负责测试数据、环境配置、P2 沟通及问题跟踪。杨鹏通、A 开发负责人、沈佳隆分别编写本流程单元自测，评审测试是否具备准确的操作和观察入口，并修复代码。预期不清楚时由陈凯协调确认需求，不能直接把当前代码的行为写成正确答案。跨流程用例指定一个主责，例如本次更正案例由赵旭东牵头、肖宇验证召回端。P3 内部接口由相关开发人员协作，P2 实现问题交 P2 提供方修复。A 开发岗沿用既有未定状态，由陈凯在 10 月 9 日准备节点前落实，不编造姓名。RF 的具体代码任务也必须分派给一位开发。</a:t>
            </a:r>
          </a:p>
          <a:p>
            <a:endParaRPr/>
          </a:p>
          <a:p>
            <a:r>
              <a:t>建议讲述：1.2 分钟</a:t>
            </a:r>
          </a:p>
          <a:p>
            <a:endParaRPr/>
          </a:p>
          <a:p>
            <a:r>
              <a:t>依据：</a:t>
            </a:r>
          </a:p>
          <a:p>
            <a:r>
              <a:t>E:/projects/codex/aether/交付成果/开发协作/13_项目任务分工表_20260923.md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测试设计采用常见的等价类、边界值、状态转换、决策表和故障注入方法。先从 PRD 和流程规则列测试点，再给每个测试点分配用例编号、负责人、优先级和适用环境。正常场景覆盖保存至跨会话召回的完整链路。边界用例按批准的配置选取边界前、边界上、边界后的值，不能临时编造产品限制。权限、版本、正文可读性采用决策表组合，覆盖允许、明确排除和无法核实。更正、删除、撤权与正在运行的任务分别拆成独立用例。高风险数据与安全用例优先，并在每轮候选回归执行。覆盖表必须能从需求追溯到用例及最新执行记录，阻塞和未执行项单独列出。本次不宣称通过某项标准认证。</a:t>
            </a:r>
          </a:p>
          <a:p>
            <a:endParaRPr/>
          </a:p>
          <a:p>
            <a:r>
              <a:t>建议讲述：1.4 分钟</a:t>
            </a:r>
          </a:p>
          <a:p>
            <a:endParaRPr/>
          </a:p>
          <a:p>
            <a:r>
              <a:t>依据：</a:t>
            </a:r>
          </a:p>
          <a:p>
            <a:r>
              <a:t>E:/projects/codex/aether/交付成果/测试与验收/测试人员交接包_20260922/06_测试模板与样例/01_单条测试用例模板.md</a:t>
            </a:r>
          </a:p>
          <a:p>
            <a:r>
              <a:t>E:/projects/codex/aether/交付成果/测试与验收/TC目录.md</a:t>
            </a:r>
          </a:p>
          <a:p>
            <a:r>
              <a:t>E:/projects/codex/aether/交付成果/测试与验收/UAT计划与记录.md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这是一条按现有 TC-P3-04 规则展开的完整业务用例示例，设计状态为待评审、执行状态为未执行。用例编号 TC-P3-04-01，优先级为核心必测，层级为 Remember 与 Recall 联合业务测试，责任人为赵旭东，肖宇联合验证，杨鹏通和 A 开发负责人评审可执行性，陈凯协调业务预期。前置条件：隔离租户 A，用户甲具有保存与读取权限，两个独立会话，唯一测试来源中预算为 20 万，长期检索已就绪并保存一次旧结果引用。测试数据只有同一预算的一次更正，不混入并发更正、删除、撤权或模型质量故障。第一步更正为 15 万，保存更正关联和版本证据，以后台就绪状态为等待条件。第二步在另一会话检索当前预算，检查交付材料中的数值、来源和版本，不只检查请求成功。第三步重取旧结果，检查它失效且不返回旧正文。最长等待使用登记的环境配置，缺少配置或观察入口则记阻塞，不使用随意 sleep。运行前登记用例版本、代码版本、环境、数据和配置，Mock 与真实 P2 各留独立执行编号。运行后记录逐步实际结果、状态、证据编号和缺陷编号。完成后清理本用例测试数据与缓存引用，恢复环境。并发更正、旧索引命中、删除和撤权另起用例。标准字段完整模板及执行台账见同步的 MVP 计划。</a:t>
            </a:r>
          </a:p>
          <a:p>
            <a:endParaRPr/>
          </a:p>
          <a:p>
            <a:r>
              <a:t>建议讲述：1.8 分钟</a:t>
            </a:r>
          </a:p>
          <a:p>
            <a:endParaRPr/>
          </a:p>
          <a:p>
            <a:r>
              <a:t>依据：</a:t>
            </a:r>
          </a:p>
          <a:p>
            <a:r>
              <a:t>E:/projects/codex/aether/交付成果/测试与验收/测试人员交接包_20260922/06_测试模板与样例/01_单条测试用例模板.md</a:t>
            </a:r>
          </a:p>
          <a:p>
            <a:r>
              <a:t>E:/projects/codex/aether/交付成果/测试与验收/测试人员交接包_20260922/06_测试模板与样例/03_执行记录与缺陷模板.md</a:t>
            </a:r>
          </a:p>
          <a:p>
            <a:r>
              <a:t>E:/projects/codex/aether/交付成果/测试与验收/TC目录.md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目前三类替身分别使用，不是一个统一的完整 P2 服务。正文使用 Remember 的 SQLite 实现保存独立数据，验证对象精确读取、持久化和不可用情况。向量模拟器持久记录目标、向量与原操作，测试脚本显式控制可检索状态，并可在提交后抛出超时模拟丢回执。测试需要检查记录和最终状态，不从返回码推断完成。Operate 独立演示替身在内存中管理对象、容量、动作，推进动作才改变效果，查询本身不推进状态。开发提供可重置的夹具、故障开关与观察入口，测试人员按用例组织数据并调用，不能直接把期待答案写入返回值后就判定系统通过。现有替身不能证明真实相似度检索、P2 持久性、权限集成或真实性能。真实 P2 到位后按相同用例编号与业务预期重跑，使用新的环境与执行编号。操作入口可以由各环境的适配驱动映射，不能为迁就真实结果改变预期。</a:t>
            </a:r>
          </a:p>
          <a:p>
            <a:endParaRPr/>
          </a:p>
          <a:p>
            <a:r>
              <a:t>建议讲述：1.5 分钟</a:t>
            </a:r>
          </a:p>
          <a:p>
            <a:endParaRPr/>
          </a:p>
          <a:p>
            <a:r>
              <a:t>依据：</a:t>
            </a:r>
          </a:p>
          <a:p>
            <a:r>
              <a:t>E:/projects/codex/aether/AgentJYS-main/src/aether_agent_memory/remember/basic/sqlite_p2.py</a:t>
            </a:r>
          </a:p>
          <a:p>
            <a:r>
              <a:t>E:/projects/codex/aether/AgentJYS-main/src/aether_agent_memory/p2/simulator.py</a:t>
            </a:r>
          </a:p>
          <a:p>
            <a:r>
              <a:t>E:/projects/codex/aether/AgentJYS-main/src/aether_agent_memory/operate/standalone/mock_p2.py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建议在现有 pytest 基础上组织测试脚本和用例编号映射，不重新建立与业务无关的一套目录。开发负责模块级自测与必要的可观察入口，三位测试负责人维护业务自动化脚本、数据及人工执行记录，开发协助复杂故障夹具。测试实现包含准备环境、装入数据、执行操作、等待指定状态、核对响应与持久业务结果、清理数据。每次提交运行相关单元自测及核心冒烟，每日构建运行当时环境已具备的自动回归，候选版本运行范围内完整套件、真实联调及质量运行测试。环境不具备的用例明确记阻塞，不计通过。执行结论采用未执行、通过、失败、阻塞、不适用，不适用要写范围依据。缺陷记录包含关联需求和用例、版本与环境、复现步骤、预期与实际、影响、证据、负责人及修复版本。修复后由测试人员执行原用例，并回归受影响的上下游流程。版本变动后旧结果不自动继承。用例作者及测试负责人给出测试结论，陈凯组织阶段验收，业务签收另行记录。</a:t>
            </a:r>
          </a:p>
          <a:p>
            <a:endParaRPr/>
          </a:p>
          <a:p>
            <a:r>
              <a:t>建议讲述：1.5 分钟</a:t>
            </a:r>
          </a:p>
          <a:p>
            <a:endParaRPr/>
          </a:p>
          <a:p>
            <a:r>
              <a:t>依据：</a:t>
            </a:r>
          </a:p>
          <a:p>
            <a:r>
              <a:t>E:/projects/codex/aether/交付成果/测试与验收/测试人员交接包_20260922/06_测试模板与样例/03_执行记录与缺陷模板.md</a:t>
            </a:r>
          </a:p>
          <a:p>
            <a:r>
              <a:t>E:/projects/codex/aether/交付成果/开发协作/13_项目任务分工表_20260923.md</a:t>
            </a:r>
          </a:p>
          <a:p>
            <a:r>
              <a:t>E:/projects/codex/aether/AgentJYS-main/pyproject.toml</a:t>
            </a:r>
          </a:p>
          <a:p>
            <a:r>
              <a:t>E:/projects/codex/aether/AgentJYS-main/.github/workflows/ci.yml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页给出系统层测试方法和建议牵头，未改变现有人员的流程责任。记忆质量由赵旭东负责提取侧、肖宇负责召回侧，业务代表核对标准答案，评估集与调试样例分开并固定版本，记录每条错误而非只报一个均值。确定性规则严格比较权限、版本、数字和来源，模型语义质量按评审后的评分规则抽样复核。性能由肖宇牵头，三位开发及测试共同支持，固定规模、并发、输入长度、冷热比例、模型、硬件和后台负载，区分底层读写、保存入口与完整 Recall 的测量边界，记录吞吐、延迟分位数、错误率和资源。长稳和恢复建议谭旭梁牵头，每位测试核对所属流程。最终候选连续至少 24 小时，影响运行的修复需在新候选重新计时。部署与恢复由谭旭梁联合运行接手人验证，具体基础设施操作由被分派的开发或运行角色执行。性能门槛取合同和批准的需求，测量定义与数据集在 10 月 9 日准备节点前确认，10 月 23 日形成首批真实测量观察，11 月 6 日前补齐候选基线，不能临时编造数值或用 Mock 证明真实质量。</a:t>
            </a:r>
          </a:p>
          <a:p>
            <a:endParaRPr/>
          </a:p>
          <a:p>
            <a:r>
              <a:t>建议讲述：1.4 分钟</a:t>
            </a:r>
          </a:p>
          <a:p>
            <a:endParaRPr/>
          </a:p>
          <a:p>
            <a:r>
              <a:t>依据：</a:t>
            </a:r>
          </a:p>
          <a:p>
            <a:r>
              <a:t>E:/projects/codex/aether/交付成果/测试与验收/UAT计划与记录.md</a:t>
            </a:r>
          </a:p>
          <a:p>
            <a:r>
              <a:t>E:/projects/codex/aether/交付成果/开发协作/13_项目任务分工表_20260923.md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验收和任务分工分别说明。本页只解释各关口的条件和确认责任。提测先检查版本、范围、自测、用例评审、测试数据和观察入口，条件缺失时先补齐。系统测试通过要求约定核心业务和真实依赖用例通过，质量、性能、持续运行与恢复达到批准的口径，阻断和严重缺陷关闭且有复测记录。数据泄漏、丢失、旧或删除事实错误交付、核心功能不可用及故障假报成功均属于不能带入交付的阻断问题。业务 UAT 使用真实候选系统，由业务代表操作并签收，测试提供记录和见证。一般遗留问题必须明确接受人、限制、负责人和关闭日期，不能直接忽略。发布前确认部署、备份恢复、回滚和运行接手安排，发布后执行核心冒烟和监控核对，失败按演练预案暂停并回退。日期到达、Mock 通过或者测试报告出具都不能自动替代业务签收。</a:t>
            </a:r>
          </a:p>
          <a:p>
            <a:endParaRPr/>
          </a:p>
          <a:p>
            <a:r>
              <a:t>建议讲述：1.3 分钟</a:t>
            </a:r>
          </a:p>
          <a:p>
            <a:endParaRPr/>
          </a:p>
          <a:p>
            <a:r>
              <a:t>依据：</a:t>
            </a:r>
          </a:p>
          <a:p>
            <a:r>
              <a:t>E:/projects/codex/aether/交付成果/测试与验收/UAT计划与记录.md</a:t>
            </a:r>
          </a:p>
          <a:p>
            <a:r>
              <a:t>E:/projects/codex/aether/交付成果/开发协作/13_项目任务分工表_20260923.md</a:t>
            </a:r>
          </a:p>
          <a:p>
            <a:r>
              <a:t>E:/projects/codex/aether/交付成果/测试与验收/测试人员交接包_20260922/06_测试模板与样例/03_执行记录与缺陷模板.md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 月 30 日至 10 月 9 日固定最小业务范围、流程和接口约定、样例数据及环境责任。10 月 10 日至 11 月 6 日推进实现和真实联调，10 月 16 日检查首链阻塞，10 月 23 日交首轮真实闭环。测试设计从准备阶段开始，回归贯穿实现和修复。质量、性能与部署准备在十月同步开展。11 月 7 日至 13 日系统首验和 24 小时长稳，14 日至 20 日修复复测。21 日至 27 日业务验收与交接，28 日至 12 月 1 日发布检查和缓冲。这些是日历窗口，假期按实际出勤安排。若 P2 延迟，继续本地和模拟工作，重新排真实联调及交付预期，保留验收和修复窗口。</a:t>
            </a:r>
          </a:p>
          <a:p>
            <a:endParaRPr/>
          </a:p>
          <a:p>
            <a:r>
              <a:t>建议讲述：2 分钟</a:t>
            </a:r>
          </a:p>
          <a:p>
            <a:endParaRPr/>
          </a:p>
          <a:p>
            <a:r>
              <a:t>依据：</a:t>
            </a:r>
          </a:p>
          <a:p>
            <a:r>
              <a:t>E:/projects/codex/aether/交付成果/PRD版本/AetherBrain_P3_PRD_租户补全版_V1.3.docx</a:t>
            </a:r>
          </a:p>
          <a:p>
            <a:r>
              <a:t>E:/projects/codex/aether/交付成果/开发协作/13_项目任务分工表_20260923.md</a:t>
            </a:r>
          </a:p>
          <a:p>
            <a:r>
              <a:t>E:/projects/codex/aether/交付成果/测试与验收/UAT计划与记录.md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节点交付要能看、能运行、能核对。准备阶段交付业务与环境基线，首链阶段交付真实结果，联合候选阶段交付可进入系统验收的版本。系统退出时必须有最终候选的复测和持续运行证据。业务签收之后，交付同版本的服务、配置、说明和运行交接。某个节点因关键依赖无法满足时，要明确调整受影响的时间，不能取消后续验收来维持表面日期。</a:t>
            </a:r>
          </a:p>
          <a:p>
            <a:endParaRPr/>
          </a:p>
          <a:p>
            <a:r>
              <a:t>建议讲述：1.3 分钟</a:t>
            </a:r>
          </a:p>
          <a:p>
            <a:endParaRPr/>
          </a:p>
          <a:p>
            <a:r>
              <a:t>依据：</a:t>
            </a:r>
          </a:p>
          <a:p>
            <a:r>
              <a:t>E:/projects/codex/aether/交付成果/PRD版本/AetherBrain_P3_PRD_租户补全版_V1.3.docx</a:t>
            </a:r>
          </a:p>
          <a:p>
            <a:r>
              <a:t>E:/projects/codex/aether/交付成果/开发协作/13_项目任务分工表_20260923.md</a:t>
            </a:r>
          </a:p>
          <a:p>
            <a:r>
              <a:t>E:/projects/codex/aether/交付成果/测试与验收/UAT计划与记录.md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沿用已有分工：陈凯统一架构与验收，Remember 开发由杨鹏通负责，Operate 由沈佳隆负责，Recall 的 A 开发岗需由陈凯落实。肖宇、赵旭东、谭旭梁分别负责 A、B、C 的测试、环境与 P2 对接。P3 自身代码由相应开发修改，P2 代码由提供方修改。公共底座的每项实现任务也必须指定唯一开发负责人，不能默认全落给总体负责人或测试人员。10 月 9 日前落实 A 开发岗、公共任务实现人、外部联系人和业务/运行接手人。</a:t>
            </a:r>
          </a:p>
          <a:p>
            <a:endParaRPr/>
          </a:p>
          <a:p>
            <a:r>
              <a:t>建议讲述：1.3 分钟</a:t>
            </a:r>
          </a:p>
          <a:p>
            <a:endParaRPr/>
          </a:p>
          <a:p>
            <a:r>
              <a:t>依据：</a:t>
            </a:r>
          </a:p>
          <a:p>
            <a:r>
              <a:t>E:/projects/codex/aether/交付成果/开发协作/13_项目任务分工表_20260923.md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交付终点包括可运行服务和可接手的运行安排。发布前固定服务与配置版本，完成备份恢复和回滚演练，再验证关键业务。交付材料与服务版本一致，包含接入使用说明、测试和复验记录、部署恢复手册、业务签收以及运行接手人。发布过程中关键业务或探测失败时暂停切换，按演练方案回退。这样才能把最初的业务想法落实为甲方可以使用和持续运行的项目成果。</a:t>
            </a:r>
          </a:p>
          <a:p>
            <a:endParaRPr/>
          </a:p>
          <a:p>
            <a:r>
              <a:t>建议讲述：1.2 分钟</a:t>
            </a:r>
          </a:p>
          <a:p>
            <a:endParaRPr/>
          </a:p>
          <a:p>
            <a:r>
              <a:t>依据：</a:t>
            </a:r>
          </a:p>
          <a:p>
            <a:r>
              <a:t>E:/projects/codex/aether/交付成果/PRD版本/AetherBrain_P3_PRD_租户补全版_V1.3.docx</a:t>
            </a:r>
          </a:p>
          <a:p>
            <a:r>
              <a:t>E:/projects/codex/aether/交付成果/测试与验收/UAT计划与记录.md</a:t>
            </a:r>
          </a:p>
          <a:p>
            <a:r>
              <a:t>E:/projects/codex/aether/交付成果/开发协作/13_项目任务分工表_20260923.md</a:t>
            </a:r>
          </a:p>
          <a:p>
            <a:r>
              <a:t>E:/projects/codex/aether/交付成果/部署运行/P3_统一服务运行指南_20260926.md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C17860B1-B8D2-4E2D-88F3-CA27D4483603}"/>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F2451969-1248-401D-88B9-BE177D1DAE20}"/>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Subtitle">
            <a:extLst>
              <a:ext uri="{FF2B5EF4-FFF2-40B4-BE49-F238E27FC236}">
                <a16:creationId xmlns:a16="http://schemas.microsoft.com/office/drawing/2014/main" id="{3A84D3CA-AE83-4A77-A657-880CAE03FADF}"/>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4431BBC3-4523-4773-9683-DDCABC5BC817}"/>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EFBEB65F-5853-46FB-9857-3C5604D5C954}"/>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1EEF1324-B555-4CDE-812D-853103620B51}"/>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A0D986C0-A233-491F-A089-E68C618D797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Body">
            <a:extLst>
              <a:ext uri="{FF2B5EF4-FFF2-40B4-BE49-F238E27FC236}">
                <a16:creationId xmlns:a16="http://schemas.microsoft.com/office/drawing/2014/main" id="{44CF4BE0-83AB-4342-9414-4C0C653CD7B9}"/>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FBE16352-E0D0-4592-A8A3-3568967C527A}"/>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5E116F11-BABE-446D-8E59-49B9A3D1AED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Left column">
            <a:extLst>
              <a:ext uri="{FF2B5EF4-FFF2-40B4-BE49-F238E27FC236}">
                <a16:creationId xmlns:a16="http://schemas.microsoft.com/office/drawing/2014/main" id="{DBAEB161-7DD0-47E4-B4D4-05413BB475C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4" name="Right column">
            <a:extLst>
              <a:ext uri="{FF2B5EF4-FFF2-40B4-BE49-F238E27FC236}">
                <a16:creationId xmlns:a16="http://schemas.microsoft.com/office/drawing/2014/main" id="{62E58049-B99B-40D2-A720-7FEFC752F044}"/>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EB38ED56-58A4-4F4E-87D0-ED20F4AC5C8C}"/>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6C45E51A-524F-4507-AF30-FCCFA7273E1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Left column">
            <a:extLst>
              <a:ext uri="{FF2B5EF4-FFF2-40B4-BE49-F238E27FC236}">
                <a16:creationId xmlns:a16="http://schemas.microsoft.com/office/drawing/2014/main" id="{D80092E8-C16F-4DB9-BDED-334974F6822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langchain-ai/langmem" TargetMode="External"/><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run-llama/llama_index" TargetMode="External"/><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kubernetes-sigs/controller-runtime" TargetMode="External"/><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3044"/>
        </a:solidFill>
        <a:effectLst/>
      </p:bgPr>
    </p:bg>
    <p:spTree>
      <p:nvGrpSpPr>
        <p:cNvPr id="1" name=""/>
        <p:cNvGrpSpPr/>
        <p:nvPr/>
      </p:nvGrpSpPr>
      <p:grpSpPr>
        <a:xfrm>
          <a:off x="0" y="0"/>
          <a:ext cx="0" cy="0"/>
          <a:chOff x="0" y="0"/>
          <a:chExt cx="0" cy="0"/>
        </a:xfrm>
      </p:grpSpPr>
      <p:sp>
        <p:nvSpPr>
          <p:cNvPr id="5" name="text-1">
            <a:extLst>
              <a:ext uri="{FF2B5EF4-FFF2-40B4-BE49-F238E27FC236}">
                <a16:creationId xmlns:a16="http://schemas.microsoft.com/office/drawing/2014/main" id="{FF778624-D185-4DA3-AC16-CB86704F4C4E}"/>
              </a:ext>
            </a:extLst>
          </p:cNvPr>
          <p:cNvSpPr>
            <a:spLocks noGrp="1"/>
          </p:cNvSpPr>
          <p:nvPr/>
        </p:nvSpPr>
        <p:spPr>
          <a:xfrm>
            <a:off x="723900" y="590550"/>
            <a:ext cx="10744200" cy="609600"/>
          </a:xfrm>
          <a:prstGeom prst="rect">
            <a:avLst/>
          </a:prstGeom>
          <a:noFill/>
          <a:ln w="0">
            <a:noFill/>
          </a:ln>
        </p:spPr>
        <p:txBody>
          <a:bodyPr wrap="square" lIns="0" tIns="0" rIns="0" bIns="0" anchor="ctr">
            <a:noAutofit/>
          </a:bodyPr>
          <a:lstStyle/>
          <a:p>
            <a:pPr algn="l">
              <a:defRPr sz="2400" b="0">
                <a:solidFill>
                  <a:srgbClr val="8DCDD0"/>
                </a:solidFill>
                <a:latin typeface="Microsoft YaHei"/>
                <a:ea typeface="Microsoft YaHei"/>
                <a:cs typeface="Microsoft YaHei"/>
              </a:defRPr>
            </a:pPr>
            <a:r>
              <a:rPr sz="2400" b="0">
                <a:solidFill>
                  <a:srgbClr val="8DCDD0"/>
                </a:solidFill>
                <a:latin typeface="Microsoft YaHei"/>
                <a:ea typeface="Microsoft YaHei"/>
                <a:cs typeface="Microsoft YaHei"/>
              </a:rPr>
              <a:t>AetherBrain P3</a:t>
            </a:r>
          </a:p>
        </p:txBody>
      </p:sp>
      <p:sp>
        <p:nvSpPr>
          <p:cNvPr id="2" name="text-2">
            <a:extLst>
              <a:ext uri="{FF2B5EF4-FFF2-40B4-BE49-F238E27FC236}">
                <a16:creationId xmlns:a16="http://schemas.microsoft.com/office/drawing/2014/main" id="{8C1DBA7E-FDAB-4A8B-889D-2F9133A0F337}"/>
              </a:ext>
            </a:extLst>
          </p:cNvPr>
          <p:cNvSpPr>
            <a:spLocks noGrp="1"/>
          </p:cNvSpPr>
          <p:nvPr/>
        </p:nvSpPr>
        <p:spPr>
          <a:xfrm>
            <a:off x="723900" y="1809750"/>
            <a:ext cx="10744200" cy="1809750"/>
          </a:xfrm>
          <a:prstGeom prst="rect">
            <a:avLst/>
          </a:prstGeom>
          <a:noFill/>
          <a:ln w="0">
            <a:noFill/>
          </a:ln>
        </p:spPr>
        <p:txBody>
          <a:bodyPr wrap="square" lIns="0" tIns="0" rIns="0" bIns="0" anchor="ctr">
            <a:noAutofit/>
          </a:bodyPr>
          <a:lstStyle/>
          <a:p>
            <a:pPr algn="l">
              <a:defRPr sz="4950" b="1">
                <a:solidFill>
                  <a:srgbClr val="FFFFFF"/>
                </a:solidFill>
                <a:latin typeface="Microsoft YaHei"/>
                <a:ea typeface="Microsoft YaHei"/>
                <a:cs typeface="Microsoft YaHei"/>
              </a:defRPr>
            </a:pPr>
            <a:r>
              <a:rPr sz="4950" b="1">
                <a:solidFill>
                  <a:srgbClr val="FFFFFF"/>
                </a:solidFill>
                <a:latin typeface="Microsoft YaHei"/>
                <a:ea typeface="Microsoft YaHei"/>
                <a:cs typeface="Microsoft YaHei"/>
              </a:rPr>
              <a:t>P3 业务流程</a:t>
            </a:r>
          </a:p>
          <a:p>
            <a:pPr algn="l">
              <a:defRPr sz="4950" b="1">
                <a:solidFill>
                  <a:srgbClr val="FFFFFF"/>
                </a:solidFill>
                <a:latin typeface="Microsoft YaHei"/>
                <a:ea typeface="Microsoft YaHei"/>
                <a:cs typeface="Microsoft YaHei"/>
              </a:defRPr>
            </a:pPr>
            <a:r>
              <a:rPr sz="4950" b="1">
                <a:solidFill>
                  <a:srgbClr val="FFFFFF"/>
                </a:solidFill>
                <a:latin typeface="Microsoft YaHei"/>
                <a:ea typeface="Microsoft YaHei"/>
                <a:cs typeface="Microsoft YaHei"/>
              </a:rPr>
              <a:t>与落地方案</a:t>
            </a:r>
          </a:p>
        </p:txBody>
      </p:sp>
      <p:sp>
        <p:nvSpPr>
          <p:cNvPr id="3" name="text-3">
            <a:extLst>
              <a:ext uri="{FF2B5EF4-FFF2-40B4-BE49-F238E27FC236}">
                <a16:creationId xmlns:a16="http://schemas.microsoft.com/office/drawing/2014/main" id="{92F77FFE-BE46-4CCB-A73F-AF5268A194E1}"/>
              </a:ext>
            </a:extLst>
          </p:cNvPr>
          <p:cNvSpPr>
            <a:spLocks noGrp="1"/>
          </p:cNvSpPr>
          <p:nvPr/>
        </p:nvSpPr>
        <p:spPr>
          <a:xfrm>
            <a:off x="762000" y="4324350"/>
            <a:ext cx="10668000" cy="552450"/>
          </a:xfrm>
          <a:prstGeom prst="rect">
            <a:avLst/>
          </a:prstGeom>
          <a:noFill/>
          <a:ln w="0">
            <a:noFill/>
          </a:ln>
        </p:spPr>
        <p:txBody>
          <a:bodyPr wrap="square" lIns="0" tIns="0" rIns="0" bIns="0" anchor="ctr">
            <a:noAutofit/>
          </a:bodyPr>
          <a:lstStyle/>
          <a:p>
            <a:pPr algn="l">
              <a:defRPr sz="2250" b="0">
                <a:solidFill>
                  <a:srgbClr val="D4E5ED"/>
                </a:solidFill>
                <a:latin typeface="Microsoft YaHei"/>
                <a:ea typeface="Microsoft YaHei"/>
                <a:cs typeface="Microsoft YaHei"/>
              </a:defRPr>
            </a:pPr>
            <a:r>
              <a:rPr sz="2250" b="0">
                <a:solidFill>
                  <a:srgbClr val="D4E5ED"/>
                </a:solidFill>
                <a:latin typeface="Microsoft YaHei"/>
                <a:ea typeface="Microsoft YaHei"/>
                <a:cs typeface="Microsoft YaHei"/>
              </a:rPr>
              <a:t>业务怎样运行，方案怎样实现，项目怎样交付</a:t>
            </a:r>
          </a:p>
        </p:txBody>
      </p:sp>
      <p:sp>
        <p:nvSpPr>
          <p:cNvPr id="4" name="text-4">
            <a:extLst>
              <a:ext uri="{FF2B5EF4-FFF2-40B4-BE49-F238E27FC236}">
                <a16:creationId xmlns:a16="http://schemas.microsoft.com/office/drawing/2014/main" id="{7B3446A2-4CCF-4F62-9583-1D1A285BDE45}"/>
              </a:ext>
            </a:extLst>
          </p:cNvPr>
          <p:cNvSpPr>
            <a:spLocks noGrp="1"/>
          </p:cNvSpPr>
          <p:nvPr/>
        </p:nvSpPr>
        <p:spPr>
          <a:xfrm>
            <a:off x="762000" y="6019800"/>
            <a:ext cx="10287000" cy="400050"/>
          </a:xfrm>
          <a:prstGeom prst="rect">
            <a:avLst/>
          </a:prstGeom>
          <a:noFill/>
          <a:ln w="0">
            <a:noFill/>
          </a:ln>
        </p:spPr>
        <p:txBody>
          <a:bodyPr wrap="square" lIns="0" tIns="0" rIns="0" bIns="0" anchor="ctr">
            <a:noAutofit/>
          </a:bodyPr>
          <a:lstStyle/>
          <a:p>
            <a:pPr algn="l">
              <a:defRPr sz="1800" b="0">
                <a:solidFill>
                  <a:srgbClr val="BDD0DB"/>
                </a:solidFill>
                <a:latin typeface="Microsoft YaHei"/>
                <a:ea typeface="Microsoft YaHei"/>
                <a:cs typeface="Microsoft YaHei"/>
              </a:defRPr>
            </a:pPr>
            <a:r>
              <a:rPr sz="1800" b="0">
                <a:solidFill>
                  <a:srgbClr val="BDD0DB"/>
                </a:solidFill>
                <a:latin typeface="Microsoft YaHei"/>
                <a:ea typeface="Microsoft YaHei"/>
                <a:cs typeface="Microsoft YaHei"/>
              </a:rPr>
              <a:t>2026 年 9 月 29 日  V4.3</a:t>
            </a:r>
          </a:p>
        </p:txBody>
      </p:sp>
    </p:spTree>
    <p:extLst>
      <p:ext uri="{BB962C8B-B14F-4D97-AF65-F5344CB8AC3E}">
        <p14:creationId xmlns:p14="http://schemas.microsoft.com/office/powerpoint/2010/main" val="268140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text-5">
            <a:extLst>
              <a:ext uri="{FF2B5EF4-FFF2-40B4-BE49-F238E27FC236}">
                <a16:creationId xmlns:a16="http://schemas.microsoft.com/office/drawing/2014/main" id="{340CC155-DBEA-4EA3-B599-0062D5A0A552}"/>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汇报目录</a:t>
            </a:r>
          </a:p>
        </p:txBody>
      </p:sp>
      <p:sp>
        <p:nvSpPr>
          <p:cNvPr id="2" name="text-6">
            <a:extLst>
              <a:ext uri="{FF2B5EF4-FFF2-40B4-BE49-F238E27FC236}">
                <a16:creationId xmlns:a16="http://schemas.microsoft.com/office/drawing/2014/main" id="{D1886467-DAA3-4A75-B5A2-FAC4D1ED37F6}"/>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四部分说明 P3 怎样落地</a:t>
            </a:r>
          </a:p>
        </p:txBody>
      </p:sp>
      <p:sp>
        <p:nvSpPr>
          <p:cNvPr id="3" name="line-7">
            <a:extLst>
              <a:ext uri="{FF2B5EF4-FFF2-40B4-BE49-F238E27FC236}">
                <a16:creationId xmlns:a16="http://schemas.microsoft.com/office/drawing/2014/main" id="{77F32C9F-A009-41C0-B6C4-C715C00ACB8A}"/>
              </a:ext>
            </a:extLst>
          </p:cNvPr>
          <p:cNvSpPr>
            <a:spLocks noGrp="1"/>
          </p:cNvSpPr>
          <p:nvPr/>
        </p:nvSpPr>
        <p:spPr>
          <a:xfrm>
            <a:off x="609600" y="6324600"/>
            <a:ext cx="10972800" cy="95"/>
          </a:xfrm>
          <a:prstGeom prst="line">
            <a:avLst/>
          </a:prstGeom>
          <a:noFill/>
          <a:ln w="9525">
            <a:solidFill>
              <a:srgbClr val="D7E2E8"/>
            </a:solidFill>
          </a:ln>
        </p:spPr>
      </p:sp>
      <p:sp>
        <p:nvSpPr>
          <p:cNvPr id="4" name="text-8">
            <a:extLst>
              <a:ext uri="{FF2B5EF4-FFF2-40B4-BE49-F238E27FC236}">
                <a16:creationId xmlns:a16="http://schemas.microsoft.com/office/drawing/2014/main" id="{C4FB164F-1EC0-4358-8148-68800D0A8408}"/>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V4.3</a:t>
            </a:r>
          </a:p>
        </p:txBody>
      </p:sp>
      <p:sp>
        <p:nvSpPr>
          <p:cNvPr id="5" name="text-9">
            <a:extLst>
              <a:ext uri="{FF2B5EF4-FFF2-40B4-BE49-F238E27FC236}">
                <a16:creationId xmlns:a16="http://schemas.microsoft.com/office/drawing/2014/main" id="{92B6D158-6DD7-4DB7-AB6C-17CE0C4E8143}"/>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02 / 24</a:t>
            </a:r>
          </a:p>
        </p:txBody>
      </p:sp>
      <p:sp>
        <p:nvSpPr>
          <p:cNvPr id="6" name="text-10">
            <a:extLst>
              <a:ext uri="{FF2B5EF4-FFF2-40B4-BE49-F238E27FC236}">
                <a16:creationId xmlns:a16="http://schemas.microsoft.com/office/drawing/2014/main" id="{CA45C319-7291-4B22-B296-42B639380D60}"/>
              </a:ext>
            </a:extLst>
          </p:cNvPr>
          <p:cNvSpPr>
            <a:spLocks noGrp="1"/>
          </p:cNvSpPr>
          <p:nvPr/>
        </p:nvSpPr>
        <p:spPr>
          <a:xfrm>
            <a:off x="609600" y="2057400"/>
            <a:ext cx="819150" cy="495300"/>
          </a:xfrm>
          <a:prstGeom prst="rect">
            <a:avLst/>
          </a:prstGeom>
          <a:noFill/>
          <a:ln w="0">
            <a:noFill/>
          </a:ln>
        </p:spPr>
        <p:txBody>
          <a:bodyPr wrap="square" lIns="0" tIns="0" rIns="0" bIns="0" anchor="ctr">
            <a:noAutofit/>
          </a:bodyPr>
          <a:lstStyle/>
          <a:p>
            <a:pPr algn="l">
              <a:defRPr sz="2850" b="1">
                <a:solidFill>
                  <a:srgbClr val="087F80"/>
                </a:solidFill>
                <a:latin typeface="Microsoft YaHei"/>
                <a:ea typeface="Microsoft YaHei"/>
                <a:cs typeface="Microsoft YaHei"/>
              </a:defRPr>
            </a:pPr>
            <a:r>
              <a:rPr sz="2850" b="1">
                <a:solidFill>
                  <a:srgbClr val="087F80"/>
                </a:solidFill>
                <a:latin typeface="Microsoft YaHei"/>
                <a:ea typeface="Microsoft YaHei"/>
                <a:cs typeface="Microsoft YaHei"/>
              </a:rPr>
              <a:t>01</a:t>
            </a:r>
          </a:p>
        </p:txBody>
      </p:sp>
      <p:sp>
        <p:nvSpPr>
          <p:cNvPr id="7" name="text-11">
            <a:extLst>
              <a:ext uri="{FF2B5EF4-FFF2-40B4-BE49-F238E27FC236}">
                <a16:creationId xmlns:a16="http://schemas.microsoft.com/office/drawing/2014/main" id="{0FF2288B-CEBB-4217-ADEA-6EB8EAC6FA02}"/>
              </a:ext>
            </a:extLst>
          </p:cNvPr>
          <p:cNvSpPr>
            <a:spLocks noGrp="1"/>
          </p:cNvSpPr>
          <p:nvPr/>
        </p:nvSpPr>
        <p:spPr>
          <a:xfrm>
            <a:off x="1619250" y="2057400"/>
            <a:ext cx="3143250" cy="495300"/>
          </a:xfrm>
          <a:prstGeom prst="rect">
            <a:avLst/>
          </a:prstGeom>
          <a:noFill/>
          <a:ln w="0">
            <a:noFill/>
          </a:ln>
        </p:spPr>
        <p:txBody>
          <a:bodyPr wrap="square" lIns="0" tIns="0" rIns="0" bIns="0" anchor="ctr">
            <a:noAutofit/>
          </a:bodyPr>
          <a:lstStyle/>
          <a:p>
            <a:pPr algn="l">
              <a:defRPr sz="2325" b="1">
                <a:solidFill>
                  <a:srgbClr val="163044"/>
                </a:solidFill>
                <a:latin typeface="Microsoft YaHei"/>
                <a:ea typeface="Microsoft YaHei"/>
                <a:cs typeface="Microsoft YaHei"/>
              </a:defRPr>
            </a:pPr>
            <a:r>
              <a:rPr sz="2325" b="1">
                <a:solidFill>
                  <a:srgbClr val="163044"/>
                </a:solidFill>
                <a:latin typeface="Microsoft YaHei"/>
                <a:ea typeface="Microsoft YaHei"/>
                <a:cs typeface="Microsoft YaHei"/>
              </a:rPr>
              <a:t>流程设计</a:t>
            </a:r>
          </a:p>
        </p:txBody>
      </p:sp>
      <p:sp>
        <p:nvSpPr>
          <p:cNvPr id="8" name="text-12">
            <a:extLst>
              <a:ext uri="{FF2B5EF4-FFF2-40B4-BE49-F238E27FC236}">
                <a16:creationId xmlns:a16="http://schemas.microsoft.com/office/drawing/2014/main" id="{553A965C-419C-4AEC-915C-53BC84209A6F}"/>
              </a:ext>
            </a:extLst>
          </p:cNvPr>
          <p:cNvSpPr>
            <a:spLocks noGrp="1"/>
          </p:cNvSpPr>
          <p:nvPr/>
        </p:nvSpPr>
        <p:spPr>
          <a:xfrm>
            <a:off x="4857750" y="2057400"/>
            <a:ext cx="5657850" cy="5143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业务场景、系统框架与 P2 协作</a:t>
            </a:r>
          </a:p>
        </p:txBody>
      </p:sp>
      <p:sp>
        <p:nvSpPr>
          <p:cNvPr id="9" name="text-13">
            <a:extLst>
              <a:ext uri="{FF2B5EF4-FFF2-40B4-BE49-F238E27FC236}">
                <a16:creationId xmlns:a16="http://schemas.microsoft.com/office/drawing/2014/main" id="{08CE3FE5-2996-4830-8112-1E614FE5FFC0}"/>
              </a:ext>
            </a:extLst>
          </p:cNvPr>
          <p:cNvSpPr>
            <a:spLocks noGrp="1"/>
          </p:cNvSpPr>
          <p:nvPr/>
        </p:nvSpPr>
        <p:spPr>
          <a:xfrm>
            <a:off x="10610850" y="2057400"/>
            <a:ext cx="971550" cy="495300"/>
          </a:xfrm>
          <a:prstGeom prst="rect">
            <a:avLst/>
          </a:prstGeom>
          <a:noFill/>
          <a:ln w="0">
            <a:noFill/>
          </a:ln>
        </p:spPr>
        <p:txBody>
          <a:bodyPr wrap="square" lIns="0" tIns="0" rIns="0" bIns="0" anchor="ctr">
            <a:noAutofit/>
          </a:bodyPr>
          <a:lstStyle/>
          <a:p>
            <a:pPr algn="r">
              <a:defRPr sz="1425" b="0">
                <a:solidFill>
                  <a:srgbClr val="5B6D7A"/>
                </a:solidFill>
                <a:latin typeface="Microsoft YaHei"/>
                <a:ea typeface="Microsoft YaHei"/>
                <a:cs typeface="Microsoft YaHei"/>
              </a:defRPr>
            </a:pPr>
            <a:r>
              <a:rPr sz="1425" b="0">
                <a:solidFill>
                  <a:srgbClr val="5B6D7A"/>
                </a:solidFill>
                <a:latin typeface="Microsoft YaHei"/>
                <a:ea typeface="Microsoft YaHei"/>
                <a:cs typeface="Microsoft YaHei"/>
              </a:rPr>
              <a:t>03—09</a:t>
            </a:r>
          </a:p>
        </p:txBody>
      </p:sp>
      <p:sp>
        <p:nvSpPr>
          <p:cNvPr id="10" name="line-14">
            <a:extLst>
              <a:ext uri="{FF2B5EF4-FFF2-40B4-BE49-F238E27FC236}">
                <a16:creationId xmlns:a16="http://schemas.microsoft.com/office/drawing/2014/main" id="{EB200A16-F2E2-48EA-93E9-FC070C7100A9}"/>
              </a:ext>
            </a:extLst>
          </p:cNvPr>
          <p:cNvSpPr>
            <a:spLocks noGrp="1"/>
          </p:cNvSpPr>
          <p:nvPr/>
        </p:nvSpPr>
        <p:spPr>
          <a:xfrm>
            <a:off x="1619250" y="2800350"/>
            <a:ext cx="9963150" cy="95"/>
          </a:xfrm>
          <a:prstGeom prst="line">
            <a:avLst/>
          </a:prstGeom>
          <a:noFill/>
          <a:ln w="9525">
            <a:solidFill>
              <a:srgbClr val="D7E2E8"/>
            </a:solidFill>
          </a:ln>
        </p:spPr>
      </p:sp>
      <p:sp>
        <p:nvSpPr>
          <p:cNvPr id="11" name="text-15">
            <a:extLst>
              <a:ext uri="{FF2B5EF4-FFF2-40B4-BE49-F238E27FC236}">
                <a16:creationId xmlns:a16="http://schemas.microsoft.com/office/drawing/2014/main" id="{EEACECD6-AB1C-45E9-BF67-E2F8A0A601F2}"/>
              </a:ext>
            </a:extLst>
          </p:cNvPr>
          <p:cNvSpPr>
            <a:spLocks noGrp="1"/>
          </p:cNvSpPr>
          <p:nvPr/>
        </p:nvSpPr>
        <p:spPr>
          <a:xfrm>
            <a:off x="609600" y="2990850"/>
            <a:ext cx="819150" cy="495300"/>
          </a:xfrm>
          <a:prstGeom prst="rect">
            <a:avLst/>
          </a:prstGeom>
          <a:noFill/>
          <a:ln w="0">
            <a:noFill/>
          </a:ln>
        </p:spPr>
        <p:txBody>
          <a:bodyPr wrap="square" lIns="0" tIns="0" rIns="0" bIns="0" anchor="ctr">
            <a:noAutofit/>
          </a:bodyPr>
          <a:lstStyle/>
          <a:p>
            <a:pPr algn="l">
              <a:defRPr sz="2850" b="1">
                <a:solidFill>
                  <a:srgbClr val="087F80"/>
                </a:solidFill>
                <a:latin typeface="Microsoft YaHei"/>
                <a:ea typeface="Microsoft YaHei"/>
                <a:cs typeface="Microsoft YaHei"/>
              </a:defRPr>
            </a:pPr>
            <a:r>
              <a:rPr sz="2850" b="1">
                <a:solidFill>
                  <a:srgbClr val="087F80"/>
                </a:solidFill>
                <a:latin typeface="Microsoft YaHei"/>
                <a:ea typeface="Microsoft YaHei"/>
                <a:cs typeface="Microsoft YaHei"/>
              </a:rPr>
              <a:t>02</a:t>
            </a:r>
          </a:p>
        </p:txBody>
      </p:sp>
      <p:sp>
        <p:nvSpPr>
          <p:cNvPr id="12" name="text-16">
            <a:extLst>
              <a:ext uri="{FF2B5EF4-FFF2-40B4-BE49-F238E27FC236}">
                <a16:creationId xmlns:a16="http://schemas.microsoft.com/office/drawing/2014/main" id="{AEDD3A5B-E505-4054-9036-3DE23EAEA2C3}"/>
              </a:ext>
            </a:extLst>
          </p:cNvPr>
          <p:cNvSpPr>
            <a:spLocks noGrp="1"/>
          </p:cNvSpPr>
          <p:nvPr/>
        </p:nvSpPr>
        <p:spPr>
          <a:xfrm>
            <a:off x="1619250" y="2990850"/>
            <a:ext cx="3143250" cy="495300"/>
          </a:xfrm>
          <a:prstGeom prst="rect">
            <a:avLst/>
          </a:prstGeom>
          <a:noFill/>
          <a:ln w="0">
            <a:noFill/>
          </a:ln>
        </p:spPr>
        <p:txBody>
          <a:bodyPr wrap="square" lIns="0" tIns="0" rIns="0" bIns="0" anchor="ctr">
            <a:noAutofit/>
          </a:bodyPr>
          <a:lstStyle/>
          <a:p>
            <a:pPr algn="l">
              <a:defRPr sz="2325" b="1">
                <a:solidFill>
                  <a:srgbClr val="163044"/>
                </a:solidFill>
                <a:latin typeface="Microsoft YaHei"/>
                <a:ea typeface="Microsoft YaHei"/>
                <a:cs typeface="Microsoft YaHei"/>
              </a:defRPr>
            </a:pPr>
            <a:r>
              <a:rPr sz="2325" b="1">
                <a:solidFill>
                  <a:srgbClr val="163044"/>
                </a:solidFill>
                <a:latin typeface="Microsoft YaHei"/>
                <a:ea typeface="Microsoft YaHei"/>
                <a:cs typeface="Microsoft YaHei"/>
              </a:rPr>
              <a:t>方案与技术选择</a:t>
            </a:r>
          </a:p>
        </p:txBody>
      </p:sp>
      <p:sp>
        <p:nvSpPr>
          <p:cNvPr id="13" name="text-17">
            <a:extLst>
              <a:ext uri="{FF2B5EF4-FFF2-40B4-BE49-F238E27FC236}">
                <a16:creationId xmlns:a16="http://schemas.microsoft.com/office/drawing/2014/main" id="{B20E00D1-CCF5-402F-89CA-86D8F96D5AE8}"/>
              </a:ext>
            </a:extLst>
          </p:cNvPr>
          <p:cNvSpPr>
            <a:spLocks noGrp="1"/>
          </p:cNvSpPr>
          <p:nvPr/>
        </p:nvSpPr>
        <p:spPr>
          <a:xfrm>
            <a:off x="4857750" y="2990850"/>
            <a:ext cx="5657850" cy="5143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三条流程参考的框架、机制与取舍</a:t>
            </a:r>
          </a:p>
        </p:txBody>
      </p:sp>
      <p:sp>
        <p:nvSpPr>
          <p:cNvPr id="14" name="text-18">
            <a:extLst>
              <a:ext uri="{FF2B5EF4-FFF2-40B4-BE49-F238E27FC236}">
                <a16:creationId xmlns:a16="http://schemas.microsoft.com/office/drawing/2014/main" id="{864659CD-23C9-4E83-ABD7-8DC187BF9B11}"/>
              </a:ext>
            </a:extLst>
          </p:cNvPr>
          <p:cNvSpPr>
            <a:spLocks noGrp="1"/>
          </p:cNvSpPr>
          <p:nvPr/>
        </p:nvSpPr>
        <p:spPr>
          <a:xfrm>
            <a:off x="10610850" y="2990850"/>
            <a:ext cx="971550" cy="495300"/>
          </a:xfrm>
          <a:prstGeom prst="rect">
            <a:avLst/>
          </a:prstGeom>
          <a:noFill/>
          <a:ln w="0">
            <a:noFill/>
          </a:ln>
        </p:spPr>
        <p:txBody>
          <a:bodyPr wrap="square" lIns="0" tIns="0" rIns="0" bIns="0" anchor="ctr">
            <a:noAutofit/>
          </a:bodyPr>
          <a:lstStyle/>
          <a:p>
            <a:pPr algn="r">
              <a:defRPr sz="1425" b="0">
                <a:solidFill>
                  <a:srgbClr val="5B6D7A"/>
                </a:solidFill>
                <a:latin typeface="Microsoft YaHei"/>
                <a:ea typeface="Microsoft YaHei"/>
                <a:cs typeface="Microsoft YaHei"/>
              </a:defRPr>
            </a:pPr>
            <a:r>
              <a:rPr sz="1425" b="0">
                <a:solidFill>
                  <a:srgbClr val="5B6D7A"/>
                </a:solidFill>
                <a:latin typeface="Microsoft YaHei"/>
                <a:ea typeface="Microsoft YaHei"/>
                <a:cs typeface="Microsoft YaHei"/>
              </a:rPr>
              <a:t>10—12</a:t>
            </a:r>
          </a:p>
        </p:txBody>
      </p:sp>
      <p:sp>
        <p:nvSpPr>
          <p:cNvPr id="15" name="line-19">
            <a:extLst>
              <a:ext uri="{FF2B5EF4-FFF2-40B4-BE49-F238E27FC236}">
                <a16:creationId xmlns:a16="http://schemas.microsoft.com/office/drawing/2014/main" id="{759BA22F-EF8E-4DEE-A5BB-E63593765730}"/>
              </a:ext>
            </a:extLst>
          </p:cNvPr>
          <p:cNvSpPr>
            <a:spLocks noGrp="1"/>
          </p:cNvSpPr>
          <p:nvPr/>
        </p:nvSpPr>
        <p:spPr>
          <a:xfrm>
            <a:off x="1619250" y="3733800"/>
            <a:ext cx="9963150" cy="95"/>
          </a:xfrm>
          <a:prstGeom prst="line">
            <a:avLst/>
          </a:prstGeom>
          <a:noFill/>
          <a:ln w="9525">
            <a:solidFill>
              <a:srgbClr val="D7E2E8"/>
            </a:solidFill>
          </a:ln>
        </p:spPr>
      </p:sp>
      <p:sp>
        <p:nvSpPr>
          <p:cNvPr id="16" name="text-20">
            <a:extLst>
              <a:ext uri="{FF2B5EF4-FFF2-40B4-BE49-F238E27FC236}">
                <a16:creationId xmlns:a16="http://schemas.microsoft.com/office/drawing/2014/main" id="{BBF0D943-2C7E-492C-BE9D-42959B2B4849}"/>
              </a:ext>
            </a:extLst>
          </p:cNvPr>
          <p:cNvSpPr>
            <a:spLocks noGrp="1"/>
          </p:cNvSpPr>
          <p:nvPr/>
        </p:nvSpPr>
        <p:spPr>
          <a:xfrm>
            <a:off x="609600" y="3924300"/>
            <a:ext cx="819150" cy="495300"/>
          </a:xfrm>
          <a:prstGeom prst="rect">
            <a:avLst/>
          </a:prstGeom>
          <a:noFill/>
          <a:ln w="0">
            <a:noFill/>
          </a:ln>
        </p:spPr>
        <p:txBody>
          <a:bodyPr wrap="square" lIns="0" tIns="0" rIns="0" bIns="0" anchor="ctr">
            <a:noAutofit/>
          </a:bodyPr>
          <a:lstStyle/>
          <a:p>
            <a:pPr algn="l">
              <a:defRPr sz="2850" b="1">
                <a:solidFill>
                  <a:srgbClr val="087F80"/>
                </a:solidFill>
                <a:latin typeface="Microsoft YaHei"/>
                <a:ea typeface="Microsoft YaHei"/>
                <a:cs typeface="Microsoft YaHei"/>
              </a:defRPr>
            </a:pPr>
            <a:r>
              <a:rPr sz="2850" b="1">
                <a:solidFill>
                  <a:srgbClr val="087F80"/>
                </a:solidFill>
                <a:latin typeface="Microsoft YaHei"/>
                <a:ea typeface="Microsoft YaHei"/>
                <a:cs typeface="Microsoft YaHei"/>
              </a:rPr>
              <a:t>03</a:t>
            </a:r>
          </a:p>
        </p:txBody>
      </p:sp>
      <p:sp>
        <p:nvSpPr>
          <p:cNvPr id="17" name="text-21">
            <a:extLst>
              <a:ext uri="{FF2B5EF4-FFF2-40B4-BE49-F238E27FC236}">
                <a16:creationId xmlns:a16="http://schemas.microsoft.com/office/drawing/2014/main" id="{70357C24-7108-4AD7-BFFF-ECDDEBB9AD35}"/>
              </a:ext>
            </a:extLst>
          </p:cNvPr>
          <p:cNvSpPr>
            <a:spLocks noGrp="1"/>
          </p:cNvSpPr>
          <p:nvPr/>
        </p:nvSpPr>
        <p:spPr>
          <a:xfrm>
            <a:off x="1619250" y="3924300"/>
            <a:ext cx="3143250" cy="495300"/>
          </a:xfrm>
          <a:prstGeom prst="rect">
            <a:avLst/>
          </a:prstGeom>
          <a:noFill/>
          <a:ln w="0">
            <a:noFill/>
          </a:ln>
        </p:spPr>
        <p:txBody>
          <a:bodyPr wrap="square" lIns="0" tIns="0" rIns="0" bIns="0" anchor="ctr">
            <a:noAutofit/>
          </a:bodyPr>
          <a:lstStyle/>
          <a:p>
            <a:pPr algn="l">
              <a:defRPr sz="2325" b="1">
                <a:solidFill>
                  <a:srgbClr val="163044"/>
                </a:solidFill>
                <a:latin typeface="Microsoft YaHei"/>
                <a:ea typeface="Microsoft YaHei"/>
                <a:cs typeface="Microsoft YaHei"/>
              </a:defRPr>
            </a:pPr>
            <a:r>
              <a:rPr sz="2325" b="1">
                <a:solidFill>
                  <a:srgbClr val="163044"/>
                </a:solidFill>
                <a:latin typeface="Microsoft YaHei"/>
                <a:ea typeface="Microsoft YaHei"/>
                <a:cs typeface="Microsoft YaHei"/>
              </a:rPr>
              <a:t>测试与验收</a:t>
            </a:r>
          </a:p>
        </p:txBody>
      </p:sp>
      <p:sp>
        <p:nvSpPr>
          <p:cNvPr id="18" name="text-22">
            <a:extLst>
              <a:ext uri="{FF2B5EF4-FFF2-40B4-BE49-F238E27FC236}">
                <a16:creationId xmlns:a16="http://schemas.microsoft.com/office/drawing/2014/main" id="{4ED833E5-9BA0-4DDE-8392-6F381492FA6F}"/>
              </a:ext>
            </a:extLst>
          </p:cNvPr>
          <p:cNvSpPr>
            <a:spLocks noGrp="1"/>
          </p:cNvSpPr>
          <p:nvPr/>
        </p:nvSpPr>
        <p:spPr>
          <a:xfrm>
            <a:off x="4857750" y="3924300"/>
            <a:ext cx="5657850" cy="5143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测试安排、用例设计、执行与验收</a:t>
            </a:r>
          </a:p>
        </p:txBody>
      </p:sp>
      <p:sp>
        <p:nvSpPr>
          <p:cNvPr id="19" name="text-23">
            <a:extLst>
              <a:ext uri="{FF2B5EF4-FFF2-40B4-BE49-F238E27FC236}">
                <a16:creationId xmlns:a16="http://schemas.microsoft.com/office/drawing/2014/main" id="{9BE64D5F-7057-46C0-9B16-7443D7CA3114}"/>
              </a:ext>
            </a:extLst>
          </p:cNvPr>
          <p:cNvSpPr>
            <a:spLocks noGrp="1"/>
          </p:cNvSpPr>
          <p:nvPr/>
        </p:nvSpPr>
        <p:spPr>
          <a:xfrm>
            <a:off x="10610850" y="3924300"/>
            <a:ext cx="971550" cy="495300"/>
          </a:xfrm>
          <a:prstGeom prst="rect">
            <a:avLst/>
          </a:prstGeom>
          <a:noFill/>
          <a:ln w="0">
            <a:noFill/>
          </a:ln>
        </p:spPr>
        <p:txBody>
          <a:bodyPr wrap="square" lIns="0" tIns="0" rIns="0" bIns="0" anchor="ctr">
            <a:noAutofit/>
          </a:bodyPr>
          <a:lstStyle/>
          <a:p>
            <a:pPr algn="r">
              <a:defRPr sz="1425" b="0">
                <a:solidFill>
                  <a:srgbClr val="5B6D7A"/>
                </a:solidFill>
                <a:latin typeface="Microsoft YaHei"/>
                <a:ea typeface="Microsoft YaHei"/>
                <a:cs typeface="Microsoft YaHei"/>
              </a:defRPr>
            </a:pPr>
            <a:r>
              <a:rPr sz="1425" b="0">
                <a:solidFill>
                  <a:srgbClr val="5B6D7A"/>
                </a:solidFill>
                <a:latin typeface="Microsoft YaHei"/>
                <a:ea typeface="Microsoft YaHei"/>
                <a:cs typeface="Microsoft YaHei"/>
              </a:rPr>
              <a:t>13—20</a:t>
            </a:r>
          </a:p>
        </p:txBody>
      </p:sp>
      <p:sp>
        <p:nvSpPr>
          <p:cNvPr id="20" name="line-24">
            <a:extLst>
              <a:ext uri="{FF2B5EF4-FFF2-40B4-BE49-F238E27FC236}">
                <a16:creationId xmlns:a16="http://schemas.microsoft.com/office/drawing/2014/main" id="{DFFE3AA5-AA1F-4992-9C7A-750FC45922F9}"/>
              </a:ext>
            </a:extLst>
          </p:cNvPr>
          <p:cNvSpPr>
            <a:spLocks noGrp="1"/>
          </p:cNvSpPr>
          <p:nvPr/>
        </p:nvSpPr>
        <p:spPr>
          <a:xfrm>
            <a:off x="1619250" y="4667250"/>
            <a:ext cx="9963150" cy="95"/>
          </a:xfrm>
          <a:prstGeom prst="line">
            <a:avLst/>
          </a:prstGeom>
          <a:noFill/>
          <a:ln w="9525">
            <a:solidFill>
              <a:srgbClr val="D7E2E8"/>
            </a:solidFill>
          </a:ln>
        </p:spPr>
      </p:sp>
      <p:sp>
        <p:nvSpPr>
          <p:cNvPr id="21" name="text-25">
            <a:extLst>
              <a:ext uri="{FF2B5EF4-FFF2-40B4-BE49-F238E27FC236}">
                <a16:creationId xmlns:a16="http://schemas.microsoft.com/office/drawing/2014/main" id="{F33E924C-7008-4C6B-A9D5-F575E2BB410F}"/>
              </a:ext>
            </a:extLst>
          </p:cNvPr>
          <p:cNvSpPr>
            <a:spLocks noGrp="1"/>
          </p:cNvSpPr>
          <p:nvPr/>
        </p:nvSpPr>
        <p:spPr>
          <a:xfrm>
            <a:off x="609600" y="4857750"/>
            <a:ext cx="819150" cy="495300"/>
          </a:xfrm>
          <a:prstGeom prst="rect">
            <a:avLst/>
          </a:prstGeom>
          <a:noFill/>
          <a:ln w="0">
            <a:noFill/>
          </a:ln>
        </p:spPr>
        <p:txBody>
          <a:bodyPr wrap="square" lIns="0" tIns="0" rIns="0" bIns="0" anchor="ctr">
            <a:noAutofit/>
          </a:bodyPr>
          <a:lstStyle/>
          <a:p>
            <a:pPr algn="l">
              <a:defRPr sz="2850" b="1">
                <a:solidFill>
                  <a:srgbClr val="087F80"/>
                </a:solidFill>
                <a:latin typeface="Microsoft YaHei"/>
                <a:ea typeface="Microsoft YaHei"/>
                <a:cs typeface="Microsoft YaHei"/>
              </a:defRPr>
            </a:pPr>
            <a:r>
              <a:rPr sz="2850" b="1">
                <a:solidFill>
                  <a:srgbClr val="087F80"/>
                </a:solidFill>
                <a:latin typeface="Microsoft YaHei"/>
                <a:ea typeface="Microsoft YaHei"/>
                <a:cs typeface="Microsoft YaHei"/>
              </a:rPr>
              <a:t>04</a:t>
            </a:r>
          </a:p>
        </p:txBody>
      </p:sp>
      <p:sp>
        <p:nvSpPr>
          <p:cNvPr id="22" name="text-26">
            <a:extLst>
              <a:ext uri="{FF2B5EF4-FFF2-40B4-BE49-F238E27FC236}">
                <a16:creationId xmlns:a16="http://schemas.microsoft.com/office/drawing/2014/main" id="{2C23D3F5-EABB-44A0-B8CB-B97F5F0826EA}"/>
              </a:ext>
            </a:extLst>
          </p:cNvPr>
          <p:cNvSpPr>
            <a:spLocks noGrp="1"/>
          </p:cNvSpPr>
          <p:nvPr/>
        </p:nvSpPr>
        <p:spPr>
          <a:xfrm>
            <a:off x="1619250" y="4857750"/>
            <a:ext cx="3143250" cy="495300"/>
          </a:xfrm>
          <a:prstGeom prst="rect">
            <a:avLst/>
          </a:prstGeom>
          <a:noFill/>
          <a:ln w="0">
            <a:noFill/>
          </a:ln>
        </p:spPr>
        <p:txBody>
          <a:bodyPr wrap="square" lIns="0" tIns="0" rIns="0" bIns="0" anchor="ctr">
            <a:noAutofit/>
          </a:bodyPr>
          <a:lstStyle/>
          <a:p>
            <a:pPr algn="l">
              <a:defRPr sz="2325" b="1">
                <a:solidFill>
                  <a:srgbClr val="163044"/>
                </a:solidFill>
                <a:latin typeface="Microsoft YaHei"/>
                <a:ea typeface="Microsoft YaHei"/>
                <a:cs typeface="Microsoft YaHei"/>
              </a:defRPr>
            </a:pPr>
            <a:r>
              <a:rPr sz="2325" b="1">
                <a:solidFill>
                  <a:srgbClr val="163044"/>
                </a:solidFill>
                <a:latin typeface="Microsoft YaHei"/>
                <a:ea typeface="Microsoft YaHei"/>
                <a:cs typeface="Microsoft YaHei"/>
              </a:rPr>
              <a:t>时间节点</a:t>
            </a:r>
          </a:p>
        </p:txBody>
      </p:sp>
      <p:sp>
        <p:nvSpPr>
          <p:cNvPr id="23" name="text-27">
            <a:extLst>
              <a:ext uri="{FF2B5EF4-FFF2-40B4-BE49-F238E27FC236}">
                <a16:creationId xmlns:a16="http://schemas.microsoft.com/office/drawing/2014/main" id="{4C4166D5-E004-4E11-A783-C84215AEC622}"/>
              </a:ext>
            </a:extLst>
          </p:cNvPr>
          <p:cNvSpPr>
            <a:spLocks noGrp="1"/>
          </p:cNvSpPr>
          <p:nvPr/>
        </p:nvSpPr>
        <p:spPr>
          <a:xfrm>
            <a:off x="4857750" y="4857750"/>
            <a:ext cx="5657850" cy="5143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阶段交付、责任分工与上线安排</a:t>
            </a:r>
          </a:p>
        </p:txBody>
      </p:sp>
      <p:sp>
        <p:nvSpPr>
          <p:cNvPr id="24" name="text-28">
            <a:extLst>
              <a:ext uri="{FF2B5EF4-FFF2-40B4-BE49-F238E27FC236}">
                <a16:creationId xmlns:a16="http://schemas.microsoft.com/office/drawing/2014/main" id="{B6041B06-32B7-4AC1-A6C6-40909E425294}"/>
              </a:ext>
            </a:extLst>
          </p:cNvPr>
          <p:cNvSpPr>
            <a:spLocks noGrp="1"/>
          </p:cNvSpPr>
          <p:nvPr/>
        </p:nvSpPr>
        <p:spPr>
          <a:xfrm>
            <a:off x="10610850" y="4857750"/>
            <a:ext cx="971550" cy="495300"/>
          </a:xfrm>
          <a:prstGeom prst="rect">
            <a:avLst/>
          </a:prstGeom>
          <a:noFill/>
          <a:ln w="0">
            <a:noFill/>
          </a:ln>
        </p:spPr>
        <p:txBody>
          <a:bodyPr wrap="square" lIns="0" tIns="0" rIns="0" bIns="0" anchor="ctr">
            <a:noAutofit/>
          </a:bodyPr>
          <a:lstStyle/>
          <a:p>
            <a:pPr algn="r">
              <a:defRPr sz="1425" b="0">
                <a:solidFill>
                  <a:srgbClr val="5B6D7A"/>
                </a:solidFill>
                <a:latin typeface="Microsoft YaHei"/>
                <a:ea typeface="Microsoft YaHei"/>
                <a:cs typeface="Microsoft YaHei"/>
              </a:defRPr>
            </a:pPr>
            <a:r>
              <a:rPr sz="1425" b="0">
                <a:solidFill>
                  <a:srgbClr val="5B6D7A"/>
                </a:solidFill>
                <a:latin typeface="Microsoft YaHei"/>
                <a:ea typeface="Microsoft YaHei"/>
                <a:cs typeface="Microsoft YaHei"/>
              </a:rPr>
              <a:t>21—24</a:t>
            </a:r>
          </a:p>
        </p:txBody>
      </p:sp>
    </p:spTree>
    <p:extLst>
      <p:ext uri="{BB962C8B-B14F-4D97-AF65-F5344CB8AC3E}">
        <p14:creationId xmlns:p14="http://schemas.microsoft.com/office/powerpoint/2010/main" val="737362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text-29">
            <a:extLst>
              <a:ext uri="{FF2B5EF4-FFF2-40B4-BE49-F238E27FC236}">
                <a16:creationId xmlns:a16="http://schemas.microsoft.com/office/drawing/2014/main" id="{154F2511-BA8A-4C49-9220-A427456E32EE}"/>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30">
            <a:extLst>
              <a:ext uri="{FF2B5EF4-FFF2-40B4-BE49-F238E27FC236}">
                <a16:creationId xmlns:a16="http://schemas.microsoft.com/office/drawing/2014/main" id="{453F8613-0A94-4952-A7FE-63537BFB2F9D}"/>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项目目标：跨会话使用当前有效的记忆</a:t>
            </a:r>
          </a:p>
        </p:txBody>
      </p:sp>
      <p:sp>
        <p:nvSpPr>
          <p:cNvPr id="3" name="text-31">
            <a:extLst>
              <a:ext uri="{FF2B5EF4-FFF2-40B4-BE49-F238E27FC236}">
                <a16:creationId xmlns:a16="http://schemas.microsoft.com/office/drawing/2014/main" id="{95B8163E-F970-4FAA-AB89-A5B6C8D2E4CC}"/>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服务应用、Agent 和 P4，连接分散在对话、任务和文档中的信息</a:t>
            </a:r>
          </a:p>
        </p:txBody>
      </p:sp>
      <p:sp>
        <p:nvSpPr>
          <p:cNvPr id="4" name="line-32">
            <a:extLst>
              <a:ext uri="{FF2B5EF4-FFF2-40B4-BE49-F238E27FC236}">
                <a16:creationId xmlns:a16="http://schemas.microsoft.com/office/drawing/2014/main" id="{29C83E8B-C86A-4BED-9E5F-D0D7588A1564}"/>
              </a:ext>
            </a:extLst>
          </p:cNvPr>
          <p:cNvSpPr>
            <a:spLocks noGrp="1"/>
          </p:cNvSpPr>
          <p:nvPr/>
        </p:nvSpPr>
        <p:spPr>
          <a:xfrm>
            <a:off x="609600" y="6324600"/>
            <a:ext cx="10972800" cy="95"/>
          </a:xfrm>
          <a:prstGeom prst="line">
            <a:avLst/>
          </a:prstGeom>
          <a:noFill/>
          <a:ln w="9525">
            <a:solidFill>
              <a:srgbClr val="D7E2E8"/>
            </a:solidFill>
          </a:ln>
        </p:spPr>
      </p:sp>
      <p:sp>
        <p:nvSpPr>
          <p:cNvPr id="5" name="text-33">
            <a:extLst>
              <a:ext uri="{FF2B5EF4-FFF2-40B4-BE49-F238E27FC236}">
                <a16:creationId xmlns:a16="http://schemas.microsoft.com/office/drawing/2014/main" id="{4F78A193-A7D6-494C-8565-9C45F3AEBCE6}"/>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V4.3</a:t>
            </a:r>
          </a:p>
        </p:txBody>
      </p:sp>
      <p:sp>
        <p:nvSpPr>
          <p:cNvPr id="6" name="text-34">
            <a:extLst>
              <a:ext uri="{FF2B5EF4-FFF2-40B4-BE49-F238E27FC236}">
                <a16:creationId xmlns:a16="http://schemas.microsoft.com/office/drawing/2014/main" id="{2CE8F92C-F3B1-4364-BAF1-EC5F5F06C30C}"/>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03 / 24</a:t>
            </a:r>
          </a:p>
        </p:txBody>
      </p:sp>
      <p:sp>
        <p:nvSpPr>
          <p:cNvPr id="7" name="text-35">
            <a:extLst>
              <a:ext uri="{FF2B5EF4-FFF2-40B4-BE49-F238E27FC236}">
                <a16:creationId xmlns:a16="http://schemas.microsoft.com/office/drawing/2014/main" id="{45E4A513-CA1C-4A6B-BA96-336BC4FD3E31}"/>
              </a:ext>
            </a:extLst>
          </p:cNvPr>
          <p:cNvSpPr>
            <a:spLocks noGrp="1"/>
          </p:cNvSpPr>
          <p:nvPr/>
        </p:nvSpPr>
        <p:spPr>
          <a:xfrm>
            <a:off x="609600" y="2028825"/>
            <a:ext cx="10972800" cy="609600"/>
          </a:xfrm>
          <a:prstGeom prst="rect">
            <a:avLst/>
          </a:prstGeom>
          <a:noFill/>
          <a:ln w="0">
            <a:noFill/>
          </a:ln>
        </p:spPr>
        <p:txBody>
          <a:bodyPr wrap="square" lIns="0" tIns="0" rIns="0" bIns="0" anchor="ctr">
            <a:noAutofit/>
          </a:bodyPr>
          <a:lstStyle/>
          <a:p>
            <a:pPr algn="l">
              <a:defRPr sz="2700" b="1">
                <a:solidFill>
                  <a:srgbClr val="087F80"/>
                </a:solidFill>
                <a:latin typeface="Microsoft YaHei"/>
                <a:ea typeface="Microsoft YaHei"/>
                <a:cs typeface="Microsoft YaHei"/>
              </a:defRPr>
            </a:pPr>
            <a:r>
              <a:rPr sz="2700" b="1">
                <a:solidFill>
                  <a:srgbClr val="087F80"/>
                </a:solidFill>
                <a:latin typeface="Microsoft YaHei"/>
                <a:ea typeface="Microsoft YaHei"/>
                <a:cs typeface="Microsoft YaHei"/>
              </a:rPr>
              <a:t>让后续任务能找到、读懂并正确使用已有信息</a:t>
            </a:r>
          </a:p>
        </p:txBody>
      </p:sp>
      <p:sp>
        <p:nvSpPr>
          <p:cNvPr id="8" name="text-36">
            <a:extLst>
              <a:ext uri="{FF2B5EF4-FFF2-40B4-BE49-F238E27FC236}">
                <a16:creationId xmlns:a16="http://schemas.microsoft.com/office/drawing/2014/main" id="{0D0F7F1D-EC42-48AE-BD17-5C4BA6792352}"/>
              </a:ext>
            </a:extLst>
          </p:cNvPr>
          <p:cNvSpPr>
            <a:spLocks noGrp="1"/>
          </p:cNvSpPr>
          <p:nvPr/>
        </p:nvSpPr>
        <p:spPr>
          <a:xfrm>
            <a:off x="609600" y="2924175"/>
            <a:ext cx="2228850" cy="781050"/>
          </a:xfrm>
          <a:prstGeom prst="rect">
            <a:avLst/>
          </a:prstGeom>
          <a:noFill/>
          <a:ln w="0">
            <a:noFill/>
          </a:ln>
        </p:spPr>
        <p:txBody>
          <a:bodyPr wrap="square" lIns="0" tIns="0" rIns="0" bIns="0" anchor="ctr">
            <a:noAutofit/>
          </a:bodyPr>
          <a:lstStyle/>
          <a:p>
            <a:pPr algn="l">
              <a:defRPr sz="2025" b="1">
                <a:solidFill>
                  <a:srgbClr val="163044"/>
                </a:solidFill>
                <a:latin typeface="Microsoft YaHei"/>
                <a:ea typeface="Microsoft YaHei"/>
                <a:cs typeface="Microsoft YaHei"/>
              </a:defRPr>
            </a:pPr>
            <a:r>
              <a:rPr sz="2025" b="1">
                <a:solidFill>
                  <a:srgbClr val="163044"/>
                </a:solidFill>
                <a:latin typeface="Microsoft YaHei"/>
                <a:ea typeface="Microsoft YaHei"/>
                <a:cs typeface="Microsoft YaHei"/>
              </a:rPr>
              <a:t>持续可用</a:t>
            </a:r>
          </a:p>
        </p:txBody>
      </p:sp>
      <p:sp>
        <p:nvSpPr>
          <p:cNvPr id="9" name="text-37">
            <a:extLst>
              <a:ext uri="{FF2B5EF4-FFF2-40B4-BE49-F238E27FC236}">
                <a16:creationId xmlns:a16="http://schemas.microsoft.com/office/drawing/2014/main" id="{4C05EAED-30EA-4A9B-AA20-D0E2A7BAD378}"/>
              </a:ext>
            </a:extLst>
          </p:cNvPr>
          <p:cNvSpPr>
            <a:spLocks noGrp="1"/>
          </p:cNvSpPr>
          <p:nvPr/>
        </p:nvSpPr>
        <p:spPr>
          <a:xfrm>
            <a:off x="3028950" y="2924175"/>
            <a:ext cx="8553450" cy="781050"/>
          </a:xfrm>
          <a:prstGeom prst="rect">
            <a:avLst/>
          </a:prstGeom>
          <a:noFill/>
          <a:ln w="0">
            <a:noFill/>
          </a:ln>
        </p:spPr>
        <p:txBody>
          <a:bodyPr wrap="square" lIns="0" tIns="0" rIns="0" bIns="0" anchor="ctr">
            <a:noAutofit/>
          </a:bodyPr>
          <a:lstStyle/>
          <a:p>
            <a:pPr algn="l">
              <a:defRPr sz="2025" b="0">
                <a:solidFill>
                  <a:srgbClr val="5B6D7A"/>
                </a:solidFill>
                <a:latin typeface="Microsoft YaHei"/>
                <a:ea typeface="Microsoft YaHei"/>
                <a:cs typeface="Microsoft YaHei"/>
              </a:defRPr>
            </a:pPr>
            <a:r>
              <a:rPr sz="2025" b="0">
                <a:solidFill>
                  <a:srgbClr val="5B6D7A"/>
                </a:solidFill>
                <a:latin typeface="Microsoft YaHei"/>
                <a:ea typeface="Microsoft YaHei"/>
                <a:cs typeface="Microsoft YaHei"/>
              </a:rPr>
              <a:t>换一次会话，仍能找到相关记忆和原始来源</a:t>
            </a:r>
          </a:p>
        </p:txBody>
      </p:sp>
      <p:sp>
        <p:nvSpPr>
          <p:cNvPr id="10" name="text-38">
            <a:extLst>
              <a:ext uri="{FF2B5EF4-FFF2-40B4-BE49-F238E27FC236}">
                <a16:creationId xmlns:a16="http://schemas.microsoft.com/office/drawing/2014/main" id="{FD0584E1-0A8F-4C95-8B91-86D8F6B7903E}"/>
              </a:ext>
            </a:extLst>
          </p:cNvPr>
          <p:cNvSpPr>
            <a:spLocks noGrp="1"/>
          </p:cNvSpPr>
          <p:nvPr/>
        </p:nvSpPr>
        <p:spPr>
          <a:xfrm>
            <a:off x="609600" y="3771900"/>
            <a:ext cx="2228850" cy="781050"/>
          </a:xfrm>
          <a:prstGeom prst="rect">
            <a:avLst/>
          </a:prstGeom>
          <a:noFill/>
          <a:ln w="0">
            <a:noFill/>
          </a:ln>
        </p:spPr>
        <p:txBody>
          <a:bodyPr wrap="square" lIns="0" tIns="0" rIns="0" bIns="0" anchor="ctr">
            <a:noAutofit/>
          </a:bodyPr>
          <a:lstStyle/>
          <a:p>
            <a:pPr algn="l">
              <a:defRPr sz="2025" b="1">
                <a:solidFill>
                  <a:srgbClr val="163044"/>
                </a:solidFill>
                <a:latin typeface="Microsoft YaHei"/>
                <a:ea typeface="Microsoft YaHei"/>
                <a:cs typeface="Microsoft YaHei"/>
              </a:defRPr>
            </a:pPr>
            <a:r>
              <a:rPr sz="2025" b="1">
                <a:solidFill>
                  <a:srgbClr val="163044"/>
                </a:solidFill>
                <a:latin typeface="Microsoft YaHei"/>
                <a:ea typeface="Microsoft YaHei"/>
                <a:cs typeface="Microsoft YaHei"/>
              </a:rPr>
              <a:t>保持当前有效</a:t>
            </a:r>
          </a:p>
        </p:txBody>
      </p:sp>
      <p:sp>
        <p:nvSpPr>
          <p:cNvPr id="11" name="text-39">
            <a:extLst>
              <a:ext uri="{FF2B5EF4-FFF2-40B4-BE49-F238E27FC236}">
                <a16:creationId xmlns:a16="http://schemas.microsoft.com/office/drawing/2014/main" id="{2E25247A-0B49-47AD-A3A8-D337208AD0A3}"/>
              </a:ext>
            </a:extLst>
          </p:cNvPr>
          <p:cNvSpPr>
            <a:spLocks noGrp="1"/>
          </p:cNvSpPr>
          <p:nvPr/>
        </p:nvSpPr>
        <p:spPr>
          <a:xfrm>
            <a:off x="3028950" y="3771900"/>
            <a:ext cx="8553450" cy="781050"/>
          </a:xfrm>
          <a:prstGeom prst="rect">
            <a:avLst/>
          </a:prstGeom>
          <a:noFill/>
          <a:ln w="0">
            <a:noFill/>
          </a:ln>
        </p:spPr>
        <p:txBody>
          <a:bodyPr wrap="square" lIns="0" tIns="0" rIns="0" bIns="0" anchor="ctr">
            <a:noAutofit/>
          </a:bodyPr>
          <a:lstStyle/>
          <a:p>
            <a:pPr algn="l">
              <a:defRPr sz="2025" b="0">
                <a:solidFill>
                  <a:srgbClr val="5B6D7A"/>
                </a:solidFill>
                <a:latin typeface="Microsoft YaHei"/>
                <a:ea typeface="Microsoft YaHei"/>
                <a:cs typeface="Microsoft YaHei"/>
              </a:defRPr>
            </a:pPr>
            <a:r>
              <a:rPr sz="2025" b="0">
                <a:solidFill>
                  <a:srgbClr val="5B6D7A"/>
                </a:solidFill>
                <a:latin typeface="Microsoft YaHei"/>
                <a:ea typeface="Microsoft YaHei"/>
                <a:cs typeface="Microsoft YaHei"/>
              </a:rPr>
              <a:t>更正后用新版本，删除或撤权按相应范围停止交付</a:t>
            </a:r>
          </a:p>
        </p:txBody>
      </p:sp>
      <p:sp>
        <p:nvSpPr>
          <p:cNvPr id="12" name="text-40">
            <a:extLst>
              <a:ext uri="{FF2B5EF4-FFF2-40B4-BE49-F238E27FC236}">
                <a16:creationId xmlns:a16="http://schemas.microsoft.com/office/drawing/2014/main" id="{98905B9F-C047-4539-8537-43723CFF87AD}"/>
              </a:ext>
            </a:extLst>
          </p:cNvPr>
          <p:cNvSpPr>
            <a:spLocks noGrp="1"/>
          </p:cNvSpPr>
          <p:nvPr/>
        </p:nvSpPr>
        <p:spPr>
          <a:xfrm>
            <a:off x="609600" y="4619625"/>
            <a:ext cx="2228850" cy="781050"/>
          </a:xfrm>
          <a:prstGeom prst="rect">
            <a:avLst/>
          </a:prstGeom>
          <a:noFill/>
          <a:ln w="0">
            <a:noFill/>
          </a:ln>
        </p:spPr>
        <p:txBody>
          <a:bodyPr wrap="square" lIns="0" tIns="0" rIns="0" bIns="0" anchor="ctr">
            <a:noAutofit/>
          </a:bodyPr>
          <a:lstStyle/>
          <a:p>
            <a:pPr algn="l">
              <a:defRPr sz="2025" b="1">
                <a:solidFill>
                  <a:srgbClr val="163044"/>
                </a:solidFill>
                <a:latin typeface="Microsoft YaHei"/>
                <a:ea typeface="Microsoft YaHei"/>
                <a:cs typeface="Microsoft YaHei"/>
              </a:defRPr>
            </a:pPr>
            <a:r>
              <a:rPr sz="2025" b="1">
                <a:solidFill>
                  <a:srgbClr val="163044"/>
                </a:solidFill>
                <a:latin typeface="Microsoft YaHei"/>
                <a:ea typeface="Microsoft YaHei"/>
                <a:cs typeface="Microsoft YaHei"/>
              </a:rPr>
              <a:t>结果可以追溯</a:t>
            </a:r>
          </a:p>
        </p:txBody>
      </p:sp>
      <p:sp>
        <p:nvSpPr>
          <p:cNvPr id="13" name="text-41">
            <a:extLst>
              <a:ext uri="{FF2B5EF4-FFF2-40B4-BE49-F238E27FC236}">
                <a16:creationId xmlns:a16="http://schemas.microsoft.com/office/drawing/2014/main" id="{158E7627-5501-4D46-8C28-9FEC35B6996A}"/>
              </a:ext>
            </a:extLst>
          </p:cNvPr>
          <p:cNvSpPr>
            <a:spLocks noGrp="1"/>
          </p:cNvSpPr>
          <p:nvPr/>
        </p:nvSpPr>
        <p:spPr>
          <a:xfrm>
            <a:off x="3028950" y="4619625"/>
            <a:ext cx="8553450" cy="781050"/>
          </a:xfrm>
          <a:prstGeom prst="rect">
            <a:avLst/>
          </a:prstGeom>
          <a:noFill/>
          <a:ln w="0">
            <a:noFill/>
          </a:ln>
        </p:spPr>
        <p:txBody>
          <a:bodyPr wrap="square" lIns="0" tIns="0" rIns="0" bIns="0" anchor="ctr">
            <a:noAutofit/>
          </a:bodyPr>
          <a:lstStyle/>
          <a:p>
            <a:pPr algn="l">
              <a:defRPr sz="2025" b="0">
                <a:solidFill>
                  <a:srgbClr val="5B6D7A"/>
                </a:solidFill>
                <a:latin typeface="Microsoft YaHei"/>
                <a:ea typeface="Microsoft YaHei"/>
                <a:cs typeface="Microsoft YaHei"/>
              </a:defRPr>
            </a:pPr>
            <a:r>
              <a:rPr sz="2025" b="0">
                <a:solidFill>
                  <a:srgbClr val="5B6D7A"/>
                </a:solidFill>
                <a:latin typeface="Microsoft YaHei"/>
                <a:ea typeface="Microsoft YaHei"/>
                <a:cs typeface="Microsoft YaHei"/>
              </a:rPr>
              <a:t>交付内容有来源，未就绪或读取失败有明确状态</a:t>
            </a:r>
          </a:p>
        </p:txBody>
      </p:sp>
      <p:sp>
        <p:nvSpPr>
          <p:cNvPr id="14" name="text-42">
            <a:extLst>
              <a:ext uri="{FF2B5EF4-FFF2-40B4-BE49-F238E27FC236}">
                <a16:creationId xmlns:a16="http://schemas.microsoft.com/office/drawing/2014/main" id="{AAB01FCB-27EF-4759-8BC9-13D1AF7855F2}"/>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P3 交付记忆材料和来源，由上层应用组织最终回答。</a:t>
            </a:r>
          </a:p>
        </p:txBody>
      </p:sp>
    </p:spTree>
    <p:extLst>
      <p:ext uri="{BB962C8B-B14F-4D97-AF65-F5344CB8AC3E}">
        <p14:creationId xmlns:p14="http://schemas.microsoft.com/office/powerpoint/2010/main" val="12958148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4" name="直接箭头连接符 23"/>
          <p:cNvCxnSpPr>
            <a:stCxn id="11" idx="3"/>
            <a:endCxn id="13" idx="1"/>
          </p:cNvCxnSpPr>
          <p:nvPr/>
        </p:nvCxnSpPr>
        <p:spPr>
          <a:xfrm>
            <a:off x="8763000" y="2533650"/>
            <a:ext cx="304800" cy="0"/>
          </a:xfrm>
          <a:prstGeom prst="straightConnector1">
            <a:avLst/>
          </a:prstGeom>
          <a:ln w="19050">
            <a:solidFill>
              <a:srgbClr val="25699A"/>
            </a:solidFill>
            <a:tailEnd type="arrow" w="med" len="med"/>
          </a:ln>
        </p:spPr>
      </p:cxnSp>
      <p:cxnSp>
        <p:nvCxnSpPr>
          <p:cNvPr id="25" name="直接箭头连接符 24"/>
          <p:cNvCxnSpPr>
            <a:stCxn id="9" idx="3"/>
            <a:endCxn id="11" idx="1"/>
          </p:cNvCxnSpPr>
          <p:nvPr/>
        </p:nvCxnSpPr>
        <p:spPr>
          <a:xfrm>
            <a:off x="5943600" y="2533650"/>
            <a:ext cx="304800" cy="0"/>
          </a:xfrm>
          <a:prstGeom prst="straightConnector1">
            <a:avLst/>
          </a:prstGeom>
          <a:ln w="19050">
            <a:solidFill>
              <a:srgbClr val="25699A"/>
            </a:solidFill>
            <a:tailEnd type="arrow" w="med" len="med"/>
          </a:ln>
        </p:spPr>
      </p:cxnSp>
      <p:cxnSp>
        <p:nvCxnSpPr>
          <p:cNvPr id="26" name="直接箭头连接符 25"/>
          <p:cNvCxnSpPr>
            <a:stCxn id="7" idx="3"/>
            <a:endCxn id="9" idx="1"/>
          </p:cNvCxnSpPr>
          <p:nvPr/>
        </p:nvCxnSpPr>
        <p:spPr>
          <a:xfrm>
            <a:off x="3124200" y="2533650"/>
            <a:ext cx="304800" cy="0"/>
          </a:xfrm>
          <a:prstGeom prst="straightConnector1">
            <a:avLst/>
          </a:prstGeom>
          <a:ln w="19050">
            <a:solidFill>
              <a:srgbClr val="25699A"/>
            </a:solidFill>
            <a:tailEnd type="arrow" w="med" len="med"/>
          </a:ln>
        </p:spPr>
      </p:cxnSp>
      <p:sp>
        <p:nvSpPr>
          <p:cNvPr id="27" name="text-43">
            <a:extLst>
              <a:ext uri="{FF2B5EF4-FFF2-40B4-BE49-F238E27FC236}">
                <a16:creationId xmlns:a16="http://schemas.microsoft.com/office/drawing/2014/main" id="{FB8A16EE-F628-4EA5-A1E2-94C0998E3120}"/>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44">
            <a:extLst>
              <a:ext uri="{FF2B5EF4-FFF2-40B4-BE49-F238E27FC236}">
                <a16:creationId xmlns:a16="http://schemas.microsoft.com/office/drawing/2014/main" id="{7D28736F-791C-454E-8C68-6DC37F0DA0EB}"/>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业务场景：预算信息的一次完整生命周期</a:t>
            </a:r>
          </a:p>
        </p:txBody>
      </p:sp>
      <p:sp>
        <p:nvSpPr>
          <p:cNvPr id="3" name="text-45">
            <a:extLst>
              <a:ext uri="{FF2B5EF4-FFF2-40B4-BE49-F238E27FC236}">
                <a16:creationId xmlns:a16="http://schemas.microsoft.com/office/drawing/2014/main" id="{81EC5B9D-3358-4F31-85BA-0DB288F8437A}"/>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以“预算 20 万，后来更正为 15 万”为例</a:t>
            </a:r>
          </a:p>
        </p:txBody>
      </p:sp>
      <p:sp>
        <p:nvSpPr>
          <p:cNvPr id="4" name="line-46">
            <a:extLst>
              <a:ext uri="{FF2B5EF4-FFF2-40B4-BE49-F238E27FC236}">
                <a16:creationId xmlns:a16="http://schemas.microsoft.com/office/drawing/2014/main" id="{633DC884-B94C-41D9-A6D8-95B190703916}"/>
              </a:ext>
            </a:extLst>
          </p:cNvPr>
          <p:cNvSpPr>
            <a:spLocks noGrp="1"/>
          </p:cNvSpPr>
          <p:nvPr/>
        </p:nvSpPr>
        <p:spPr>
          <a:xfrm>
            <a:off x="609600" y="6324600"/>
            <a:ext cx="10972800" cy="95"/>
          </a:xfrm>
          <a:prstGeom prst="line">
            <a:avLst/>
          </a:prstGeom>
          <a:noFill/>
          <a:ln w="9525">
            <a:solidFill>
              <a:srgbClr val="D7E2E8"/>
            </a:solidFill>
          </a:ln>
        </p:spPr>
      </p:sp>
      <p:sp>
        <p:nvSpPr>
          <p:cNvPr id="5" name="text-47">
            <a:extLst>
              <a:ext uri="{FF2B5EF4-FFF2-40B4-BE49-F238E27FC236}">
                <a16:creationId xmlns:a16="http://schemas.microsoft.com/office/drawing/2014/main" id="{BAD67176-C674-46A0-97BA-CB24AD0EACF5}"/>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V4.3</a:t>
            </a:r>
          </a:p>
        </p:txBody>
      </p:sp>
      <p:sp>
        <p:nvSpPr>
          <p:cNvPr id="6" name="text-48">
            <a:extLst>
              <a:ext uri="{FF2B5EF4-FFF2-40B4-BE49-F238E27FC236}">
                <a16:creationId xmlns:a16="http://schemas.microsoft.com/office/drawing/2014/main" id="{D51E54DB-7385-46F8-A8BD-0A5C6528E59E}"/>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04 / 24</a:t>
            </a:r>
          </a:p>
        </p:txBody>
      </p:sp>
      <p:sp>
        <p:nvSpPr>
          <p:cNvPr id="7" name="box-49">
            <a:extLst>
              <a:ext uri="{FF2B5EF4-FFF2-40B4-BE49-F238E27FC236}">
                <a16:creationId xmlns:a16="http://schemas.microsoft.com/office/drawing/2014/main" id="{D37EB578-F228-4760-BB91-3C6CA3C60017}"/>
              </a:ext>
            </a:extLst>
          </p:cNvPr>
          <p:cNvSpPr>
            <a:spLocks noGrp="1"/>
          </p:cNvSpPr>
          <p:nvPr/>
        </p:nvSpPr>
        <p:spPr>
          <a:xfrm>
            <a:off x="6096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保存信息</a:t>
            </a:r>
          </a:p>
        </p:txBody>
      </p:sp>
      <p:sp>
        <p:nvSpPr>
          <p:cNvPr id="8" name="text-50">
            <a:extLst>
              <a:ext uri="{FF2B5EF4-FFF2-40B4-BE49-F238E27FC236}">
                <a16:creationId xmlns:a16="http://schemas.microsoft.com/office/drawing/2014/main" id="{6239DFE2-A451-497B-9EE9-3A3AFAD85805}"/>
              </a:ext>
            </a:extLst>
          </p:cNvPr>
          <p:cNvSpPr>
            <a:spLocks noGrp="1"/>
          </p:cNvSpPr>
          <p:nvPr/>
        </p:nvSpPr>
        <p:spPr>
          <a:xfrm>
            <a:off x="6286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记录预算 20 万</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保留来源与权限</a:t>
            </a:r>
          </a:p>
        </p:txBody>
      </p:sp>
      <p:sp>
        <p:nvSpPr>
          <p:cNvPr id="9" name="box-51">
            <a:extLst>
              <a:ext uri="{FF2B5EF4-FFF2-40B4-BE49-F238E27FC236}">
                <a16:creationId xmlns:a16="http://schemas.microsoft.com/office/drawing/2014/main" id="{AD019E35-5177-4EDD-82E3-9DFCA26ED396}"/>
              </a:ext>
            </a:extLst>
          </p:cNvPr>
          <p:cNvSpPr>
            <a:spLocks noGrp="1"/>
          </p:cNvSpPr>
          <p:nvPr/>
        </p:nvSpPr>
        <p:spPr>
          <a:xfrm>
            <a:off x="34290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再次使用</a:t>
            </a:r>
          </a:p>
        </p:txBody>
      </p:sp>
      <p:sp>
        <p:nvSpPr>
          <p:cNvPr id="10" name="text-52">
            <a:extLst>
              <a:ext uri="{FF2B5EF4-FFF2-40B4-BE49-F238E27FC236}">
                <a16:creationId xmlns:a16="http://schemas.microsoft.com/office/drawing/2014/main" id="{58F5BB81-B0D5-4ACB-ABB1-385E53A250AF}"/>
              </a:ext>
            </a:extLst>
          </p:cNvPr>
          <p:cNvSpPr>
            <a:spLocks noGrp="1"/>
          </p:cNvSpPr>
          <p:nvPr/>
        </p:nvSpPr>
        <p:spPr>
          <a:xfrm>
            <a:off x="34480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换一次会话</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仍可找到相关材料</a:t>
            </a:r>
          </a:p>
        </p:txBody>
      </p:sp>
      <p:sp>
        <p:nvSpPr>
          <p:cNvPr id="11" name="box-53">
            <a:extLst>
              <a:ext uri="{FF2B5EF4-FFF2-40B4-BE49-F238E27FC236}">
                <a16:creationId xmlns:a16="http://schemas.microsoft.com/office/drawing/2014/main" id="{D76AFD13-3B95-4EC3-A5D5-EFEDD33CF4B3}"/>
              </a:ext>
            </a:extLst>
          </p:cNvPr>
          <p:cNvSpPr>
            <a:spLocks noGrp="1"/>
          </p:cNvSpPr>
          <p:nvPr/>
        </p:nvSpPr>
        <p:spPr>
          <a:xfrm>
            <a:off x="62484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更正内容</a:t>
            </a:r>
          </a:p>
        </p:txBody>
      </p:sp>
      <p:sp>
        <p:nvSpPr>
          <p:cNvPr id="12" name="text-54">
            <a:extLst>
              <a:ext uri="{FF2B5EF4-FFF2-40B4-BE49-F238E27FC236}">
                <a16:creationId xmlns:a16="http://schemas.microsoft.com/office/drawing/2014/main" id="{0B25E307-8FD6-4250-8601-33316265245C}"/>
              </a:ext>
            </a:extLst>
          </p:cNvPr>
          <p:cNvSpPr>
            <a:spLocks noGrp="1"/>
          </p:cNvSpPr>
          <p:nvPr/>
        </p:nvSpPr>
        <p:spPr>
          <a:xfrm>
            <a:off x="62674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预算改为 15 万</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后续使用新版本</a:t>
            </a:r>
          </a:p>
        </p:txBody>
      </p:sp>
      <p:sp>
        <p:nvSpPr>
          <p:cNvPr id="13" name="box-55">
            <a:extLst>
              <a:ext uri="{FF2B5EF4-FFF2-40B4-BE49-F238E27FC236}">
                <a16:creationId xmlns:a16="http://schemas.microsoft.com/office/drawing/2014/main" id="{3AB13C0E-66A7-40D4-B773-CAC6C1E2EAB8}"/>
              </a:ext>
            </a:extLst>
          </p:cNvPr>
          <p:cNvSpPr>
            <a:spLocks noGrp="1"/>
          </p:cNvSpPr>
          <p:nvPr/>
        </p:nvSpPr>
        <p:spPr>
          <a:xfrm>
            <a:off x="90678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删除或撤权</a:t>
            </a:r>
          </a:p>
        </p:txBody>
      </p:sp>
      <p:sp>
        <p:nvSpPr>
          <p:cNvPr id="14" name="text-56">
            <a:extLst>
              <a:ext uri="{FF2B5EF4-FFF2-40B4-BE49-F238E27FC236}">
                <a16:creationId xmlns:a16="http://schemas.microsoft.com/office/drawing/2014/main" id="{8765E48C-D81F-4740-8EBA-4B148B594C2E}"/>
              </a:ext>
            </a:extLst>
          </p:cNvPr>
          <p:cNvSpPr>
            <a:spLocks noGrp="1"/>
          </p:cNvSpPr>
          <p:nvPr/>
        </p:nvSpPr>
        <p:spPr>
          <a:xfrm>
            <a:off x="90868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删除后停止交付并清理</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撤权仅限制被撤权方</a:t>
            </a:r>
          </a:p>
        </p:txBody>
      </p:sp>
      <p:sp>
        <p:nvSpPr>
          <p:cNvPr id="18" name="line-57">
            <a:extLst>
              <a:ext uri="{FF2B5EF4-FFF2-40B4-BE49-F238E27FC236}">
                <a16:creationId xmlns:a16="http://schemas.microsoft.com/office/drawing/2014/main" id="{CE0CA475-A66D-4B9C-8D5D-0CD0E83625A7}"/>
              </a:ext>
            </a:extLst>
          </p:cNvPr>
          <p:cNvSpPr>
            <a:spLocks noGrp="1"/>
          </p:cNvSpPr>
          <p:nvPr/>
        </p:nvSpPr>
        <p:spPr>
          <a:xfrm>
            <a:off x="609600" y="4219575"/>
            <a:ext cx="10972800" cy="95"/>
          </a:xfrm>
          <a:prstGeom prst="line">
            <a:avLst/>
          </a:prstGeom>
          <a:noFill/>
          <a:ln w="9525">
            <a:solidFill>
              <a:srgbClr val="D7E2E8"/>
            </a:solidFill>
          </a:ln>
        </p:spPr>
      </p:sp>
      <p:sp>
        <p:nvSpPr>
          <p:cNvPr id="19" name="text-58">
            <a:extLst>
              <a:ext uri="{FF2B5EF4-FFF2-40B4-BE49-F238E27FC236}">
                <a16:creationId xmlns:a16="http://schemas.microsoft.com/office/drawing/2014/main" id="{766A7346-6723-4504-A5FD-BBE3EBE8F79B}"/>
              </a:ext>
            </a:extLst>
          </p:cNvPr>
          <p:cNvSpPr>
            <a:spLocks noGrp="1"/>
          </p:cNvSpPr>
          <p:nvPr/>
        </p:nvSpPr>
        <p:spPr>
          <a:xfrm>
            <a:off x="609600" y="4448175"/>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用户看到的结果</a:t>
            </a:r>
          </a:p>
        </p:txBody>
      </p:sp>
      <p:sp>
        <p:nvSpPr>
          <p:cNvPr id="20" name="text-59">
            <a:extLst>
              <a:ext uri="{FF2B5EF4-FFF2-40B4-BE49-F238E27FC236}">
                <a16:creationId xmlns:a16="http://schemas.microsoft.com/office/drawing/2014/main" id="{7E59809D-3313-4685-8360-C82BED673C7F}"/>
              </a:ext>
            </a:extLst>
          </p:cNvPr>
          <p:cNvSpPr>
            <a:spLocks noGrp="1"/>
          </p:cNvSpPr>
          <p:nvPr/>
        </p:nvSpPr>
        <p:spPr>
          <a:xfrm>
            <a:off x="2971800" y="4448175"/>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保存有状态，召回有来源，更正和删除会影响后续使用</a:t>
            </a:r>
          </a:p>
        </p:txBody>
      </p:sp>
      <p:sp>
        <p:nvSpPr>
          <p:cNvPr id="21" name="text-60">
            <a:extLst>
              <a:ext uri="{FF2B5EF4-FFF2-40B4-BE49-F238E27FC236}">
                <a16:creationId xmlns:a16="http://schemas.microsoft.com/office/drawing/2014/main" id="{79852A33-FE2F-4FC6-BF0F-E6E7AE727AFE}"/>
              </a:ext>
            </a:extLst>
          </p:cNvPr>
          <p:cNvSpPr>
            <a:spLocks noGrp="1"/>
          </p:cNvSpPr>
          <p:nvPr/>
        </p:nvSpPr>
        <p:spPr>
          <a:xfrm>
            <a:off x="609600" y="5067300"/>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系统持续完成的工作</a:t>
            </a:r>
          </a:p>
        </p:txBody>
      </p:sp>
      <p:sp>
        <p:nvSpPr>
          <p:cNvPr id="22" name="text-61">
            <a:extLst>
              <a:ext uri="{FF2B5EF4-FFF2-40B4-BE49-F238E27FC236}">
                <a16:creationId xmlns:a16="http://schemas.microsoft.com/office/drawing/2014/main" id="{676F6C85-A3DD-45B3-A8F2-66F38A4C6207}"/>
              </a:ext>
            </a:extLst>
          </p:cNvPr>
          <p:cNvSpPr>
            <a:spLocks noGrp="1"/>
          </p:cNvSpPr>
          <p:nvPr/>
        </p:nvSpPr>
        <p:spPr>
          <a:xfrm>
            <a:off x="2971800" y="5067300"/>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后台加工、版本维护、检索准备、访问调度与失败恢复</a:t>
            </a:r>
          </a:p>
        </p:txBody>
      </p:sp>
      <p:sp>
        <p:nvSpPr>
          <p:cNvPr id="23" name="text-62">
            <a:extLst>
              <a:ext uri="{FF2B5EF4-FFF2-40B4-BE49-F238E27FC236}">
                <a16:creationId xmlns:a16="http://schemas.microsoft.com/office/drawing/2014/main" id="{6B9310FB-0442-4584-B780-FC7B911988BF}"/>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后面的架构、测试和验收，都围绕这条业务链判断是否有效。</a:t>
            </a:r>
          </a:p>
        </p:txBody>
      </p:sp>
    </p:spTree>
    <p:extLst>
      <p:ext uri="{BB962C8B-B14F-4D97-AF65-F5344CB8AC3E}">
        <p14:creationId xmlns:p14="http://schemas.microsoft.com/office/powerpoint/2010/main" val="1525529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9" name="连接符: 肘形 18"/>
          <p:cNvCxnSpPr>
            <a:stCxn id="9" idx="2"/>
            <a:endCxn id="14" idx="0"/>
          </p:cNvCxnSpPr>
          <p:nvPr/>
        </p:nvCxnSpPr>
        <p:spPr>
          <a:xfrm flipH="1">
            <a:off x="6096000" y="4095750"/>
            <a:ext cx="3105150" cy="704850"/>
          </a:xfrm>
          <a:prstGeom prst="bentConnector4">
            <a:avLst>
              <a:gd name="adj1" fmla="val 0"/>
              <a:gd name="adj2" fmla="val 50000"/>
            </a:avLst>
          </a:prstGeom>
          <a:ln w="19050">
            <a:solidFill>
              <a:srgbClr val="087F80"/>
            </a:solidFill>
            <a:tailEnd type="arrow" w="med" len="med"/>
          </a:ln>
        </p:spPr>
      </p:cxnSp>
      <p:cxnSp>
        <p:nvCxnSpPr>
          <p:cNvPr id="20" name="连接符: 肘形 19"/>
          <p:cNvCxnSpPr>
            <a:stCxn id="8" idx="2"/>
            <a:endCxn id="14" idx="0"/>
          </p:cNvCxnSpPr>
          <p:nvPr/>
        </p:nvCxnSpPr>
        <p:spPr>
          <a:xfrm>
            <a:off x="2990850" y="4095750"/>
            <a:ext cx="3105150" cy="704850"/>
          </a:xfrm>
          <a:prstGeom prst="bentConnector4">
            <a:avLst>
              <a:gd name="adj1" fmla="val 0"/>
              <a:gd name="adj2" fmla="val 50000"/>
            </a:avLst>
          </a:prstGeom>
          <a:ln w="19050">
            <a:solidFill>
              <a:srgbClr val="087F80"/>
            </a:solidFill>
            <a:tailEnd type="arrow" w="med" len="med"/>
          </a:ln>
        </p:spPr>
      </p:cxnSp>
      <p:cxnSp>
        <p:nvCxnSpPr>
          <p:cNvPr id="21" name="直接箭头连接符 20"/>
          <p:cNvCxnSpPr>
            <a:stCxn id="8" idx="3"/>
            <a:endCxn id="9" idx="1"/>
          </p:cNvCxnSpPr>
          <p:nvPr/>
        </p:nvCxnSpPr>
        <p:spPr>
          <a:xfrm>
            <a:off x="5372100" y="3648075"/>
            <a:ext cx="1447800" cy="0"/>
          </a:xfrm>
          <a:prstGeom prst="straightConnector1">
            <a:avLst/>
          </a:prstGeom>
          <a:ln w="19050">
            <a:solidFill>
              <a:srgbClr val="25699A"/>
            </a:solidFill>
            <a:tailEnd type="arrow" w="med" len="med"/>
          </a:ln>
        </p:spPr>
      </p:cxnSp>
      <p:cxnSp>
        <p:nvCxnSpPr>
          <p:cNvPr id="22" name="连接符: 肘形 21"/>
          <p:cNvCxnSpPr>
            <a:stCxn id="7" idx="2"/>
            <a:endCxn id="9" idx="0"/>
          </p:cNvCxnSpPr>
          <p:nvPr/>
        </p:nvCxnSpPr>
        <p:spPr>
          <a:xfrm>
            <a:off x="6096000" y="2600325"/>
            <a:ext cx="3105150" cy="600075"/>
          </a:xfrm>
          <a:prstGeom prst="bentConnector4">
            <a:avLst>
              <a:gd name="adj1" fmla="val 0"/>
              <a:gd name="adj2" fmla="val 50000"/>
            </a:avLst>
          </a:prstGeom>
          <a:ln w="19050">
            <a:solidFill>
              <a:srgbClr val="25699A"/>
            </a:solidFill>
            <a:tailEnd type="arrow" w="med" len="med"/>
          </a:ln>
        </p:spPr>
      </p:cxnSp>
      <p:cxnSp>
        <p:nvCxnSpPr>
          <p:cNvPr id="23" name="连接符: 肘形 22"/>
          <p:cNvCxnSpPr>
            <a:stCxn id="7" idx="2"/>
            <a:endCxn id="8" idx="0"/>
          </p:cNvCxnSpPr>
          <p:nvPr/>
        </p:nvCxnSpPr>
        <p:spPr>
          <a:xfrm flipH="1">
            <a:off x="2990850" y="2600325"/>
            <a:ext cx="3105150" cy="600075"/>
          </a:xfrm>
          <a:prstGeom prst="bentConnector4">
            <a:avLst>
              <a:gd name="adj1" fmla="val 0"/>
              <a:gd name="adj2" fmla="val 50000"/>
            </a:avLst>
          </a:prstGeom>
          <a:ln w="19050">
            <a:solidFill>
              <a:srgbClr val="25699A"/>
            </a:solidFill>
            <a:tailEnd type="arrow" w="med" len="med"/>
          </a:ln>
        </p:spPr>
      </p:cxnSp>
      <p:sp>
        <p:nvSpPr>
          <p:cNvPr id="24" name="text-63">
            <a:extLst>
              <a:ext uri="{FF2B5EF4-FFF2-40B4-BE49-F238E27FC236}">
                <a16:creationId xmlns:a16="http://schemas.microsoft.com/office/drawing/2014/main" id="{EF4982BC-C868-4A3F-900F-7DBB6CF23425}"/>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64">
            <a:extLst>
              <a:ext uri="{FF2B5EF4-FFF2-40B4-BE49-F238E27FC236}">
                <a16:creationId xmlns:a16="http://schemas.microsoft.com/office/drawing/2014/main" id="{4D3C72D7-7181-4034-B63E-1D5A40C09858}"/>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业务框架：存储与召回由内部维护支撑</a:t>
            </a:r>
          </a:p>
        </p:txBody>
      </p:sp>
      <p:sp>
        <p:nvSpPr>
          <p:cNvPr id="3" name="text-65">
            <a:extLst>
              <a:ext uri="{FF2B5EF4-FFF2-40B4-BE49-F238E27FC236}">
                <a16:creationId xmlns:a16="http://schemas.microsoft.com/office/drawing/2014/main" id="{79152B9C-839D-4B27-9CAA-A2DE2FB54708}"/>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按业务责任分工，共同组成一套记忆服务</a:t>
            </a:r>
          </a:p>
        </p:txBody>
      </p:sp>
      <p:sp>
        <p:nvSpPr>
          <p:cNvPr id="4" name="line-66">
            <a:extLst>
              <a:ext uri="{FF2B5EF4-FFF2-40B4-BE49-F238E27FC236}">
                <a16:creationId xmlns:a16="http://schemas.microsoft.com/office/drawing/2014/main" id="{43CE88A1-3B3C-46DA-8BEA-5D7F0F8FCCA3}"/>
              </a:ext>
            </a:extLst>
          </p:cNvPr>
          <p:cNvSpPr>
            <a:spLocks noGrp="1"/>
          </p:cNvSpPr>
          <p:nvPr/>
        </p:nvSpPr>
        <p:spPr>
          <a:xfrm>
            <a:off x="609600" y="6324600"/>
            <a:ext cx="10972800" cy="95"/>
          </a:xfrm>
          <a:prstGeom prst="line">
            <a:avLst/>
          </a:prstGeom>
          <a:noFill/>
          <a:ln w="9525">
            <a:solidFill>
              <a:srgbClr val="D7E2E8"/>
            </a:solidFill>
          </a:ln>
        </p:spPr>
      </p:sp>
      <p:sp>
        <p:nvSpPr>
          <p:cNvPr id="5" name="text-67">
            <a:extLst>
              <a:ext uri="{FF2B5EF4-FFF2-40B4-BE49-F238E27FC236}">
                <a16:creationId xmlns:a16="http://schemas.microsoft.com/office/drawing/2014/main" id="{E6B54112-C0ED-4693-8946-26EDBC4CB719}"/>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V4.3</a:t>
            </a:r>
          </a:p>
        </p:txBody>
      </p:sp>
      <p:sp>
        <p:nvSpPr>
          <p:cNvPr id="6" name="text-68">
            <a:extLst>
              <a:ext uri="{FF2B5EF4-FFF2-40B4-BE49-F238E27FC236}">
                <a16:creationId xmlns:a16="http://schemas.microsoft.com/office/drawing/2014/main" id="{8F8F6400-FDED-4A3B-907A-BFA5E5B292F4}"/>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05 / 24</a:t>
            </a:r>
          </a:p>
        </p:txBody>
      </p:sp>
      <p:sp>
        <p:nvSpPr>
          <p:cNvPr id="7" name="box-69">
            <a:extLst>
              <a:ext uri="{FF2B5EF4-FFF2-40B4-BE49-F238E27FC236}">
                <a16:creationId xmlns:a16="http://schemas.microsoft.com/office/drawing/2014/main" id="{8A5455A9-1948-4AA3-A857-4E0C46678CEB}"/>
              </a:ext>
            </a:extLst>
          </p:cNvPr>
          <p:cNvSpPr>
            <a:spLocks noGrp="1"/>
          </p:cNvSpPr>
          <p:nvPr/>
        </p:nvSpPr>
        <p:spPr>
          <a:xfrm>
            <a:off x="609600" y="1962150"/>
            <a:ext cx="10972800" cy="638175"/>
          </a:xfrm>
          <a:prstGeom prst="rect">
            <a:avLst/>
          </a:prstGeom>
          <a:solidFill>
            <a:srgbClr val="EDF4F8"/>
          </a:solidFill>
          <a:ln w="9525">
            <a:solidFill>
              <a:srgbClr val="D7E2E8"/>
            </a:solidFill>
          </a:ln>
        </p:spPr>
        <p:txBody>
          <a:bodyPr lIns="95250" tIns="66675" rIns="95250" bIns="66675" anchor="ctr">
            <a:noAutofit/>
          </a:bodyPr>
          <a:lstStyle/>
          <a:p>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应用 / Agent / P4：保存信息或请求记忆</a:t>
            </a:r>
          </a:p>
        </p:txBody>
      </p:sp>
      <p:sp>
        <p:nvSpPr>
          <p:cNvPr id="8" name="box-70">
            <a:extLst>
              <a:ext uri="{FF2B5EF4-FFF2-40B4-BE49-F238E27FC236}">
                <a16:creationId xmlns:a16="http://schemas.microsoft.com/office/drawing/2014/main" id="{C4E7EA5C-FF37-419E-8295-0D5C20A8E0FD}"/>
              </a:ext>
            </a:extLst>
          </p:cNvPr>
          <p:cNvSpPr>
            <a:spLocks noGrp="1"/>
          </p:cNvSpPr>
          <p:nvPr/>
        </p:nvSpPr>
        <p:spPr>
          <a:xfrm>
            <a:off x="609600" y="3200400"/>
            <a:ext cx="4762500" cy="895350"/>
          </a:xfrm>
          <a:prstGeom prst="rect">
            <a:avLst/>
          </a:prstGeom>
          <a:solidFill>
            <a:srgbClr val="EAF5F2"/>
          </a:solidFill>
          <a:ln w="9525">
            <a:solidFill>
              <a:srgbClr val="D7E2E8"/>
            </a:solidFill>
          </a:ln>
        </p:spPr>
        <p:txBody>
          <a:bodyPr lIns="95250" tIns="66675" rIns="95250" bIns="66675" anchor="ctr">
            <a:noAutofit/>
          </a:bodyPr>
          <a:lstStyle/>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Remember 记忆维护</a:t>
            </a:r>
          </a:p>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保存来源、内容与当前版本</a:t>
            </a:r>
          </a:p>
        </p:txBody>
      </p:sp>
      <p:sp>
        <p:nvSpPr>
          <p:cNvPr id="9" name="box-71">
            <a:extLst>
              <a:ext uri="{FF2B5EF4-FFF2-40B4-BE49-F238E27FC236}">
                <a16:creationId xmlns:a16="http://schemas.microsoft.com/office/drawing/2014/main" id="{1FCDF6C0-8431-4D0F-92BC-834A41119FE1}"/>
              </a:ext>
            </a:extLst>
          </p:cNvPr>
          <p:cNvSpPr>
            <a:spLocks noGrp="1"/>
          </p:cNvSpPr>
          <p:nvPr/>
        </p:nvSpPr>
        <p:spPr>
          <a:xfrm>
            <a:off x="6819900" y="3200400"/>
            <a:ext cx="4762500" cy="895350"/>
          </a:xfrm>
          <a:prstGeom prst="rect">
            <a:avLst/>
          </a:prstGeom>
          <a:solidFill>
            <a:srgbClr val="EAF5F2"/>
          </a:solidFill>
          <a:ln w="9525">
            <a:solidFill>
              <a:srgbClr val="D7E2E8"/>
            </a:solidFill>
          </a:ln>
        </p:spPr>
        <p:txBody>
          <a:bodyPr lIns="95250" tIns="66675" rIns="95250" bIns="66675" anchor="ctr">
            <a:noAutofit/>
          </a:bodyPr>
          <a:lstStyle/>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Recall 记忆召回</a:t>
            </a:r>
          </a:p>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核对材料，组织并交付上下文</a:t>
            </a:r>
          </a:p>
        </p:txBody>
      </p:sp>
      <p:sp>
        <p:nvSpPr>
          <p:cNvPr id="13" name="text-72">
            <a:extLst>
              <a:ext uri="{FF2B5EF4-FFF2-40B4-BE49-F238E27FC236}">
                <a16:creationId xmlns:a16="http://schemas.microsoft.com/office/drawing/2014/main" id="{95CFBC8B-EA83-4EE6-8446-70E4D250FACA}"/>
              </a:ext>
            </a:extLst>
          </p:cNvPr>
          <p:cNvSpPr>
            <a:spLocks noGrp="1"/>
          </p:cNvSpPr>
          <p:nvPr/>
        </p:nvSpPr>
        <p:spPr>
          <a:xfrm>
            <a:off x="5486400" y="3209925"/>
            <a:ext cx="1219200" cy="314325"/>
          </a:xfrm>
          <a:prstGeom prst="rect">
            <a:avLst/>
          </a:prstGeom>
          <a:noFill/>
          <a:ln w="0">
            <a:noFill/>
          </a:ln>
        </p:spPr>
        <p:txBody>
          <a:bodyPr wrap="square" lIns="0" tIns="0" rIns="0" bIns="0" anchor="ctr">
            <a:noAutofit/>
          </a:bodyPr>
          <a:lstStyle/>
          <a:p>
            <a:pPr algn="ctr">
              <a:defRPr sz="1500" b="0">
                <a:solidFill>
                  <a:srgbClr val="25699A"/>
                </a:solidFill>
                <a:latin typeface="Microsoft YaHei"/>
                <a:ea typeface="Microsoft YaHei"/>
                <a:cs typeface="Microsoft YaHei"/>
              </a:defRPr>
            </a:pPr>
            <a:r>
              <a:rPr sz="1500" b="0">
                <a:solidFill>
                  <a:srgbClr val="25699A"/>
                </a:solidFill>
                <a:latin typeface="Microsoft YaHei"/>
                <a:ea typeface="Microsoft YaHei"/>
                <a:cs typeface="Microsoft YaHei"/>
              </a:rPr>
              <a:t>资格与正文</a:t>
            </a:r>
          </a:p>
        </p:txBody>
      </p:sp>
      <p:sp>
        <p:nvSpPr>
          <p:cNvPr id="14" name="box-73">
            <a:extLst>
              <a:ext uri="{FF2B5EF4-FFF2-40B4-BE49-F238E27FC236}">
                <a16:creationId xmlns:a16="http://schemas.microsoft.com/office/drawing/2014/main" id="{1FCB28B1-D927-49FB-BE8F-543034F4404C}"/>
              </a:ext>
            </a:extLst>
          </p:cNvPr>
          <p:cNvSpPr>
            <a:spLocks noGrp="1"/>
          </p:cNvSpPr>
          <p:nvPr/>
        </p:nvSpPr>
        <p:spPr>
          <a:xfrm>
            <a:off x="3238500" y="4800600"/>
            <a:ext cx="5715000" cy="752475"/>
          </a:xfrm>
          <a:prstGeom prst="rect">
            <a:avLst/>
          </a:prstGeom>
          <a:solidFill>
            <a:srgbClr val="EDF4F8"/>
          </a:solidFill>
          <a:ln w="9525">
            <a:solidFill>
              <a:srgbClr val="D7E2E8"/>
            </a:solidFill>
          </a:ln>
        </p:spPr>
        <p:txBody>
          <a:bodyPr lIns="95250" tIns="66675" rIns="95250" bIns="66675"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Operate 内部运行</a:t>
            </a:r>
          </a:p>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依据保存与使用记录，调整访问准备并核对结果</a:t>
            </a:r>
          </a:p>
        </p:txBody>
      </p:sp>
      <p:sp>
        <p:nvSpPr>
          <p:cNvPr id="17" name="text-74">
            <a:extLst>
              <a:ext uri="{FF2B5EF4-FFF2-40B4-BE49-F238E27FC236}">
                <a16:creationId xmlns:a16="http://schemas.microsoft.com/office/drawing/2014/main" id="{9BE8F9F2-BAAD-48B7-A3A6-886E324F7321}"/>
              </a:ext>
            </a:extLst>
          </p:cNvPr>
          <p:cNvSpPr>
            <a:spLocks noGrp="1"/>
          </p:cNvSpPr>
          <p:nvPr/>
        </p:nvSpPr>
        <p:spPr>
          <a:xfrm>
            <a:off x="609600" y="5629275"/>
            <a:ext cx="10972800" cy="333375"/>
          </a:xfrm>
          <a:prstGeom prst="rect">
            <a:avLst/>
          </a:prstGeom>
          <a:noFill/>
          <a:ln w="0">
            <a:noFill/>
          </a:ln>
        </p:spPr>
        <p:txBody>
          <a:bodyPr wrap="square" lIns="0" tIns="0" rIns="0" bIns="0" anchor="ctr">
            <a:noAutofit/>
          </a:bodyPr>
          <a:lstStyle/>
          <a:p>
            <a:pPr algn="ctr">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共同保障：身份权限、持久任务、日志与恢复</a:t>
            </a:r>
          </a:p>
        </p:txBody>
      </p:sp>
      <p:sp>
        <p:nvSpPr>
          <p:cNvPr id="18" name="text-75">
            <a:extLst>
              <a:ext uri="{FF2B5EF4-FFF2-40B4-BE49-F238E27FC236}">
                <a16:creationId xmlns:a16="http://schemas.microsoft.com/office/drawing/2014/main" id="{0579C53E-A37A-4616-B04C-068F2B27D7D5}"/>
              </a:ext>
            </a:extLst>
          </p:cNvPr>
          <p:cNvSpPr>
            <a:spLocks noGrp="1"/>
          </p:cNvSpPr>
          <p:nvPr/>
        </p:nvSpPr>
        <p:spPr>
          <a:xfrm>
            <a:off x="609600" y="6000750"/>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P3 管理事实是否可用，P2 提供底层存取与约定的执行能力。</a:t>
            </a:r>
          </a:p>
        </p:txBody>
      </p:sp>
    </p:spTree>
    <p:extLst>
      <p:ext uri="{BB962C8B-B14F-4D97-AF65-F5344CB8AC3E}">
        <p14:creationId xmlns:p14="http://schemas.microsoft.com/office/powerpoint/2010/main" val="1016656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9" name="连接符: 肘形 18"/>
          <p:cNvCxnSpPr>
            <a:stCxn id="8" idx="2"/>
            <a:endCxn id="13" idx="0"/>
          </p:cNvCxnSpPr>
          <p:nvPr/>
        </p:nvCxnSpPr>
        <p:spPr>
          <a:xfrm>
            <a:off x="6086475" y="2828925"/>
            <a:ext cx="2867025" cy="1304925"/>
          </a:xfrm>
          <a:prstGeom prst="bentConnector4">
            <a:avLst>
              <a:gd name="adj1" fmla="val 0"/>
              <a:gd name="adj2" fmla="val 50000"/>
            </a:avLst>
          </a:prstGeom>
          <a:ln w="19050">
            <a:solidFill>
              <a:srgbClr val="087F80"/>
            </a:solidFill>
            <a:tailEnd type="arrow" w="med" len="med"/>
          </a:ln>
        </p:spPr>
      </p:cxnSp>
      <p:cxnSp>
        <p:nvCxnSpPr>
          <p:cNvPr id="20" name="连接符: 肘形 19"/>
          <p:cNvCxnSpPr>
            <a:stCxn id="8" idx="2"/>
            <a:endCxn id="12" idx="0"/>
          </p:cNvCxnSpPr>
          <p:nvPr/>
        </p:nvCxnSpPr>
        <p:spPr>
          <a:xfrm flipH="1">
            <a:off x="3238500" y="2828925"/>
            <a:ext cx="2847975" cy="1304925"/>
          </a:xfrm>
          <a:prstGeom prst="bentConnector4">
            <a:avLst>
              <a:gd name="adj1" fmla="val 0"/>
              <a:gd name="adj2" fmla="val 50000"/>
            </a:avLst>
          </a:prstGeom>
          <a:ln w="19050">
            <a:solidFill>
              <a:srgbClr val="087F80"/>
            </a:solidFill>
            <a:tailEnd type="arrow" w="med" len="med"/>
          </a:ln>
        </p:spPr>
      </p:cxnSp>
      <p:cxnSp>
        <p:nvCxnSpPr>
          <p:cNvPr id="21" name="直接箭头连接符 20"/>
          <p:cNvCxnSpPr>
            <a:stCxn id="8" idx="3"/>
            <a:endCxn id="9" idx="1"/>
          </p:cNvCxnSpPr>
          <p:nvPr/>
        </p:nvCxnSpPr>
        <p:spPr>
          <a:xfrm>
            <a:off x="7562850" y="2447925"/>
            <a:ext cx="1057275" cy="0"/>
          </a:xfrm>
          <a:prstGeom prst="straightConnector1">
            <a:avLst/>
          </a:prstGeom>
          <a:ln w="19050">
            <a:solidFill>
              <a:srgbClr val="25699A"/>
            </a:solidFill>
            <a:tailEnd type="arrow" w="med" len="med"/>
          </a:ln>
        </p:spPr>
      </p:cxnSp>
      <p:cxnSp>
        <p:nvCxnSpPr>
          <p:cNvPr id="22" name="直接箭头连接符 21"/>
          <p:cNvCxnSpPr>
            <a:stCxn id="7" idx="3"/>
            <a:endCxn id="8" idx="1"/>
          </p:cNvCxnSpPr>
          <p:nvPr/>
        </p:nvCxnSpPr>
        <p:spPr>
          <a:xfrm>
            <a:off x="3514725" y="2447925"/>
            <a:ext cx="1095375" cy="0"/>
          </a:xfrm>
          <a:prstGeom prst="straightConnector1">
            <a:avLst/>
          </a:prstGeom>
          <a:ln w="19050">
            <a:solidFill>
              <a:srgbClr val="25699A"/>
            </a:solidFill>
            <a:tailEnd type="arrow" w="med" len="med"/>
          </a:ln>
        </p:spPr>
      </p:cxnSp>
      <p:sp>
        <p:nvSpPr>
          <p:cNvPr id="23" name="text-76">
            <a:extLst>
              <a:ext uri="{FF2B5EF4-FFF2-40B4-BE49-F238E27FC236}">
                <a16:creationId xmlns:a16="http://schemas.microsoft.com/office/drawing/2014/main" id="{5411246A-4F2F-4156-8720-A54508719A2A}"/>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77">
            <a:extLst>
              <a:ext uri="{FF2B5EF4-FFF2-40B4-BE49-F238E27FC236}">
                <a16:creationId xmlns:a16="http://schemas.microsoft.com/office/drawing/2014/main" id="{6E5785C8-6D01-4345-BF6E-D28C21D4FB3B}"/>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lang="en-US" sz="3150" b="1">
                <a:solidFill>
                  <a:srgbClr val="163044"/>
                </a:solidFill>
                <a:latin typeface="Microsoft YaHei"/>
                <a:ea typeface="Microsoft YaHei"/>
                <a:cs typeface="Microsoft YaHei"/>
              </a:rPr>
              <a:t>Remeber</a:t>
            </a:r>
            <a:r>
              <a:rPr sz="3150" b="1">
                <a:solidFill>
                  <a:srgbClr val="163044"/>
                </a:solidFill>
                <a:latin typeface="Microsoft YaHei"/>
                <a:ea typeface="Microsoft YaHei"/>
                <a:cs typeface="Microsoft YaHei"/>
              </a:rPr>
              <a:t>记忆形成：先可靠保存，再准备长期使用</a:t>
            </a:r>
          </a:p>
        </p:txBody>
      </p:sp>
      <p:sp>
        <p:nvSpPr>
          <p:cNvPr id="3" name="text-78">
            <a:extLst>
              <a:ext uri="{FF2B5EF4-FFF2-40B4-BE49-F238E27FC236}">
                <a16:creationId xmlns:a16="http://schemas.microsoft.com/office/drawing/2014/main" id="{8129D6B6-A16A-4D8B-88F2-F598CC6C8205}"/>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保存、当前任务可用、长期检索就绪分别表达</a:t>
            </a:r>
          </a:p>
        </p:txBody>
      </p:sp>
      <p:sp>
        <p:nvSpPr>
          <p:cNvPr id="4" name="line-79">
            <a:extLst>
              <a:ext uri="{FF2B5EF4-FFF2-40B4-BE49-F238E27FC236}">
                <a16:creationId xmlns:a16="http://schemas.microsoft.com/office/drawing/2014/main" id="{5FC5DE22-A7B9-4A5D-A4BE-FE648606B1C2}"/>
              </a:ext>
            </a:extLst>
          </p:cNvPr>
          <p:cNvSpPr>
            <a:spLocks noGrp="1"/>
          </p:cNvSpPr>
          <p:nvPr/>
        </p:nvSpPr>
        <p:spPr>
          <a:xfrm>
            <a:off x="609600" y="6324600"/>
            <a:ext cx="10972800" cy="95"/>
          </a:xfrm>
          <a:prstGeom prst="line">
            <a:avLst/>
          </a:prstGeom>
          <a:noFill/>
          <a:ln w="9525">
            <a:solidFill>
              <a:srgbClr val="D7E2E8"/>
            </a:solidFill>
          </a:ln>
        </p:spPr>
      </p:sp>
      <p:sp>
        <p:nvSpPr>
          <p:cNvPr id="5" name="text-80">
            <a:extLst>
              <a:ext uri="{FF2B5EF4-FFF2-40B4-BE49-F238E27FC236}">
                <a16:creationId xmlns:a16="http://schemas.microsoft.com/office/drawing/2014/main" id="{86DEC705-ED9C-4F95-9313-BBB52F4307BD}"/>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V4.3</a:t>
            </a:r>
          </a:p>
        </p:txBody>
      </p:sp>
      <p:sp>
        <p:nvSpPr>
          <p:cNvPr id="6" name="text-81">
            <a:extLst>
              <a:ext uri="{FF2B5EF4-FFF2-40B4-BE49-F238E27FC236}">
                <a16:creationId xmlns:a16="http://schemas.microsoft.com/office/drawing/2014/main" id="{C43BE25C-E52C-4240-8F1B-D451A27E170B}"/>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06 / 24</a:t>
            </a:r>
          </a:p>
        </p:txBody>
      </p:sp>
      <p:sp>
        <p:nvSpPr>
          <p:cNvPr id="7" name="box-82">
            <a:extLst>
              <a:ext uri="{FF2B5EF4-FFF2-40B4-BE49-F238E27FC236}">
                <a16:creationId xmlns:a16="http://schemas.microsoft.com/office/drawing/2014/main" id="{CFEEDE26-5E1F-4DBF-B167-4E9C5E5D3D8D}"/>
              </a:ext>
            </a:extLst>
          </p:cNvPr>
          <p:cNvSpPr>
            <a:spLocks noGrp="1"/>
          </p:cNvSpPr>
          <p:nvPr/>
        </p:nvSpPr>
        <p:spPr>
          <a:xfrm>
            <a:off x="609600" y="2066925"/>
            <a:ext cx="2905125" cy="762000"/>
          </a:xfrm>
          <a:prstGeom prst="rect">
            <a:avLst/>
          </a:prstGeom>
          <a:solidFill>
            <a:srgbClr val="EDF4F8"/>
          </a:solidFill>
          <a:ln w="9525">
            <a:solidFill>
              <a:srgbClr val="D7E2E8"/>
            </a:solidFill>
          </a:ln>
        </p:spPr>
        <p:txBody>
          <a:bodyPr lIns="95250" tIns="66675" rIns="95250" bIns="66675" anchor="ctr">
            <a:noAutofit/>
          </a:bodyPr>
          <a:lstStyle/>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对话、任务、文档</a:t>
            </a:r>
          </a:p>
        </p:txBody>
      </p:sp>
      <p:sp>
        <p:nvSpPr>
          <p:cNvPr id="8" name="box-83">
            <a:extLst>
              <a:ext uri="{FF2B5EF4-FFF2-40B4-BE49-F238E27FC236}">
                <a16:creationId xmlns:a16="http://schemas.microsoft.com/office/drawing/2014/main" id="{444A9DC1-7DFC-4BF3-AAF0-684DFA9F6D93}"/>
              </a:ext>
            </a:extLst>
          </p:cNvPr>
          <p:cNvSpPr>
            <a:spLocks noGrp="1"/>
          </p:cNvSpPr>
          <p:nvPr/>
        </p:nvSpPr>
        <p:spPr>
          <a:xfrm>
            <a:off x="4610100" y="2066925"/>
            <a:ext cx="2952750" cy="762000"/>
          </a:xfrm>
          <a:prstGeom prst="rect">
            <a:avLst/>
          </a:prstGeom>
          <a:solidFill>
            <a:srgbClr val="EAF5F2"/>
          </a:solidFill>
          <a:ln w="9525">
            <a:solidFill>
              <a:srgbClr val="D7E2E8"/>
            </a:solidFill>
          </a:ln>
        </p:spPr>
        <p:txBody>
          <a:bodyPr lIns="95250" tIns="66675" rIns="95250" bIns="66675" anchor="ctr">
            <a:noAutofit/>
          </a:bodyPr>
          <a:lstStyle/>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核对身份与来源</a:t>
            </a:r>
          </a:p>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可靠保存并登记待办</a:t>
            </a:r>
          </a:p>
        </p:txBody>
      </p:sp>
      <p:sp>
        <p:nvSpPr>
          <p:cNvPr id="9" name="box-84">
            <a:extLst>
              <a:ext uri="{FF2B5EF4-FFF2-40B4-BE49-F238E27FC236}">
                <a16:creationId xmlns:a16="http://schemas.microsoft.com/office/drawing/2014/main" id="{FB1E91B6-239D-408D-B817-9AE2C263AD67}"/>
              </a:ext>
            </a:extLst>
          </p:cNvPr>
          <p:cNvSpPr>
            <a:spLocks noGrp="1"/>
          </p:cNvSpPr>
          <p:nvPr/>
        </p:nvSpPr>
        <p:spPr>
          <a:xfrm>
            <a:off x="8620125" y="2066925"/>
            <a:ext cx="2962275" cy="762000"/>
          </a:xfrm>
          <a:prstGeom prst="rect">
            <a:avLst/>
          </a:prstGeom>
          <a:solidFill>
            <a:srgbClr val="EDF4F8"/>
          </a:solidFill>
          <a:ln w="9525">
            <a:solidFill>
              <a:srgbClr val="D7E2E8"/>
            </a:solidFill>
          </a:ln>
        </p:spPr>
        <p:txBody>
          <a:bodyPr lIns="95250" tIns="66675" rIns="95250" bIns="66675" anchor="ctr">
            <a:noAutofit/>
          </a:bodyPr>
          <a:lstStyle/>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返回保存状态</a:t>
            </a:r>
          </a:p>
        </p:txBody>
      </p:sp>
      <p:sp>
        <p:nvSpPr>
          <p:cNvPr id="12" name="box-85">
            <a:extLst>
              <a:ext uri="{FF2B5EF4-FFF2-40B4-BE49-F238E27FC236}">
                <a16:creationId xmlns:a16="http://schemas.microsoft.com/office/drawing/2014/main" id="{7956429C-AA70-4F68-BBE1-B58A7F655106}"/>
              </a:ext>
            </a:extLst>
          </p:cNvPr>
          <p:cNvSpPr>
            <a:spLocks noGrp="1"/>
          </p:cNvSpPr>
          <p:nvPr/>
        </p:nvSpPr>
        <p:spPr>
          <a:xfrm>
            <a:off x="1000125" y="4133850"/>
            <a:ext cx="4476750" cy="866775"/>
          </a:xfrm>
          <a:prstGeom prst="rect">
            <a:avLst/>
          </a:prstGeom>
          <a:solidFill>
            <a:srgbClr val="EAF5F2"/>
          </a:solidFill>
          <a:ln w="9525">
            <a:solidFill>
              <a:srgbClr val="D7E2E8"/>
            </a:solidFill>
          </a:ln>
        </p:spPr>
        <p:txBody>
          <a:bodyPr lIns="95250" tIns="66675" rIns="95250" bIns="66675" anchor="ctr">
            <a:noAutofit/>
          </a:bodyPr>
          <a:lstStyle/>
          <a:p>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当前任务记忆</a:t>
            </a:r>
          </a:p>
          <a:p>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符合条件即可使用</a:t>
            </a:r>
          </a:p>
        </p:txBody>
      </p:sp>
      <p:sp>
        <p:nvSpPr>
          <p:cNvPr id="13" name="box-86">
            <a:extLst>
              <a:ext uri="{FF2B5EF4-FFF2-40B4-BE49-F238E27FC236}">
                <a16:creationId xmlns:a16="http://schemas.microsoft.com/office/drawing/2014/main" id="{FD6D8404-D152-48B1-91CB-DE4EABF38012}"/>
              </a:ext>
            </a:extLst>
          </p:cNvPr>
          <p:cNvSpPr>
            <a:spLocks noGrp="1"/>
          </p:cNvSpPr>
          <p:nvPr/>
        </p:nvSpPr>
        <p:spPr>
          <a:xfrm>
            <a:off x="6715125" y="4133850"/>
            <a:ext cx="4476750" cy="866775"/>
          </a:xfrm>
          <a:prstGeom prst="rect">
            <a:avLst/>
          </a:prstGeom>
          <a:solidFill>
            <a:srgbClr val="EDF4F8"/>
          </a:solidFill>
          <a:ln w="9525">
            <a:solidFill>
              <a:srgbClr val="D7E2E8"/>
            </a:solidFill>
          </a:ln>
        </p:spPr>
        <p:txBody>
          <a:bodyPr lIns="95250" tIns="66675" rIns="95250" bIns="66675" anchor="ctr">
            <a:noAutofit/>
          </a:bodyPr>
          <a:lstStyle/>
          <a:p>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长期记忆</a:t>
            </a:r>
          </a:p>
          <a:p>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后台按需加工并核验</a:t>
            </a:r>
          </a:p>
        </p:txBody>
      </p:sp>
      <p:sp>
        <p:nvSpPr>
          <p:cNvPr id="16" name="text-87">
            <a:extLst>
              <a:ext uri="{FF2B5EF4-FFF2-40B4-BE49-F238E27FC236}">
                <a16:creationId xmlns:a16="http://schemas.microsoft.com/office/drawing/2014/main" id="{8DF3647F-F50D-4DA3-B032-0CDACC879403}"/>
              </a:ext>
            </a:extLst>
          </p:cNvPr>
          <p:cNvSpPr>
            <a:spLocks noGrp="1"/>
          </p:cNvSpPr>
          <p:nvPr/>
        </p:nvSpPr>
        <p:spPr>
          <a:xfrm>
            <a:off x="1000125" y="5181600"/>
            <a:ext cx="4476750" cy="400050"/>
          </a:xfrm>
          <a:prstGeom prst="rect">
            <a:avLst/>
          </a:prstGeom>
          <a:noFill/>
          <a:ln w="0">
            <a:noFill/>
          </a:ln>
        </p:spPr>
        <p:txBody>
          <a:bodyPr wrap="square" lIns="0" tIns="0" rIns="0" bIns="0" anchor="ctr">
            <a:noAutofit/>
          </a:bodyPr>
          <a:lstStyle/>
          <a:p>
            <a:pPr algn="ctr">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先支撑当前工作</a:t>
            </a:r>
          </a:p>
        </p:txBody>
      </p:sp>
      <p:sp>
        <p:nvSpPr>
          <p:cNvPr id="17" name="text-88">
            <a:extLst>
              <a:ext uri="{FF2B5EF4-FFF2-40B4-BE49-F238E27FC236}">
                <a16:creationId xmlns:a16="http://schemas.microsoft.com/office/drawing/2014/main" id="{0F8BCFED-2E4C-4E61-995F-28CE6F523653}"/>
              </a:ext>
            </a:extLst>
          </p:cNvPr>
          <p:cNvSpPr>
            <a:spLocks noGrp="1"/>
          </p:cNvSpPr>
          <p:nvPr/>
        </p:nvSpPr>
        <p:spPr>
          <a:xfrm>
            <a:off x="6715125" y="5181600"/>
            <a:ext cx="4476750" cy="400050"/>
          </a:xfrm>
          <a:prstGeom prst="rect">
            <a:avLst/>
          </a:prstGeom>
          <a:noFill/>
          <a:ln w="0">
            <a:noFill/>
          </a:ln>
        </p:spPr>
        <p:txBody>
          <a:bodyPr wrap="square" lIns="0" tIns="0" rIns="0" bIns="0" anchor="ctr">
            <a:noAutofit/>
          </a:bodyPr>
          <a:lstStyle/>
          <a:p>
            <a:pPr algn="ctr">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确认可检索、可读后发布就绪</a:t>
            </a:r>
          </a:p>
        </p:txBody>
      </p:sp>
      <p:sp>
        <p:nvSpPr>
          <p:cNvPr id="18" name="text-89">
            <a:extLst>
              <a:ext uri="{FF2B5EF4-FFF2-40B4-BE49-F238E27FC236}">
                <a16:creationId xmlns:a16="http://schemas.microsoft.com/office/drawing/2014/main" id="{1AE72B30-DD0B-4F0E-8E0B-BBE5F357E0A7}"/>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后台加工失败时保留原始记录，更正或删除后阻断旧版本继续使用。</a:t>
            </a:r>
          </a:p>
        </p:txBody>
      </p:sp>
    </p:spTree>
    <p:extLst>
      <p:ext uri="{BB962C8B-B14F-4D97-AF65-F5344CB8AC3E}">
        <p14:creationId xmlns:p14="http://schemas.microsoft.com/office/powerpoint/2010/main" val="134645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4" name="直接箭头连接符 23"/>
          <p:cNvCxnSpPr>
            <a:stCxn id="11" idx="3"/>
            <a:endCxn id="13" idx="1"/>
          </p:cNvCxnSpPr>
          <p:nvPr/>
        </p:nvCxnSpPr>
        <p:spPr>
          <a:xfrm>
            <a:off x="8763000" y="2533650"/>
            <a:ext cx="304800" cy="0"/>
          </a:xfrm>
          <a:prstGeom prst="straightConnector1">
            <a:avLst/>
          </a:prstGeom>
          <a:ln w="19050">
            <a:solidFill>
              <a:srgbClr val="25699A"/>
            </a:solidFill>
            <a:tailEnd type="arrow" w="med" len="med"/>
          </a:ln>
        </p:spPr>
      </p:cxnSp>
      <p:cxnSp>
        <p:nvCxnSpPr>
          <p:cNvPr id="25" name="直接箭头连接符 24"/>
          <p:cNvCxnSpPr>
            <a:stCxn id="9" idx="3"/>
            <a:endCxn id="11" idx="1"/>
          </p:cNvCxnSpPr>
          <p:nvPr/>
        </p:nvCxnSpPr>
        <p:spPr>
          <a:xfrm>
            <a:off x="5943600" y="2533650"/>
            <a:ext cx="304800" cy="0"/>
          </a:xfrm>
          <a:prstGeom prst="straightConnector1">
            <a:avLst/>
          </a:prstGeom>
          <a:ln w="19050">
            <a:solidFill>
              <a:srgbClr val="25699A"/>
            </a:solidFill>
            <a:tailEnd type="arrow" w="med" len="med"/>
          </a:ln>
        </p:spPr>
      </p:cxnSp>
      <p:cxnSp>
        <p:nvCxnSpPr>
          <p:cNvPr id="26" name="直接箭头连接符 25"/>
          <p:cNvCxnSpPr>
            <a:stCxn id="7" idx="3"/>
            <a:endCxn id="9" idx="1"/>
          </p:cNvCxnSpPr>
          <p:nvPr/>
        </p:nvCxnSpPr>
        <p:spPr>
          <a:xfrm>
            <a:off x="3124200" y="2533650"/>
            <a:ext cx="304800" cy="0"/>
          </a:xfrm>
          <a:prstGeom prst="straightConnector1">
            <a:avLst/>
          </a:prstGeom>
          <a:ln w="19050">
            <a:solidFill>
              <a:srgbClr val="25699A"/>
            </a:solidFill>
            <a:tailEnd type="arrow" w="med" len="med"/>
          </a:ln>
        </p:spPr>
      </p:cxnSp>
      <p:sp>
        <p:nvSpPr>
          <p:cNvPr id="27" name="text-90">
            <a:extLst>
              <a:ext uri="{FF2B5EF4-FFF2-40B4-BE49-F238E27FC236}">
                <a16:creationId xmlns:a16="http://schemas.microsoft.com/office/drawing/2014/main" id="{ED234933-C5E9-4CE5-9758-5235D6D6B8D0}"/>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91">
            <a:extLst>
              <a:ext uri="{FF2B5EF4-FFF2-40B4-BE49-F238E27FC236}">
                <a16:creationId xmlns:a16="http://schemas.microsoft.com/office/drawing/2014/main" id="{0A7DD4EC-A18A-4775-A981-7996CAC5A911}"/>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lang="en-US" altLang="zh-CN" sz="3150" b="1">
                <a:solidFill>
                  <a:srgbClr val="163044"/>
                </a:solidFill>
                <a:latin typeface="Microsoft YaHei"/>
                <a:ea typeface="Microsoft YaHei"/>
                <a:cs typeface="Microsoft YaHei"/>
              </a:rPr>
              <a:t>Recall</a:t>
            </a:r>
            <a:r>
              <a:rPr sz="3150" b="1">
                <a:solidFill>
                  <a:srgbClr val="163044"/>
                </a:solidFill>
                <a:latin typeface="Microsoft YaHei"/>
                <a:ea typeface="Microsoft YaHei"/>
                <a:cs typeface="Microsoft YaHei"/>
              </a:rPr>
              <a:t>记忆召回：交付能使用、可追溯的材料</a:t>
            </a:r>
          </a:p>
        </p:txBody>
      </p:sp>
      <p:sp>
        <p:nvSpPr>
          <p:cNvPr id="3" name="text-92">
            <a:extLst>
              <a:ext uri="{FF2B5EF4-FFF2-40B4-BE49-F238E27FC236}">
                <a16:creationId xmlns:a16="http://schemas.microsoft.com/office/drawing/2014/main" id="{84C6EBEE-BD3E-4F84-BBA7-6B2AD4D2F244}"/>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找到相似内容之后，还要核对版本、权限与来源</a:t>
            </a:r>
          </a:p>
        </p:txBody>
      </p:sp>
      <p:sp>
        <p:nvSpPr>
          <p:cNvPr id="4" name="line-93">
            <a:extLst>
              <a:ext uri="{FF2B5EF4-FFF2-40B4-BE49-F238E27FC236}">
                <a16:creationId xmlns:a16="http://schemas.microsoft.com/office/drawing/2014/main" id="{B5DC4944-810B-46A9-899B-81735130D29F}"/>
              </a:ext>
            </a:extLst>
          </p:cNvPr>
          <p:cNvSpPr>
            <a:spLocks noGrp="1"/>
          </p:cNvSpPr>
          <p:nvPr/>
        </p:nvSpPr>
        <p:spPr>
          <a:xfrm>
            <a:off x="609600" y="6324600"/>
            <a:ext cx="10972800" cy="95"/>
          </a:xfrm>
          <a:prstGeom prst="line">
            <a:avLst/>
          </a:prstGeom>
          <a:noFill/>
          <a:ln w="9525">
            <a:solidFill>
              <a:srgbClr val="D7E2E8"/>
            </a:solidFill>
          </a:ln>
        </p:spPr>
      </p:sp>
      <p:sp>
        <p:nvSpPr>
          <p:cNvPr id="5" name="text-94">
            <a:extLst>
              <a:ext uri="{FF2B5EF4-FFF2-40B4-BE49-F238E27FC236}">
                <a16:creationId xmlns:a16="http://schemas.microsoft.com/office/drawing/2014/main" id="{983CDF2C-5DEB-4390-946E-95266D8A71EC}"/>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V4.3</a:t>
            </a:r>
          </a:p>
        </p:txBody>
      </p:sp>
      <p:sp>
        <p:nvSpPr>
          <p:cNvPr id="6" name="text-95">
            <a:extLst>
              <a:ext uri="{FF2B5EF4-FFF2-40B4-BE49-F238E27FC236}">
                <a16:creationId xmlns:a16="http://schemas.microsoft.com/office/drawing/2014/main" id="{D352A036-053A-405B-A70E-B18272503611}"/>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07 / 24</a:t>
            </a:r>
          </a:p>
        </p:txBody>
      </p:sp>
      <p:sp>
        <p:nvSpPr>
          <p:cNvPr id="7" name="box-96">
            <a:extLst>
              <a:ext uri="{FF2B5EF4-FFF2-40B4-BE49-F238E27FC236}">
                <a16:creationId xmlns:a16="http://schemas.microsoft.com/office/drawing/2014/main" id="{BBE6C657-CD4D-4E88-8AC7-2B6E026D6332}"/>
              </a:ext>
            </a:extLst>
          </p:cNvPr>
          <p:cNvSpPr>
            <a:spLocks noGrp="1"/>
          </p:cNvSpPr>
          <p:nvPr/>
        </p:nvSpPr>
        <p:spPr>
          <a:xfrm>
            <a:off x="6096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明确请求范围</a:t>
            </a:r>
          </a:p>
        </p:txBody>
      </p:sp>
      <p:sp>
        <p:nvSpPr>
          <p:cNvPr id="8" name="text-97">
            <a:extLst>
              <a:ext uri="{FF2B5EF4-FFF2-40B4-BE49-F238E27FC236}">
                <a16:creationId xmlns:a16="http://schemas.microsoft.com/office/drawing/2014/main" id="{5FEF25BD-E337-4F23-86D2-42F73DCA381D}"/>
              </a:ext>
            </a:extLst>
          </p:cNvPr>
          <p:cNvSpPr>
            <a:spLocks noGrp="1"/>
          </p:cNvSpPr>
          <p:nvPr/>
        </p:nvSpPr>
        <p:spPr>
          <a:xfrm>
            <a:off x="6286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根据任务、身份</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和指定来源选路</a:t>
            </a:r>
          </a:p>
        </p:txBody>
      </p:sp>
      <p:sp>
        <p:nvSpPr>
          <p:cNvPr id="9" name="box-98">
            <a:extLst>
              <a:ext uri="{FF2B5EF4-FFF2-40B4-BE49-F238E27FC236}">
                <a16:creationId xmlns:a16="http://schemas.microsoft.com/office/drawing/2014/main" id="{9B34DC8E-99F7-4C46-ABCB-7F79C2DB5E49}"/>
              </a:ext>
            </a:extLst>
          </p:cNvPr>
          <p:cNvSpPr>
            <a:spLocks noGrp="1"/>
          </p:cNvSpPr>
          <p:nvPr/>
        </p:nvSpPr>
        <p:spPr>
          <a:xfrm>
            <a:off x="34290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寻找相关记忆</a:t>
            </a:r>
          </a:p>
        </p:txBody>
      </p:sp>
      <p:sp>
        <p:nvSpPr>
          <p:cNvPr id="10" name="text-99">
            <a:extLst>
              <a:ext uri="{FF2B5EF4-FFF2-40B4-BE49-F238E27FC236}">
                <a16:creationId xmlns:a16="http://schemas.microsoft.com/office/drawing/2014/main" id="{BEEECDCB-3F3D-4F87-9B33-A79D49E7A1CE}"/>
              </a:ext>
            </a:extLst>
          </p:cNvPr>
          <p:cNvSpPr>
            <a:spLocks noGrp="1"/>
          </p:cNvSpPr>
          <p:nvPr/>
        </p:nvSpPr>
        <p:spPr>
          <a:xfrm>
            <a:off x="34480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检索当前记忆</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或长期记忆</a:t>
            </a:r>
          </a:p>
        </p:txBody>
      </p:sp>
      <p:sp>
        <p:nvSpPr>
          <p:cNvPr id="11" name="box-100">
            <a:extLst>
              <a:ext uri="{FF2B5EF4-FFF2-40B4-BE49-F238E27FC236}">
                <a16:creationId xmlns:a16="http://schemas.microsoft.com/office/drawing/2014/main" id="{7F7E6637-EAFD-428D-AE50-657E5B722D52}"/>
              </a:ext>
            </a:extLst>
          </p:cNvPr>
          <p:cNvSpPr>
            <a:spLocks noGrp="1"/>
          </p:cNvSpPr>
          <p:nvPr/>
        </p:nvSpPr>
        <p:spPr>
          <a:xfrm>
            <a:off x="62484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核对有效性</a:t>
            </a:r>
          </a:p>
        </p:txBody>
      </p:sp>
      <p:sp>
        <p:nvSpPr>
          <p:cNvPr id="12" name="text-101">
            <a:extLst>
              <a:ext uri="{FF2B5EF4-FFF2-40B4-BE49-F238E27FC236}">
                <a16:creationId xmlns:a16="http://schemas.microsoft.com/office/drawing/2014/main" id="{0EFB8FB9-7A18-4C1D-9C14-B988DA40EC95}"/>
              </a:ext>
            </a:extLst>
          </p:cNvPr>
          <p:cNvSpPr>
            <a:spLocks noGrp="1"/>
          </p:cNvSpPr>
          <p:nvPr/>
        </p:nvSpPr>
        <p:spPr>
          <a:xfrm>
            <a:off x="62674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读取准确正文</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检查版本与权限</a:t>
            </a:r>
          </a:p>
        </p:txBody>
      </p:sp>
      <p:sp>
        <p:nvSpPr>
          <p:cNvPr id="13" name="box-102">
            <a:extLst>
              <a:ext uri="{FF2B5EF4-FFF2-40B4-BE49-F238E27FC236}">
                <a16:creationId xmlns:a16="http://schemas.microsoft.com/office/drawing/2014/main" id="{3EFDEA7C-BF67-4A64-BA03-8BD617A82A4F}"/>
              </a:ext>
            </a:extLst>
          </p:cNvPr>
          <p:cNvSpPr>
            <a:spLocks noGrp="1"/>
          </p:cNvSpPr>
          <p:nvPr/>
        </p:nvSpPr>
        <p:spPr>
          <a:xfrm>
            <a:off x="90678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组织并交付</a:t>
            </a:r>
          </a:p>
        </p:txBody>
      </p:sp>
      <p:sp>
        <p:nvSpPr>
          <p:cNvPr id="14" name="text-103">
            <a:extLst>
              <a:ext uri="{FF2B5EF4-FFF2-40B4-BE49-F238E27FC236}">
                <a16:creationId xmlns:a16="http://schemas.microsoft.com/office/drawing/2014/main" id="{A24F5AC0-F945-438F-A7EA-31FDBC3F7B22}"/>
              </a:ext>
            </a:extLst>
          </p:cNvPr>
          <p:cNvSpPr>
            <a:spLocks noGrp="1"/>
          </p:cNvSpPr>
          <p:nvPr/>
        </p:nvSpPr>
        <p:spPr>
          <a:xfrm>
            <a:off x="90868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保留必要上下文</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附来源和结果状态</a:t>
            </a:r>
          </a:p>
        </p:txBody>
      </p:sp>
      <p:sp>
        <p:nvSpPr>
          <p:cNvPr id="18" name="line-104">
            <a:extLst>
              <a:ext uri="{FF2B5EF4-FFF2-40B4-BE49-F238E27FC236}">
                <a16:creationId xmlns:a16="http://schemas.microsoft.com/office/drawing/2014/main" id="{00E1CE31-220F-4C57-BF4D-631BE2CBC18D}"/>
              </a:ext>
            </a:extLst>
          </p:cNvPr>
          <p:cNvSpPr>
            <a:spLocks noGrp="1"/>
          </p:cNvSpPr>
          <p:nvPr/>
        </p:nvSpPr>
        <p:spPr>
          <a:xfrm>
            <a:off x="609600" y="4219575"/>
            <a:ext cx="10972800" cy="95"/>
          </a:xfrm>
          <a:prstGeom prst="line">
            <a:avLst/>
          </a:prstGeom>
          <a:noFill/>
          <a:ln w="9525">
            <a:solidFill>
              <a:srgbClr val="D7E2E8"/>
            </a:solidFill>
          </a:ln>
        </p:spPr>
      </p:sp>
      <p:sp>
        <p:nvSpPr>
          <p:cNvPr id="19" name="text-105">
            <a:extLst>
              <a:ext uri="{FF2B5EF4-FFF2-40B4-BE49-F238E27FC236}">
                <a16:creationId xmlns:a16="http://schemas.microsoft.com/office/drawing/2014/main" id="{49E31210-5419-4872-B8E1-F724BF6F089B}"/>
              </a:ext>
            </a:extLst>
          </p:cNvPr>
          <p:cNvSpPr>
            <a:spLocks noGrp="1"/>
          </p:cNvSpPr>
          <p:nvPr/>
        </p:nvSpPr>
        <p:spPr>
          <a:xfrm>
            <a:off x="609600" y="4448175"/>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预算更正后</a:t>
            </a:r>
          </a:p>
        </p:txBody>
      </p:sp>
      <p:sp>
        <p:nvSpPr>
          <p:cNvPr id="20" name="text-106">
            <a:extLst>
              <a:ext uri="{FF2B5EF4-FFF2-40B4-BE49-F238E27FC236}">
                <a16:creationId xmlns:a16="http://schemas.microsoft.com/office/drawing/2014/main" id="{C507A3FB-76C8-44C1-81F0-C4B993536582}"/>
              </a:ext>
            </a:extLst>
          </p:cNvPr>
          <p:cNvSpPr>
            <a:spLocks noGrp="1"/>
          </p:cNvSpPr>
          <p:nvPr/>
        </p:nvSpPr>
        <p:spPr>
          <a:xfrm>
            <a:off x="2971800" y="4448175"/>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新请求使用 15 万，旧索引命中仍需重新核对</a:t>
            </a:r>
          </a:p>
        </p:txBody>
      </p:sp>
      <p:sp>
        <p:nvSpPr>
          <p:cNvPr id="21" name="text-107">
            <a:extLst>
              <a:ext uri="{FF2B5EF4-FFF2-40B4-BE49-F238E27FC236}">
                <a16:creationId xmlns:a16="http://schemas.microsoft.com/office/drawing/2014/main" id="{C27006A6-14C7-47EF-8665-1E4502B3F802}"/>
              </a:ext>
            </a:extLst>
          </p:cNvPr>
          <p:cNvSpPr>
            <a:spLocks noGrp="1"/>
          </p:cNvSpPr>
          <p:nvPr/>
        </p:nvSpPr>
        <p:spPr>
          <a:xfrm>
            <a:off x="609600" y="5067300"/>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某个来源不可用</a:t>
            </a:r>
          </a:p>
        </p:txBody>
      </p:sp>
      <p:sp>
        <p:nvSpPr>
          <p:cNvPr id="22" name="text-108">
            <a:extLst>
              <a:ext uri="{FF2B5EF4-FFF2-40B4-BE49-F238E27FC236}">
                <a16:creationId xmlns:a16="http://schemas.microsoft.com/office/drawing/2014/main" id="{4160ADD5-4093-4D87-BC92-4C001A994359}"/>
              </a:ext>
            </a:extLst>
          </p:cNvPr>
          <p:cNvSpPr>
            <a:spLocks noGrp="1"/>
          </p:cNvSpPr>
          <p:nvPr/>
        </p:nvSpPr>
        <p:spPr>
          <a:xfrm>
            <a:off x="2971800" y="5067300"/>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说明缺失或受限的范围，避免把读取失败当作没有内容</a:t>
            </a:r>
          </a:p>
        </p:txBody>
      </p:sp>
      <p:sp>
        <p:nvSpPr>
          <p:cNvPr id="23" name="text-109">
            <a:extLst>
              <a:ext uri="{FF2B5EF4-FFF2-40B4-BE49-F238E27FC236}">
                <a16:creationId xmlns:a16="http://schemas.microsoft.com/office/drawing/2014/main" id="{8C9EF4F5-9E0E-4344-A24F-F26DFF91D31F}"/>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交付前再次复核，避免处理过程中发生的删除或撤权被遗漏。</a:t>
            </a:r>
          </a:p>
        </p:txBody>
      </p:sp>
    </p:spTree>
    <p:extLst>
      <p:ext uri="{BB962C8B-B14F-4D97-AF65-F5344CB8AC3E}">
        <p14:creationId xmlns:p14="http://schemas.microsoft.com/office/powerpoint/2010/main" val="52945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4" name="直接箭头连接符 23"/>
          <p:cNvCxnSpPr>
            <a:stCxn id="11" idx="3"/>
            <a:endCxn id="13" idx="1"/>
          </p:cNvCxnSpPr>
          <p:nvPr/>
        </p:nvCxnSpPr>
        <p:spPr>
          <a:xfrm>
            <a:off x="8763000" y="2533650"/>
            <a:ext cx="304800" cy="0"/>
          </a:xfrm>
          <a:prstGeom prst="straightConnector1">
            <a:avLst/>
          </a:prstGeom>
          <a:ln w="19050">
            <a:solidFill>
              <a:srgbClr val="25699A"/>
            </a:solidFill>
            <a:tailEnd type="arrow" w="med" len="med"/>
          </a:ln>
        </p:spPr>
      </p:cxnSp>
      <p:cxnSp>
        <p:nvCxnSpPr>
          <p:cNvPr id="25" name="直接箭头连接符 24"/>
          <p:cNvCxnSpPr>
            <a:stCxn id="9" idx="3"/>
            <a:endCxn id="11" idx="1"/>
          </p:cNvCxnSpPr>
          <p:nvPr/>
        </p:nvCxnSpPr>
        <p:spPr>
          <a:xfrm>
            <a:off x="5943600" y="2533650"/>
            <a:ext cx="304800" cy="0"/>
          </a:xfrm>
          <a:prstGeom prst="straightConnector1">
            <a:avLst/>
          </a:prstGeom>
          <a:ln w="19050">
            <a:solidFill>
              <a:srgbClr val="25699A"/>
            </a:solidFill>
            <a:tailEnd type="arrow" w="med" len="med"/>
          </a:ln>
        </p:spPr>
      </p:cxnSp>
      <p:cxnSp>
        <p:nvCxnSpPr>
          <p:cNvPr id="26" name="直接箭头连接符 25"/>
          <p:cNvCxnSpPr>
            <a:stCxn id="7" idx="3"/>
            <a:endCxn id="9" idx="1"/>
          </p:cNvCxnSpPr>
          <p:nvPr/>
        </p:nvCxnSpPr>
        <p:spPr>
          <a:xfrm>
            <a:off x="3124200" y="2533650"/>
            <a:ext cx="304800" cy="0"/>
          </a:xfrm>
          <a:prstGeom prst="straightConnector1">
            <a:avLst/>
          </a:prstGeom>
          <a:ln w="19050">
            <a:solidFill>
              <a:srgbClr val="25699A"/>
            </a:solidFill>
            <a:tailEnd type="arrow" w="med" len="med"/>
          </a:ln>
        </p:spPr>
      </p:cxnSp>
      <p:sp>
        <p:nvSpPr>
          <p:cNvPr id="27" name="text-110">
            <a:extLst>
              <a:ext uri="{FF2B5EF4-FFF2-40B4-BE49-F238E27FC236}">
                <a16:creationId xmlns:a16="http://schemas.microsoft.com/office/drawing/2014/main" id="{BF0806D1-32F9-494F-9497-B06C3308A1FD}"/>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111">
            <a:extLst>
              <a:ext uri="{FF2B5EF4-FFF2-40B4-BE49-F238E27FC236}">
                <a16:creationId xmlns:a16="http://schemas.microsoft.com/office/drawing/2014/main" id="{7AAF8B70-E5EE-4163-8E7E-915D88EF31C9}"/>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lang="en-US" sz="3150" b="1">
                <a:solidFill>
                  <a:srgbClr val="163044"/>
                </a:solidFill>
                <a:latin typeface="Microsoft YaHei"/>
                <a:ea typeface="Microsoft YaHei"/>
                <a:cs typeface="Microsoft YaHei"/>
              </a:rPr>
              <a:t>Operate</a:t>
            </a:r>
            <a:r>
              <a:rPr sz="3150" b="1">
                <a:solidFill>
                  <a:srgbClr val="163044"/>
                </a:solidFill>
                <a:latin typeface="Microsoft YaHei"/>
                <a:ea typeface="Microsoft YaHei"/>
                <a:cs typeface="Microsoft YaHei"/>
              </a:rPr>
              <a:t>内部运行：根据使用情况持续调整访问准备</a:t>
            </a:r>
          </a:p>
        </p:txBody>
      </p:sp>
      <p:sp>
        <p:nvSpPr>
          <p:cNvPr id="3" name="text-112">
            <a:extLst>
              <a:ext uri="{FF2B5EF4-FFF2-40B4-BE49-F238E27FC236}">
                <a16:creationId xmlns:a16="http://schemas.microsoft.com/office/drawing/2014/main" id="{E0B4BA6A-17C1-41FE-844C-CB2D9D15099C}"/>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让常用内容更易访问，同时维护版本、权限和恢复能力</a:t>
            </a:r>
          </a:p>
        </p:txBody>
      </p:sp>
      <p:sp>
        <p:nvSpPr>
          <p:cNvPr id="4" name="line-113">
            <a:extLst>
              <a:ext uri="{FF2B5EF4-FFF2-40B4-BE49-F238E27FC236}">
                <a16:creationId xmlns:a16="http://schemas.microsoft.com/office/drawing/2014/main" id="{6B6C370E-7B6C-4F24-82EC-DA8DE50335DF}"/>
              </a:ext>
            </a:extLst>
          </p:cNvPr>
          <p:cNvSpPr>
            <a:spLocks noGrp="1"/>
          </p:cNvSpPr>
          <p:nvPr/>
        </p:nvSpPr>
        <p:spPr>
          <a:xfrm>
            <a:off x="609600" y="6324600"/>
            <a:ext cx="10972800" cy="95"/>
          </a:xfrm>
          <a:prstGeom prst="line">
            <a:avLst/>
          </a:prstGeom>
          <a:noFill/>
          <a:ln w="9525">
            <a:solidFill>
              <a:srgbClr val="D7E2E8"/>
            </a:solidFill>
          </a:ln>
        </p:spPr>
      </p:sp>
      <p:sp>
        <p:nvSpPr>
          <p:cNvPr id="5" name="text-114">
            <a:extLst>
              <a:ext uri="{FF2B5EF4-FFF2-40B4-BE49-F238E27FC236}">
                <a16:creationId xmlns:a16="http://schemas.microsoft.com/office/drawing/2014/main" id="{4EF3E020-7B4B-4536-8B22-6FD5406603CA}"/>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V4.3</a:t>
            </a:r>
          </a:p>
        </p:txBody>
      </p:sp>
      <p:sp>
        <p:nvSpPr>
          <p:cNvPr id="6" name="text-115">
            <a:extLst>
              <a:ext uri="{FF2B5EF4-FFF2-40B4-BE49-F238E27FC236}">
                <a16:creationId xmlns:a16="http://schemas.microsoft.com/office/drawing/2014/main" id="{CE094C19-5DC4-42D9-AB13-2F76021F06B6}"/>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08 / 24</a:t>
            </a:r>
          </a:p>
        </p:txBody>
      </p:sp>
      <p:sp>
        <p:nvSpPr>
          <p:cNvPr id="7" name="box-116">
            <a:extLst>
              <a:ext uri="{FF2B5EF4-FFF2-40B4-BE49-F238E27FC236}">
                <a16:creationId xmlns:a16="http://schemas.microsoft.com/office/drawing/2014/main" id="{B889C9D1-359E-40A7-B111-20EDCBB6264A}"/>
              </a:ext>
            </a:extLst>
          </p:cNvPr>
          <p:cNvSpPr>
            <a:spLocks noGrp="1"/>
          </p:cNvSpPr>
          <p:nvPr/>
        </p:nvSpPr>
        <p:spPr>
          <a:xfrm>
            <a:off x="6096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观察业务变化</a:t>
            </a:r>
          </a:p>
        </p:txBody>
      </p:sp>
      <p:sp>
        <p:nvSpPr>
          <p:cNvPr id="8" name="text-117">
            <a:extLst>
              <a:ext uri="{FF2B5EF4-FFF2-40B4-BE49-F238E27FC236}">
                <a16:creationId xmlns:a16="http://schemas.microsoft.com/office/drawing/2014/main" id="{72E086D5-AFD8-44A2-B629-E51D6B47DC87}"/>
              </a:ext>
            </a:extLst>
          </p:cNvPr>
          <p:cNvSpPr>
            <a:spLocks noGrp="1"/>
          </p:cNvSpPr>
          <p:nvPr/>
        </p:nvSpPr>
        <p:spPr>
          <a:xfrm>
            <a:off x="6286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保存、读取记录</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及当前资源状态</a:t>
            </a:r>
          </a:p>
        </p:txBody>
      </p:sp>
      <p:sp>
        <p:nvSpPr>
          <p:cNvPr id="9" name="box-118">
            <a:extLst>
              <a:ext uri="{FF2B5EF4-FFF2-40B4-BE49-F238E27FC236}">
                <a16:creationId xmlns:a16="http://schemas.microsoft.com/office/drawing/2014/main" id="{E2505351-21DB-4A45-B853-B85F3A21016B}"/>
              </a:ext>
            </a:extLst>
          </p:cNvPr>
          <p:cNvSpPr>
            <a:spLocks noGrp="1"/>
          </p:cNvSpPr>
          <p:nvPr/>
        </p:nvSpPr>
        <p:spPr>
          <a:xfrm>
            <a:off x="34290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形成调整方案</a:t>
            </a:r>
          </a:p>
        </p:txBody>
      </p:sp>
      <p:sp>
        <p:nvSpPr>
          <p:cNvPr id="10" name="text-119">
            <a:extLst>
              <a:ext uri="{FF2B5EF4-FFF2-40B4-BE49-F238E27FC236}">
                <a16:creationId xmlns:a16="http://schemas.microsoft.com/office/drawing/2014/main" id="{F91FF78D-340F-4510-AF18-AE4D303B0869}"/>
              </a:ext>
            </a:extLst>
          </p:cNvPr>
          <p:cNvSpPr>
            <a:spLocks noGrp="1"/>
          </p:cNvSpPr>
          <p:nvPr/>
        </p:nvSpPr>
        <p:spPr>
          <a:xfrm>
            <a:off x="34480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按规则判断</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保持或调整位置</a:t>
            </a:r>
          </a:p>
        </p:txBody>
      </p:sp>
      <p:sp>
        <p:nvSpPr>
          <p:cNvPr id="11" name="box-120">
            <a:extLst>
              <a:ext uri="{FF2B5EF4-FFF2-40B4-BE49-F238E27FC236}">
                <a16:creationId xmlns:a16="http://schemas.microsoft.com/office/drawing/2014/main" id="{D024AE39-FE8B-4791-83E0-8CD73D6D59C6}"/>
              </a:ext>
            </a:extLst>
          </p:cNvPr>
          <p:cNvSpPr>
            <a:spLocks noGrp="1"/>
          </p:cNvSpPr>
          <p:nvPr/>
        </p:nvSpPr>
        <p:spPr>
          <a:xfrm>
            <a:off x="62484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执行并跟踪</a:t>
            </a:r>
          </a:p>
        </p:txBody>
      </p:sp>
      <p:sp>
        <p:nvSpPr>
          <p:cNvPr id="12" name="text-121">
            <a:extLst>
              <a:ext uri="{FF2B5EF4-FFF2-40B4-BE49-F238E27FC236}">
                <a16:creationId xmlns:a16="http://schemas.microsoft.com/office/drawing/2014/main" id="{1AFD28FB-6726-471D-A946-803C4CB12E61}"/>
              </a:ext>
            </a:extLst>
          </p:cNvPr>
          <p:cNvSpPr>
            <a:spLocks noGrp="1"/>
          </p:cNvSpPr>
          <p:nvPr/>
        </p:nvSpPr>
        <p:spPr>
          <a:xfrm>
            <a:off x="62674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保留原动作身份</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检查目标与进度</a:t>
            </a:r>
          </a:p>
        </p:txBody>
      </p:sp>
      <p:sp>
        <p:nvSpPr>
          <p:cNvPr id="13" name="box-122">
            <a:extLst>
              <a:ext uri="{FF2B5EF4-FFF2-40B4-BE49-F238E27FC236}">
                <a16:creationId xmlns:a16="http://schemas.microsoft.com/office/drawing/2014/main" id="{C10A2A05-7BC1-4FEA-AAFF-84E91FF8B0C2}"/>
              </a:ext>
            </a:extLst>
          </p:cNvPr>
          <p:cNvSpPr>
            <a:spLocks noGrp="1"/>
          </p:cNvSpPr>
          <p:nvPr/>
        </p:nvSpPr>
        <p:spPr>
          <a:xfrm>
            <a:off x="90678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核对实际结果</a:t>
            </a:r>
          </a:p>
        </p:txBody>
      </p:sp>
      <p:sp>
        <p:nvSpPr>
          <p:cNvPr id="14" name="text-123">
            <a:extLst>
              <a:ext uri="{FF2B5EF4-FFF2-40B4-BE49-F238E27FC236}">
                <a16:creationId xmlns:a16="http://schemas.microsoft.com/office/drawing/2014/main" id="{51A7727C-F1AF-46DD-882C-E90F50460FD1}"/>
              </a:ext>
            </a:extLst>
          </p:cNvPr>
          <p:cNvSpPr>
            <a:spLocks noGrp="1"/>
          </p:cNvSpPr>
          <p:nvPr/>
        </p:nvSpPr>
        <p:spPr>
          <a:xfrm>
            <a:off x="90868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确认内容可读</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再更新读取位置</a:t>
            </a:r>
          </a:p>
        </p:txBody>
      </p:sp>
      <p:sp>
        <p:nvSpPr>
          <p:cNvPr id="18" name="line-124">
            <a:extLst>
              <a:ext uri="{FF2B5EF4-FFF2-40B4-BE49-F238E27FC236}">
                <a16:creationId xmlns:a16="http://schemas.microsoft.com/office/drawing/2014/main" id="{6B760008-F7F6-478E-A634-6725FC2673A0}"/>
              </a:ext>
            </a:extLst>
          </p:cNvPr>
          <p:cNvSpPr>
            <a:spLocks noGrp="1"/>
          </p:cNvSpPr>
          <p:nvPr/>
        </p:nvSpPr>
        <p:spPr>
          <a:xfrm>
            <a:off x="609600" y="4219575"/>
            <a:ext cx="10972800" cy="95"/>
          </a:xfrm>
          <a:prstGeom prst="line">
            <a:avLst/>
          </a:prstGeom>
          <a:noFill/>
          <a:ln w="9525">
            <a:solidFill>
              <a:srgbClr val="D7E2E8"/>
            </a:solidFill>
          </a:ln>
        </p:spPr>
      </p:sp>
      <p:sp>
        <p:nvSpPr>
          <p:cNvPr id="19" name="text-125">
            <a:extLst>
              <a:ext uri="{FF2B5EF4-FFF2-40B4-BE49-F238E27FC236}">
                <a16:creationId xmlns:a16="http://schemas.microsoft.com/office/drawing/2014/main" id="{3463758A-C6D7-42C8-9640-FD14AC4FDA25}"/>
              </a:ext>
            </a:extLst>
          </p:cNvPr>
          <p:cNvSpPr>
            <a:spLocks noGrp="1"/>
          </p:cNvSpPr>
          <p:nvPr/>
        </p:nvSpPr>
        <p:spPr>
          <a:xfrm>
            <a:off x="609600" y="4448175"/>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执行成功但回执丢失</a:t>
            </a:r>
          </a:p>
        </p:txBody>
      </p:sp>
      <p:sp>
        <p:nvSpPr>
          <p:cNvPr id="20" name="text-126">
            <a:extLst>
              <a:ext uri="{FF2B5EF4-FFF2-40B4-BE49-F238E27FC236}">
                <a16:creationId xmlns:a16="http://schemas.microsoft.com/office/drawing/2014/main" id="{F4B2C2BB-A1CD-444E-B87B-22EEFED79F2F}"/>
              </a:ext>
            </a:extLst>
          </p:cNvPr>
          <p:cNvSpPr>
            <a:spLocks noGrp="1"/>
          </p:cNvSpPr>
          <p:nvPr/>
        </p:nvSpPr>
        <p:spPr>
          <a:xfrm>
            <a:off x="2971800" y="4448175"/>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查询原动作和实际结果，避免重复执行</a:t>
            </a:r>
          </a:p>
        </p:txBody>
      </p:sp>
      <p:sp>
        <p:nvSpPr>
          <p:cNvPr id="21" name="text-127">
            <a:extLst>
              <a:ext uri="{FF2B5EF4-FFF2-40B4-BE49-F238E27FC236}">
                <a16:creationId xmlns:a16="http://schemas.microsoft.com/office/drawing/2014/main" id="{6F0B12BC-2829-4ACF-8A3B-90B9333F03B7}"/>
              </a:ext>
            </a:extLst>
          </p:cNvPr>
          <p:cNvSpPr>
            <a:spLocks noGrp="1"/>
          </p:cNvSpPr>
          <p:nvPr/>
        </p:nvSpPr>
        <p:spPr>
          <a:xfrm>
            <a:off x="609600" y="5067300"/>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调整访问层级</a:t>
            </a:r>
          </a:p>
        </p:txBody>
      </p:sp>
      <p:sp>
        <p:nvSpPr>
          <p:cNvPr id="22" name="text-128">
            <a:extLst>
              <a:ext uri="{FF2B5EF4-FFF2-40B4-BE49-F238E27FC236}">
                <a16:creationId xmlns:a16="http://schemas.microsoft.com/office/drawing/2014/main" id="{DD1FCEF3-C238-4699-9EC4-BA784E0A2E18}"/>
              </a:ext>
            </a:extLst>
          </p:cNvPr>
          <p:cNvSpPr>
            <a:spLocks noGrp="1"/>
          </p:cNvSpPr>
          <p:nvPr/>
        </p:nvSpPr>
        <p:spPr>
          <a:xfrm>
            <a:off x="2971800" y="5067300"/>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改变存取准备，不改变事实内容和使用权限</a:t>
            </a:r>
          </a:p>
        </p:txBody>
      </p:sp>
      <p:sp>
        <p:nvSpPr>
          <p:cNvPr id="23" name="text-129">
            <a:extLst>
              <a:ext uri="{FF2B5EF4-FFF2-40B4-BE49-F238E27FC236}">
                <a16:creationId xmlns:a16="http://schemas.microsoft.com/office/drawing/2014/main" id="{29EB1C45-B6B5-48D4-8E99-C44D1F5A8C53}"/>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动作完成以实际效果为准，失败或结果未知时保留记录继续恢复。</a:t>
            </a:r>
          </a:p>
        </p:txBody>
      </p:sp>
    </p:spTree>
    <p:extLst>
      <p:ext uri="{BB962C8B-B14F-4D97-AF65-F5344CB8AC3E}">
        <p14:creationId xmlns:p14="http://schemas.microsoft.com/office/powerpoint/2010/main" val="14527256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mock-explanation-1">
            <a:extLst>
              <a:ext uri="{FF2B5EF4-FFF2-40B4-BE49-F238E27FC236}">
                <a16:creationId xmlns:a16="http://schemas.microsoft.com/office/drawing/2014/main" id="{2EC5EFFA-1254-4CE2-B13F-A1AD0B9887C3}"/>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mock-explanation-2">
            <a:extLst>
              <a:ext uri="{FF2B5EF4-FFF2-40B4-BE49-F238E27FC236}">
                <a16:creationId xmlns:a16="http://schemas.microsoft.com/office/drawing/2014/main" id="{8A015C8B-D8BA-426C-8420-362CD1F54341}"/>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P2 Mock 具体怎么模拟</a:t>
            </a:r>
          </a:p>
        </p:txBody>
      </p:sp>
      <p:sp>
        <p:nvSpPr>
          <p:cNvPr id="3" name="mock-explanation-3">
            <a:extLst>
              <a:ext uri="{FF2B5EF4-FFF2-40B4-BE49-F238E27FC236}">
                <a16:creationId xmlns:a16="http://schemas.microsoft.com/office/drawing/2014/main" id="{D3F829EE-BFD8-4377-A5A1-C84572CAB817}"/>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在本地保存数据与操作记录，按测试脚本改变状态和返回结果</a:t>
            </a:r>
          </a:p>
        </p:txBody>
      </p:sp>
      <p:graphicFrame>
        <p:nvGraphicFramePr>
          <p:cNvPr id="17" name="表格 16"/>
          <p:cNvGraphicFramePr/>
          <p:nvPr/>
        </p:nvGraphicFramePr>
        <p:xfrm>
          <a:off x="609600" y="1933575"/>
          <a:ext cx="10972800" cy="3036570"/>
        </p:xfrm>
        <a:graphic>
          <a:graphicData uri="http://schemas.openxmlformats.org/drawingml/2006/table">
            <a:tbl>
              <a:tblPr/>
              <a:tblGrid>
                <a:gridCol w="177165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gridCol w="3943350">
                  <a:extLst>
                    <a:ext uri="{9D8B030D-6E8A-4147-A177-3AD203B41FA5}">
                      <a16:colId xmlns:a16="http://schemas.microsoft.com/office/drawing/2014/main" val="20002"/>
                    </a:ext>
                  </a:extLst>
                </a:gridCol>
              </a:tblGrid>
              <a:tr h="400050">
                <a:tc>
                  <a:txBody>
                    <a:bodyPr/>
                    <a:lstStyle/>
                    <a:p>
                      <a:r>
                        <a:rPr sz="1800" b="1">
                          <a:solidFill>
                            <a:srgbClr val="FFFFFF"/>
                          </a:solidFill>
                          <a:latin typeface="Microsoft YaHei"/>
                          <a:ea typeface="Microsoft YaHei"/>
                          <a:cs typeface="Microsoft YaHei"/>
                        </a:rPr>
                        <a:t>模拟哪部分</a:t>
                      </a:r>
                    </a:p>
                  </a:txBody>
                  <a:tcPr marL="133350" marR="95250" marT="66675" marB="66675" anchor="ctr">
                    <a:solidFill>
                      <a:srgbClr val="163044"/>
                    </a:solidFill>
                  </a:tcPr>
                </a:tc>
                <a:tc>
                  <a:txBody>
                    <a:bodyPr/>
                    <a:lstStyle/>
                    <a:p>
                      <a:r>
                        <a:rPr sz="1800" b="1">
                          <a:solidFill>
                            <a:srgbClr val="FFFFFF"/>
                          </a:solidFill>
                          <a:latin typeface="Microsoft YaHei"/>
                          <a:ea typeface="Microsoft YaHei"/>
                          <a:cs typeface="Microsoft YaHei"/>
                        </a:rPr>
                        <a:t>现在具体怎么做</a:t>
                      </a:r>
                    </a:p>
                  </a:txBody>
                  <a:tcPr marL="133350" marR="95250" marT="66675" marB="66675" anchor="ctr">
                    <a:solidFill>
                      <a:srgbClr val="163044"/>
                    </a:solidFill>
                  </a:tcPr>
                </a:tc>
                <a:tc>
                  <a:txBody>
                    <a:bodyPr/>
                    <a:lstStyle/>
                    <a:p>
                      <a:r>
                        <a:rPr sz="1800" b="1">
                          <a:solidFill>
                            <a:srgbClr val="FFFFFF"/>
                          </a:solidFill>
                          <a:latin typeface="Microsoft YaHei"/>
                          <a:ea typeface="Microsoft YaHei"/>
                          <a:cs typeface="Microsoft YaHei"/>
                        </a:rPr>
                        <a:t>怎样检查结果</a:t>
                      </a:r>
                    </a:p>
                  </a:txBody>
                  <a:tcPr marL="133350" marR="95250" marT="66675" marB="66675" anchor="ctr">
                    <a:solidFill>
                      <a:srgbClr val="163044"/>
                    </a:solidFill>
                  </a:tcPr>
                </a:tc>
                <a:extLst>
                  <a:ext uri="{0D108BD9-81ED-4DB2-BD59-A6C34878D82A}">
                    <a16:rowId xmlns:a16="http://schemas.microsoft.com/office/drawing/2014/main" val="10000"/>
                  </a:ext>
                </a:extLst>
              </a:tr>
              <a:tr h="876300">
                <a:tc>
                  <a:txBody>
                    <a:bodyPr/>
                    <a:lstStyle/>
                    <a:p>
                      <a:r>
                        <a:rPr sz="1725" b="1">
                          <a:solidFill>
                            <a:srgbClr val="163044"/>
                          </a:solidFill>
                          <a:latin typeface="Microsoft YaHei"/>
                          <a:ea typeface="Microsoft YaHei"/>
                          <a:cs typeface="Microsoft YaHei"/>
                        </a:rPr>
                        <a:t>正文存取</a:t>
                      </a:r>
                    </a:p>
                    <a:p>
                      <a:r>
                        <a:rPr sz="1725" b="1">
                          <a:solidFill>
                            <a:srgbClr val="163044"/>
                          </a:solidFill>
                          <a:latin typeface="Microsoft YaHei"/>
                          <a:ea typeface="Microsoft YaHei"/>
                          <a:cs typeface="Microsoft YaHei"/>
                        </a:rPr>
                        <a:t>（本地服务）</a:t>
                      </a:r>
                    </a:p>
                  </a:txBody>
                  <a:tcPr marL="133350" marR="95250" marT="66675" marB="66675" anchor="ctr">
                    <a:solidFill>
                      <a:srgbClr val="FFFFFF"/>
                    </a:solidFill>
                  </a:tcPr>
                </a:tc>
                <a:tc>
                  <a:txBody>
                    <a:bodyPr/>
                    <a:lstStyle/>
                    <a:p>
                      <a:r>
                        <a:rPr sz="1725" b="0">
                          <a:solidFill>
                            <a:srgbClr val="163044"/>
                          </a:solidFill>
                          <a:latin typeface="Microsoft YaHei"/>
                          <a:ea typeface="Microsoft YaHei"/>
                          <a:cs typeface="Microsoft YaHei"/>
                        </a:rPr>
                        <a:t>用 SQLite 保存正文和校验值</a:t>
                      </a:r>
                    </a:p>
                    <a:p>
                      <a:r>
                        <a:rPr sz="1725" b="0">
                          <a:solidFill>
                            <a:srgbClr val="163044"/>
                          </a:solidFill>
                          <a:latin typeface="Microsoft YaHei"/>
                          <a:ea typeface="Microsoft YaHei"/>
                          <a:cs typeface="Microsoft YaHei"/>
                        </a:rPr>
                        <a:t>按编号读取，支持分段读和删除</a:t>
                      </a:r>
                    </a:p>
                  </a:txBody>
                  <a:tcPr marL="133350" marR="95250" marT="66675" marB="66675" anchor="ctr">
                    <a:solidFill>
                      <a:srgbClr val="FFFFFF"/>
                    </a:solidFill>
                  </a:tcPr>
                </a:tc>
                <a:tc>
                  <a:txBody>
                    <a:bodyPr/>
                    <a:lstStyle/>
                    <a:p>
                      <a:r>
                        <a:rPr sz="1725" b="0">
                          <a:solidFill>
                            <a:srgbClr val="163044"/>
                          </a:solidFill>
                          <a:latin typeface="Microsoft YaHei"/>
                          <a:ea typeface="Microsoft YaHei"/>
                          <a:cs typeface="Microsoft YaHei"/>
                        </a:rPr>
                        <a:t>重启后仍能读回原文</a:t>
                      </a:r>
                    </a:p>
                    <a:p>
                      <a:r>
                        <a:rPr sz="1725" b="0">
                          <a:solidFill>
                            <a:srgbClr val="163044"/>
                          </a:solidFill>
                          <a:latin typeface="Microsoft YaHei"/>
                          <a:ea typeface="Microsoft YaHei"/>
                          <a:cs typeface="Microsoft YaHei"/>
                        </a:rPr>
                        <a:t>同编号禁止覆盖不同正文</a:t>
                      </a:r>
                    </a:p>
                  </a:txBody>
                  <a:tcPr marL="133350" marR="95250" marT="66675" marB="66675" anchor="ctr">
                    <a:solidFill>
                      <a:srgbClr val="FFFFFF"/>
                    </a:solidFill>
                  </a:tcPr>
                </a:tc>
                <a:extLst>
                  <a:ext uri="{0D108BD9-81ED-4DB2-BD59-A6C34878D82A}">
                    <a16:rowId xmlns:a16="http://schemas.microsoft.com/office/drawing/2014/main" val="10001"/>
                  </a:ext>
                </a:extLst>
              </a:tr>
              <a:tr h="876300">
                <a:tc>
                  <a:txBody>
                    <a:bodyPr/>
                    <a:lstStyle/>
                    <a:p>
                      <a:r>
                        <a:rPr sz="1725" b="1">
                          <a:solidFill>
                            <a:srgbClr val="163044"/>
                          </a:solidFill>
                          <a:latin typeface="Microsoft YaHei"/>
                          <a:ea typeface="Microsoft YaHei"/>
                          <a:cs typeface="Microsoft YaHei"/>
                        </a:rPr>
                        <a:t>向量状态</a:t>
                      </a:r>
                    </a:p>
                    <a:p>
                      <a:r>
                        <a:rPr sz="1725" b="1">
                          <a:solidFill>
                            <a:srgbClr val="163044"/>
                          </a:solidFill>
                          <a:latin typeface="Microsoft YaHei"/>
                          <a:ea typeface="Microsoft YaHei"/>
                          <a:cs typeface="Microsoft YaHei"/>
                        </a:rPr>
                        <a:t>（契约测试）</a:t>
                      </a:r>
                    </a:p>
                  </a:txBody>
                  <a:tcPr marL="133350" marR="95250" marT="66675" marB="66675" anchor="ctr">
                    <a:solidFill>
                      <a:srgbClr val="F5F8FA"/>
                    </a:solidFill>
                  </a:tcPr>
                </a:tc>
                <a:tc>
                  <a:txBody>
                    <a:bodyPr/>
                    <a:lstStyle/>
                    <a:p>
                      <a:r>
                        <a:rPr sz="1725" b="0">
                          <a:solidFill>
                            <a:srgbClr val="163044"/>
                          </a:solidFill>
                          <a:latin typeface="Microsoft YaHei"/>
                          <a:ea typeface="Microsoft YaHei"/>
                          <a:cs typeface="Microsoft YaHei"/>
                        </a:rPr>
                        <a:t>保存向量、目标版本和操作记录</a:t>
                      </a:r>
                    </a:p>
                    <a:p>
                      <a:r>
                        <a:rPr sz="1725" b="0">
                          <a:solidFill>
                            <a:srgbClr val="163044"/>
                          </a:solidFill>
                          <a:latin typeface="Microsoft YaHei"/>
                          <a:ea typeface="Microsoft YaHei"/>
                          <a:cs typeface="Microsoft YaHei"/>
                        </a:rPr>
                        <a:t>脚本控制“已接收”变为“可检索”</a:t>
                      </a:r>
                    </a:p>
                  </a:txBody>
                  <a:tcPr marL="133350" marR="95250" marT="66675" marB="66675" anchor="ctr">
                    <a:solidFill>
                      <a:srgbClr val="F5F8FA"/>
                    </a:solidFill>
                  </a:tcPr>
                </a:tc>
                <a:tc>
                  <a:txBody>
                    <a:bodyPr/>
                    <a:lstStyle/>
                    <a:p>
                      <a:r>
                        <a:rPr sz="1725" b="0">
                          <a:solidFill>
                            <a:srgbClr val="163044"/>
                          </a:solidFill>
                          <a:latin typeface="Microsoft YaHei"/>
                          <a:ea typeface="Microsoft YaHei"/>
                          <a:cs typeface="Microsoft YaHei"/>
                        </a:rPr>
                        <a:t>核对写入状态与原始数据</a:t>
                      </a:r>
                    </a:p>
                    <a:p>
                      <a:r>
                        <a:rPr sz="1725" b="0">
                          <a:solidFill>
                            <a:srgbClr val="163044"/>
                          </a:solidFill>
                          <a:latin typeface="Microsoft YaHei"/>
                          <a:ea typeface="Microsoft YaHei"/>
                          <a:cs typeface="Microsoft YaHei"/>
                        </a:rPr>
                        <a:t>删除后旧请求不能恢复数据</a:t>
                      </a:r>
                    </a:p>
                  </a:txBody>
                  <a:tcPr marL="133350" marR="95250" marT="66675" marB="66675" anchor="ctr">
                    <a:solidFill>
                      <a:srgbClr val="F5F8FA"/>
                    </a:solidFill>
                  </a:tcPr>
                </a:tc>
                <a:extLst>
                  <a:ext uri="{0D108BD9-81ED-4DB2-BD59-A6C34878D82A}">
                    <a16:rowId xmlns:a16="http://schemas.microsoft.com/office/drawing/2014/main" val="10002"/>
                  </a:ext>
                </a:extLst>
              </a:tr>
              <a:tr h="876300">
                <a:tc>
                  <a:txBody>
                    <a:bodyPr/>
                    <a:lstStyle/>
                    <a:p>
                      <a:r>
                        <a:rPr sz="1725" b="1">
                          <a:solidFill>
                            <a:srgbClr val="163044"/>
                          </a:solidFill>
                          <a:latin typeface="Microsoft YaHei"/>
                          <a:ea typeface="Microsoft YaHei"/>
                          <a:cs typeface="Microsoft YaHei"/>
                        </a:rPr>
                        <a:t>分层调度</a:t>
                      </a:r>
                    </a:p>
                    <a:p>
                      <a:r>
                        <a:rPr sz="1725" b="1">
                          <a:solidFill>
                            <a:srgbClr val="163044"/>
                          </a:solidFill>
                          <a:latin typeface="Microsoft YaHei"/>
                          <a:ea typeface="Microsoft YaHei"/>
                          <a:cs typeface="Microsoft YaHei"/>
                        </a:rPr>
                        <a:t>（独立演示）</a:t>
                      </a:r>
                    </a:p>
                  </a:txBody>
                  <a:tcPr marL="133350" marR="95250" marT="66675" marB="66675" anchor="ctr">
                    <a:solidFill>
                      <a:srgbClr val="FFFFFF"/>
                    </a:solidFill>
                  </a:tcPr>
                </a:tc>
                <a:tc>
                  <a:txBody>
                    <a:bodyPr/>
                    <a:lstStyle/>
                    <a:p>
                      <a:r>
                        <a:rPr sz="1725" b="0">
                          <a:solidFill>
                            <a:srgbClr val="163044"/>
                          </a:solidFill>
                          <a:latin typeface="Microsoft YaHei"/>
                          <a:ea typeface="Microsoft YaHei"/>
                          <a:cs typeface="Microsoft YaHei"/>
                        </a:rPr>
                        <a:t>在内存保存层级、容量和动作</a:t>
                      </a:r>
                    </a:p>
                    <a:p>
                      <a:r>
                        <a:rPr sz="1725" b="0">
                          <a:solidFill>
                            <a:srgbClr val="163044"/>
                          </a:solidFill>
                          <a:latin typeface="Microsoft YaHei"/>
                          <a:ea typeface="Microsoft YaHei"/>
                          <a:cs typeface="Microsoft YaHei"/>
                        </a:rPr>
                        <a:t>脚本推进后复制热副本或切换层级</a:t>
                      </a:r>
                    </a:p>
                  </a:txBody>
                  <a:tcPr marL="133350" marR="95250" marT="66675" marB="66675" anchor="ctr">
                    <a:solidFill>
                      <a:srgbClr val="FFFFFF"/>
                    </a:solidFill>
                  </a:tcPr>
                </a:tc>
                <a:tc>
                  <a:txBody>
                    <a:bodyPr/>
                    <a:lstStyle/>
                    <a:p>
                      <a:r>
                        <a:rPr sz="1725" b="0">
                          <a:solidFill>
                            <a:srgbClr val="163044"/>
                          </a:solidFill>
                          <a:latin typeface="Microsoft YaHei"/>
                          <a:ea typeface="Microsoft YaHei"/>
                          <a:cs typeface="Microsoft YaHei"/>
                        </a:rPr>
                        <a:t>读取副本并核对校验值</a:t>
                      </a:r>
                    </a:p>
                    <a:p>
                      <a:r>
                        <a:rPr sz="1725" b="0">
                          <a:solidFill>
                            <a:srgbClr val="163044"/>
                          </a:solidFill>
                          <a:latin typeface="Microsoft YaHei"/>
                          <a:ea typeface="Microsoft YaHei"/>
                          <a:cs typeface="Microsoft YaHei"/>
                        </a:rPr>
                        <a:t>容量不足或版本变化则失败</a:t>
                      </a:r>
                    </a:p>
                  </a:txBody>
                  <a:tcPr marL="133350" marR="95250" marT="66675" marB="66675" anchor="ctr">
                    <a:solidFill>
                      <a:srgbClr val="FFFFFF"/>
                    </a:solidFill>
                  </a:tcPr>
                </a:tc>
                <a:extLst>
                  <a:ext uri="{0D108BD9-81ED-4DB2-BD59-A6C34878D82A}">
                    <a16:rowId xmlns:a16="http://schemas.microsoft.com/office/drawing/2014/main" val="10003"/>
                  </a:ext>
                </a:extLst>
              </a:tr>
            </a:tbl>
          </a:graphicData>
        </a:graphic>
      </p:graphicFrame>
      <p:sp>
        <p:nvSpPr>
          <p:cNvPr id="5" name="mock-explanation-4">
            <a:extLst>
              <a:ext uri="{FF2B5EF4-FFF2-40B4-BE49-F238E27FC236}">
                <a16:creationId xmlns:a16="http://schemas.microsoft.com/office/drawing/2014/main" id="{48DAE1BD-4A34-435D-ABA5-7198E00AD9D3}"/>
              </a:ext>
            </a:extLst>
          </p:cNvPr>
          <p:cNvSpPr>
            <a:spLocks noGrp="1"/>
          </p:cNvSpPr>
          <p:nvPr/>
        </p:nvSpPr>
        <p:spPr>
          <a:xfrm>
            <a:off x="609600" y="5095875"/>
            <a:ext cx="10972800" cy="352425"/>
          </a:xfrm>
          <a:prstGeom prst="rect">
            <a:avLst/>
          </a:prstGeom>
          <a:noFill/>
          <a:ln w="0">
            <a:noFill/>
          </a:ln>
        </p:spPr>
        <p:txBody>
          <a:bodyPr wrap="square" lIns="0" tIns="0" rIns="0" bIns="0" anchor="ctr">
            <a:noAutofit/>
          </a:bodyPr>
          <a:lstStyle/>
          <a:p>
            <a:pPr algn="l">
              <a:defRPr sz="1875" b="1">
                <a:solidFill>
                  <a:srgbClr val="087F80"/>
                </a:solidFill>
                <a:latin typeface="Microsoft YaHei"/>
                <a:ea typeface="Microsoft YaHei"/>
                <a:cs typeface="Microsoft YaHei"/>
              </a:defRPr>
            </a:pPr>
            <a:r>
              <a:rPr sz="1875" b="1">
                <a:solidFill>
                  <a:srgbClr val="087F80"/>
                </a:solidFill>
                <a:latin typeface="Microsoft YaHei"/>
                <a:ea typeface="Microsoft YaHei"/>
                <a:cs typeface="Microsoft YaHei"/>
              </a:rPr>
              <a:t>故障示例：写入后丢回执，怎样检查恢复</a:t>
            </a:r>
          </a:p>
        </p:txBody>
      </p:sp>
      <p:sp>
        <p:nvSpPr>
          <p:cNvPr id="6" name="mock-explanation-5">
            <a:extLst>
              <a:ext uri="{FF2B5EF4-FFF2-40B4-BE49-F238E27FC236}">
                <a16:creationId xmlns:a16="http://schemas.microsoft.com/office/drawing/2014/main" id="{386CEBF9-64F2-45D3-A8AF-E72C92104694}"/>
              </a:ext>
            </a:extLst>
          </p:cNvPr>
          <p:cNvSpPr>
            <a:spLocks noGrp="1"/>
          </p:cNvSpPr>
          <p:nvPr/>
        </p:nvSpPr>
        <p:spPr>
          <a:xfrm>
            <a:off x="609600" y="5524500"/>
            <a:ext cx="2514600" cy="552450"/>
          </a:xfrm>
          <a:prstGeom prst="rect">
            <a:avLst/>
          </a:prstGeom>
          <a:noFill/>
          <a:ln w="0">
            <a:noFill/>
          </a:ln>
        </p:spPr>
        <p:txBody>
          <a:bodyPr wrap="square" lIns="0" tIns="0" rIns="0" bIns="0" anchor="ctr">
            <a:noAutofit/>
          </a:bodyPr>
          <a:lstStyle/>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① 写入记录后</a:t>
            </a:r>
          </a:p>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主动抛出超时</a:t>
            </a:r>
          </a:p>
        </p:txBody>
      </p:sp>
      <p:sp>
        <p:nvSpPr>
          <p:cNvPr id="7" name="mock-explanation-6">
            <a:extLst>
              <a:ext uri="{FF2B5EF4-FFF2-40B4-BE49-F238E27FC236}">
                <a16:creationId xmlns:a16="http://schemas.microsoft.com/office/drawing/2014/main" id="{3E61383A-06A6-4915-BE81-117A0C945236}"/>
              </a:ext>
            </a:extLst>
          </p:cNvPr>
          <p:cNvSpPr>
            <a:spLocks noGrp="1"/>
          </p:cNvSpPr>
          <p:nvPr/>
        </p:nvSpPr>
        <p:spPr>
          <a:xfrm>
            <a:off x="3429000" y="5524500"/>
            <a:ext cx="2514600" cy="552450"/>
          </a:xfrm>
          <a:prstGeom prst="rect">
            <a:avLst/>
          </a:prstGeom>
          <a:noFill/>
          <a:ln w="0">
            <a:noFill/>
          </a:ln>
        </p:spPr>
        <p:txBody>
          <a:bodyPr wrap="square" lIns="0" tIns="0" rIns="0" bIns="0" anchor="ctr">
            <a:noAutofit/>
          </a:bodyPr>
          <a:lstStyle/>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② 重建模拟器</a:t>
            </a:r>
          </a:p>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查回原操作</a:t>
            </a:r>
          </a:p>
        </p:txBody>
      </p:sp>
      <p:sp>
        <p:nvSpPr>
          <p:cNvPr id="8" name="mock-explanation-7">
            <a:extLst>
              <a:ext uri="{FF2B5EF4-FFF2-40B4-BE49-F238E27FC236}">
                <a16:creationId xmlns:a16="http://schemas.microsoft.com/office/drawing/2014/main" id="{8132BCE8-2C01-4B14-A7D8-99004FEBCBD2}"/>
              </a:ext>
            </a:extLst>
          </p:cNvPr>
          <p:cNvSpPr>
            <a:spLocks noGrp="1"/>
          </p:cNvSpPr>
          <p:nvPr/>
        </p:nvSpPr>
        <p:spPr>
          <a:xfrm>
            <a:off x="6248400" y="5524500"/>
            <a:ext cx="2514600" cy="552450"/>
          </a:xfrm>
          <a:prstGeom prst="rect">
            <a:avLst/>
          </a:prstGeom>
          <a:noFill/>
          <a:ln w="0">
            <a:noFill/>
          </a:ln>
        </p:spPr>
        <p:txBody>
          <a:bodyPr wrap="square" lIns="0" tIns="0" rIns="0" bIns="0" anchor="ctr">
            <a:noAutofit/>
          </a:bodyPr>
          <a:lstStyle/>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③ 重复写入</a:t>
            </a:r>
          </a:p>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返回同一操作</a:t>
            </a:r>
          </a:p>
        </p:txBody>
      </p:sp>
      <p:sp>
        <p:nvSpPr>
          <p:cNvPr id="9" name="mock-explanation-8">
            <a:extLst>
              <a:ext uri="{FF2B5EF4-FFF2-40B4-BE49-F238E27FC236}">
                <a16:creationId xmlns:a16="http://schemas.microsoft.com/office/drawing/2014/main" id="{63537F3D-AA19-4871-8396-637651039F66}"/>
              </a:ext>
            </a:extLst>
          </p:cNvPr>
          <p:cNvSpPr>
            <a:spLocks noGrp="1"/>
          </p:cNvSpPr>
          <p:nvPr/>
        </p:nvSpPr>
        <p:spPr>
          <a:xfrm>
            <a:off x="9067800" y="5524500"/>
            <a:ext cx="2514600" cy="552450"/>
          </a:xfrm>
          <a:prstGeom prst="rect">
            <a:avLst/>
          </a:prstGeom>
          <a:noFill/>
          <a:ln w="0">
            <a:noFill/>
          </a:ln>
        </p:spPr>
        <p:txBody>
          <a:bodyPr wrap="square" lIns="0" tIns="0" rIns="0" bIns="0" anchor="ctr">
            <a:noAutofit/>
          </a:bodyPr>
          <a:lstStyle/>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④ 放开检索可见</a:t>
            </a:r>
          </a:p>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核对已存数据</a:t>
            </a:r>
          </a:p>
        </p:txBody>
      </p:sp>
      <p:sp>
        <p:nvSpPr>
          <p:cNvPr id="10" name="mock-explanation-9">
            <a:extLst>
              <a:ext uri="{FF2B5EF4-FFF2-40B4-BE49-F238E27FC236}">
                <a16:creationId xmlns:a16="http://schemas.microsoft.com/office/drawing/2014/main" id="{96D8709E-47DF-4CCB-B8C9-E9008E800676}"/>
              </a:ext>
            </a:extLst>
          </p:cNvPr>
          <p:cNvSpPr>
            <a:spLocks noGrp="1"/>
          </p:cNvSpPr>
          <p:nvPr/>
        </p:nvSpPr>
        <p:spPr>
          <a:xfrm>
            <a:off x="609600" y="6115050"/>
            <a:ext cx="10972800" cy="228600"/>
          </a:xfrm>
          <a:prstGeom prst="rect">
            <a:avLst/>
          </a:prstGeom>
          <a:noFill/>
          <a:ln w="0">
            <a:noFill/>
          </a:ln>
        </p:spPr>
        <p:txBody>
          <a:bodyPr wrap="square" lIns="0" tIns="0" rIns="0" bIns="0" anchor="ctr">
            <a:noAutofit/>
          </a:bodyPr>
          <a:lstStyle/>
          <a:p>
            <a:pPr algn="l">
              <a:defRPr sz="1350" b="0">
                <a:solidFill>
                  <a:srgbClr val="5B6D7A"/>
                </a:solidFill>
                <a:latin typeface="Microsoft YaHei"/>
                <a:ea typeface="Microsoft YaHei"/>
                <a:cs typeface="Microsoft YaHei"/>
              </a:defRPr>
            </a:pPr>
            <a:r>
              <a:rPr sz="1350" b="0">
                <a:solidFill>
                  <a:srgbClr val="5B6D7A"/>
                </a:solidFill>
                <a:latin typeface="Microsoft YaHei"/>
                <a:ea typeface="Microsoft YaHei"/>
                <a:cs typeface="Microsoft YaHei"/>
              </a:rPr>
              <a:t>当前按模块模拟，尚未合成覆盖全部 P2 接口的统一 Mock 服务。</a:t>
            </a:r>
          </a:p>
        </p:txBody>
      </p:sp>
      <p:sp>
        <p:nvSpPr>
          <p:cNvPr id="11" name="直接连接符 10">
            <a:extLst>
              <a:ext uri="{FF2B5EF4-FFF2-40B4-BE49-F238E27FC236}">
                <a16:creationId xmlns:a16="http://schemas.microsoft.com/office/drawing/2014/main" id="{AC7EE97B-2CA2-4599-B923-E3D3AF2FE049}"/>
              </a:ext>
            </a:extLst>
          </p:cNvPr>
          <p:cNvSpPr>
            <a:spLocks noGrp="1"/>
          </p:cNvSpPr>
          <p:nvPr/>
        </p:nvSpPr>
        <p:spPr>
          <a:xfrm>
            <a:off x="609600" y="6419850"/>
            <a:ext cx="10972800" cy="95"/>
          </a:xfrm>
          <a:prstGeom prst="line">
            <a:avLst/>
          </a:prstGeom>
          <a:noFill/>
          <a:ln w="9525">
            <a:solidFill>
              <a:srgbClr val="D7E2E8"/>
            </a:solidFill>
          </a:ln>
        </p:spPr>
      </p:sp>
      <p:sp>
        <p:nvSpPr>
          <p:cNvPr id="12" name="mock-explanation-10">
            <a:extLst>
              <a:ext uri="{FF2B5EF4-FFF2-40B4-BE49-F238E27FC236}">
                <a16:creationId xmlns:a16="http://schemas.microsoft.com/office/drawing/2014/main" id="{85170EEF-C1E1-401D-8188-6BD73728D852}"/>
              </a:ext>
            </a:extLst>
          </p:cNvPr>
          <p:cNvSpPr>
            <a:spLocks noGrp="1"/>
          </p:cNvSpPr>
          <p:nvPr/>
        </p:nvSpPr>
        <p:spPr>
          <a:xfrm>
            <a:off x="609600" y="6505575"/>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V4.3</a:t>
            </a:r>
          </a:p>
        </p:txBody>
      </p:sp>
      <p:sp>
        <p:nvSpPr>
          <p:cNvPr id="13" name="mock-explanation-11">
            <a:extLst>
              <a:ext uri="{FF2B5EF4-FFF2-40B4-BE49-F238E27FC236}">
                <a16:creationId xmlns:a16="http://schemas.microsoft.com/office/drawing/2014/main" id="{4D055FEE-E9E8-4F78-8742-6A406AC9F285}"/>
              </a:ext>
            </a:extLst>
          </p:cNvPr>
          <p:cNvSpPr>
            <a:spLocks noGrp="1"/>
          </p:cNvSpPr>
          <p:nvPr/>
        </p:nvSpPr>
        <p:spPr>
          <a:xfrm>
            <a:off x="10439400" y="6505575"/>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09 / 24</a:t>
            </a:r>
          </a:p>
        </p:txBody>
      </p:sp>
    </p:spTree>
    <p:extLst>
      <p:ext uri="{BB962C8B-B14F-4D97-AF65-F5344CB8AC3E}">
        <p14:creationId xmlns:p14="http://schemas.microsoft.com/office/powerpoint/2010/main" val="1304004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6" name="直接箭头连接符 25"/>
          <p:cNvCxnSpPr>
            <a:stCxn id="6" idx="3"/>
            <a:endCxn id="7" idx="1"/>
          </p:cNvCxnSpPr>
          <p:nvPr/>
        </p:nvCxnSpPr>
        <p:spPr>
          <a:xfrm>
            <a:off x="8763000" y="2305050"/>
            <a:ext cx="304800" cy="0"/>
          </a:xfrm>
          <a:prstGeom prst="straightConnector1">
            <a:avLst/>
          </a:prstGeom>
          <a:ln w="19050">
            <a:solidFill>
              <a:srgbClr val="25699A"/>
            </a:solidFill>
            <a:tailEnd type="arrow" w="med" len="med"/>
          </a:ln>
        </p:spPr>
      </p:cxnSp>
      <p:cxnSp>
        <p:nvCxnSpPr>
          <p:cNvPr id="27" name="直接箭头连接符 26"/>
          <p:cNvCxnSpPr>
            <a:stCxn id="5" idx="3"/>
            <a:endCxn id="6" idx="1"/>
          </p:cNvCxnSpPr>
          <p:nvPr/>
        </p:nvCxnSpPr>
        <p:spPr>
          <a:xfrm>
            <a:off x="5943600" y="2305050"/>
            <a:ext cx="304800" cy="0"/>
          </a:xfrm>
          <a:prstGeom prst="straightConnector1">
            <a:avLst/>
          </a:prstGeom>
          <a:ln w="19050">
            <a:solidFill>
              <a:srgbClr val="25699A"/>
            </a:solidFill>
            <a:tailEnd type="arrow" w="med" len="med"/>
          </a:ln>
        </p:spPr>
      </p:cxnSp>
      <p:cxnSp>
        <p:nvCxnSpPr>
          <p:cNvPr id="28" name="直接箭头连接符 27"/>
          <p:cNvCxnSpPr>
            <a:stCxn id="4" idx="3"/>
            <a:endCxn id="5" idx="1"/>
          </p:cNvCxnSpPr>
          <p:nvPr/>
        </p:nvCxnSpPr>
        <p:spPr>
          <a:xfrm>
            <a:off x="3124200" y="2305050"/>
            <a:ext cx="304800" cy="0"/>
          </a:xfrm>
          <a:prstGeom prst="straightConnector1">
            <a:avLst/>
          </a:prstGeom>
          <a:ln w="19050">
            <a:solidFill>
              <a:srgbClr val="25699A"/>
            </a:solidFill>
            <a:tailEnd type="arrow" w="med" len="med"/>
          </a:ln>
        </p:spPr>
      </p:cxnSp>
      <p:sp>
        <p:nvSpPr>
          <p:cNvPr id="29" name="flow-choice-1">
            <a:extLst>
              <a:ext uri="{FF2B5EF4-FFF2-40B4-BE49-F238E27FC236}">
                <a16:creationId xmlns:a16="http://schemas.microsoft.com/office/drawing/2014/main" id="{F4F4C0A4-1414-403B-BA51-AB2D4E1EBB88}"/>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02  方案与技术选择</a:t>
            </a:r>
          </a:p>
        </p:txBody>
      </p:sp>
      <p:sp>
        <p:nvSpPr>
          <p:cNvPr id="2" name="flow-choice-2">
            <a:extLst>
              <a:ext uri="{FF2B5EF4-FFF2-40B4-BE49-F238E27FC236}">
                <a16:creationId xmlns:a16="http://schemas.microsoft.com/office/drawing/2014/main" id="{7E8D5CDA-27EB-4485-BCF6-9F4BEAA1D224}"/>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2925" b="1">
                <a:solidFill>
                  <a:srgbClr val="163044"/>
                </a:solidFill>
                <a:latin typeface="Microsoft YaHei"/>
                <a:ea typeface="Microsoft YaHei"/>
                <a:cs typeface="Microsoft YaHei"/>
              </a:defRPr>
            </a:pPr>
            <a:r>
              <a:rPr sz="2925" b="1">
                <a:solidFill>
                  <a:srgbClr val="163044"/>
                </a:solidFill>
                <a:latin typeface="Microsoft YaHei"/>
                <a:ea typeface="Microsoft YaHei"/>
                <a:cs typeface="Microsoft YaHei"/>
              </a:rPr>
              <a:t>Remember：参考 LangMem 提取候选事实</a:t>
            </a:r>
          </a:p>
        </p:txBody>
      </p:sp>
      <p:sp>
        <p:nvSpPr>
          <p:cNvPr id="3" name="flow-choice-3">
            <a:extLst>
              <a:ext uri="{FF2B5EF4-FFF2-40B4-BE49-F238E27FC236}">
                <a16:creationId xmlns:a16="http://schemas.microsoft.com/office/drawing/2014/main" id="{DE0E5D4B-9A0C-498F-BF55-5776E8BB9042}"/>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重点借鉴后台提取能力，正式记忆仍由 P3 审核和提交</a:t>
            </a:r>
          </a:p>
        </p:txBody>
      </p:sp>
      <p:sp>
        <p:nvSpPr>
          <p:cNvPr id="4" name="flow-step-0-0">
            <a:extLst>
              <a:ext uri="{FF2B5EF4-FFF2-40B4-BE49-F238E27FC236}">
                <a16:creationId xmlns:a16="http://schemas.microsoft.com/office/drawing/2014/main" id="{BF59B2EF-A2D8-457F-9DA7-397A320E3ECB}"/>
              </a:ext>
            </a:extLst>
          </p:cNvPr>
          <p:cNvSpPr>
            <a:spLocks noGrp="1"/>
          </p:cNvSpPr>
          <p:nvPr/>
        </p:nvSpPr>
        <p:spPr>
          <a:xfrm>
            <a:off x="609600" y="2009775"/>
            <a:ext cx="2514600" cy="590550"/>
          </a:xfrm>
          <a:prstGeom prst="rect">
            <a:avLst/>
          </a:prstGeom>
          <a:solidFill>
            <a:srgbClr val="EDF4F8"/>
          </a:solidFill>
          <a:ln w="9525">
            <a:solidFill>
              <a:srgbClr val="D7E2E8"/>
            </a:solidFill>
          </a:ln>
        </p:spPr>
        <p:txBody>
          <a:bodyPr lIns="47625" tIns="38100" rIns="47625" bIns="38100"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保存原始内容</a:t>
            </a:r>
          </a:p>
        </p:txBody>
      </p:sp>
      <p:sp>
        <p:nvSpPr>
          <p:cNvPr id="5" name="flow-step-0-1">
            <a:extLst>
              <a:ext uri="{FF2B5EF4-FFF2-40B4-BE49-F238E27FC236}">
                <a16:creationId xmlns:a16="http://schemas.microsoft.com/office/drawing/2014/main" id="{01B27468-1AC7-44C7-BA50-B21BF328A4E4}"/>
              </a:ext>
            </a:extLst>
          </p:cNvPr>
          <p:cNvSpPr>
            <a:spLocks noGrp="1"/>
          </p:cNvSpPr>
          <p:nvPr/>
        </p:nvSpPr>
        <p:spPr>
          <a:xfrm>
            <a:off x="3429000" y="2009775"/>
            <a:ext cx="2514600" cy="590550"/>
          </a:xfrm>
          <a:prstGeom prst="rect">
            <a:avLst/>
          </a:prstGeom>
          <a:solidFill>
            <a:srgbClr val="EAF5F2"/>
          </a:solidFill>
          <a:ln w="9525">
            <a:solidFill>
              <a:srgbClr val="D7E2E8"/>
            </a:solidFill>
          </a:ln>
        </p:spPr>
        <p:txBody>
          <a:bodyPr lIns="47625" tIns="38100" rIns="47625" bIns="38100"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提取候选事实</a:t>
            </a:r>
          </a:p>
        </p:txBody>
      </p:sp>
      <p:sp>
        <p:nvSpPr>
          <p:cNvPr id="6" name="flow-step-0-2">
            <a:extLst>
              <a:ext uri="{FF2B5EF4-FFF2-40B4-BE49-F238E27FC236}">
                <a16:creationId xmlns:a16="http://schemas.microsoft.com/office/drawing/2014/main" id="{94B5DDD0-8264-4ECB-AB0D-007A1A7B0F53}"/>
              </a:ext>
            </a:extLst>
          </p:cNvPr>
          <p:cNvSpPr>
            <a:spLocks noGrp="1"/>
          </p:cNvSpPr>
          <p:nvPr/>
        </p:nvSpPr>
        <p:spPr>
          <a:xfrm>
            <a:off x="6248400" y="2009775"/>
            <a:ext cx="2514600" cy="590550"/>
          </a:xfrm>
          <a:prstGeom prst="rect">
            <a:avLst/>
          </a:prstGeom>
          <a:solidFill>
            <a:srgbClr val="EDF4F8"/>
          </a:solidFill>
          <a:ln w="9525">
            <a:solidFill>
              <a:srgbClr val="D7E2E8"/>
            </a:solidFill>
          </a:ln>
        </p:spPr>
        <p:txBody>
          <a:bodyPr lIns="47625" tIns="38100" rIns="47625" bIns="38100"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核对来源与版本</a:t>
            </a:r>
          </a:p>
        </p:txBody>
      </p:sp>
      <p:sp>
        <p:nvSpPr>
          <p:cNvPr id="7" name="flow-step-0-3">
            <a:extLst>
              <a:ext uri="{FF2B5EF4-FFF2-40B4-BE49-F238E27FC236}">
                <a16:creationId xmlns:a16="http://schemas.microsoft.com/office/drawing/2014/main" id="{E8A32706-E121-4252-B4F3-45761ADC98F5}"/>
              </a:ext>
            </a:extLst>
          </p:cNvPr>
          <p:cNvSpPr>
            <a:spLocks noGrp="1"/>
          </p:cNvSpPr>
          <p:nvPr/>
        </p:nvSpPr>
        <p:spPr>
          <a:xfrm>
            <a:off x="9067800" y="2009775"/>
            <a:ext cx="2514600" cy="590550"/>
          </a:xfrm>
          <a:prstGeom prst="rect">
            <a:avLst/>
          </a:prstGeom>
          <a:solidFill>
            <a:srgbClr val="EDF4F8"/>
          </a:solidFill>
          <a:ln w="9525">
            <a:solidFill>
              <a:srgbClr val="D7E2E8"/>
            </a:solidFill>
          </a:ln>
        </p:spPr>
        <p:txBody>
          <a:bodyPr lIns="47625" tIns="38100" rIns="47625" bIns="38100"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提交正式记忆</a:t>
            </a:r>
          </a:p>
        </p:txBody>
      </p:sp>
      <p:sp>
        <p:nvSpPr>
          <p:cNvPr id="11" name="flow-choice-4">
            <a:extLst>
              <a:ext uri="{FF2B5EF4-FFF2-40B4-BE49-F238E27FC236}">
                <a16:creationId xmlns:a16="http://schemas.microsoft.com/office/drawing/2014/main" id="{C2A98009-4361-4FBA-B3D1-D156952C61C4}"/>
              </a:ext>
            </a:extLst>
          </p:cNvPr>
          <p:cNvSpPr>
            <a:spLocks noGrp="1"/>
          </p:cNvSpPr>
          <p:nvPr/>
        </p:nvSpPr>
        <p:spPr>
          <a:xfrm>
            <a:off x="609600" y="2847975"/>
            <a:ext cx="2076450" cy="60960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参考了什么</a:t>
            </a:r>
          </a:p>
        </p:txBody>
      </p:sp>
      <p:sp>
        <p:nvSpPr>
          <p:cNvPr id="12" name="flow-choice-5">
            <a:extLst>
              <a:ext uri="{FF2B5EF4-FFF2-40B4-BE49-F238E27FC236}">
                <a16:creationId xmlns:a16="http://schemas.microsoft.com/office/drawing/2014/main" id="{A9100421-E44F-49E4-B7DE-75B982CDC841}"/>
              </a:ext>
            </a:extLst>
          </p:cNvPr>
          <p:cNvSpPr>
            <a:spLocks noGrp="1"/>
          </p:cNvSpPr>
          <p:nvPr/>
        </p:nvSpPr>
        <p:spPr>
          <a:xfrm>
            <a:off x="2867025" y="2847975"/>
            <a:ext cx="8715375" cy="6096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结构化候选提取、自定义输出字段、已有记忆输入。</a:t>
            </a:r>
          </a:p>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把模型结果组织成候选，交给 P3 审核。</a:t>
            </a:r>
          </a:p>
        </p:txBody>
      </p:sp>
      <p:sp>
        <p:nvSpPr>
          <p:cNvPr id="13" name="直接连接符 12">
            <a:extLst>
              <a:ext uri="{FF2B5EF4-FFF2-40B4-BE49-F238E27FC236}">
                <a16:creationId xmlns:a16="http://schemas.microsoft.com/office/drawing/2014/main" id="{B208C90F-028B-4DDC-A6D4-5AFB7259EB5C}"/>
              </a:ext>
            </a:extLst>
          </p:cNvPr>
          <p:cNvSpPr>
            <a:spLocks noGrp="1"/>
          </p:cNvSpPr>
          <p:nvPr/>
        </p:nvSpPr>
        <p:spPr>
          <a:xfrm>
            <a:off x="609600" y="3533775"/>
            <a:ext cx="10972800" cy="95"/>
          </a:xfrm>
          <a:prstGeom prst="line">
            <a:avLst/>
          </a:prstGeom>
          <a:noFill/>
          <a:ln w="9525">
            <a:solidFill>
              <a:srgbClr val="D7E2E8"/>
            </a:solidFill>
          </a:ln>
        </p:spPr>
      </p:sp>
      <p:sp>
        <p:nvSpPr>
          <p:cNvPr id="14" name="flow-choice-6">
            <a:extLst>
              <a:ext uri="{FF2B5EF4-FFF2-40B4-BE49-F238E27FC236}">
                <a16:creationId xmlns:a16="http://schemas.microsoft.com/office/drawing/2014/main" id="{AE30E13D-BDB1-40E2-B89A-8068EA19E5E5}"/>
              </a:ext>
            </a:extLst>
          </p:cNvPr>
          <p:cNvSpPr>
            <a:spLocks noGrp="1"/>
          </p:cNvSpPr>
          <p:nvPr/>
        </p:nvSpPr>
        <p:spPr>
          <a:xfrm>
            <a:off x="609600" y="3590925"/>
            <a:ext cx="2076450" cy="60960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为什么参考</a:t>
            </a:r>
          </a:p>
        </p:txBody>
      </p:sp>
      <p:sp>
        <p:nvSpPr>
          <p:cNvPr id="15" name="flow-choice-7">
            <a:extLst>
              <a:ext uri="{FF2B5EF4-FFF2-40B4-BE49-F238E27FC236}">
                <a16:creationId xmlns:a16="http://schemas.microsoft.com/office/drawing/2014/main" id="{51313EFE-6CF2-4B70-A623-57CAEECA127D}"/>
              </a:ext>
            </a:extLst>
          </p:cNvPr>
          <p:cNvSpPr>
            <a:spLocks noGrp="1"/>
          </p:cNvSpPr>
          <p:nvPr/>
        </p:nvSpPr>
        <p:spPr>
          <a:xfrm>
            <a:off x="2867025" y="3590925"/>
            <a:ext cx="8715375" cy="6096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LangMem Core 可以独立使用并配合现有存储，</a:t>
            </a:r>
          </a:p>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便于保留 P2、版本管理和权限规则。</a:t>
            </a:r>
          </a:p>
        </p:txBody>
      </p:sp>
      <p:sp>
        <p:nvSpPr>
          <p:cNvPr id="16" name="直接连接符 15">
            <a:extLst>
              <a:ext uri="{FF2B5EF4-FFF2-40B4-BE49-F238E27FC236}">
                <a16:creationId xmlns:a16="http://schemas.microsoft.com/office/drawing/2014/main" id="{C4895126-B8CA-4244-BBBD-4904CAE66C3F}"/>
              </a:ext>
            </a:extLst>
          </p:cNvPr>
          <p:cNvSpPr>
            <a:spLocks noGrp="1"/>
          </p:cNvSpPr>
          <p:nvPr/>
        </p:nvSpPr>
        <p:spPr>
          <a:xfrm>
            <a:off x="609600" y="4276725"/>
            <a:ext cx="10972800" cy="95"/>
          </a:xfrm>
          <a:prstGeom prst="line">
            <a:avLst/>
          </a:prstGeom>
          <a:noFill/>
          <a:ln w="9525">
            <a:solidFill>
              <a:srgbClr val="D7E2E8"/>
            </a:solidFill>
          </a:ln>
        </p:spPr>
      </p:sp>
      <p:sp>
        <p:nvSpPr>
          <p:cNvPr id="17" name="flow-choice-8">
            <a:extLst>
              <a:ext uri="{FF2B5EF4-FFF2-40B4-BE49-F238E27FC236}">
                <a16:creationId xmlns:a16="http://schemas.microsoft.com/office/drawing/2014/main" id="{83F7B006-0C8D-4ACE-80F2-79A3D5CE3C53}"/>
              </a:ext>
            </a:extLst>
          </p:cNvPr>
          <p:cNvSpPr>
            <a:spLocks noGrp="1"/>
          </p:cNvSpPr>
          <p:nvPr/>
        </p:nvSpPr>
        <p:spPr>
          <a:xfrm>
            <a:off x="609600" y="4333875"/>
            <a:ext cx="2076450" cy="60960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与其他方案比较</a:t>
            </a:r>
          </a:p>
        </p:txBody>
      </p:sp>
      <p:sp>
        <p:nvSpPr>
          <p:cNvPr id="18" name="flow-choice-9">
            <a:extLst>
              <a:ext uri="{FF2B5EF4-FFF2-40B4-BE49-F238E27FC236}">
                <a16:creationId xmlns:a16="http://schemas.microsoft.com/office/drawing/2014/main" id="{19665412-77B2-4272-897C-25DAC0D455CF}"/>
              </a:ext>
            </a:extLst>
          </p:cNvPr>
          <p:cNvSpPr>
            <a:spLocks noGrp="1"/>
          </p:cNvSpPr>
          <p:nvPr/>
        </p:nvSpPr>
        <p:spPr>
          <a:xfrm>
            <a:off x="2867025" y="4333875"/>
            <a:ext cx="8715375" cy="6096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Mem0 整套接入需重接其存储和更新流程；</a:t>
            </a:r>
          </a:p>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全部自行实现提取，又会重复维护模型调用与输出约束。</a:t>
            </a:r>
          </a:p>
        </p:txBody>
      </p:sp>
      <p:sp>
        <p:nvSpPr>
          <p:cNvPr id="19" name="直接连接符 18">
            <a:extLst>
              <a:ext uri="{FF2B5EF4-FFF2-40B4-BE49-F238E27FC236}">
                <a16:creationId xmlns:a16="http://schemas.microsoft.com/office/drawing/2014/main" id="{30973690-01D5-442C-8DF0-25BB5286C9F4}"/>
              </a:ext>
            </a:extLst>
          </p:cNvPr>
          <p:cNvSpPr>
            <a:spLocks noGrp="1"/>
          </p:cNvSpPr>
          <p:nvPr/>
        </p:nvSpPr>
        <p:spPr>
          <a:xfrm>
            <a:off x="609600" y="5019675"/>
            <a:ext cx="10972800" cy="95"/>
          </a:xfrm>
          <a:prstGeom prst="line">
            <a:avLst/>
          </a:prstGeom>
          <a:noFill/>
          <a:ln w="9525">
            <a:solidFill>
              <a:srgbClr val="D7E2E8"/>
            </a:solidFill>
          </a:ln>
        </p:spPr>
      </p:sp>
      <p:sp>
        <p:nvSpPr>
          <p:cNvPr id="20" name="flow-choice-10">
            <a:extLst>
              <a:ext uri="{FF2B5EF4-FFF2-40B4-BE49-F238E27FC236}">
                <a16:creationId xmlns:a16="http://schemas.microsoft.com/office/drawing/2014/main" id="{C8986C5A-9FB2-4F8E-AFA9-43EED46DD31B}"/>
              </a:ext>
            </a:extLst>
          </p:cNvPr>
          <p:cNvSpPr>
            <a:spLocks noGrp="1"/>
          </p:cNvSpPr>
          <p:nvPr/>
        </p:nvSpPr>
        <p:spPr>
          <a:xfrm>
            <a:off x="609600" y="5076825"/>
            <a:ext cx="2076450" cy="60960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本项目怎样采用</a:t>
            </a:r>
          </a:p>
        </p:txBody>
      </p:sp>
      <p:sp>
        <p:nvSpPr>
          <p:cNvPr id="21" name="flow-choice-11">
            <a:extLst>
              <a:ext uri="{FF2B5EF4-FFF2-40B4-BE49-F238E27FC236}">
                <a16:creationId xmlns:a16="http://schemas.microsoft.com/office/drawing/2014/main" id="{E9B206FF-FD16-4B82-9473-79A9D7429A52}"/>
              </a:ext>
            </a:extLst>
          </p:cNvPr>
          <p:cNvSpPr>
            <a:spLocks noGrp="1"/>
          </p:cNvSpPr>
          <p:nvPr/>
        </p:nvSpPr>
        <p:spPr>
          <a:xfrm>
            <a:off x="2867025" y="5076825"/>
            <a:ext cx="8715375" cy="6096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只接入候选提取，P3 核对原文证据后再保存。</a:t>
            </a:r>
          </a:p>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正式更正、删除、版本和任务提交由 P3 管理。</a:t>
            </a:r>
          </a:p>
        </p:txBody>
      </p:sp>
      <p:sp>
        <p:nvSpPr>
          <p:cNvPr id="22" name="flow-choice-12">
            <a:extLst>
              <a:ext uri="{FF2B5EF4-FFF2-40B4-BE49-F238E27FC236}">
                <a16:creationId xmlns:a16="http://schemas.microsoft.com/office/drawing/2014/main" id="{AB125438-27A8-4D88-BB35-DA3927C9A99E}"/>
              </a:ext>
            </a:extLst>
          </p:cNvPr>
          <p:cNvSpPr>
            <a:spLocks noGrp="1"/>
          </p:cNvSpPr>
          <p:nvPr/>
        </p:nvSpPr>
        <p:spPr>
          <a:xfrm>
            <a:off x="609600" y="5953125"/>
            <a:ext cx="10972800" cy="285750"/>
          </a:xfrm>
          <a:prstGeom prst="rect">
            <a:avLst/>
          </a:prstGeom>
          <a:noFill/>
          <a:ln w="0">
            <a:noFill/>
          </a:ln>
        </p:spPr>
        <p:txBody>
          <a:bodyPr wrap="square" lIns="0" tIns="0" rIns="0" bIns="0" anchor="ctr">
            <a:noAutofit/>
          </a:bodyPr>
          <a:lstStyle/>
          <a:p>
            <a:pPr algn="l">
              <a:defRPr sz="1500" b="0">
                <a:solidFill>
                  <a:srgbClr val="25699A"/>
                </a:solidFill>
                <a:latin typeface="Microsoft YaHei"/>
                <a:ea typeface="Microsoft YaHei"/>
                <a:cs typeface="Microsoft YaHei"/>
              </a:defRPr>
            </a:pPr>
            <a:r>
              <a:rPr sz="1500" b="0">
                <a:solidFill>
                  <a:srgbClr val="25699A"/>
                </a:solidFill>
                <a:latin typeface="Microsoft YaHei"/>
                <a:ea typeface="Microsoft YaHei"/>
                <a:cs typeface="Microsoft YaHei"/>
                <a:hlinkClick r:id="rId3"/>
              </a:rPr>
              <a:t>开源项目：https://github.com/langchain-ai/langmem</a:t>
            </a:r>
          </a:p>
        </p:txBody>
      </p:sp>
      <p:sp>
        <p:nvSpPr>
          <p:cNvPr id="23" name="直接连接符 22">
            <a:extLst>
              <a:ext uri="{FF2B5EF4-FFF2-40B4-BE49-F238E27FC236}">
                <a16:creationId xmlns:a16="http://schemas.microsoft.com/office/drawing/2014/main" id="{10A264E1-5D2F-4F06-9889-FD625971ACE6}"/>
              </a:ext>
            </a:extLst>
          </p:cNvPr>
          <p:cNvSpPr>
            <a:spLocks noGrp="1"/>
          </p:cNvSpPr>
          <p:nvPr/>
        </p:nvSpPr>
        <p:spPr>
          <a:xfrm>
            <a:off x="609600" y="6324600"/>
            <a:ext cx="10972800" cy="95"/>
          </a:xfrm>
          <a:prstGeom prst="line">
            <a:avLst/>
          </a:prstGeom>
          <a:noFill/>
          <a:ln w="9525">
            <a:solidFill>
              <a:srgbClr val="D7E2E8"/>
            </a:solidFill>
          </a:ln>
        </p:spPr>
      </p:sp>
      <p:sp>
        <p:nvSpPr>
          <p:cNvPr id="24" name="flow-choice-13">
            <a:extLst>
              <a:ext uri="{FF2B5EF4-FFF2-40B4-BE49-F238E27FC236}">
                <a16:creationId xmlns:a16="http://schemas.microsoft.com/office/drawing/2014/main" id="{1BE74EAC-4383-40B4-B9D7-7C3B9D669F24}"/>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V4.3</a:t>
            </a:r>
          </a:p>
        </p:txBody>
      </p:sp>
      <p:sp>
        <p:nvSpPr>
          <p:cNvPr id="25" name="flow-choice-14">
            <a:extLst>
              <a:ext uri="{FF2B5EF4-FFF2-40B4-BE49-F238E27FC236}">
                <a16:creationId xmlns:a16="http://schemas.microsoft.com/office/drawing/2014/main" id="{D3C46796-4FFB-4111-8EB4-8BDC4EFBF003}"/>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10 / 24</a:t>
            </a:r>
          </a:p>
        </p:txBody>
      </p:sp>
    </p:spTree>
    <p:extLst>
      <p:ext uri="{BB962C8B-B14F-4D97-AF65-F5344CB8AC3E}">
        <p14:creationId xmlns:p14="http://schemas.microsoft.com/office/powerpoint/2010/main" val="4189001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6" name="直接箭头连接符 25"/>
          <p:cNvCxnSpPr>
            <a:stCxn id="6" idx="3"/>
            <a:endCxn id="7" idx="1"/>
          </p:cNvCxnSpPr>
          <p:nvPr/>
        </p:nvCxnSpPr>
        <p:spPr>
          <a:xfrm>
            <a:off x="8763000" y="2305050"/>
            <a:ext cx="304800" cy="0"/>
          </a:xfrm>
          <a:prstGeom prst="straightConnector1">
            <a:avLst/>
          </a:prstGeom>
          <a:ln w="19050">
            <a:solidFill>
              <a:srgbClr val="25699A"/>
            </a:solidFill>
            <a:tailEnd type="arrow" w="med" len="med"/>
          </a:ln>
        </p:spPr>
      </p:cxnSp>
      <p:cxnSp>
        <p:nvCxnSpPr>
          <p:cNvPr id="27" name="直接箭头连接符 26"/>
          <p:cNvCxnSpPr>
            <a:stCxn id="5" idx="3"/>
            <a:endCxn id="6" idx="1"/>
          </p:cNvCxnSpPr>
          <p:nvPr/>
        </p:nvCxnSpPr>
        <p:spPr>
          <a:xfrm>
            <a:off x="5943600" y="2305050"/>
            <a:ext cx="304800" cy="0"/>
          </a:xfrm>
          <a:prstGeom prst="straightConnector1">
            <a:avLst/>
          </a:prstGeom>
          <a:ln w="19050">
            <a:solidFill>
              <a:srgbClr val="25699A"/>
            </a:solidFill>
            <a:tailEnd type="arrow" w="med" len="med"/>
          </a:ln>
        </p:spPr>
      </p:cxnSp>
      <p:cxnSp>
        <p:nvCxnSpPr>
          <p:cNvPr id="28" name="直接箭头连接符 27"/>
          <p:cNvCxnSpPr>
            <a:stCxn id="4" idx="3"/>
            <a:endCxn id="5" idx="1"/>
          </p:cNvCxnSpPr>
          <p:nvPr/>
        </p:nvCxnSpPr>
        <p:spPr>
          <a:xfrm>
            <a:off x="3124200" y="2305050"/>
            <a:ext cx="304800" cy="0"/>
          </a:xfrm>
          <a:prstGeom prst="straightConnector1">
            <a:avLst/>
          </a:prstGeom>
          <a:ln w="19050">
            <a:solidFill>
              <a:srgbClr val="25699A"/>
            </a:solidFill>
            <a:tailEnd type="arrow" w="med" len="med"/>
          </a:ln>
        </p:spPr>
      </p:cxnSp>
      <p:sp>
        <p:nvSpPr>
          <p:cNvPr id="29" name="flow-choice-15">
            <a:extLst>
              <a:ext uri="{FF2B5EF4-FFF2-40B4-BE49-F238E27FC236}">
                <a16:creationId xmlns:a16="http://schemas.microsoft.com/office/drawing/2014/main" id="{D8B9DD56-1309-41B0-A7B0-6248B8099F7C}"/>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02  方案与技术选择</a:t>
            </a:r>
          </a:p>
        </p:txBody>
      </p:sp>
      <p:sp>
        <p:nvSpPr>
          <p:cNvPr id="2" name="flow-choice-16">
            <a:extLst>
              <a:ext uri="{FF2B5EF4-FFF2-40B4-BE49-F238E27FC236}">
                <a16:creationId xmlns:a16="http://schemas.microsoft.com/office/drawing/2014/main" id="{079DC45E-51D3-4FF9-BCD3-5C221F093AB9}"/>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2925" b="1">
                <a:solidFill>
                  <a:srgbClr val="163044"/>
                </a:solidFill>
                <a:latin typeface="Microsoft YaHei"/>
                <a:ea typeface="Microsoft YaHei"/>
                <a:cs typeface="Microsoft YaHei"/>
              </a:defRPr>
            </a:pPr>
            <a:r>
              <a:rPr sz="2925" b="1">
                <a:solidFill>
                  <a:srgbClr val="163044"/>
                </a:solidFill>
                <a:latin typeface="Microsoft YaHei"/>
                <a:ea typeface="Microsoft YaHei"/>
                <a:cs typeface="Microsoft YaHei"/>
              </a:rPr>
              <a:t>Recall：参考 LlamaIndex 拆分检索步骤</a:t>
            </a:r>
          </a:p>
        </p:txBody>
      </p:sp>
      <p:sp>
        <p:nvSpPr>
          <p:cNvPr id="3" name="flow-choice-17">
            <a:extLst>
              <a:ext uri="{FF2B5EF4-FFF2-40B4-BE49-F238E27FC236}">
                <a16:creationId xmlns:a16="http://schemas.microsoft.com/office/drawing/2014/main" id="{844F523D-C9C7-4B64-8FF4-51AC4EB538C6}"/>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借鉴检索、融合和后处理分层，交付带来源的记忆材料</a:t>
            </a:r>
          </a:p>
        </p:txBody>
      </p:sp>
      <p:sp>
        <p:nvSpPr>
          <p:cNvPr id="4" name="flow-step-1-0">
            <a:extLst>
              <a:ext uri="{FF2B5EF4-FFF2-40B4-BE49-F238E27FC236}">
                <a16:creationId xmlns:a16="http://schemas.microsoft.com/office/drawing/2014/main" id="{FAE3FD26-43A2-4443-8851-F99D7B11A238}"/>
              </a:ext>
            </a:extLst>
          </p:cNvPr>
          <p:cNvSpPr>
            <a:spLocks noGrp="1"/>
          </p:cNvSpPr>
          <p:nvPr/>
        </p:nvSpPr>
        <p:spPr>
          <a:xfrm>
            <a:off x="609600" y="2009775"/>
            <a:ext cx="2514600" cy="590550"/>
          </a:xfrm>
          <a:prstGeom prst="rect">
            <a:avLst/>
          </a:prstGeom>
          <a:solidFill>
            <a:srgbClr val="EAF5F2"/>
          </a:solidFill>
          <a:ln w="9525">
            <a:solidFill>
              <a:srgbClr val="D7E2E8"/>
            </a:solidFill>
          </a:ln>
        </p:spPr>
        <p:txBody>
          <a:bodyPr lIns="47625" tIns="38100" rIns="47625" bIns="38100"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多来源找候选</a:t>
            </a:r>
          </a:p>
        </p:txBody>
      </p:sp>
      <p:sp>
        <p:nvSpPr>
          <p:cNvPr id="5" name="flow-step-1-1">
            <a:extLst>
              <a:ext uri="{FF2B5EF4-FFF2-40B4-BE49-F238E27FC236}">
                <a16:creationId xmlns:a16="http://schemas.microsoft.com/office/drawing/2014/main" id="{06AA2993-9651-4207-B78C-A81D4FDA0DB5}"/>
              </a:ext>
            </a:extLst>
          </p:cNvPr>
          <p:cNvSpPr>
            <a:spLocks noGrp="1"/>
          </p:cNvSpPr>
          <p:nvPr/>
        </p:nvSpPr>
        <p:spPr>
          <a:xfrm>
            <a:off x="3429000" y="2009775"/>
            <a:ext cx="2514600" cy="590550"/>
          </a:xfrm>
          <a:prstGeom prst="rect">
            <a:avLst/>
          </a:prstGeom>
          <a:solidFill>
            <a:srgbClr val="EAF5F2"/>
          </a:solidFill>
          <a:ln w="9525">
            <a:solidFill>
              <a:srgbClr val="D7E2E8"/>
            </a:solidFill>
          </a:ln>
        </p:spPr>
        <p:txBody>
          <a:bodyPr lIns="47625" tIns="38100" rIns="47625" bIns="38100"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合并候选与去重</a:t>
            </a:r>
          </a:p>
        </p:txBody>
      </p:sp>
      <p:sp>
        <p:nvSpPr>
          <p:cNvPr id="6" name="flow-step-1-2">
            <a:extLst>
              <a:ext uri="{FF2B5EF4-FFF2-40B4-BE49-F238E27FC236}">
                <a16:creationId xmlns:a16="http://schemas.microsoft.com/office/drawing/2014/main" id="{8DF48DEA-2F33-4F34-A1DC-442441960237}"/>
              </a:ext>
            </a:extLst>
          </p:cNvPr>
          <p:cNvSpPr>
            <a:spLocks noGrp="1"/>
          </p:cNvSpPr>
          <p:nvPr/>
        </p:nvSpPr>
        <p:spPr>
          <a:xfrm>
            <a:off x="6248400" y="2009775"/>
            <a:ext cx="2514600" cy="590550"/>
          </a:xfrm>
          <a:prstGeom prst="rect">
            <a:avLst/>
          </a:prstGeom>
          <a:solidFill>
            <a:srgbClr val="EAF5F2"/>
          </a:solidFill>
          <a:ln w="9525">
            <a:solidFill>
              <a:srgbClr val="D7E2E8"/>
            </a:solidFill>
          </a:ln>
        </p:spPr>
        <p:txBody>
          <a:bodyPr lIns="47625" tIns="38100" rIns="47625" bIns="38100"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重排与预算装配</a:t>
            </a:r>
          </a:p>
        </p:txBody>
      </p:sp>
      <p:sp>
        <p:nvSpPr>
          <p:cNvPr id="7" name="flow-step-1-3">
            <a:extLst>
              <a:ext uri="{FF2B5EF4-FFF2-40B4-BE49-F238E27FC236}">
                <a16:creationId xmlns:a16="http://schemas.microsoft.com/office/drawing/2014/main" id="{3308E316-0EC2-4A20-95B8-C5E2D7E566D3}"/>
              </a:ext>
            </a:extLst>
          </p:cNvPr>
          <p:cNvSpPr>
            <a:spLocks noGrp="1"/>
          </p:cNvSpPr>
          <p:nvPr/>
        </p:nvSpPr>
        <p:spPr>
          <a:xfrm>
            <a:off x="9067800" y="2009775"/>
            <a:ext cx="2514600" cy="590550"/>
          </a:xfrm>
          <a:prstGeom prst="rect">
            <a:avLst/>
          </a:prstGeom>
          <a:solidFill>
            <a:srgbClr val="EDF4F8"/>
          </a:solidFill>
          <a:ln w="9525">
            <a:solidFill>
              <a:srgbClr val="D7E2E8"/>
            </a:solidFill>
          </a:ln>
        </p:spPr>
        <p:txBody>
          <a:bodyPr lIns="47625" tIns="38100" rIns="47625" bIns="38100"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复核后交付材料</a:t>
            </a:r>
          </a:p>
        </p:txBody>
      </p:sp>
      <p:sp>
        <p:nvSpPr>
          <p:cNvPr id="11" name="flow-choice-18">
            <a:extLst>
              <a:ext uri="{FF2B5EF4-FFF2-40B4-BE49-F238E27FC236}">
                <a16:creationId xmlns:a16="http://schemas.microsoft.com/office/drawing/2014/main" id="{F79633A6-801F-4B55-9AEC-FC983016370D}"/>
              </a:ext>
            </a:extLst>
          </p:cNvPr>
          <p:cNvSpPr>
            <a:spLocks noGrp="1"/>
          </p:cNvSpPr>
          <p:nvPr/>
        </p:nvSpPr>
        <p:spPr>
          <a:xfrm>
            <a:off x="609600" y="2847975"/>
            <a:ext cx="2076450" cy="60960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参考了什么</a:t>
            </a:r>
          </a:p>
        </p:txBody>
      </p:sp>
      <p:sp>
        <p:nvSpPr>
          <p:cNvPr id="12" name="flow-choice-19">
            <a:extLst>
              <a:ext uri="{FF2B5EF4-FFF2-40B4-BE49-F238E27FC236}">
                <a16:creationId xmlns:a16="http://schemas.microsoft.com/office/drawing/2014/main" id="{D273A320-E836-48DE-A42E-697EEA98B961}"/>
              </a:ext>
            </a:extLst>
          </p:cNvPr>
          <p:cNvSpPr>
            <a:spLocks noGrp="1"/>
          </p:cNvSpPr>
          <p:nvPr/>
        </p:nvSpPr>
        <p:spPr>
          <a:xfrm>
            <a:off x="2867025" y="2847975"/>
            <a:ext cx="8715375" cy="6096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检索器拆分不同来源，融合器汇总候选，</a:t>
            </a:r>
          </a:p>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后处理器组织过滤和排序，便于逐步组合。</a:t>
            </a:r>
          </a:p>
        </p:txBody>
      </p:sp>
      <p:sp>
        <p:nvSpPr>
          <p:cNvPr id="13" name="直接连接符 12">
            <a:extLst>
              <a:ext uri="{FF2B5EF4-FFF2-40B4-BE49-F238E27FC236}">
                <a16:creationId xmlns:a16="http://schemas.microsoft.com/office/drawing/2014/main" id="{1741A628-F5AD-4D93-B94E-BE80700E59AC}"/>
              </a:ext>
            </a:extLst>
          </p:cNvPr>
          <p:cNvSpPr>
            <a:spLocks noGrp="1"/>
          </p:cNvSpPr>
          <p:nvPr/>
        </p:nvSpPr>
        <p:spPr>
          <a:xfrm>
            <a:off x="609600" y="3533775"/>
            <a:ext cx="10972800" cy="95"/>
          </a:xfrm>
          <a:prstGeom prst="line">
            <a:avLst/>
          </a:prstGeom>
          <a:noFill/>
          <a:ln w="9525">
            <a:solidFill>
              <a:srgbClr val="D7E2E8"/>
            </a:solidFill>
          </a:ln>
        </p:spPr>
      </p:sp>
      <p:sp>
        <p:nvSpPr>
          <p:cNvPr id="14" name="flow-choice-20">
            <a:extLst>
              <a:ext uri="{FF2B5EF4-FFF2-40B4-BE49-F238E27FC236}">
                <a16:creationId xmlns:a16="http://schemas.microsoft.com/office/drawing/2014/main" id="{0D588B88-0E47-479B-B13B-B166B08DA674}"/>
              </a:ext>
            </a:extLst>
          </p:cNvPr>
          <p:cNvSpPr>
            <a:spLocks noGrp="1"/>
          </p:cNvSpPr>
          <p:nvPr/>
        </p:nvSpPr>
        <p:spPr>
          <a:xfrm>
            <a:off x="609600" y="3590925"/>
            <a:ext cx="2076450" cy="60960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为什么参考</a:t>
            </a:r>
          </a:p>
        </p:txBody>
      </p:sp>
      <p:sp>
        <p:nvSpPr>
          <p:cNvPr id="15" name="flow-choice-21">
            <a:extLst>
              <a:ext uri="{FF2B5EF4-FFF2-40B4-BE49-F238E27FC236}">
                <a16:creationId xmlns:a16="http://schemas.microsoft.com/office/drawing/2014/main" id="{33B837B9-392E-4FB6-8BC6-EA4F95318169}"/>
              </a:ext>
            </a:extLst>
          </p:cNvPr>
          <p:cNvSpPr>
            <a:spLocks noGrp="1"/>
          </p:cNvSpPr>
          <p:nvPr/>
        </p:nvSpPr>
        <p:spPr>
          <a:xfrm>
            <a:off x="2867025" y="3590925"/>
            <a:ext cx="8715375" cy="6096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这些模块与 P3 的召回步骤直接对应，</a:t>
            </a:r>
          </a:p>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便于独立测试、替换检索来源和增加重排。</a:t>
            </a:r>
          </a:p>
        </p:txBody>
      </p:sp>
      <p:sp>
        <p:nvSpPr>
          <p:cNvPr id="16" name="直接连接符 15">
            <a:extLst>
              <a:ext uri="{FF2B5EF4-FFF2-40B4-BE49-F238E27FC236}">
                <a16:creationId xmlns:a16="http://schemas.microsoft.com/office/drawing/2014/main" id="{4C2F14A2-3B34-479E-A689-18788ABB2E0A}"/>
              </a:ext>
            </a:extLst>
          </p:cNvPr>
          <p:cNvSpPr>
            <a:spLocks noGrp="1"/>
          </p:cNvSpPr>
          <p:nvPr/>
        </p:nvSpPr>
        <p:spPr>
          <a:xfrm>
            <a:off x="609600" y="4276725"/>
            <a:ext cx="10972800" cy="95"/>
          </a:xfrm>
          <a:prstGeom prst="line">
            <a:avLst/>
          </a:prstGeom>
          <a:noFill/>
          <a:ln w="9525">
            <a:solidFill>
              <a:srgbClr val="D7E2E8"/>
            </a:solidFill>
          </a:ln>
        </p:spPr>
      </p:sp>
      <p:sp>
        <p:nvSpPr>
          <p:cNvPr id="17" name="flow-choice-22">
            <a:extLst>
              <a:ext uri="{FF2B5EF4-FFF2-40B4-BE49-F238E27FC236}">
                <a16:creationId xmlns:a16="http://schemas.microsoft.com/office/drawing/2014/main" id="{84861A43-684B-4447-9D7E-6DB151DE48F7}"/>
              </a:ext>
            </a:extLst>
          </p:cNvPr>
          <p:cNvSpPr>
            <a:spLocks noGrp="1"/>
          </p:cNvSpPr>
          <p:nvPr/>
        </p:nvSpPr>
        <p:spPr>
          <a:xfrm>
            <a:off x="609600" y="4333875"/>
            <a:ext cx="2076450" cy="60960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与其他方案比较</a:t>
            </a:r>
          </a:p>
        </p:txBody>
      </p:sp>
      <p:sp>
        <p:nvSpPr>
          <p:cNvPr id="18" name="flow-choice-23">
            <a:extLst>
              <a:ext uri="{FF2B5EF4-FFF2-40B4-BE49-F238E27FC236}">
                <a16:creationId xmlns:a16="http://schemas.microsoft.com/office/drawing/2014/main" id="{43063818-B5BB-416C-B851-67AA00351759}"/>
              </a:ext>
            </a:extLst>
          </p:cNvPr>
          <p:cNvSpPr>
            <a:spLocks noGrp="1"/>
          </p:cNvSpPr>
          <p:nvPr/>
        </p:nvSpPr>
        <p:spPr>
          <a:xfrm>
            <a:off x="2867025" y="4333875"/>
            <a:ext cx="8715375" cy="6096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Haystack 整体接管需重接 P3 的任务和失败处理；</a:t>
            </a:r>
          </a:p>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当前已有召回分层，再增加一套流水线的收益有限。</a:t>
            </a:r>
          </a:p>
        </p:txBody>
      </p:sp>
      <p:sp>
        <p:nvSpPr>
          <p:cNvPr id="19" name="直接连接符 18">
            <a:extLst>
              <a:ext uri="{FF2B5EF4-FFF2-40B4-BE49-F238E27FC236}">
                <a16:creationId xmlns:a16="http://schemas.microsoft.com/office/drawing/2014/main" id="{2CBE84DD-AEA0-4F8A-9BD4-5DA9F07A10DE}"/>
              </a:ext>
            </a:extLst>
          </p:cNvPr>
          <p:cNvSpPr>
            <a:spLocks noGrp="1"/>
          </p:cNvSpPr>
          <p:nvPr/>
        </p:nvSpPr>
        <p:spPr>
          <a:xfrm>
            <a:off x="609600" y="5019675"/>
            <a:ext cx="10972800" cy="95"/>
          </a:xfrm>
          <a:prstGeom prst="line">
            <a:avLst/>
          </a:prstGeom>
          <a:noFill/>
          <a:ln w="9525">
            <a:solidFill>
              <a:srgbClr val="D7E2E8"/>
            </a:solidFill>
          </a:ln>
        </p:spPr>
      </p:sp>
      <p:sp>
        <p:nvSpPr>
          <p:cNvPr id="20" name="flow-choice-24">
            <a:extLst>
              <a:ext uri="{FF2B5EF4-FFF2-40B4-BE49-F238E27FC236}">
                <a16:creationId xmlns:a16="http://schemas.microsoft.com/office/drawing/2014/main" id="{37AF32E4-A1FA-41BF-8003-C12C118258CD}"/>
              </a:ext>
            </a:extLst>
          </p:cNvPr>
          <p:cNvSpPr>
            <a:spLocks noGrp="1"/>
          </p:cNvSpPr>
          <p:nvPr/>
        </p:nvSpPr>
        <p:spPr>
          <a:xfrm>
            <a:off x="609600" y="5076825"/>
            <a:ext cx="2076450" cy="60960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本项目怎样采用</a:t>
            </a:r>
          </a:p>
        </p:txBody>
      </p:sp>
      <p:sp>
        <p:nvSpPr>
          <p:cNvPr id="21" name="flow-choice-25">
            <a:extLst>
              <a:ext uri="{FF2B5EF4-FFF2-40B4-BE49-F238E27FC236}">
                <a16:creationId xmlns:a16="http://schemas.microsoft.com/office/drawing/2014/main" id="{0E0FBB8A-3A9D-496C-AD4C-16942B701840}"/>
              </a:ext>
            </a:extLst>
          </p:cNvPr>
          <p:cNvSpPr>
            <a:spLocks noGrp="1"/>
          </p:cNvSpPr>
          <p:nvPr/>
        </p:nvSpPr>
        <p:spPr>
          <a:xfrm>
            <a:off x="2867025" y="5076825"/>
            <a:ext cx="8715375" cy="6096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参考分层思路，由 P3 实现召回流程与候选融合。</a:t>
            </a:r>
          </a:p>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来源状态、版本权限、冲突处理和上下文预算由 P3 核对。</a:t>
            </a:r>
          </a:p>
        </p:txBody>
      </p:sp>
      <p:sp>
        <p:nvSpPr>
          <p:cNvPr id="22" name="flow-choice-26">
            <a:extLst>
              <a:ext uri="{FF2B5EF4-FFF2-40B4-BE49-F238E27FC236}">
                <a16:creationId xmlns:a16="http://schemas.microsoft.com/office/drawing/2014/main" id="{6931851D-F902-4C5B-82DB-44A6F6D98695}"/>
              </a:ext>
            </a:extLst>
          </p:cNvPr>
          <p:cNvSpPr>
            <a:spLocks noGrp="1"/>
          </p:cNvSpPr>
          <p:nvPr/>
        </p:nvSpPr>
        <p:spPr>
          <a:xfrm>
            <a:off x="609600" y="5953125"/>
            <a:ext cx="10972800" cy="285750"/>
          </a:xfrm>
          <a:prstGeom prst="rect">
            <a:avLst/>
          </a:prstGeom>
          <a:noFill/>
          <a:ln w="0">
            <a:noFill/>
          </a:ln>
        </p:spPr>
        <p:txBody>
          <a:bodyPr wrap="square" lIns="0" tIns="0" rIns="0" bIns="0" anchor="ctr">
            <a:noAutofit/>
          </a:bodyPr>
          <a:lstStyle/>
          <a:p>
            <a:pPr algn="l">
              <a:defRPr sz="1500" b="0">
                <a:solidFill>
                  <a:srgbClr val="25699A"/>
                </a:solidFill>
                <a:latin typeface="Microsoft YaHei"/>
                <a:ea typeface="Microsoft YaHei"/>
                <a:cs typeface="Microsoft YaHei"/>
              </a:defRPr>
            </a:pPr>
            <a:r>
              <a:rPr sz="1500" b="0">
                <a:solidFill>
                  <a:srgbClr val="25699A"/>
                </a:solidFill>
                <a:latin typeface="Microsoft YaHei"/>
                <a:ea typeface="Microsoft YaHei"/>
                <a:cs typeface="Microsoft YaHei"/>
                <a:hlinkClick r:id="rId3"/>
              </a:rPr>
              <a:t>开源项目：https://github.com/run-llama/llama_index</a:t>
            </a:r>
          </a:p>
        </p:txBody>
      </p:sp>
      <p:sp>
        <p:nvSpPr>
          <p:cNvPr id="23" name="直接连接符 22">
            <a:extLst>
              <a:ext uri="{FF2B5EF4-FFF2-40B4-BE49-F238E27FC236}">
                <a16:creationId xmlns:a16="http://schemas.microsoft.com/office/drawing/2014/main" id="{7C2C398D-32C9-4EEE-B2E3-35A8B477C238}"/>
              </a:ext>
            </a:extLst>
          </p:cNvPr>
          <p:cNvSpPr>
            <a:spLocks noGrp="1"/>
          </p:cNvSpPr>
          <p:nvPr/>
        </p:nvSpPr>
        <p:spPr>
          <a:xfrm>
            <a:off x="609600" y="6324600"/>
            <a:ext cx="10972800" cy="95"/>
          </a:xfrm>
          <a:prstGeom prst="line">
            <a:avLst/>
          </a:prstGeom>
          <a:noFill/>
          <a:ln w="9525">
            <a:solidFill>
              <a:srgbClr val="D7E2E8"/>
            </a:solidFill>
          </a:ln>
        </p:spPr>
      </p:sp>
      <p:sp>
        <p:nvSpPr>
          <p:cNvPr id="24" name="flow-choice-27">
            <a:extLst>
              <a:ext uri="{FF2B5EF4-FFF2-40B4-BE49-F238E27FC236}">
                <a16:creationId xmlns:a16="http://schemas.microsoft.com/office/drawing/2014/main" id="{10B32CA9-FC98-4881-B168-9A46CC0B15BE}"/>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V4.3</a:t>
            </a:r>
          </a:p>
        </p:txBody>
      </p:sp>
      <p:sp>
        <p:nvSpPr>
          <p:cNvPr id="25" name="flow-choice-28">
            <a:extLst>
              <a:ext uri="{FF2B5EF4-FFF2-40B4-BE49-F238E27FC236}">
                <a16:creationId xmlns:a16="http://schemas.microsoft.com/office/drawing/2014/main" id="{40E28C38-026A-46EA-81F4-A0F5D2E51610}"/>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11 / 24</a:t>
            </a:r>
          </a:p>
        </p:txBody>
      </p:sp>
    </p:spTree>
    <p:extLst>
      <p:ext uri="{BB962C8B-B14F-4D97-AF65-F5344CB8AC3E}">
        <p14:creationId xmlns:p14="http://schemas.microsoft.com/office/powerpoint/2010/main" val="11188933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6" name="直接箭头连接符 25"/>
          <p:cNvCxnSpPr>
            <a:stCxn id="6" idx="3"/>
            <a:endCxn id="7" idx="1"/>
          </p:cNvCxnSpPr>
          <p:nvPr/>
        </p:nvCxnSpPr>
        <p:spPr>
          <a:xfrm>
            <a:off x="8763000" y="2305050"/>
            <a:ext cx="304800" cy="0"/>
          </a:xfrm>
          <a:prstGeom prst="straightConnector1">
            <a:avLst/>
          </a:prstGeom>
          <a:ln w="19050">
            <a:solidFill>
              <a:srgbClr val="25699A"/>
            </a:solidFill>
            <a:tailEnd type="arrow" w="med" len="med"/>
          </a:ln>
        </p:spPr>
      </p:cxnSp>
      <p:cxnSp>
        <p:nvCxnSpPr>
          <p:cNvPr id="27" name="直接箭头连接符 26"/>
          <p:cNvCxnSpPr>
            <a:stCxn id="5" idx="3"/>
            <a:endCxn id="6" idx="1"/>
          </p:cNvCxnSpPr>
          <p:nvPr/>
        </p:nvCxnSpPr>
        <p:spPr>
          <a:xfrm>
            <a:off x="5943600" y="2305050"/>
            <a:ext cx="304800" cy="0"/>
          </a:xfrm>
          <a:prstGeom prst="straightConnector1">
            <a:avLst/>
          </a:prstGeom>
          <a:ln w="19050">
            <a:solidFill>
              <a:srgbClr val="25699A"/>
            </a:solidFill>
            <a:tailEnd type="arrow" w="med" len="med"/>
          </a:ln>
        </p:spPr>
      </p:cxnSp>
      <p:cxnSp>
        <p:nvCxnSpPr>
          <p:cNvPr id="28" name="直接箭头连接符 27"/>
          <p:cNvCxnSpPr>
            <a:stCxn id="4" idx="3"/>
            <a:endCxn id="5" idx="1"/>
          </p:cNvCxnSpPr>
          <p:nvPr/>
        </p:nvCxnSpPr>
        <p:spPr>
          <a:xfrm>
            <a:off x="3124200" y="2305050"/>
            <a:ext cx="304800" cy="0"/>
          </a:xfrm>
          <a:prstGeom prst="straightConnector1">
            <a:avLst/>
          </a:prstGeom>
          <a:ln w="19050">
            <a:solidFill>
              <a:srgbClr val="25699A"/>
            </a:solidFill>
            <a:tailEnd type="arrow" w="med" len="med"/>
          </a:ln>
        </p:spPr>
      </p:cxnSp>
      <p:sp>
        <p:nvSpPr>
          <p:cNvPr id="29" name="flow-choice-29">
            <a:extLst>
              <a:ext uri="{FF2B5EF4-FFF2-40B4-BE49-F238E27FC236}">
                <a16:creationId xmlns:a16="http://schemas.microsoft.com/office/drawing/2014/main" id="{0E24507D-29AD-48DF-B92E-10DB2725E35C}"/>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02  方案与技术选择</a:t>
            </a:r>
          </a:p>
        </p:txBody>
      </p:sp>
      <p:sp>
        <p:nvSpPr>
          <p:cNvPr id="2" name="flow-choice-30">
            <a:extLst>
              <a:ext uri="{FF2B5EF4-FFF2-40B4-BE49-F238E27FC236}">
                <a16:creationId xmlns:a16="http://schemas.microsoft.com/office/drawing/2014/main" id="{FE608615-D327-4090-994A-3D6BC0E7122B}"/>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2925" b="1">
                <a:solidFill>
                  <a:srgbClr val="163044"/>
                </a:solidFill>
                <a:latin typeface="Microsoft YaHei"/>
                <a:ea typeface="Microsoft YaHei"/>
                <a:cs typeface="Microsoft YaHei"/>
              </a:defRPr>
            </a:pPr>
            <a:r>
              <a:rPr sz="2925" b="1">
                <a:solidFill>
                  <a:srgbClr val="163044"/>
                </a:solidFill>
                <a:latin typeface="Microsoft YaHei"/>
                <a:ea typeface="Microsoft YaHei"/>
                <a:cs typeface="Microsoft YaHei"/>
              </a:rPr>
              <a:t>Operate：参考 Controller 持续核对状态</a:t>
            </a:r>
          </a:p>
        </p:txBody>
      </p:sp>
      <p:sp>
        <p:nvSpPr>
          <p:cNvPr id="3" name="flow-choice-31">
            <a:extLst>
              <a:ext uri="{FF2B5EF4-FFF2-40B4-BE49-F238E27FC236}">
                <a16:creationId xmlns:a16="http://schemas.microsoft.com/office/drawing/2014/main" id="{7FD5275D-FEA1-40E8-9CA3-5BD6B0D90CBE}"/>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借鉴 Kubernetes Controller 模式，由 P3 实现记忆调度控制器</a:t>
            </a:r>
          </a:p>
        </p:txBody>
      </p:sp>
      <p:sp>
        <p:nvSpPr>
          <p:cNvPr id="4" name="flow-step-2-0">
            <a:extLst>
              <a:ext uri="{FF2B5EF4-FFF2-40B4-BE49-F238E27FC236}">
                <a16:creationId xmlns:a16="http://schemas.microsoft.com/office/drawing/2014/main" id="{90CA3145-466B-4B9B-9AB6-A7C4FA842291}"/>
              </a:ext>
            </a:extLst>
          </p:cNvPr>
          <p:cNvSpPr>
            <a:spLocks noGrp="1"/>
          </p:cNvSpPr>
          <p:nvPr/>
        </p:nvSpPr>
        <p:spPr>
          <a:xfrm>
            <a:off x="609600" y="2009775"/>
            <a:ext cx="2514600" cy="590550"/>
          </a:xfrm>
          <a:prstGeom prst="rect">
            <a:avLst/>
          </a:prstGeom>
          <a:solidFill>
            <a:srgbClr val="EAF5F2"/>
          </a:solidFill>
          <a:ln w="9525">
            <a:solidFill>
              <a:srgbClr val="D7E2E8"/>
            </a:solidFill>
          </a:ln>
        </p:spPr>
        <p:txBody>
          <a:bodyPr lIns="47625" tIns="38100" rIns="47625" bIns="38100"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观察当前状态</a:t>
            </a:r>
          </a:p>
        </p:txBody>
      </p:sp>
      <p:sp>
        <p:nvSpPr>
          <p:cNvPr id="5" name="flow-step-2-1">
            <a:extLst>
              <a:ext uri="{FF2B5EF4-FFF2-40B4-BE49-F238E27FC236}">
                <a16:creationId xmlns:a16="http://schemas.microsoft.com/office/drawing/2014/main" id="{77D7BC94-48CB-40C5-A8AB-265E3700AE95}"/>
              </a:ext>
            </a:extLst>
          </p:cNvPr>
          <p:cNvSpPr>
            <a:spLocks noGrp="1"/>
          </p:cNvSpPr>
          <p:nvPr/>
        </p:nvSpPr>
        <p:spPr>
          <a:xfrm>
            <a:off x="3429000" y="2009775"/>
            <a:ext cx="2514600" cy="590550"/>
          </a:xfrm>
          <a:prstGeom prst="rect">
            <a:avLst/>
          </a:prstGeom>
          <a:solidFill>
            <a:srgbClr val="EAF5F2"/>
          </a:solidFill>
          <a:ln w="9525">
            <a:solidFill>
              <a:srgbClr val="D7E2E8"/>
            </a:solidFill>
          </a:ln>
        </p:spPr>
        <p:txBody>
          <a:bodyPr lIns="47625" tIns="38100" rIns="47625" bIns="38100"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计算期望状态</a:t>
            </a:r>
          </a:p>
        </p:txBody>
      </p:sp>
      <p:sp>
        <p:nvSpPr>
          <p:cNvPr id="6" name="flow-step-2-2">
            <a:extLst>
              <a:ext uri="{FF2B5EF4-FFF2-40B4-BE49-F238E27FC236}">
                <a16:creationId xmlns:a16="http://schemas.microsoft.com/office/drawing/2014/main" id="{396E6311-4162-4EE3-86A2-1B8DF8DD5E9E}"/>
              </a:ext>
            </a:extLst>
          </p:cNvPr>
          <p:cNvSpPr>
            <a:spLocks noGrp="1"/>
          </p:cNvSpPr>
          <p:nvPr/>
        </p:nvSpPr>
        <p:spPr>
          <a:xfrm>
            <a:off x="6248400" y="2009775"/>
            <a:ext cx="2514600" cy="590550"/>
          </a:xfrm>
          <a:prstGeom prst="rect">
            <a:avLst/>
          </a:prstGeom>
          <a:solidFill>
            <a:srgbClr val="EAF5F2"/>
          </a:solidFill>
          <a:ln w="9525">
            <a:solidFill>
              <a:srgbClr val="D7E2E8"/>
            </a:solidFill>
          </a:ln>
        </p:spPr>
        <p:txBody>
          <a:bodyPr lIns="47625" tIns="38100" rIns="47625" bIns="38100"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执行差异动作</a:t>
            </a:r>
          </a:p>
        </p:txBody>
      </p:sp>
      <p:sp>
        <p:nvSpPr>
          <p:cNvPr id="7" name="flow-step-2-3">
            <a:extLst>
              <a:ext uri="{FF2B5EF4-FFF2-40B4-BE49-F238E27FC236}">
                <a16:creationId xmlns:a16="http://schemas.microsoft.com/office/drawing/2014/main" id="{787372BF-F1E6-4A35-A819-9FB4A1F452AC}"/>
              </a:ext>
            </a:extLst>
          </p:cNvPr>
          <p:cNvSpPr>
            <a:spLocks noGrp="1"/>
          </p:cNvSpPr>
          <p:nvPr/>
        </p:nvSpPr>
        <p:spPr>
          <a:xfrm>
            <a:off x="9067800" y="2009775"/>
            <a:ext cx="2514600" cy="590550"/>
          </a:xfrm>
          <a:prstGeom prst="rect">
            <a:avLst/>
          </a:prstGeom>
          <a:solidFill>
            <a:srgbClr val="EAF5F2"/>
          </a:solidFill>
          <a:ln w="9525">
            <a:solidFill>
              <a:srgbClr val="D7E2E8"/>
            </a:solidFill>
          </a:ln>
        </p:spPr>
        <p:txBody>
          <a:bodyPr lIns="47625" tIns="38100" rIns="47625" bIns="38100"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重新核对效果</a:t>
            </a:r>
          </a:p>
        </p:txBody>
      </p:sp>
      <p:sp>
        <p:nvSpPr>
          <p:cNvPr id="11" name="flow-choice-32">
            <a:extLst>
              <a:ext uri="{FF2B5EF4-FFF2-40B4-BE49-F238E27FC236}">
                <a16:creationId xmlns:a16="http://schemas.microsoft.com/office/drawing/2014/main" id="{910DEE70-92B6-4D46-B9A7-0249B4E97E48}"/>
              </a:ext>
            </a:extLst>
          </p:cNvPr>
          <p:cNvSpPr>
            <a:spLocks noGrp="1"/>
          </p:cNvSpPr>
          <p:nvPr/>
        </p:nvSpPr>
        <p:spPr>
          <a:xfrm>
            <a:off x="609600" y="2847975"/>
            <a:ext cx="2076450" cy="60960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参考了什么</a:t>
            </a:r>
          </a:p>
        </p:txBody>
      </p:sp>
      <p:sp>
        <p:nvSpPr>
          <p:cNvPr id="12" name="flow-choice-33">
            <a:extLst>
              <a:ext uri="{FF2B5EF4-FFF2-40B4-BE49-F238E27FC236}">
                <a16:creationId xmlns:a16="http://schemas.microsoft.com/office/drawing/2014/main" id="{058158BA-E345-440E-B9D4-D824B319BB46}"/>
              </a:ext>
            </a:extLst>
          </p:cNvPr>
          <p:cNvSpPr>
            <a:spLocks noGrp="1"/>
          </p:cNvSpPr>
          <p:nvPr/>
        </p:nvSpPr>
        <p:spPr>
          <a:xfrm>
            <a:off x="2867025" y="2847975"/>
            <a:ext cx="8715375" cy="6096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事件触发后重新读取当前状态，比较实际与期望，</a:t>
            </a:r>
          </a:p>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再执行必要动作，并重新观察结果。</a:t>
            </a:r>
          </a:p>
        </p:txBody>
      </p:sp>
      <p:sp>
        <p:nvSpPr>
          <p:cNvPr id="13" name="直接连接符 12">
            <a:extLst>
              <a:ext uri="{FF2B5EF4-FFF2-40B4-BE49-F238E27FC236}">
                <a16:creationId xmlns:a16="http://schemas.microsoft.com/office/drawing/2014/main" id="{AC5F7D47-8121-41E8-AC42-C9FF5E92524A}"/>
              </a:ext>
            </a:extLst>
          </p:cNvPr>
          <p:cNvSpPr>
            <a:spLocks noGrp="1"/>
          </p:cNvSpPr>
          <p:nvPr/>
        </p:nvSpPr>
        <p:spPr>
          <a:xfrm>
            <a:off x="609600" y="3533775"/>
            <a:ext cx="10972800" cy="95"/>
          </a:xfrm>
          <a:prstGeom prst="line">
            <a:avLst/>
          </a:prstGeom>
          <a:noFill/>
          <a:ln w="9525">
            <a:solidFill>
              <a:srgbClr val="D7E2E8"/>
            </a:solidFill>
          </a:ln>
        </p:spPr>
      </p:sp>
      <p:sp>
        <p:nvSpPr>
          <p:cNvPr id="14" name="flow-choice-34">
            <a:extLst>
              <a:ext uri="{FF2B5EF4-FFF2-40B4-BE49-F238E27FC236}">
                <a16:creationId xmlns:a16="http://schemas.microsoft.com/office/drawing/2014/main" id="{88E74266-DAC1-4753-9186-FC1E0A852ED0}"/>
              </a:ext>
            </a:extLst>
          </p:cNvPr>
          <p:cNvSpPr>
            <a:spLocks noGrp="1"/>
          </p:cNvSpPr>
          <p:nvPr/>
        </p:nvSpPr>
        <p:spPr>
          <a:xfrm>
            <a:off x="609600" y="3590925"/>
            <a:ext cx="2076450" cy="60960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为什么参考</a:t>
            </a:r>
          </a:p>
        </p:txBody>
      </p:sp>
      <p:sp>
        <p:nvSpPr>
          <p:cNvPr id="15" name="flow-choice-35">
            <a:extLst>
              <a:ext uri="{FF2B5EF4-FFF2-40B4-BE49-F238E27FC236}">
                <a16:creationId xmlns:a16="http://schemas.microsoft.com/office/drawing/2014/main" id="{B4C8962B-FE48-426C-B80C-CD82651917BB}"/>
              </a:ext>
            </a:extLst>
          </p:cNvPr>
          <p:cNvSpPr>
            <a:spLocks noGrp="1"/>
          </p:cNvSpPr>
          <p:nvPr/>
        </p:nvSpPr>
        <p:spPr>
          <a:xfrm>
            <a:off x="2867025" y="3590925"/>
            <a:ext cx="8715375" cy="6096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冷热状态会变化，也会出现重复事件或回执丢失。</a:t>
            </a:r>
          </a:p>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反复核对当前状态，便于恢复并避免重复执行。</a:t>
            </a:r>
          </a:p>
        </p:txBody>
      </p:sp>
      <p:sp>
        <p:nvSpPr>
          <p:cNvPr id="16" name="直接连接符 15">
            <a:extLst>
              <a:ext uri="{FF2B5EF4-FFF2-40B4-BE49-F238E27FC236}">
                <a16:creationId xmlns:a16="http://schemas.microsoft.com/office/drawing/2014/main" id="{CD244E23-3624-436B-9BE5-A85F6D483323}"/>
              </a:ext>
            </a:extLst>
          </p:cNvPr>
          <p:cNvSpPr>
            <a:spLocks noGrp="1"/>
          </p:cNvSpPr>
          <p:nvPr/>
        </p:nvSpPr>
        <p:spPr>
          <a:xfrm>
            <a:off x="609600" y="4276725"/>
            <a:ext cx="10972800" cy="95"/>
          </a:xfrm>
          <a:prstGeom prst="line">
            <a:avLst/>
          </a:prstGeom>
          <a:noFill/>
          <a:ln w="9525">
            <a:solidFill>
              <a:srgbClr val="D7E2E8"/>
            </a:solidFill>
          </a:ln>
        </p:spPr>
      </p:sp>
      <p:sp>
        <p:nvSpPr>
          <p:cNvPr id="17" name="flow-choice-36">
            <a:extLst>
              <a:ext uri="{FF2B5EF4-FFF2-40B4-BE49-F238E27FC236}">
                <a16:creationId xmlns:a16="http://schemas.microsoft.com/office/drawing/2014/main" id="{673D5972-DFC8-4CE7-A9DB-8FC11ED8483E}"/>
              </a:ext>
            </a:extLst>
          </p:cNvPr>
          <p:cNvSpPr>
            <a:spLocks noGrp="1"/>
          </p:cNvSpPr>
          <p:nvPr/>
        </p:nvSpPr>
        <p:spPr>
          <a:xfrm>
            <a:off x="609600" y="4333875"/>
            <a:ext cx="2076450" cy="60960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与其他方案比较</a:t>
            </a:r>
          </a:p>
        </p:txBody>
      </p:sp>
      <p:sp>
        <p:nvSpPr>
          <p:cNvPr id="18" name="flow-choice-37">
            <a:extLst>
              <a:ext uri="{FF2B5EF4-FFF2-40B4-BE49-F238E27FC236}">
                <a16:creationId xmlns:a16="http://schemas.microsoft.com/office/drawing/2014/main" id="{9CC85BF7-A53E-4758-9C6A-B5380DACADFA}"/>
              </a:ext>
            </a:extLst>
          </p:cNvPr>
          <p:cNvSpPr>
            <a:spLocks noGrp="1"/>
          </p:cNvSpPr>
          <p:nvPr/>
        </p:nvSpPr>
        <p:spPr>
          <a:xfrm>
            <a:off x="2867025" y="4333875"/>
            <a:ext cx="8715375" cy="6096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定时任务或队列仍需补上状态判断和效果核对；</a:t>
            </a:r>
          </a:p>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Temporal 适合复杂长流程，本期引入会增加服务与迁移。</a:t>
            </a:r>
          </a:p>
        </p:txBody>
      </p:sp>
      <p:sp>
        <p:nvSpPr>
          <p:cNvPr id="19" name="直接连接符 18">
            <a:extLst>
              <a:ext uri="{FF2B5EF4-FFF2-40B4-BE49-F238E27FC236}">
                <a16:creationId xmlns:a16="http://schemas.microsoft.com/office/drawing/2014/main" id="{ED16EA89-BA76-44F7-843C-72A5885DC9F7}"/>
              </a:ext>
            </a:extLst>
          </p:cNvPr>
          <p:cNvSpPr>
            <a:spLocks noGrp="1"/>
          </p:cNvSpPr>
          <p:nvPr/>
        </p:nvSpPr>
        <p:spPr>
          <a:xfrm>
            <a:off x="609600" y="5019675"/>
            <a:ext cx="10972800" cy="95"/>
          </a:xfrm>
          <a:prstGeom prst="line">
            <a:avLst/>
          </a:prstGeom>
          <a:noFill/>
          <a:ln w="9525">
            <a:solidFill>
              <a:srgbClr val="D7E2E8"/>
            </a:solidFill>
          </a:ln>
        </p:spPr>
      </p:sp>
      <p:sp>
        <p:nvSpPr>
          <p:cNvPr id="20" name="flow-choice-38">
            <a:extLst>
              <a:ext uri="{FF2B5EF4-FFF2-40B4-BE49-F238E27FC236}">
                <a16:creationId xmlns:a16="http://schemas.microsoft.com/office/drawing/2014/main" id="{7F9141B9-70D3-435B-92B5-77B81CAAADFA}"/>
              </a:ext>
            </a:extLst>
          </p:cNvPr>
          <p:cNvSpPr>
            <a:spLocks noGrp="1"/>
          </p:cNvSpPr>
          <p:nvPr/>
        </p:nvSpPr>
        <p:spPr>
          <a:xfrm>
            <a:off x="609600" y="5076825"/>
            <a:ext cx="2076450" cy="60960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本项目怎样采用</a:t>
            </a:r>
          </a:p>
        </p:txBody>
      </p:sp>
      <p:sp>
        <p:nvSpPr>
          <p:cNvPr id="21" name="flow-choice-39">
            <a:extLst>
              <a:ext uri="{FF2B5EF4-FFF2-40B4-BE49-F238E27FC236}">
                <a16:creationId xmlns:a16="http://schemas.microsoft.com/office/drawing/2014/main" id="{82F11CB3-B173-486A-AB18-A58D607E20B6}"/>
              </a:ext>
            </a:extLst>
          </p:cNvPr>
          <p:cNvSpPr>
            <a:spLocks noGrp="1"/>
          </p:cNvSpPr>
          <p:nvPr/>
        </p:nvSpPr>
        <p:spPr>
          <a:xfrm>
            <a:off x="2867025" y="5076825"/>
            <a:ext cx="8715375" cy="6096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用 Python 实现控制循环，保留动作编号、查询与核验。</a:t>
            </a:r>
          </a:p>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不直接引入 Go 控制器库，也不要求为记忆建设 K8s 集群。</a:t>
            </a:r>
          </a:p>
        </p:txBody>
      </p:sp>
      <p:sp>
        <p:nvSpPr>
          <p:cNvPr id="22" name="flow-choice-40">
            <a:extLst>
              <a:ext uri="{FF2B5EF4-FFF2-40B4-BE49-F238E27FC236}">
                <a16:creationId xmlns:a16="http://schemas.microsoft.com/office/drawing/2014/main" id="{9D603A33-1069-43A1-A09B-A5DECE07DBC4}"/>
              </a:ext>
            </a:extLst>
          </p:cNvPr>
          <p:cNvSpPr>
            <a:spLocks noGrp="1"/>
          </p:cNvSpPr>
          <p:nvPr/>
        </p:nvSpPr>
        <p:spPr>
          <a:xfrm>
            <a:off x="609600" y="5953125"/>
            <a:ext cx="10972800" cy="285750"/>
          </a:xfrm>
          <a:prstGeom prst="rect">
            <a:avLst/>
          </a:prstGeom>
          <a:noFill/>
          <a:ln w="0">
            <a:noFill/>
          </a:ln>
        </p:spPr>
        <p:txBody>
          <a:bodyPr wrap="square" lIns="0" tIns="0" rIns="0" bIns="0" anchor="ctr">
            <a:noAutofit/>
          </a:bodyPr>
          <a:lstStyle/>
          <a:p>
            <a:pPr algn="l">
              <a:defRPr sz="1500" b="0">
                <a:solidFill>
                  <a:srgbClr val="25699A"/>
                </a:solidFill>
                <a:latin typeface="Microsoft YaHei"/>
                <a:ea typeface="Microsoft YaHei"/>
                <a:cs typeface="Microsoft YaHei"/>
              </a:defRPr>
            </a:pPr>
            <a:r>
              <a:rPr sz="1500" b="0">
                <a:solidFill>
                  <a:srgbClr val="25699A"/>
                </a:solidFill>
                <a:latin typeface="Microsoft YaHei"/>
                <a:ea typeface="Microsoft YaHei"/>
                <a:cs typeface="Microsoft YaHei"/>
                <a:hlinkClick r:id="rId3"/>
              </a:rPr>
              <a:t>开源项目：https://github.com/kubernetes-sigs/controller-runtime</a:t>
            </a:r>
          </a:p>
        </p:txBody>
      </p:sp>
      <p:sp>
        <p:nvSpPr>
          <p:cNvPr id="23" name="直接连接符 22">
            <a:extLst>
              <a:ext uri="{FF2B5EF4-FFF2-40B4-BE49-F238E27FC236}">
                <a16:creationId xmlns:a16="http://schemas.microsoft.com/office/drawing/2014/main" id="{D84CD378-CFC2-4B7A-8607-9FFAFF7B2E29}"/>
              </a:ext>
            </a:extLst>
          </p:cNvPr>
          <p:cNvSpPr>
            <a:spLocks noGrp="1"/>
          </p:cNvSpPr>
          <p:nvPr/>
        </p:nvSpPr>
        <p:spPr>
          <a:xfrm>
            <a:off x="609600" y="6324600"/>
            <a:ext cx="10972800" cy="95"/>
          </a:xfrm>
          <a:prstGeom prst="line">
            <a:avLst/>
          </a:prstGeom>
          <a:noFill/>
          <a:ln w="9525">
            <a:solidFill>
              <a:srgbClr val="D7E2E8"/>
            </a:solidFill>
          </a:ln>
        </p:spPr>
      </p:sp>
      <p:sp>
        <p:nvSpPr>
          <p:cNvPr id="24" name="flow-choice-41">
            <a:extLst>
              <a:ext uri="{FF2B5EF4-FFF2-40B4-BE49-F238E27FC236}">
                <a16:creationId xmlns:a16="http://schemas.microsoft.com/office/drawing/2014/main" id="{197B200A-D101-460C-BF12-817774D3B306}"/>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V4.3</a:t>
            </a:r>
          </a:p>
        </p:txBody>
      </p:sp>
      <p:sp>
        <p:nvSpPr>
          <p:cNvPr id="25" name="flow-choice-42">
            <a:extLst>
              <a:ext uri="{FF2B5EF4-FFF2-40B4-BE49-F238E27FC236}">
                <a16:creationId xmlns:a16="http://schemas.microsoft.com/office/drawing/2014/main" id="{186DCB8C-0FD0-4FC9-A7C9-70450A315680}"/>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12 / 24</a:t>
            </a:r>
          </a:p>
        </p:txBody>
      </p:sp>
    </p:spTree>
    <p:extLst>
      <p:ext uri="{BB962C8B-B14F-4D97-AF65-F5344CB8AC3E}">
        <p14:creationId xmlns:p14="http://schemas.microsoft.com/office/powerpoint/2010/main" val="217409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37" name="直接箭头连接符 36"/>
          <p:cNvCxnSpPr>
            <a:stCxn id="20" idx="3"/>
            <a:endCxn id="25" idx="1"/>
          </p:cNvCxnSpPr>
          <p:nvPr/>
        </p:nvCxnSpPr>
        <p:spPr>
          <a:xfrm>
            <a:off x="9353550" y="2752725"/>
            <a:ext cx="171450" cy="0"/>
          </a:xfrm>
          <a:prstGeom prst="straightConnector1">
            <a:avLst/>
          </a:prstGeom>
          <a:ln w="19050">
            <a:solidFill>
              <a:srgbClr val="25699A"/>
            </a:solidFill>
            <a:tailEnd type="arrow" w="med" len="med"/>
          </a:ln>
        </p:spPr>
      </p:cxnSp>
      <p:cxnSp>
        <p:nvCxnSpPr>
          <p:cNvPr id="38" name="直接箭头连接符 37"/>
          <p:cNvCxnSpPr>
            <a:stCxn id="15" idx="3"/>
            <a:endCxn id="20" idx="1"/>
          </p:cNvCxnSpPr>
          <p:nvPr/>
        </p:nvCxnSpPr>
        <p:spPr>
          <a:xfrm>
            <a:off x="7124700" y="2752725"/>
            <a:ext cx="171450" cy="0"/>
          </a:xfrm>
          <a:prstGeom prst="straightConnector1">
            <a:avLst/>
          </a:prstGeom>
          <a:ln w="19050">
            <a:solidFill>
              <a:srgbClr val="25699A"/>
            </a:solidFill>
            <a:tailEnd type="arrow" w="med" len="med"/>
          </a:ln>
        </p:spPr>
      </p:cxnSp>
      <p:cxnSp>
        <p:nvCxnSpPr>
          <p:cNvPr id="39" name="直接箭头连接符 38"/>
          <p:cNvCxnSpPr>
            <a:stCxn id="10" idx="3"/>
            <a:endCxn id="15" idx="1"/>
          </p:cNvCxnSpPr>
          <p:nvPr/>
        </p:nvCxnSpPr>
        <p:spPr>
          <a:xfrm>
            <a:off x="4895850" y="2752725"/>
            <a:ext cx="171450" cy="0"/>
          </a:xfrm>
          <a:prstGeom prst="straightConnector1">
            <a:avLst/>
          </a:prstGeom>
          <a:ln w="19050">
            <a:solidFill>
              <a:srgbClr val="25699A"/>
            </a:solidFill>
            <a:tailEnd type="arrow" w="med" len="med"/>
          </a:ln>
        </p:spPr>
      </p:cxnSp>
      <p:cxnSp>
        <p:nvCxnSpPr>
          <p:cNvPr id="40" name="直接箭头连接符 39"/>
          <p:cNvCxnSpPr>
            <a:stCxn id="5" idx="3"/>
            <a:endCxn id="10" idx="1"/>
          </p:cNvCxnSpPr>
          <p:nvPr/>
        </p:nvCxnSpPr>
        <p:spPr>
          <a:xfrm>
            <a:off x="2667000" y="2752725"/>
            <a:ext cx="171450" cy="0"/>
          </a:xfrm>
          <a:prstGeom prst="straightConnector1">
            <a:avLst/>
          </a:prstGeom>
          <a:ln w="19050">
            <a:solidFill>
              <a:srgbClr val="25699A"/>
            </a:solidFill>
            <a:tailEnd type="arrow" w="med" len="med"/>
          </a:ln>
        </p:spPr>
      </p:cxnSp>
      <p:sp>
        <p:nvSpPr>
          <p:cNvPr id="41" name="test-text-1">
            <a:extLst>
              <a:ext uri="{FF2B5EF4-FFF2-40B4-BE49-F238E27FC236}">
                <a16:creationId xmlns:a16="http://schemas.microsoft.com/office/drawing/2014/main" id="{35542AF2-CB90-48DB-97AB-D0629A8C9612}"/>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st-text-2">
            <a:extLst>
              <a:ext uri="{FF2B5EF4-FFF2-40B4-BE49-F238E27FC236}">
                <a16:creationId xmlns:a16="http://schemas.microsoft.com/office/drawing/2014/main" id="{9766BA30-BA7F-4836-8AD3-BA81137D11BE}"/>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000" b="1">
                <a:solidFill>
                  <a:srgbClr val="163044"/>
                </a:solidFill>
                <a:latin typeface="Microsoft YaHei"/>
                <a:ea typeface="Microsoft YaHei"/>
                <a:cs typeface="Microsoft YaHei"/>
              </a:defRPr>
            </a:pPr>
            <a:r>
              <a:rPr sz="3000" b="1">
                <a:solidFill>
                  <a:srgbClr val="163044"/>
                </a:solidFill>
                <a:latin typeface="Microsoft YaHei"/>
                <a:ea typeface="Microsoft YaHei"/>
                <a:cs typeface="Microsoft YaHei"/>
              </a:rPr>
              <a:t>测试安排：设计、联调、验收到发布</a:t>
            </a:r>
          </a:p>
        </p:txBody>
      </p:sp>
      <p:sp>
        <p:nvSpPr>
          <p:cNvPr id="3" name="test-text-3">
            <a:extLst>
              <a:ext uri="{FF2B5EF4-FFF2-40B4-BE49-F238E27FC236}">
                <a16:creationId xmlns:a16="http://schemas.microsoft.com/office/drawing/2014/main" id="{C99E971F-3021-4EF0-83B4-1A2471717443}"/>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测试随需求和开发同步开展，每个阶段交付用例、执行记录和问题结论</a:t>
            </a:r>
          </a:p>
        </p:txBody>
      </p:sp>
      <p:sp>
        <p:nvSpPr>
          <p:cNvPr id="4" name="test-text-4">
            <a:extLst>
              <a:ext uri="{FF2B5EF4-FFF2-40B4-BE49-F238E27FC236}">
                <a16:creationId xmlns:a16="http://schemas.microsoft.com/office/drawing/2014/main" id="{B8A99D5F-E638-47D0-8086-3DEAB5A3C833}"/>
              </a:ext>
            </a:extLst>
          </p:cNvPr>
          <p:cNvSpPr>
            <a:spLocks noGrp="1"/>
          </p:cNvSpPr>
          <p:nvPr/>
        </p:nvSpPr>
        <p:spPr>
          <a:xfrm>
            <a:off x="609600" y="1971675"/>
            <a:ext cx="2057400" cy="352425"/>
          </a:xfrm>
          <a:prstGeom prst="rect">
            <a:avLst/>
          </a:prstGeom>
          <a:noFill/>
          <a:ln w="0">
            <a:noFill/>
          </a:ln>
        </p:spPr>
        <p:txBody>
          <a:bodyPr wrap="square" lIns="0" tIns="0" rIns="0" bIns="0" anchor="ctr">
            <a:noAutofit/>
          </a:bodyPr>
          <a:lstStyle/>
          <a:p>
            <a:pPr algn="ctr">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09/30–10/09</a:t>
            </a:r>
          </a:p>
        </p:txBody>
      </p:sp>
      <p:sp>
        <p:nvSpPr>
          <p:cNvPr id="5" name="test-node-5">
            <a:extLst>
              <a:ext uri="{FF2B5EF4-FFF2-40B4-BE49-F238E27FC236}">
                <a16:creationId xmlns:a16="http://schemas.microsoft.com/office/drawing/2014/main" id="{4B5C9730-7F74-4759-86F7-22BA943F03D9}"/>
              </a:ext>
            </a:extLst>
          </p:cNvPr>
          <p:cNvSpPr>
            <a:spLocks noGrp="1"/>
          </p:cNvSpPr>
          <p:nvPr/>
        </p:nvSpPr>
        <p:spPr>
          <a:xfrm>
            <a:off x="609600" y="2447925"/>
            <a:ext cx="2057400" cy="609600"/>
          </a:xfrm>
          <a:prstGeom prst="rect">
            <a:avLst/>
          </a:prstGeom>
          <a:solidFill>
            <a:srgbClr val="EDF4F8"/>
          </a:solidFill>
          <a:ln w="9525">
            <a:solidFill>
              <a:srgbClr val="D7E2E8"/>
            </a:solidFill>
          </a:ln>
        </p:spPr>
        <p:txBody>
          <a:bodyPr lIns="28575" tIns="28575" rIns="28575" bIns="28575" anchor="ctr">
            <a:noAutofit/>
          </a:bodyPr>
          <a:lstStyle/>
          <a:p>
            <a:pPr algn="ctr">
              <a:defRPr sz="1800" b="1">
                <a:solidFill>
                  <a:srgbClr val="163044"/>
                </a:solidFill>
                <a:latin typeface="Microsoft YaHei"/>
                <a:ea typeface="Microsoft YaHei"/>
                <a:cs typeface="Microsoft YaHei"/>
              </a:defRPr>
            </a:pPr>
            <a:r>
              <a:rPr sz="1800" b="1">
                <a:solidFill>
                  <a:srgbClr val="163044"/>
                </a:solidFill>
                <a:latin typeface="Microsoft YaHei"/>
                <a:ea typeface="Microsoft YaHei"/>
                <a:cs typeface="Microsoft YaHei"/>
              </a:rPr>
              <a:t>用例与环境准备</a:t>
            </a:r>
          </a:p>
        </p:txBody>
      </p:sp>
      <p:sp>
        <p:nvSpPr>
          <p:cNvPr id="6" name="test-text-6">
            <a:extLst>
              <a:ext uri="{FF2B5EF4-FFF2-40B4-BE49-F238E27FC236}">
                <a16:creationId xmlns:a16="http://schemas.microsoft.com/office/drawing/2014/main" id="{12A60F95-4076-4352-9C91-F4EE7E821D23}"/>
              </a:ext>
            </a:extLst>
          </p:cNvPr>
          <p:cNvSpPr>
            <a:spLocks noGrp="1"/>
          </p:cNvSpPr>
          <p:nvPr/>
        </p:nvSpPr>
        <p:spPr>
          <a:xfrm>
            <a:off x="609600" y="3295650"/>
            <a:ext cx="2057400" cy="1143000"/>
          </a:xfrm>
          <a:prstGeom prst="rect">
            <a:avLst/>
          </a:prstGeom>
          <a:noFill/>
          <a:ln w="0">
            <a:noFill/>
          </a:ln>
        </p:spPr>
        <p:txBody>
          <a:bodyPr wrap="square" lIns="0" tIns="0" rIns="0" bIns="0" anchor="ctr">
            <a:noAutofit/>
          </a:bodyPr>
          <a:lstStyle/>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按需求拆测试点</a:t>
            </a:r>
          </a:p>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评审用例与预期</a:t>
            </a:r>
          </a:p>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准备数据和 Mock</a:t>
            </a:r>
          </a:p>
        </p:txBody>
      </p:sp>
      <p:sp>
        <p:nvSpPr>
          <p:cNvPr id="7" name="直接连接符 6">
            <a:extLst>
              <a:ext uri="{FF2B5EF4-FFF2-40B4-BE49-F238E27FC236}">
                <a16:creationId xmlns:a16="http://schemas.microsoft.com/office/drawing/2014/main" id="{BD4F6261-9299-4448-9914-56D98221D5BA}"/>
              </a:ext>
            </a:extLst>
          </p:cNvPr>
          <p:cNvSpPr>
            <a:spLocks noGrp="1"/>
          </p:cNvSpPr>
          <p:nvPr/>
        </p:nvSpPr>
        <p:spPr>
          <a:xfrm>
            <a:off x="609600" y="4619625"/>
            <a:ext cx="2057400" cy="95"/>
          </a:xfrm>
          <a:prstGeom prst="line">
            <a:avLst/>
          </a:prstGeom>
          <a:noFill/>
          <a:ln w="9525">
            <a:solidFill>
              <a:srgbClr val="D7E2E8"/>
            </a:solidFill>
          </a:ln>
        </p:spPr>
      </p:sp>
      <p:sp>
        <p:nvSpPr>
          <p:cNvPr id="8" name="test-text-7">
            <a:extLst>
              <a:ext uri="{FF2B5EF4-FFF2-40B4-BE49-F238E27FC236}">
                <a16:creationId xmlns:a16="http://schemas.microsoft.com/office/drawing/2014/main" id="{7019E872-3A9C-454A-97AD-6953DABCE60A}"/>
              </a:ext>
            </a:extLst>
          </p:cNvPr>
          <p:cNvSpPr>
            <a:spLocks noGrp="1"/>
          </p:cNvSpPr>
          <p:nvPr/>
        </p:nvSpPr>
        <p:spPr>
          <a:xfrm>
            <a:off x="609600" y="4810125"/>
            <a:ext cx="2057400" cy="781050"/>
          </a:xfrm>
          <a:prstGeom prst="rect">
            <a:avLst/>
          </a:prstGeom>
          <a:noFill/>
          <a:ln w="0">
            <a:noFill/>
          </a:ln>
        </p:spPr>
        <p:txBody>
          <a:bodyPr wrap="square" lIns="0" tIns="0" rIns="0" bIns="0" anchor="ctr">
            <a:noAutofit/>
          </a:bodyPr>
          <a:lstStyle/>
          <a:p>
            <a:pPr algn="ctr">
              <a:defRPr sz="1800" b="1">
                <a:solidFill>
                  <a:srgbClr val="087F80"/>
                </a:solidFill>
                <a:latin typeface="Microsoft YaHei"/>
                <a:ea typeface="Microsoft YaHei"/>
                <a:cs typeface="Microsoft YaHei"/>
              </a:defRPr>
            </a:pPr>
            <a:r>
              <a:rPr sz="1800" b="1">
                <a:solidFill>
                  <a:srgbClr val="087F80"/>
                </a:solidFill>
                <a:latin typeface="Microsoft YaHei"/>
                <a:ea typeface="Microsoft YaHei"/>
                <a:cs typeface="Microsoft YaHei"/>
              </a:rPr>
              <a:t>用例可执行</a:t>
            </a:r>
          </a:p>
          <a:p>
            <a:pPr algn="ctr">
              <a:defRPr sz="1800" b="1">
                <a:solidFill>
                  <a:srgbClr val="087F80"/>
                </a:solidFill>
                <a:latin typeface="Microsoft YaHei"/>
                <a:ea typeface="Microsoft YaHei"/>
                <a:cs typeface="Microsoft YaHei"/>
              </a:defRPr>
            </a:pPr>
            <a:r>
              <a:rPr sz="1800" b="1">
                <a:solidFill>
                  <a:srgbClr val="087F80"/>
                </a:solidFill>
                <a:latin typeface="Microsoft YaHei"/>
                <a:ea typeface="Microsoft YaHei"/>
                <a:cs typeface="Microsoft YaHei"/>
              </a:rPr>
              <a:t>环境可复现</a:t>
            </a:r>
          </a:p>
        </p:txBody>
      </p:sp>
      <p:sp>
        <p:nvSpPr>
          <p:cNvPr id="9" name="test-text-8">
            <a:extLst>
              <a:ext uri="{FF2B5EF4-FFF2-40B4-BE49-F238E27FC236}">
                <a16:creationId xmlns:a16="http://schemas.microsoft.com/office/drawing/2014/main" id="{7B8E9A73-468D-4422-9D6D-BA2D0498B5E1}"/>
              </a:ext>
            </a:extLst>
          </p:cNvPr>
          <p:cNvSpPr>
            <a:spLocks noGrp="1"/>
          </p:cNvSpPr>
          <p:nvPr/>
        </p:nvSpPr>
        <p:spPr>
          <a:xfrm>
            <a:off x="2838450" y="1971675"/>
            <a:ext cx="2057400" cy="352425"/>
          </a:xfrm>
          <a:prstGeom prst="rect">
            <a:avLst/>
          </a:prstGeom>
          <a:noFill/>
          <a:ln w="0">
            <a:noFill/>
          </a:ln>
        </p:spPr>
        <p:txBody>
          <a:bodyPr wrap="square" lIns="0" tIns="0" rIns="0" bIns="0" anchor="ctr">
            <a:noAutofit/>
          </a:bodyPr>
          <a:lstStyle/>
          <a:p>
            <a:pPr algn="ctr">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10/10–11/06</a:t>
            </a:r>
          </a:p>
        </p:txBody>
      </p:sp>
      <p:sp>
        <p:nvSpPr>
          <p:cNvPr id="10" name="test-node-9">
            <a:extLst>
              <a:ext uri="{FF2B5EF4-FFF2-40B4-BE49-F238E27FC236}">
                <a16:creationId xmlns:a16="http://schemas.microsoft.com/office/drawing/2014/main" id="{B3C5A200-40D2-4325-9A5C-4A6C7576C126}"/>
              </a:ext>
            </a:extLst>
          </p:cNvPr>
          <p:cNvSpPr>
            <a:spLocks noGrp="1"/>
          </p:cNvSpPr>
          <p:nvPr/>
        </p:nvSpPr>
        <p:spPr>
          <a:xfrm>
            <a:off x="2838450" y="2447925"/>
            <a:ext cx="2057400" cy="609600"/>
          </a:xfrm>
          <a:prstGeom prst="rect">
            <a:avLst/>
          </a:prstGeom>
          <a:solidFill>
            <a:srgbClr val="EDF4F8"/>
          </a:solidFill>
          <a:ln w="9525">
            <a:solidFill>
              <a:srgbClr val="D7E2E8"/>
            </a:solidFill>
          </a:ln>
        </p:spPr>
        <p:txBody>
          <a:bodyPr lIns="28575" tIns="28575" rIns="28575" bIns="28575" anchor="ctr">
            <a:noAutofit/>
          </a:bodyPr>
          <a:lstStyle/>
          <a:p>
            <a:pPr algn="ctr">
              <a:defRPr sz="1800" b="1">
                <a:solidFill>
                  <a:srgbClr val="163044"/>
                </a:solidFill>
                <a:latin typeface="Microsoft YaHei"/>
                <a:ea typeface="Microsoft YaHei"/>
                <a:cs typeface="Microsoft YaHei"/>
              </a:defRPr>
            </a:pPr>
            <a:r>
              <a:rPr sz="1800" b="1">
                <a:solidFill>
                  <a:srgbClr val="163044"/>
                </a:solidFill>
                <a:latin typeface="Microsoft YaHei"/>
                <a:ea typeface="Microsoft YaHei"/>
                <a:cs typeface="Microsoft YaHei"/>
              </a:rPr>
              <a:t>开发与真实联调</a:t>
            </a:r>
          </a:p>
        </p:txBody>
      </p:sp>
      <p:sp>
        <p:nvSpPr>
          <p:cNvPr id="11" name="test-text-10">
            <a:extLst>
              <a:ext uri="{FF2B5EF4-FFF2-40B4-BE49-F238E27FC236}">
                <a16:creationId xmlns:a16="http://schemas.microsoft.com/office/drawing/2014/main" id="{EA802704-6450-41FC-8833-3A537C595099}"/>
              </a:ext>
            </a:extLst>
          </p:cNvPr>
          <p:cNvSpPr>
            <a:spLocks noGrp="1"/>
          </p:cNvSpPr>
          <p:nvPr/>
        </p:nvSpPr>
        <p:spPr>
          <a:xfrm>
            <a:off x="2838450" y="3295650"/>
            <a:ext cx="2057400" cy="1143000"/>
          </a:xfrm>
          <a:prstGeom prst="rect">
            <a:avLst/>
          </a:prstGeom>
          <a:noFill/>
          <a:ln w="0">
            <a:noFill/>
          </a:ln>
        </p:spPr>
        <p:txBody>
          <a:bodyPr wrap="square" lIns="0" tIns="0" rIns="0" bIns="0" anchor="ctr">
            <a:noAutofit/>
          </a:bodyPr>
          <a:lstStyle/>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开发完成单元自测</a:t>
            </a:r>
          </a:p>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测试运行模拟用例</a:t>
            </a:r>
          </a:p>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接入 P2 后重跑</a:t>
            </a:r>
          </a:p>
        </p:txBody>
      </p:sp>
      <p:sp>
        <p:nvSpPr>
          <p:cNvPr id="12" name="直接连接符 11">
            <a:extLst>
              <a:ext uri="{FF2B5EF4-FFF2-40B4-BE49-F238E27FC236}">
                <a16:creationId xmlns:a16="http://schemas.microsoft.com/office/drawing/2014/main" id="{3CF1B218-128B-4249-B048-4AB1334C6825}"/>
              </a:ext>
            </a:extLst>
          </p:cNvPr>
          <p:cNvSpPr>
            <a:spLocks noGrp="1"/>
          </p:cNvSpPr>
          <p:nvPr/>
        </p:nvSpPr>
        <p:spPr>
          <a:xfrm>
            <a:off x="2838450" y="4619625"/>
            <a:ext cx="2057400" cy="95"/>
          </a:xfrm>
          <a:prstGeom prst="line">
            <a:avLst/>
          </a:prstGeom>
          <a:noFill/>
          <a:ln w="9525">
            <a:solidFill>
              <a:srgbClr val="D7E2E8"/>
            </a:solidFill>
          </a:ln>
        </p:spPr>
      </p:sp>
      <p:sp>
        <p:nvSpPr>
          <p:cNvPr id="13" name="test-text-11">
            <a:extLst>
              <a:ext uri="{FF2B5EF4-FFF2-40B4-BE49-F238E27FC236}">
                <a16:creationId xmlns:a16="http://schemas.microsoft.com/office/drawing/2014/main" id="{C39CA8FB-8FA4-407C-A548-493F9727BAA1}"/>
              </a:ext>
            </a:extLst>
          </p:cNvPr>
          <p:cNvSpPr>
            <a:spLocks noGrp="1"/>
          </p:cNvSpPr>
          <p:nvPr/>
        </p:nvSpPr>
        <p:spPr>
          <a:xfrm>
            <a:off x="2838450" y="4810125"/>
            <a:ext cx="2057400" cy="781050"/>
          </a:xfrm>
          <a:prstGeom prst="rect">
            <a:avLst/>
          </a:prstGeom>
          <a:noFill/>
          <a:ln w="0">
            <a:noFill/>
          </a:ln>
        </p:spPr>
        <p:txBody>
          <a:bodyPr wrap="square" lIns="0" tIns="0" rIns="0" bIns="0" anchor="ctr">
            <a:noAutofit/>
          </a:bodyPr>
          <a:lstStyle/>
          <a:p>
            <a:pPr algn="ctr">
              <a:defRPr sz="1800" b="1">
                <a:solidFill>
                  <a:srgbClr val="087F80"/>
                </a:solidFill>
                <a:latin typeface="Microsoft YaHei"/>
                <a:ea typeface="Microsoft YaHei"/>
                <a:cs typeface="Microsoft YaHei"/>
              </a:defRPr>
            </a:pPr>
            <a:r>
              <a:rPr sz="1800" b="1">
                <a:solidFill>
                  <a:srgbClr val="087F80"/>
                </a:solidFill>
                <a:latin typeface="Microsoft YaHei"/>
                <a:ea typeface="Microsoft YaHei"/>
                <a:cs typeface="Microsoft YaHei"/>
              </a:rPr>
              <a:t>核心链路通过</a:t>
            </a:r>
          </a:p>
          <a:p>
            <a:pPr algn="ctr">
              <a:defRPr sz="1800" b="1">
                <a:solidFill>
                  <a:srgbClr val="087F80"/>
                </a:solidFill>
                <a:latin typeface="Microsoft YaHei"/>
                <a:ea typeface="Microsoft YaHei"/>
                <a:cs typeface="Microsoft YaHei"/>
              </a:defRPr>
            </a:pPr>
            <a:r>
              <a:rPr sz="1800" b="1">
                <a:solidFill>
                  <a:srgbClr val="087F80"/>
                </a:solidFill>
                <a:latin typeface="Microsoft YaHei"/>
                <a:ea typeface="Microsoft YaHei"/>
                <a:cs typeface="Microsoft YaHei"/>
              </a:rPr>
              <a:t>缺陷可定位</a:t>
            </a:r>
          </a:p>
        </p:txBody>
      </p:sp>
      <p:sp>
        <p:nvSpPr>
          <p:cNvPr id="14" name="test-text-12">
            <a:extLst>
              <a:ext uri="{FF2B5EF4-FFF2-40B4-BE49-F238E27FC236}">
                <a16:creationId xmlns:a16="http://schemas.microsoft.com/office/drawing/2014/main" id="{1077F03E-B6E9-4001-B2B9-8514C7545136}"/>
              </a:ext>
            </a:extLst>
          </p:cNvPr>
          <p:cNvSpPr>
            <a:spLocks noGrp="1"/>
          </p:cNvSpPr>
          <p:nvPr/>
        </p:nvSpPr>
        <p:spPr>
          <a:xfrm>
            <a:off x="5067300" y="1971675"/>
            <a:ext cx="2057400" cy="352425"/>
          </a:xfrm>
          <a:prstGeom prst="rect">
            <a:avLst/>
          </a:prstGeom>
          <a:noFill/>
          <a:ln w="0">
            <a:noFill/>
          </a:ln>
        </p:spPr>
        <p:txBody>
          <a:bodyPr wrap="square" lIns="0" tIns="0" rIns="0" bIns="0" anchor="ctr">
            <a:noAutofit/>
          </a:bodyPr>
          <a:lstStyle/>
          <a:p>
            <a:pPr algn="ctr">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11/07–11/20</a:t>
            </a:r>
          </a:p>
        </p:txBody>
      </p:sp>
      <p:sp>
        <p:nvSpPr>
          <p:cNvPr id="15" name="test-node-13">
            <a:extLst>
              <a:ext uri="{FF2B5EF4-FFF2-40B4-BE49-F238E27FC236}">
                <a16:creationId xmlns:a16="http://schemas.microsoft.com/office/drawing/2014/main" id="{1C24DA8A-E93C-4ED0-8D91-BB256B391857}"/>
              </a:ext>
            </a:extLst>
          </p:cNvPr>
          <p:cNvSpPr>
            <a:spLocks noGrp="1"/>
          </p:cNvSpPr>
          <p:nvPr/>
        </p:nvSpPr>
        <p:spPr>
          <a:xfrm>
            <a:off x="5067300" y="2447925"/>
            <a:ext cx="2057400" cy="609600"/>
          </a:xfrm>
          <a:prstGeom prst="rect">
            <a:avLst/>
          </a:prstGeom>
          <a:solidFill>
            <a:srgbClr val="EDF4F8"/>
          </a:solidFill>
          <a:ln w="9525">
            <a:solidFill>
              <a:srgbClr val="D7E2E8"/>
            </a:solidFill>
          </a:ln>
        </p:spPr>
        <p:txBody>
          <a:bodyPr lIns="28575" tIns="28575" rIns="28575" bIns="28575" anchor="ctr">
            <a:noAutofit/>
          </a:bodyPr>
          <a:lstStyle/>
          <a:p>
            <a:pPr algn="ctr">
              <a:defRPr sz="1800" b="1">
                <a:solidFill>
                  <a:srgbClr val="163044"/>
                </a:solidFill>
                <a:latin typeface="Microsoft YaHei"/>
                <a:ea typeface="Microsoft YaHei"/>
                <a:cs typeface="Microsoft YaHei"/>
              </a:defRPr>
            </a:pPr>
            <a:r>
              <a:rPr sz="1800" b="1">
                <a:solidFill>
                  <a:srgbClr val="163044"/>
                </a:solidFill>
                <a:latin typeface="Microsoft YaHei"/>
                <a:ea typeface="Microsoft YaHei"/>
                <a:cs typeface="Microsoft YaHei"/>
              </a:rPr>
              <a:t>系统测试与复测</a:t>
            </a:r>
          </a:p>
        </p:txBody>
      </p:sp>
      <p:sp>
        <p:nvSpPr>
          <p:cNvPr id="16" name="test-text-14">
            <a:extLst>
              <a:ext uri="{FF2B5EF4-FFF2-40B4-BE49-F238E27FC236}">
                <a16:creationId xmlns:a16="http://schemas.microsoft.com/office/drawing/2014/main" id="{B6EFD503-5417-4BAC-9CC3-730A914BA018}"/>
              </a:ext>
            </a:extLst>
          </p:cNvPr>
          <p:cNvSpPr>
            <a:spLocks noGrp="1"/>
          </p:cNvSpPr>
          <p:nvPr/>
        </p:nvSpPr>
        <p:spPr>
          <a:xfrm>
            <a:off x="5067300" y="3295650"/>
            <a:ext cx="2057400" cy="1143000"/>
          </a:xfrm>
          <a:prstGeom prst="rect">
            <a:avLst/>
          </a:prstGeom>
          <a:noFill/>
          <a:ln w="0">
            <a:noFill/>
          </a:ln>
        </p:spPr>
        <p:txBody>
          <a:bodyPr wrap="square" lIns="0" tIns="0" rIns="0" bIns="0" anchor="ctr">
            <a:noAutofit/>
          </a:bodyPr>
          <a:lstStyle/>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全量业务与性能</a:t>
            </a:r>
          </a:p>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24 小时持续运行</a:t>
            </a:r>
          </a:p>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修复后回归验证</a:t>
            </a:r>
          </a:p>
        </p:txBody>
      </p:sp>
      <p:sp>
        <p:nvSpPr>
          <p:cNvPr id="17" name="直接连接符 16">
            <a:extLst>
              <a:ext uri="{FF2B5EF4-FFF2-40B4-BE49-F238E27FC236}">
                <a16:creationId xmlns:a16="http://schemas.microsoft.com/office/drawing/2014/main" id="{7A232E07-DDCC-465A-A3FD-0B9D056A050A}"/>
              </a:ext>
            </a:extLst>
          </p:cNvPr>
          <p:cNvSpPr>
            <a:spLocks noGrp="1"/>
          </p:cNvSpPr>
          <p:nvPr/>
        </p:nvSpPr>
        <p:spPr>
          <a:xfrm>
            <a:off x="5067300" y="4619625"/>
            <a:ext cx="2057400" cy="95"/>
          </a:xfrm>
          <a:prstGeom prst="line">
            <a:avLst/>
          </a:prstGeom>
          <a:noFill/>
          <a:ln w="9525">
            <a:solidFill>
              <a:srgbClr val="D7E2E8"/>
            </a:solidFill>
          </a:ln>
        </p:spPr>
      </p:sp>
      <p:sp>
        <p:nvSpPr>
          <p:cNvPr id="18" name="test-text-15">
            <a:extLst>
              <a:ext uri="{FF2B5EF4-FFF2-40B4-BE49-F238E27FC236}">
                <a16:creationId xmlns:a16="http://schemas.microsoft.com/office/drawing/2014/main" id="{785D44D4-DEFA-4450-ADA6-C6F2B82EC50E}"/>
              </a:ext>
            </a:extLst>
          </p:cNvPr>
          <p:cNvSpPr>
            <a:spLocks noGrp="1"/>
          </p:cNvSpPr>
          <p:nvPr/>
        </p:nvSpPr>
        <p:spPr>
          <a:xfrm>
            <a:off x="5067300" y="4810125"/>
            <a:ext cx="2057400" cy="781050"/>
          </a:xfrm>
          <a:prstGeom prst="rect">
            <a:avLst/>
          </a:prstGeom>
          <a:noFill/>
          <a:ln w="0">
            <a:noFill/>
          </a:ln>
        </p:spPr>
        <p:txBody>
          <a:bodyPr wrap="square" lIns="0" tIns="0" rIns="0" bIns="0" anchor="ctr">
            <a:noAutofit/>
          </a:bodyPr>
          <a:lstStyle/>
          <a:p>
            <a:pPr algn="ctr">
              <a:defRPr sz="1800" b="1">
                <a:solidFill>
                  <a:srgbClr val="087F80"/>
                </a:solidFill>
                <a:latin typeface="Microsoft YaHei"/>
                <a:ea typeface="Microsoft YaHei"/>
                <a:cs typeface="Microsoft YaHei"/>
              </a:defRPr>
            </a:pPr>
            <a:r>
              <a:rPr sz="1800" b="1">
                <a:solidFill>
                  <a:srgbClr val="087F80"/>
                </a:solidFill>
                <a:latin typeface="Microsoft YaHei"/>
                <a:ea typeface="Microsoft YaHei"/>
                <a:cs typeface="Microsoft YaHei"/>
              </a:rPr>
              <a:t>阻断缺陷关闭</a:t>
            </a:r>
          </a:p>
          <a:p>
            <a:pPr algn="ctr">
              <a:defRPr sz="1800" b="1">
                <a:solidFill>
                  <a:srgbClr val="087F80"/>
                </a:solidFill>
                <a:latin typeface="Microsoft YaHei"/>
                <a:ea typeface="Microsoft YaHei"/>
                <a:cs typeface="Microsoft YaHei"/>
              </a:defRPr>
            </a:pPr>
            <a:r>
              <a:rPr sz="1800" b="1">
                <a:solidFill>
                  <a:srgbClr val="087F80"/>
                </a:solidFill>
                <a:latin typeface="Microsoft YaHei"/>
                <a:ea typeface="Microsoft YaHei"/>
                <a:cs typeface="Microsoft YaHei"/>
              </a:rPr>
              <a:t>报告支持验收</a:t>
            </a:r>
          </a:p>
        </p:txBody>
      </p:sp>
      <p:sp>
        <p:nvSpPr>
          <p:cNvPr id="19" name="test-text-16">
            <a:extLst>
              <a:ext uri="{FF2B5EF4-FFF2-40B4-BE49-F238E27FC236}">
                <a16:creationId xmlns:a16="http://schemas.microsoft.com/office/drawing/2014/main" id="{BE4DD83F-4903-4D5D-9D2C-3929AD2C9AFC}"/>
              </a:ext>
            </a:extLst>
          </p:cNvPr>
          <p:cNvSpPr>
            <a:spLocks noGrp="1"/>
          </p:cNvSpPr>
          <p:nvPr/>
        </p:nvSpPr>
        <p:spPr>
          <a:xfrm>
            <a:off x="7296150" y="1971675"/>
            <a:ext cx="2057400" cy="352425"/>
          </a:xfrm>
          <a:prstGeom prst="rect">
            <a:avLst/>
          </a:prstGeom>
          <a:noFill/>
          <a:ln w="0">
            <a:noFill/>
          </a:ln>
        </p:spPr>
        <p:txBody>
          <a:bodyPr wrap="square" lIns="0" tIns="0" rIns="0" bIns="0" anchor="ctr">
            <a:noAutofit/>
          </a:bodyPr>
          <a:lstStyle/>
          <a:p>
            <a:pPr algn="ctr">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11/21–11/27</a:t>
            </a:r>
          </a:p>
        </p:txBody>
      </p:sp>
      <p:sp>
        <p:nvSpPr>
          <p:cNvPr id="20" name="test-node-17">
            <a:extLst>
              <a:ext uri="{FF2B5EF4-FFF2-40B4-BE49-F238E27FC236}">
                <a16:creationId xmlns:a16="http://schemas.microsoft.com/office/drawing/2014/main" id="{3E517B0A-922E-41BD-92AD-63A0228E6871}"/>
              </a:ext>
            </a:extLst>
          </p:cNvPr>
          <p:cNvSpPr>
            <a:spLocks noGrp="1"/>
          </p:cNvSpPr>
          <p:nvPr/>
        </p:nvSpPr>
        <p:spPr>
          <a:xfrm>
            <a:off x="7296150" y="2447925"/>
            <a:ext cx="2057400" cy="609600"/>
          </a:xfrm>
          <a:prstGeom prst="rect">
            <a:avLst/>
          </a:prstGeom>
          <a:solidFill>
            <a:srgbClr val="EDF4F8"/>
          </a:solidFill>
          <a:ln w="9525">
            <a:solidFill>
              <a:srgbClr val="D7E2E8"/>
            </a:solidFill>
          </a:ln>
        </p:spPr>
        <p:txBody>
          <a:bodyPr lIns="28575" tIns="28575" rIns="28575" bIns="28575" anchor="ctr">
            <a:noAutofit/>
          </a:bodyPr>
          <a:lstStyle/>
          <a:p>
            <a:pPr algn="ctr">
              <a:defRPr sz="1800" b="1">
                <a:solidFill>
                  <a:srgbClr val="163044"/>
                </a:solidFill>
                <a:latin typeface="Microsoft YaHei"/>
                <a:ea typeface="Microsoft YaHei"/>
                <a:cs typeface="Microsoft YaHei"/>
              </a:defRPr>
            </a:pPr>
            <a:r>
              <a:rPr sz="1800" b="1">
                <a:solidFill>
                  <a:srgbClr val="163044"/>
                </a:solidFill>
                <a:latin typeface="Microsoft YaHei"/>
                <a:ea typeface="Microsoft YaHei"/>
                <a:cs typeface="Microsoft YaHei"/>
              </a:rPr>
              <a:t>业务验收 UAT</a:t>
            </a:r>
          </a:p>
        </p:txBody>
      </p:sp>
      <p:sp>
        <p:nvSpPr>
          <p:cNvPr id="21" name="test-text-18">
            <a:extLst>
              <a:ext uri="{FF2B5EF4-FFF2-40B4-BE49-F238E27FC236}">
                <a16:creationId xmlns:a16="http://schemas.microsoft.com/office/drawing/2014/main" id="{A45DF705-C9CD-4724-A358-CB486EB92DAC}"/>
              </a:ext>
            </a:extLst>
          </p:cNvPr>
          <p:cNvSpPr>
            <a:spLocks noGrp="1"/>
          </p:cNvSpPr>
          <p:nvPr/>
        </p:nvSpPr>
        <p:spPr>
          <a:xfrm>
            <a:off x="7296150" y="3295650"/>
            <a:ext cx="2057400" cy="1143000"/>
          </a:xfrm>
          <a:prstGeom prst="rect">
            <a:avLst/>
          </a:prstGeom>
          <a:noFill/>
          <a:ln w="0">
            <a:noFill/>
          </a:ln>
        </p:spPr>
        <p:txBody>
          <a:bodyPr wrap="square" lIns="0" tIns="0" rIns="0" bIns="0" anchor="ctr">
            <a:noAutofit/>
          </a:bodyPr>
          <a:lstStyle/>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业务代表操作</a:t>
            </a:r>
          </a:p>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测试记录与见证</a:t>
            </a:r>
          </a:p>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运行人员接手</a:t>
            </a:r>
          </a:p>
        </p:txBody>
      </p:sp>
      <p:sp>
        <p:nvSpPr>
          <p:cNvPr id="22" name="直接连接符 21">
            <a:extLst>
              <a:ext uri="{FF2B5EF4-FFF2-40B4-BE49-F238E27FC236}">
                <a16:creationId xmlns:a16="http://schemas.microsoft.com/office/drawing/2014/main" id="{C0C1F7E6-4351-4851-8CE6-1D8E80D8A251}"/>
              </a:ext>
            </a:extLst>
          </p:cNvPr>
          <p:cNvSpPr>
            <a:spLocks noGrp="1"/>
          </p:cNvSpPr>
          <p:nvPr/>
        </p:nvSpPr>
        <p:spPr>
          <a:xfrm>
            <a:off x="7296150" y="4619625"/>
            <a:ext cx="2057400" cy="95"/>
          </a:xfrm>
          <a:prstGeom prst="line">
            <a:avLst/>
          </a:prstGeom>
          <a:noFill/>
          <a:ln w="9525">
            <a:solidFill>
              <a:srgbClr val="D7E2E8"/>
            </a:solidFill>
          </a:ln>
        </p:spPr>
      </p:sp>
      <p:sp>
        <p:nvSpPr>
          <p:cNvPr id="23" name="test-text-19">
            <a:extLst>
              <a:ext uri="{FF2B5EF4-FFF2-40B4-BE49-F238E27FC236}">
                <a16:creationId xmlns:a16="http://schemas.microsoft.com/office/drawing/2014/main" id="{9FFE69B8-A5CF-4B20-89C3-074696A35D99}"/>
              </a:ext>
            </a:extLst>
          </p:cNvPr>
          <p:cNvSpPr>
            <a:spLocks noGrp="1"/>
          </p:cNvSpPr>
          <p:nvPr/>
        </p:nvSpPr>
        <p:spPr>
          <a:xfrm>
            <a:off x="7296150" y="4810125"/>
            <a:ext cx="2057400" cy="781050"/>
          </a:xfrm>
          <a:prstGeom prst="rect">
            <a:avLst/>
          </a:prstGeom>
          <a:noFill/>
          <a:ln w="0">
            <a:noFill/>
          </a:ln>
        </p:spPr>
        <p:txBody>
          <a:bodyPr wrap="square" lIns="0" tIns="0" rIns="0" bIns="0" anchor="ctr">
            <a:noAutofit/>
          </a:bodyPr>
          <a:lstStyle/>
          <a:p>
            <a:pPr algn="ctr">
              <a:defRPr sz="1800" b="1">
                <a:solidFill>
                  <a:srgbClr val="087F80"/>
                </a:solidFill>
                <a:latin typeface="Microsoft YaHei"/>
                <a:ea typeface="Microsoft YaHei"/>
                <a:cs typeface="Microsoft YaHei"/>
              </a:defRPr>
            </a:pPr>
            <a:r>
              <a:rPr sz="1800" b="1">
                <a:solidFill>
                  <a:srgbClr val="087F80"/>
                </a:solidFill>
                <a:latin typeface="Microsoft YaHei"/>
                <a:ea typeface="Microsoft YaHei"/>
                <a:cs typeface="Microsoft YaHei"/>
              </a:rPr>
              <a:t>必验场景通过</a:t>
            </a:r>
          </a:p>
          <a:p>
            <a:pPr algn="ctr">
              <a:defRPr sz="1800" b="1">
                <a:solidFill>
                  <a:srgbClr val="087F80"/>
                </a:solidFill>
                <a:latin typeface="Microsoft YaHei"/>
                <a:ea typeface="Microsoft YaHei"/>
                <a:cs typeface="Microsoft YaHei"/>
              </a:defRPr>
            </a:pPr>
            <a:r>
              <a:rPr sz="1800" b="1">
                <a:solidFill>
                  <a:srgbClr val="087F80"/>
                </a:solidFill>
                <a:latin typeface="Microsoft YaHei"/>
                <a:ea typeface="Microsoft YaHei"/>
                <a:cs typeface="Microsoft YaHei"/>
              </a:rPr>
              <a:t>业务签收</a:t>
            </a:r>
          </a:p>
        </p:txBody>
      </p:sp>
      <p:sp>
        <p:nvSpPr>
          <p:cNvPr id="24" name="test-text-20">
            <a:extLst>
              <a:ext uri="{FF2B5EF4-FFF2-40B4-BE49-F238E27FC236}">
                <a16:creationId xmlns:a16="http://schemas.microsoft.com/office/drawing/2014/main" id="{39B9EA08-65D7-44DF-9F75-EFF7B035345C}"/>
              </a:ext>
            </a:extLst>
          </p:cNvPr>
          <p:cNvSpPr>
            <a:spLocks noGrp="1"/>
          </p:cNvSpPr>
          <p:nvPr/>
        </p:nvSpPr>
        <p:spPr>
          <a:xfrm>
            <a:off x="9525000" y="1971675"/>
            <a:ext cx="2057400" cy="352425"/>
          </a:xfrm>
          <a:prstGeom prst="rect">
            <a:avLst/>
          </a:prstGeom>
          <a:noFill/>
          <a:ln w="0">
            <a:noFill/>
          </a:ln>
        </p:spPr>
        <p:txBody>
          <a:bodyPr wrap="square" lIns="0" tIns="0" rIns="0" bIns="0" anchor="ctr">
            <a:noAutofit/>
          </a:bodyPr>
          <a:lstStyle/>
          <a:p>
            <a:pPr algn="ctr">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11/28–12/01</a:t>
            </a:r>
          </a:p>
        </p:txBody>
      </p:sp>
      <p:sp>
        <p:nvSpPr>
          <p:cNvPr id="25" name="test-node-21">
            <a:extLst>
              <a:ext uri="{FF2B5EF4-FFF2-40B4-BE49-F238E27FC236}">
                <a16:creationId xmlns:a16="http://schemas.microsoft.com/office/drawing/2014/main" id="{B33DA0C4-C0EA-4607-BE8F-4F20EF9C6E63}"/>
              </a:ext>
            </a:extLst>
          </p:cNvPr>
          <p:cNvSpPr>
            <a:spLocks noGrp="1"/>
          </p:cNvSpPr>
          <p:nvPr/>
        </p:nvSpPr>
        <p:spPr>
          <a:xfrm>
            <a:off x="9525000" y="2447925"/>
            <a:ext cx="2057400" cy="609600"/>
          </a:xfrm>
          <a:prstGeom prst="rect">
            <a:avLst/>
          </a:prstGeom>
          <a:solidFill>
            <a:srgbClr val="EDF4F8"/>
          </a:solidFill>
          <a:ln w="9525">
            <a:solidFill>
              <a:srgbClr val="D7E2E8"/>
            </a:solidFill>
          </a:ln>
        </p:spPr>
        <p:txBody>
          <a:bodyPr lIns="28575" tIns="28575" rIns="28575" bIns="28575" anchor="ctr">
            <a:noAutofit/>
          </a:bodyPr>
          <a:lstStyle/>
          <a:p>
            <a:pPr algn="ctr">
              <a:defRPr sz="1800" b="1">
                <a:solidFill>
                  <a:srgbClr val="163044"/>
                </a:solidFill>
                <a:latin typeface="Microsoft YaHei"/>
                <a:ea typeface="Microsoft YaHei"/>
                <a:cs typeface="Microsoft YaHei"/>
              </a:defRPr>
            </a:pPr>
            <a:r>
              <a:rPr sz="1800" b="1">
                <a:solidFill>
                  <a:srgbClr val="163044"/>
                </a:solidFill>
                <a:latin typeface="Microsoft YaHei"/>
                <a:ea typeface="Microsoft YaHei"/>
                <a:cs typeface="Microsoft YaHei"/>
              </a:rPr>
              <a:t>发布验证</a:t>
            </a:r>
          </a:p>
        </p:txBody>
      </p:sp>
      <p:sp>
        <p:nvSpPr>
          <p:cNvPr id="26" name="test-text-22">
            <a:extLst>
              <a:ext uri="{FF2B5EF4-FFF2-40B4-BE49-F238E27FC236}">
                <a16:creationId xmlns:a16="http://schemas.microsoft.com/office/drawing/2014/main" id="{69B90D65-16F2-4E6B-B3E1-6A3C2B6FE8B8}"/>
              </a:ext>
            </a:extLst>
          </p:cNvPr>
          <p:cNvSpPr>
            <a:spLocks noGrp="1"/>
          </p:cNvSpPr>
          <p:nvPr/>
        </p:nvSpPr>
        <p:spPr>
          <a:xfrm>
            <a:off x="9525000" y="3295650"/>
            <a:ext cx="2057400" cy="1143000"/>
          </a:xfrm>
          <a:prstGeom prst="rect">
            <a:avLst/>
          </a:prstGeom>
          <a:noFill/>
          <a:ln w="0">
            <a:noFill/>
          </a:ln>
        </p:spPr>
        <p:txBody>
          <a:bodyPr wrap="square" lIns="0" tIns="0" rIns="0" bIns="0" anchor="ctr">
            <a:noAutofit/>
          </a:bodyPr>
          <a:lstStyle/>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发布前核对版本</a:t>
            </a:r>
          </a:p>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上线后核心冒烟</a:t>
            </a:r>
          </a:p>
          <a:p>
            <a:pPr algn="ctr">
              <a:defRPr sz="1800" b="0">
                <a:solidFill>
                  <a:srgbClr val="163044"/>
                </a:solidFill>
                <a:latin typeface="Microsoft YaHei"/>
                <a:ea typeface="Microsoft YaHei"/>
                <a:cs typeface="Microsoft YaHei"/>
              </a:defRPr>
            </a:pPr>
            <a:r>
              <a:rPr sz="1800" b="0">
                <a:solidFill>
                  <a:srgbClr val="163044"/>
                </a:solidFill>
                <a:latin typeface="Microsoft YaHei"/>
                <a:ea typeface="Microsoft YaHei"/>
                <a:cs typeface="Microsoft YaHei"/>
              </a:rPr>
              <a:t>核对监控与恢复</a:t>
            </a:r>
          </a:p>
        </p:txBody>
      </p:sp>
      <p:sp>
        <p:nvSpPr>
          <p:cNvPr id="27" name="直接连接符 26">
            <a:extLst>
              <a:ext uri="{FF2B5EF4-FFF2-40B4-BE49-F238E27FC236}">
                <a16:creationId xmlns:a16="http://schemas.microsoft.com/office/drawing/2014/main" id="{5F2D6DD0-BA9B-49C7-BD96-02DBAAF081FF}"/>
              </a:ext>
            </a:extLst>
          </p:cNvPr>
          <p:cNvSpPr>
            <a:spLocks noGrp="1"/>
          </p:cNvSpPr>
          <p:nvPr/>
        </p:nvSpPr>
        <p:spPr>
          <a:xfrm>
            <a:off x="9525000" y="4619625"/>
            <a:ext cx="2057400" cy="95"/>
          </a:xfrm>
          <a:prstGeom prst="line">
            <a:avLst/>
          </a:prstGeom>
          <a:noFill/>
          <a:ln w="9525">
            <a:solidFill>
              <a:srgbClr val="D7E2E8"/>
            </a:solidFill>
          </a:ln>
        </p:spPr>
      </p:sp>
      <p:sp>
        <p:nvSpPr>
          <p:cNvPr id="28" name="test-text-23">
            <a:extLst>
              <a:ext uri="{FF2B5EF4-FFF2-40B4-BE49-F238E27FC236}">
                <a16:creationId xmlns:a16="http://schemas.microsoft.com/office/drawing/2014/main" id="{EA254694-BE54-46CC-B7AB-2968370CEABB}"/>
              </a:ext>
            </a:extLst>
          </p:cNvPr>
          <p:cNvSpPr>
            <a:spLocks noGrp="1"/>
          </p:cNvSpPr>
          <p:nvPr/>
        </p:nvSpPr>
        <p:spPr>
          <a:xfrm>
            <a:off x="9525000" y="4810125"/>
            <a:ext cx="2057400" cy="781050"/>
          </a:xfrm>
          <a:prstGeom prst="rect">
            <a:avLst/>
          </a:prstGeom>
          <a:noFill/>
          <a:ln w="0">
            <a:noFill/>
          </a:ln>
        </p:spPr>
        <p:txBody>
          <a:bodyPr wrap="square" lIns="0" tIns="0" rIns="0" bIns="0" anchor="ctr">
            <a:noAutofit/>
          </a:bodyPr>
          <a:lstStyle/>
          <a:p>
            <a:pPr algn="ctr">
              <a:defRPr sz="1800" b="1">
                <a:solidFill>
                  <a:srgbClr val="087F80"/>
                </a:solidFill>
                <a:latin typeface="Microsoft YaHei"/>
                <a:ea typeface="Microsoft YaHei"/>
                <a:cs typeface="Microsoft YaHei"/>
              </a:defRPr>
            </a:pPr>
            <a:r>
              <a:rPr sz="1800" b="1">
                <a:solidFill>
                  <a:srgbClr val="087F80"/>
                </a:solidFill>
                <a:latin typeface="Microsoft YaHei"/>
                <a:ea typeface="Microsoft YaHei"/>
                <a:cs typeface="Microsoft YaHei"/>
              </a:rPr>
              <a:t>关键业务可用</a:t>
            </a:r>
          </a:p>
          <a:p>
            <a:pPr algn="ctr">
              <a:defRPr sz="1800" b="1">
                <a:solidFill>
                  <a:srgbClr val="087F80"/>
                </a:solidFill>
                <a:latin typeface="Microsoft YaHei"/>
                <a:ea typeface="Microsoft YaHei"/>
                <a:cs typeface="Microsoft YaHei"/>
              </a:defRPr>
            </a:pPr>
            <a:r>
              <a:rPr sz="1800" b="1">
                <a:solidFill>
                  <a:srgbClr val="087F80"/>
                </a:solidFill>
                <a:latin typeface="Microsoft YaHei"/>
                <a:ea typeface="Microsoft YaHei"/>
                <a:cs typeface="Microsoft YaHei"/>
              </a:rPr>
              <a:t>运行交接完成</a:t>
            </a:r>
          </a:p>
        </p:txBody>
      </p:sp>
      <p:sp>
        <p:nvSpPr>
          <p:cNvPr id="33" name="test-text-24">
            <a:extLst>
              <a:ext uri="{FF2B5EF4-FFF2-40B4-BE49-F238E27FC236}">
                <a16:creationId xmlns:a16="http://schemas.microsoft.com/office/drawing/2014/main" id="{EE2DAF03-350D-43A9-81C8-6C780AE270C9}"/>
              </a:ext>
            </a:extLst>
          </p:cNvPr>
          <p:cNvSpPr>
            <a:spLocks noGrp="1"/>
          </p:cNvSpPr>
          <p:nvPr/>
        </p:nvSpPr>
        <p:spPr>
          <a:xfrm>
            <a:off x="609600" y="5857875"/>
            <a:ext cx="10972800" cy="400050"/>
          </a:xfrm>
          <a:prstGeom prst="rect">
            <a:avLst/>
          </a:prstGeom>
          <a:noFill/>
          <a:ln w="0">
            <a:noFill/>
          </a:ln>
        </p:spPr>
        <p:txBody>
          <a:bodyPr wrap="square" lIns="0" tIns="0" rIns="0" bIns="0" anchor="ctr">
            <a:noAutofit/>
          </a:bodyPr>
          <a:lstStyle/>
          <a:p>
            <a:pPr algn="l">
              <a:defRPr sz="1575" b="0">
                <a:solidFill>
                  <a:srgbClr val="5B6D7A"/>
                </a:solidFill>
                <a:latin typeface="Microsoft YaHei"/>
                <a:ea typeface="Microsoft YaHei"/>
                <a:cs typeface="Microsoft YaHei"/>
              </a:defRPr>
            </a:pPr>
            <a:r>
              <a:rPr sz="1575" b="0">
                <a:solidFill>
                  <a:srgbClr val="5B6D7A"/>
                </a:solidFill>
                <a:latin typeface="Microsoft YaHei"/>
                <a:ea typeface="Microsoft YaHei"/>
                <a:cs typeface="Microsoft YaHei"/>
              </a:rPr>
              <a:t>建议日历窗口。真实 P2 按 10/10 可接入安排，延期时保留系统复测与业务验收时间。</a:t>
            </a:r>
          </a:p>
        </p:txBody>
      </p:sp>
      <p:sp>
        <p:nvSpPr>
          <p:cNvPr id="34" name="直接连接符 33">
            <a:extLst>
              <a:ext uri="{FF2B5EF4-FFF2-40B4-BE49-F238E27FC236}">
                <a16:creationId xmlns:a16="http://schemas.microsoft.com/office/drawing/2014/main" id="{C422D443-68A0-45AE-AA72-207FD57EE2EE}"/>
              </a:ext>
            </a:extLst>
          </p:cNvPr>
          <p:cNvSpPr>
            <a:spLocks noGrp="1"/>
          </p:cNvSpPr>
          <p:nvPr/>
        </p:nvSpPr>
        <p:spPr>
          <a:xfrm>
            <a:off x="609600" y="6324600"/>
            <a:ext cx="10972800" cy="95"/>
          </a:xfrm>
          <a:prstGeom prst="line">
            <a:avLst/>
          </a:prstGeom>
          <a:noFill/>
          <a:ln w="9525">
            <a:solidFill>
              <a:srgbClr val="D7E2E8"/>
            </a:solidFill>
          </a:ln>
        </p:spPr>
      </p:sp>
      <p:sp>
        <p:nvSpPr>
          <p:cNvPr id="35" name="test-text-25">
            <a:extLst>
              <a:ext uri="{FF2B5EF4-FFF2-40B4-BE49-F238E27FC236}">
                <a16:creationId xmlns:a16="http://schemas.microsoft.com/office/drawing/2014/main" id="{568FCCD4-EF33-4270-AD24-63AAED59ED54}"/>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V4.3</a:t>
            </a:r>
          </a:p>
        </p:txBody>
      </p:sp>
      <p:sp>
        <p:nvSpPr>
          <p:cNvPr id="36" name="test-text-26">
            <a:extLst>
              <a:ext uri="{FF2B5EF4-FFF2-40B4-BE49-F238E27FC236}">
                <a16:creationId xmlns:a16="http://schemas.microsoft.com/office/drawing/2014/main" id="{A999B769-9257-4749-BCA4-D2EB93BE67C6}"/>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13 / 24</a:t>
            </a:r>
          </a:p>
        </p:txBody>
      </p:sp>
    </p:spTree>
    <p:extLst>
      <p:ext uri="{BB962C8B-B14F-4D97-AF65-F5344CB8AC3E}">
        <p14:creationId xmlns:p14="http://schemas.microsoft.com/office/powerpoint/2010/main" val="5792651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est-text-27">
            <a:extLst>
              <a:ext uri="{FF2B5EF4-FFF2-40B4-BE49-F238E27FC236}">
                <a16:creationId xmlns:a16="http://schemas.microsoft.com/office/drawing/2014/main" id="{9C8606FF-1F73-4ECB-8705-A95415460B76}"/>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st-text-28">
            <a:extLst>
              <a:ext uri="{FF2B5EF4-FFF2-40B4-BE49-F238E27FC236}">
                <a16:creationId xmlns:a16="http://schemas.microsoft.com/office/drawing/2014/main" id="{87B15B93-5D4D-470A-A848-1B4B690CC5C7}"/>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000" b="1">
                <a:solidFill>
                  <a:srgbClr val="163044"/>
                </a:solidFill>
                <a:latin typeface="Microsoft YaHei"/>
                <a:ea typeface="Microsoft YaHei"/>
                <a:cs typeface="Microsoft YaHei"/>
              </a:defRPr>
            </a:pPr>
            <a:r>
              <a:rPr sz="3000" b="1">
                <a:solidFill>
                  <a:srgbClr val="163044"/>
                </a:solidFill>
                <a:latin typeface="Microsoft YaHei"/>
                <a:ea typeface="Microsoft YaHei"/>
                <a:cs typeface="Microsoft YaHei"/>
              </a:rPr>
              <a:t>测试分工：谁编写、谁评审、谁执行</a:t>
            </a:r>
          </a:p>
        </p:txBody>
      </p:sp>
      <p:sp>
        <p:nvSpPr>
          <p:cNvPr id="3" name="test-text-29">
            <a:extLst>
              <a:ext uri="{FF2B5EF4-FFF2-40B4-BE49-F238E27FC236}">
                <a16:creationId xmlns:a16="http://schemas.microsoft.com/office/drawing/2014/main" id="{F94E4989-B705-4B93-AE2F-176049794BED}"/>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沿用现有分工，三位测试负责人同时负责对应流程的环境准备与 P2 对接</a:t>
            </a:r>
          </a:p>
        </p:txBody>
      </p:sp>
      <p:graphicFrame>
        <p:nvGraphicFramePr>
          <p:cNvPr id="16" name="表格 15"/>
          <p:cNvGraphicFramePr/>
          <p:nvPr>
            <p:extLst>
              <p:ext uri="{D42A27DB-BD31-4B8C-83A1-F6EECF244321}">
                <p14:modId xmlns:p14="http://schemas.microsoft.com/office/powerpoint/2010/main" val="1703971136"/>
              </p:ext>
            </p:extLst>
          </p:nvPr>
        </p:nvGraphicFramePr>
        <p:xfrm>
          <a:off x="609600" y="1971675"/>
          <a:ext cx="10972800" cy="2943225"/>
        </p:xfrm>
        <a:graphic>
          <a:graphicData uri="http://schemas.openxmlformats.org/drawingml/2006/table">
            <a:tbl>
              <a:tblPr/>
              <a:tblGrid>
                <a:gridCol w="1857375">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4638675">
                  <a:extLst>
                    <a:ext uri="{9D8B030D-6E8A-4147-A177-3AD203B41FA5}">
                      <a16:colId xmlns:a16="http://schemas.microsoft.com/office/drawing/2014/main" val="20003"/>
                    </a:ext>
                  </a:extLst>
                </a:gridCol>
              </a:tblGrid>
              <a:tr h="457200">
                <a:tc>
                  <a:txBody>
                    <a:bodyPr/>
                    <a:lstStyle/>
                    <a:p>
                      <a:r>
                        <a:rPr sz="1800" b="1">
                          <a:solidFill>
                            <a:srgbClr val="FFFFFF"/>
                          </a:solidFill>
                          <a:latin typeface="Microsoft YaHei"/>
                          <a:ea typeface="Microsoft YaHei"/>
                          <a:cs typeface="Microsoft YaHei"/>
                        </a:rPr>
                        <a:t>业务流程</a:t>
                      </a:r>
                    </a:p>
                  </a:txBody>
                  <a:tcPr anchor="ctr">
                    <a:solidFill>
                      <a:srgbClr val="163044"/>
                    </a:solidFill>
                  </a:tcPr>
                </a:tc>
                <a:tc>
                  <a:txBody>
                    <a:bodyPr/>
                    <a:lstStyle/>
                    <a:p>
                      <a:r>
                        <a:rPr sz="1800" b="1">
                          <a:solidFill>
                            <a:srgbClr val="FFFFFF"/>
                          </a:solidFill>
                          <a:latin typeface="Microsoft YaHei"/>
                          <a:ea typeface="Microsoft YaHei"/>
                          <a:cs typeface="Microsoft YaHei"/>
                        </a:rPr>
                        <a:t>用例编写与执行</a:t>
                      </a:r>
                    </a:p>
                  </a:txBody>
                  <a:tcPr anchor="ctr">
                    <a:solidFill>
                      <a:srgbClr val="163044"/>
                    </a:solidFill>
                  </a:tcPr>
                </a:tc>
                <a:tc>
                  <a:txBody>
                    <a:bodyPr/>
                    <a:lstStyle/>
                    <a:p>
                      <a:r>
                        <a:rPr sz="1800" b="1">
                          <a:solidFill>
                            <a:srgbClr val="FFFFFF"/>
                          </a:solidFill>
                          <a:latin typeface="Microsoft YaHei"/>
                          <a:ea typeface="Microsoft YaHei"/>
                          <a:cs typeface="Microsoft YaHei"/>
                        </a:rPr>
                        <a:t>开发评审与修复</a:t>
                      </a:r>
                    </a:p>
                  </a:txBody>
                  <a:tcPr anchor="ctr">
                    <a:solidFill>
                      <a:srgbClr val="163044"/>
                    </a:solidFill>
                  </a:tcPr>
                </a:tc>
                <a:tc>
                  <a:txBody>
                    <a:bodyPr/>
                    <a:lstStyle/>
                    <a:p>
                      <a:r>
                        <a:rPr sz="1800" b="1">
                          <a:solidFill>
                            <a:srgbClr val="FFFFFF"/>
                          </a:solidFill>
                          <a:latin typeface="Microsoft YaHei"/>
                          <a:ea typeface="Microsoft YaHei"/>
                          <a:cs typeface="Microsoft YaHei"/>
                        </a:rPr>
                        <a:t>重点覆盖</a:t>
                      </a:r>
                    </a:p>
                  </a:txBody>
                  <a:tcPr anchor="ctr">
                    <a:solidFill>
                      <a:srgbClr val="163044"/>
                    </a:solidFill>
                  </a:tcPr>
                </a:tc>
                <a:extLst>
                  <a:ext uri="{0D108BD9-81ED-4DB2-BD59-A6C34878D82A}">
                    <a16:rowId xmlns:a16="http://schemas.microsoft.com/office/drawing/2014/main" val="10000"/>
                  </a:ext>
                </a:extLst>
              </a:tr>
              <a:tr h="828675">
                <a:tc>
                  <a:txBody>
                    <a:bodyPr/>
                    <a:lstStyle/>
                    <a:p>
                      <a:r>
                        <a:rPr sz="1725" b="1">
                          <a:solidFill>
                            <a:srgbClr val="163044"/>
                          </a:solidFill>
                          <a:latin typeface="Microsoft YaHei"/>
                          <a:ea typeface="Microsoft YaHei"/>
                          <a:cs typeface="Microsoft YaHei"/>
                        </a:rPr>
                        <a:t>Remember</a:t>
                      </a:r>
                    </a:p>
                  </a:txBody>
                  <a:tcPr anchor="ctr">
                    <a:solidFill>
                      <a:srgbClr val="FFFFFF"/>
                    </a:solidFill>
                  </a:tcPr>
                </a:tc>
                <a:tc>
                  <a:txBody>
                    <a:bodyPr/>
                    <a:lstStyle/>
                    <a:p>
                      <a:r>
                        <a:rPr sz="1725" b="0">
                          <a:solidFill>
                            <a:srgbClr val="163044"/>
                          </a:solidFill>
                          <a:latin typeface="Microsoft YaHei"/>
                          <a:ea typeface="Microsoft YaHei"/>
                          <a:cs typeface="Microsoft YaHei"/>
                        </a:rPr>
                        <a:t>赵旭东</a:t>
                      </a:r>
                    </a:p>
                  </a:txBody>
                  <a:tcPr anchor="ctr">
                    <a:solidFill>
                      <a:srgbClr val="FFFFFF"/>
                    </a:solidFill>
                  </a:tcPr>
                </a:tc>
                <a:tc>
                  <a:txBody>
                    <a:bodyPr/>
                    <a:lstStyle/>
                    <a:p>
                      <a:r>
                        <a:rPr sz="1725" b="0">
                          <a:solidFill>
                            <a:srgbClr val="163044"/>
                          </a:solidFill>
                          <a:latin typeface="Microsoft YaHei"/>
                          <a:ea typeface="Microsoft YaHei"/>
                          <a:cs typeface="Microsoft YaHei"/>
                        </a:rPr>
                        <a:t>杨鹏通</a:t>
                      </a:r>
                    </a:p>
                  </a:txBody>
                  <a:tcPr anchor="ctr">
                    <a:solidFill>
                      <a:srgbClr val="FFFFFF"/>
                    </a:solidFill>
                  </a:tcPr>
                </a:tc>
                <a:tc>
                  <a:txBody>
                    <a:bodyPr/>
                    <a:lstStyle/>
                    <a:p>
                      <a:r>
                        <a:rPr sz="1725" b="0">
                          <a:solidFill>
                            <a:srgbClr val="163044"/>
                          </a:solidFill>
                          <a:latin typeface="Microsoft YaHei"/>
                          <a:ea typeface="Microsoft YaHei"/>
                          <a:cs typeface="Microsoft YaHei"/>
                        </a:rPr>
                        <a:t>保存、更正、删除、重复请求</a:t>
                      </a:r>
                    </a:p>
                    <a:p>
                      <a:r>
                        <a:rPr sz="1725" b="0">
                          <a:solidFill>
                            <a:srgbClr val="163044"/>
                          </a:solidFill>
                          <a:latin typeface="Microsoft YaHei"/>
                          <a:ea typeface="Microsoft YaHei"/>
                          <a:cs typeface="Microsoft YaHei"/>
                        </a:rPr>
                        <a:t>正文与索引状态一致性</a:t>
                      </a:r>
                    </a:p>
                  </a:txBody>
                  <a:tcPr anchor="ctr">
                    <a:solidFill>
                      <a:srgbClr val="FFFFFF"/>
                    </a:solidFill>
                  </a:tcPr>
                </a:tc>
                <a:extLst>
                  <a:ext uri="{0D108BD9-81ED-4DB2-BD59-A6C34878D82A}">
                    <a16:rowId xmlns:a16="http://schemas.microsoft.com/office/drawing/2014/main" val="10001"/>
                  </a:ext>
                </a:extLst>
              </a:tr>
              <a:tr h="828675">
                <a:tc>
                  <a:txBody>
                    <a:bodyPr/>
                    <a:lstStyle/>
                    <a:p>
                      <a:r>
                        <a:rPr sz="1725" b="1">
                          <a:solidFill>
                            <a:srgbClr val="163044"/>
                          </a:solidFill>
                          <a:latin typeface="Microsoft YaHei"/>
                          <a:ea typeface="Microsoft YaHei"/>
                          <a:cs typeface="Microsoft YaHei"/>
                        </a:rPr>
                        <a:t>Recall / Embedding</a:t>
                      </a:r>
                    </a:p>
                  </a:txBody>
                  <a:tcPr anchor="ctr">
                    <a:solidFill>
                      <a:srgbClr val="F5F8FA"/>
                    </a:solidFill>
                  </a:tcPr>
                </a:tc>
                <a:tc>
                  <a:txBody>
                    <a:bodyPr/>
                    <a:lstStyle/>
                    <a:p>
                      <a:r>
                        <a:rPr sz="1725" b="0">
                          <a:solidFill>
                            <a:srgbClr val="163044"/>
                          </a:solidFill>
                          <a:latin typeface="Microsoft YaHei"/>
                          <a:ea typeface="Microsoft YaHei"/>
                          <a:cs typeface="Microsoft YaHei"/>
                        </a:rPr>
                        <a:t>肖宇</a:t>
                      </a:r>
                    </a:p>
                  </a:txBody>
                  <a:tcPr anchor="ctr">
                    <a:solidFill>
                      <a:srgbClr val="F5F8FA"/>
                    </a:solidFill>
                  </a:tcPr>
                </a:tc>
                <a:tc>
                  <a:txBody>
                    <a:bodyPr/>
                    <a:lstStyle/>
                    <a:p>
                      <a:r>
                        <a:rPr lang="zh-CN" altLang="en-US" sz="1725" b="0">
                          <a:solidFill>
                            <a:srgbClr val="163044"/>
                          </a:solidFill>
                          <a:latin typeface="Microsoft YaHei"/>
                          <a:ea typeface="Microsoft YaHei"/>
                          <a:cs typeface="Microsoft YaHei"/>
                        </a:rPr>
                        <a:t>王飞涵、陈天驰</a:t>
                      </a:r>
                      <a:endParaRPr sz="1725" b="0">
                        <a:solidFill>
                          <a:srgbClr val="163044"/>
                        </a:solidFill>
                        <a:latin typeface="Microsoft YaHei"/>
                        <a:ea typeface="Microsoft YaHei"/>
                        <a:cs typeface="Microsoft YaHei"/>
                      </a:endParaRPr>
                    </a:p>
                  </a:txBody>
                  <a:tcPr anchor="ctr">
                    <a:solidFill>
                      <a:srgbClr val="F5F8FA"/>
                    </a:solidFill>
                  </a:tcPr>
                </a:tc>
                <a:tc>
                  <a:txBody>
                    <a:bodyPr/>
                    <a:lstStyle/>
                    <a:p>
                      <a:r>
                        <a:rPr sz="1725" b="0">
                          <a:solidFill>
                            <a:srgbClr val="163044"/>
                          </a:solidFill>
                          <a:latin typeface="Microsoft YaHei"/>
                          <a:ea typeface="Microsoft YaHei"/>
                          <a:cs typeface="Microsoft YaHei"/>
                        </a:rPr>
                        <a:t>召回正文、来源、版本与权限</a:t>
                      </a:r>
                    </a:p>
                    <a:p>
                      <a:r>
                        <a:rPr sz="1725" b="0">
                          <a:solidFill>
                            <a:srgbClr val="163044"/>
                          </a:solidFill>
                          <a:latin typeface="Microsoft YaHei"/>
                          <a:ea typeface="Microsoft YaHei"/>
                          <a:cs typeface="Microsoft YaHei"/>
                        </a:rPr>
                        <a:t>候选去重、排序和预算</a:t>
                      </a:r>
                    </a:p>
                  </a:txBody>
                  <a:tcPr anchor="ctr">
                    <a:solidFill>
                      <a:srgbClr val="F5F8FA"/>
                    </a:solidFill>
                  </a:tcPr>
                </a:tc>
                <a:extLst>
                  <a:ext uri="{0D108BD9-81ED-4DB2-BD59-A6C34878D82A}">
                    <a16:rowId xmlns:a16="http://schemas.microsoft.com/office/drawing/2014/main" val="10002"/>
                  </a:ext>
                </a:extLst>
              </a:tr>
              <a:tr h="828675">
                <a:tc>
                  <a:txBody>
                    <a:bodyPr/>
                    <a:lstStyle/>
                    <a:p>
                      <a:r>
                        <a:rPr sz="1725" b="1">
                          <a:solidFill>
                            <a:srgbClr val="163044"/>
                          </a:solidFill>
                          <a:latin typeface="Microsoft YaHei"/>
                          <a:ea typeface="Microsoft YaHei"/>
                          <a:cs typeface="Microsoft YaHei"/>
                        </a:rPr>
                        <a:t>Operate</a:t>
                      </a:r>
                    </a:p>
                  </a:txBody>
                  <a:tcPr anchor="ctr">
                    <a:solidFill>
                      <a:srgbClr val="FFFFFF"/>
                    </a:solidFill>
                  </a:tcPr>
                </a:tc>
                <a:tc>
                  <a:txBody>
                    <a:bodyPr/>
                    <a:lstStyle/>
                    <a:p>
                      <a:r>
                        <a:rPr sz="1725" b="0">
                          <a:solidFill>
                            <a:srgbClr val="163044"/>
                          </a:solidFill>
                          <a:latin typeface="Microsoft YaHei"/>
                          <a:ea typeface="Microsoft YaHei"/>
                          <a:cs typeface="Microsoft YaHei"/>
                        </a:rPr>
                        <a:t>谭旭梁</a:t>
                      </a:r>
                    </a:p>
                  </a:txBody>
                  <a:tcPr anchor="ctr">
                    <a:solidFill>
                      <a:srgbClr val="FFFFFF"/>
                    </a:solidFill>
                  </a:tcPr>
                </a:tc>
                <a:tc>
                  <a:txBody>
                    <a:bodyPr/>
                    <a:lstStyle/>
                    <a:p>
                      <a:r>
                        <a:rPr sz="1725" b="0">
                          <a:solidFill>
                            <a:srgbClr val="163044"/>
                          </a:solidFill>
                          <a:latin typeface="Microsoft YaHei"/>
                          <a:ea typeface="Microsoft YaHei"/>
                          <a:cs typeface="Microsoft YaHei"/>
                        </a:rPr>
                        <a:t>沈佳隆</a:t>
                      </a:r>
                    </a:p>
                  </a:txBody>
                  <a:tcPr anchor="ctr">
                    <a:solidFill>
                      <a:srgbClr val="FFFFFF"/>
                    </a:solidFill>
                  </a:tcPr>
                </a:tc>
                <a:tc>
                  <a:txBody>
                    <a:bodyPr/>
                    <a:lstStyle/>
                    <a:p>
                      <a:r>
                        <a:rPr sz="1725" b="0">
                          <a:solidFill>
                            <a:srgbClr val="163044"/>
                          </a:solidFill>
                          <a:latin typeface="Microsoft YaHei"/>
                          <a:ea typeface="Microsoft YaHei"/>
                          <a:cs typeface="Microsoft YaHei"/>
                        </a:rPr>
                        <a:t>事件去重、容量和存储调度</a:t>
                      </a:r>
                    </a:p>
                    <a:p>
                      <a:r>
                        <a:rPr sz="1725" b="0">
                          <a:solidFill>
                            <a:srgbClr val="163044"/>
                          </a:solidFill>
                          <a:latin typeface="Microsoft YaHei"/>
                          <a:ea typeface="Microsoft YaHei"/>
                          <a:cs typeface="Microsoft YaHei"/>
                        </a:rPr>
                        <a:t>丢响应、原动作查询与恢复</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5" name="test-text-30">
            <a:extLst>
              <a:ext uri="{FF2B5EF4-FFF2-40B4-BE49-F238E27FC236}">
                <a16:creationId xmlns:a16="http://schemas.microsoft.com/office/drawing/2014/main" id="{9850E03D-F0CB-4DF9-814C-FBB5BB0AB377}"/>
              </a:ext>
            </a:extLst>
          </p:cNvPr>
          <p:cNvSpPr>
            <a:spLocks noGrp="1"/>
          </p:cNvSpPr>
          <p:nvPr/>
        </p:nvSpPr>
        <p:spPr>
          <a:xfrm>
            <a:off x="609600" y="5010150"/>
            <a:ext cx="1524000" cy="3429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评审责任</a:t>
            </a:r>
          </a:p>
        </p:txBody>
      </p:sp>
      <p:sp>
        <p:nvSpPr>
          <p:cNvPr id="6" name="test-text-31">
            <a:extLst>
              <a:ext uri="{FF2B5EF4-FFF2-40B4-BE49-F238E27FC236}">
                <a16:creationId xmlns:a16="http://schemas.microsoft.com/office/drawing/2014/main" id="{CE305DEA-8452-4F5A-83D7-FAC43C58819B}"/>
              </a:ext>
            </a:extLst>
          </p:cNvPr>
          <p:cNvSpPr>
            <a:spLocks noGrp="1"/>
          </p:cNvSpPr>
          <p:nvPr/>
        </p:nvSpPr>
        <p:spPr>
          <a:xfrm>
            <a:off x="2190750" y="5010150"/>
            <a:ext cx="9391650" cy="3429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开发核对可执行性，陈凯协调确认业务预期和跨流程规则。</a:t>
            </a:r>
          </a:p>
        </p:txBody>
      </p:sp>
      <p:sp>
        <p:nvSpPr>
          <p:cNvPr id="7" name="test-text-32">
            <a:extLst>
              <a:ext uri="{FF2B5EF4-FFF2-40B4-BE49-F238E27FC236}">
                <a16:creationId xmlns:a16="http://schemas.microsoft.com/office/drawing/2014/main" id="{FB53CBDB-AA44-461C-8C94-72B32EF6626E}"/>
              </a:ext>
            </a:extLst>
          </p:cNvPr>
          <p:cNvSpPr>
            <a:spLocks noGrp="1"/>
          </p:cNvSpPr>
          <p:nvPr/>
        </p:nvSpPr>
        <p:spPr>
          <a:xfrm>
            <a:off x="609600" y="5381625"/>
            <a:ext cx="1524000" cy="3429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联合用例</a:t>
            </a:r>
          </a:p>
        </p:txBody>
      </p:sp>
      <p:sp>
        <p:nvSpPr>
          <p:cNvPr id="8" name="test-text-33">
            <a:extLst>
              <a:ext uri="{FF2B5EF4-FFF2-40B4-BE49-F238E27FC236}">
                <a16:creationId xmlns:a16="http://schemas.microsoft.com/office/drawing/2014/main" id="{CB251062-AA52-4FFF-8422-349D223ABBEF}"/>
              </a:ext>
            </a:extLst>
          </p:cNvPr>
          <p:cNvSpPr>
            <a:spLocks noGrp="1"/>
          </p:cNvSpPr>
          <p:nvPr/>
        </p:nvSpPr>
        <p:spPr>
          <a:xfrm>
            <a:off x="2190750" y="5381625"/>
            <a:ext cx="9391650" cy="3429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指定一位主责，两侧共同验证。如更正后召回：赵旭东牵头，肖宇配合。</a:t>
            </a:r>
          </a:p>
        </p:txBody>
      </p:sp>
      <p:sp>
        <p:nvSpPr>
          <p:cNvPr id="9" name="test-text-34">
            <a:extLst>
              <a:ext uri="{FF2B5EF4-FFF2-40B4-BE49-F238E27FC236}">
                <a16:creationId xmlns:a16="http://schemas.microsoft.com/office/drawing/2014/main" id="{5FAABBA5-68F7-410E-8D41-5BEA94778F42}"/>
              </a:ext>
            </a:extLst>
          </p:cNvPr>
          <p:cNvSpPr>
            <a:spLocks noGrp="1"/>
          </p:cNvSpPr>
          <p:nvPr/>
        </p:nvSpPr>
        <p:spPr>
          <a:xfrm>
            <a:off x="609600" y="5953125"/>
            <a:ext cx="10972800" cy="295275"/>
          </a:xfrm>
          <a:prstGeom prst="rect">
            <a:avLst/>
          </a:prstGeom>
          <a:noFill/>
          <a:ln w="0">
            <a:noFill/>
          </a:ln>
        </p:spPr>
        <p:txBody>
          <a:bodyPr wrap="square" lIns="0" tIns="0" rIns="0" bIns="0" anchor="ctr">
            <a:noAutofit/>
          </a:bodyPr>
          <a:lstStyle/>
          <a:p>
            <a:pPr algn="l">
              <a:defRPr sz="1575" b="1">
                <a:solidFill>
                  <a:srgbClr val="087F80"/>
                </a:solidFill>
                <a:latin typeface="Microsoft YaHei"/>
                <a:ea typeface="Microsoft YaHei"/>
                <a:cs typeface="Microsoft YaHei"/>
              </a:defRPr>
            </a:pPr>
            <a:r>
              <a:rPr sz="1575" b="1">
                <a:solidFill>
                  <a:srgbClr val="087F80"/>
                </a:solidFill>
                <a:latin typeface="Microsoft YaHei"/>
                <a:ea typeface="Microsoft YaHei"/>
                <a:cs typeface="Microsoft YaHei"/>
              </a:rPr>
              <a:t>开发人员编写单元自测。测试负责人编写业务用例、执行记录和复测结论。</a:t>
            </a:r>
          </a:p>
        </p:txBody>
      </p:sp>
      <p:sp>
        <p:nvSpPr>
          <p:cNvPr id="10" name="直接连接符 9">
            <a:extLst>
              <a:ext uri="{FF2B5EF4-FFF2-40B4-BE49-F238E27FC236}">
                <a16:creationId xmlns:a16="http://schemas.microsoft.com/office/drawing/2014/main" id="{A83CEC1B-FAD1-4062-A782-05836E0B7517}"/>
              </a:ext>
            </a:extLst>
          </p:cNvPr>
          <p:cNvSpPr>
            <a:spLocks noGrp="1"/>
          </p:cNvSpPr>
          <p:nvPr/>
        </p:nvSpPr>
        <p:spPr>
          <a:xfrm>
            <a:off x="609600" y="6324600"/>
            <a:ext cx="10972800" cy="95"/>
          </a:xfrm>
          <a:prstGeom prst="line">
            <a:avLst/>
          </a:prstGeom>
          <a:noFill/>
          <a:ln w="9525">
            <a:solidFill>
              <a:srgbClr val="D7E2E8"/>
            </a:solidFill>
          </a:ln>
        </p:spPr>
      </p:sp>
      <p:sp>
        <p:nvSpPr>
          <p:cNvPr id="11" name="test-text-35">
            <a:extLst>
              <a:ext uri="{FF2B5EF4-FFF2-40B4-BE49-F238E27FC236}">
                <a16:creationId xmlns:a16="http://schemas.microsoft.com/office/drawing/2014/main" id="{270CF6E5-BCE9-455A-8D26-4C3F7B51F8F0}"/>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V4.3</a:t>
            </a:r>
          </a:p>
        </p:txBody>
      </p:sp>
      <p:sp>
        <p:nvSpPr>
          <p:cNvPr id="12" name="test-text-36">
            <a:extLst>
              <a:ext uri="{FF2B5EF4-FFF2-40B4-BE49-F238E27FC236}">
                <a16:creationId xmlns:a16="http://schemas.microsoft.com/office/drawing/2014/main" id="{44A0AC11-07B7-4DC0-BCE6-C4729986E16D}"/>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14 / 24</a:t>
            </a:r>
          </a:p>
        </p:txBody>
      </p:sp>
    </p:spTree>
    <p:extLst>
      <p:ext uri="{BB962C8B-B14F-4D97-AF65-F5344CB8AC3E}">
        <p14:creationId xmlns:p14="http://schemas.microsoft.com/office/powerpoint/2010/main" val="17960204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st-text-37">
            <a:extLst>
              <a:ext uri="{FF2B5EF4-FFF2-40B4-BE49-F238E27FC236}">
                <a16:creationId xmlns:a16="http://schemas.microsoft.com/office/drawing/2014/main" id="{CDC98D39-C0C7-4439-ADEA-FAAA763A3DEC}"/>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st-text-38">
            <a:extLst>
              <a:ext uri="{FF2B5EF4-FFF2-40B4-BE49-F238E27FC236}">
                <a16:creationId xmlns:a16="http://schemas.microsoft.com/office/drawing/2014/main" id="{4846E40A-0407-4875-BB3D-7CA4F305A57A}"/>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000" b="1">
                <a:solidFill>
                  <a:srgbClr val="163044"/>
                </a:solidFill>
                <a:latin typeface="Microsoft YaHei"/>
                <a:ea typeface="Microsoft YaHei"/>
                <a:cs typeface="Microsoft YaHei"/>
              </a:defRPr>
            </a:pPr>
            <a:r>
              <a:rPr sz="3000" b="1">
                <a:solidFill>
                  <a:srgbClr val="163044"/>
                </a:solidFill>
                <a:latin typeface="Microsoft YaHei"/>
                <a:ea typeface="Microsoft YaHei"/>
                <a:cs typeface="Microsoft YaHei"/>
              </a:rPr>
              <a:t>用例设计：把业务规则拆成可验证条件</a:t>
            </a:r>
          </a:p>
        </p:txBody>
      </p:sp>
      <p:sp>
        <p:nvSpPr>
          <p:cNvPr id="3" name="test-text-39">
            <a:extLst>
              <a:ext uri="{FF2B5EF4-FFF2-40B4-BE49-F238E27FC236}">
                <a16:creationId xmlns:a16="http://schemas.microsoft.com/office/drawing/2014/main" id="{2A02678F-E164-408A-9765-79CF5BF1D393}"/>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每条用例关联需求和流程节点，只验证一个明确目标，逐步写出可观察的预期</a:t>
            </a:r>
          </a:p>
        </p:txBody>
      </p:sp>
      <p:graphicFrame>
        <p:nvGraphicFramePr>
          <p:cNvPr id="12" name="表格 11"/>
          <p:cNvGraphicFramePr/>
          <p:nvPr/>
        </p:nvGraphicFramePr>
        <p:xfrm>
          <a:off x="609600" y="1971675"/>
          <a:ext cx="10972800" cy="3676650"/>
        </p:xfrm>
        <a:graphic>
          <a:graphicData uri="http://schemas.openxmlformats.org/drawingml/2006/table">
            <a:tbl>
              <a:tblPr/>
              <a:tblGrid>
                <a:gridCol w="2000250">
                  <a:extLst>
                    <a:ext uri="{9D8B030D-6E8A-4147-A177-3AD203B41FA5}">
                      <a16:colId xmlns:a16="http://schemas.microsoft.com/office/drawing/2014/main" val="20000"/>
                    </a:ext>
                  </a:extLst>
                </a:gridCol>
                <a:gridCol w="4524375">
                  <a:extLst>
                    <a:ext uri="{9D8B030D-6E8A-4147-A177-3AD203B41FA5}">
                      <a16:colId xmlns:a16="http://schemas.microsoft.com/office/drawing/2014/main" val="20001"/>
                    </a:ext>
                  </a:extLst>
                </a:gridCol>
                <a:gridCol w="4448175">
                  <a:extLst>
                    <a:ext uri="{9D8B030D-6E8A-4147-A177-3AD203B41FA5}">
                      <a16:colId xmlns:a16="http://schemas.microsoft.com/office/drawing/2014/main" val="20002"/>
                    </a:ext>
                  </a:extLst>
                </a:gridCol>
              </a:tblGrid>
              <a:tr h="438150">
                <a:tc>
                  <a:txBody>
                    <a:bodyPr/>
                    <a:lstStyle/>
                    <a:p>
                      <a:r>
                        <a:rPr sz="1800" b="1">
                          <a:solidFill>
                            <a:srgbClr val="FFFFFF"/>
                          </a:solidFill>
                          <a:latin typeface="Microsoft YaHei"/>
                          <a:ea typeface="Microsoft YaHei"/>
                          <a:cs typeface="Microsoft YaHei"/>
                        </a:rPr>
                        <a:t>设计方法</a:t>
                      </a:r>
                    </a:p>
                  </a:txBody>
                  <a:tcPr anchor="ctr">
                    <a:solidFill>
                      <a:srgbClr val="163044"/>
                    </a:solidFill>
                  </a:tcPr>
                </a:tc>
                <a:tc>
                  <a:txBody>
                    <a:bodyPr/>
                    <a:lstStyle/>
                    <a:p>
                      <a:r>
                        <a:rPr sz="1800" b="1">
                          <a:solidFill>
                            <a:srgbClr val="FFFFFF"/>
                          </a:solidFill>
                          <a:latin typeface="Microsoft YaHei"/>
                          <a:ea typeface="Microsoft YaHei"/>
                          <a:cs typeface="Microsoft YaHei"/>
                        </a:rPr>
                        <a:t>P3 中怎样选测试数据</a:t>
                      </a:r>
                    </a:p>
                  </a:txBody>
                  <a:tcPr anchor="ctr">
                    <a:solidFill>
                      <a:srgbClr val="163044"/>
                    </a:solidFill>
                  </a:tcPr>
                </a:tc>
                <a:tc>
                  <a:txBody>
                    <a:bodyPr/>
                    <a:lstStyle/>
                    <a:p>
                      <a:r>
                        <a:rPr sz="1800" b="1">
                          <a:solidFill>
                            <a:srgbClr val="FFFFFF"/>
                          </a:solidFill>
                          <a:latin typeface="Microsoft YaHei"/>
                          <a:ea typeface="Microsoft YaHei"/>
                          <a:cs typeface="Microsoft YaHei"/>
                        </a:rPr>
                        <a:t>必须检查的结果</a:t>
                      </a:r>
                    </a:p>
                  </a:txBody>
                  <a:tcPr anchor="ctr">
                    <a:solidFill>
                      <a:srgbClr val="163044"/>
                    </a:solidFill>
                  </a:tcPr>
                </a:tc>
                <a:extLst>
                  <a:ext uri="{0D108BD9-81ED-4DB2-BD59-A6C34878D82A}">
                    <a16:rowId xmlns:a16="http://schemas.microsoft.com/office/drawing/2014/main" val="10000"/>
                  </a:ext>
                </a:extLst>
              </a:tr>
              <a:tr h="647700">
                <a:tc>
                  <a:txBody>
                    <a:bodyPr/>
                    <a:lstStyle/>
                    <a:p>
                      <a:r>
                        <a:rPr sz="1725" b="1">
                          <a:solidFill>
                            <a:srgbClr val="163044"/>
                          </a:solidFill>
                          <a:latin typeface="Microsoft YaHei"/>
                          <a:ea typeface="Microsoft YaHei"/>
                          <a:cs typeface="Microsoft YaHei"/>
                        </a:rPr>
                        <a:t>等价类</a:t>
                      </a:r>
                    </a:p>
                  </a:txBody>
                  <a:tcPr anchor="ctr">
                    <a:solidFill>
                      <a:srgbClr val="FFFFFF"/>
                    </a:solidFill>
                  </a:tcPr>
                </a:tc>
                <a:tc>
                  <a:txBody>
                    <a:bodyPr/>
                    <a:lstStyle/>
                    <a:p>
                      <a:r>
                        <a:rPr sz="1725" b="0">
                          <a:solidFill>
                            <a:srgbClr val="163044"/>
                          </a:solidFill>
                          <a:latin typeface="Microsoft YaHei"/>
                          <a:ea typeface="Microsoft YaHei"/>
                          <a:cs typeface="Microsoft YaHei"/>
                        </a:rPr>
                        <a:t>有效与无效输入</a:t>
                      </a:r>
                    </a:p>
                    <a:p>
                      <a:r>
                        <a:rPr sz="1725" b="0">
                          <a:solidFill>
                            <a:srgbClr val="163044"/>
                          </a:solidFill>
                          <a:latin typeface="Microsoft YaHei"/>
                          <a:ea typeface="Microsoft YaHei"/>
                          <a:cs typeface="Microsoft YaHei"/>
                        </a:rPr>
                        <a:t>有权限与无权限用户</a:t>
                      </a:r>
                    </a:p>
                  </a:txBody>
                  <a:tcPr anchor="ctr">
                    <a:solidFill>
                      <a:srgbClr val="FFFFFF"/>
                    </a:solidFill>
                  </a:tcPr>
                </a:tc>
                <a:tc>
                  <a:txBody>
                    <a:bodyPr/>
                    <a:lstStyle/>
                    <a:p>
                      <a:r>
                        <a:rPr sz="1725" b="0">
                          <a:solidFill>
                            <a:srgbClr val="163044"/>
                          </a:solidFill>
                          <a:latin typeface="Microsoft YaHei"/>
                          <a:ea typeface="Microsoft YaHei"/>
                          <a:cs typeface="Microsoft YaHei"/>
                        </a:rPr>
                        <a:t>允许请求能完成</a:t>
                      </a:r>
                    </a:p>
                    <a:p>
                      <a:r>
                        <a:rPr sz="1725" b="0">
                          <a:solidFill>
                            <a:srgbClr val="163044"/>
                          </a:solidFill>
                          <a:latin typeface="Microsoft YaHei"/>
                          <a:ea typeface="Microsoft YaHei"/>
                          <a:cs typeface="Microsoft YaHei"/>
                        </a:rPr>
                        <a:t>拒绝请求不改数据、不泄露正文</a:t>
                      </a:r>
                    </a:p>
                  </a:txBody>
                  <a:tcPr anchor="ctr">
                    <a:solidFill>
                      <a:srgbClr val="FFFFFF"/>
                    </a:solidFill>
                  </a:tcPr>
                </a:tc>
                <a:extLst>
                  <a:ext uri="{0D108BD9-81ED-4DB2-BD59-A6C34878D82A}">
                    <a16:rowId xmlns:a16="http://schemas.microsoft.com/office/drawing/2014/main" val="10001"/>
                  </a:ext>
                </a:extLst>
              </a:tr>
              <a:tr h="647700">
                <a:tc>
                  <a:txBody>
                    <a:bodyPr/>
                    <a:lstStyle/>
                    <a:p>
                      <a:r>
                        <a:rPr sz="1725" b="1">
                          <a:solidFill>
                            <a:srgbClr val="163044"/>
                          </a:solidFill>
                          <a:latin typeface="Microsoft YaHei"/>
                          <a:ea typeface="Microsoft YaHei"/>
                          <a:cs typeface="Microsoft YaHei"/>
                        </a:rPr>
                        <a:t>边界值</a:t>
                      </a:r>
                    </a:p>
                  </a:txBody>
                  <a:tcPr anchor="ctr">
                    <a:solidFill>
                      <a:srgbClr val="F5F8FA"/>
                    </a:solidFill>
                  </a:tcPr>
                </a:tc>
                <a:tc>
                  <a:txBody>
                    <a:bodyPr/>
                    <a:lstStyle/>
                    <a:p>
                      <a:r>
                        <a:rPr sz="1725" b="0">
                          <a:solidFill>
                            <a:srgbClr val="163044"/>
                          </a:solidFill>
                          <a:latin typeface="Microsoft YaHei"/>
                          <a:ea typeface="Microsoft YaHei"/>
                          <a:cs typeface="Microsoft YaHei"/>
                        </a:rPr>
                        <a:t>内容长度、预算、容量限制</a:t>
                      </a:r>
                    </a:p>
                    <a:p>
                      <a:r>
                        <a:rPr sz="1725" b="0">
                          <a:solidFill>
                            <a:srgbClr val="163044"/>
                          </a:solidFill>
                          <a:latin typeface="Microsoft YaHei"/>
                          <a:ea typeface="Microsoft YaHei"/>
                          <a:cs typeface="Microsoft YaHei"/>
                        </a:rPr>
                        <a:t>分别取低于、等于和高于边界</a:t>
                      </a:r>
                    </a:p>
                  </a:txBody>
                  <a:tcPr anchor="ctr">
                    <a:solidFill>
                      <a:srgbClr val="F5F8FA"/>
                    </a:solidFill>
                  </a:tcPr>
                </a:tc>
                <a:tc>
                  <a:txBody>
                    <a:bodyPr/>
                    <a:lstStyle/>
                    <a:p>
                      <a:r>
                        <a:rPr sz="1725" b="0">
                          <a:solidFill>
                            <a:srgbClr val="163044"/>
                          </a:solidFill>
                          <a:latin typeface="Microsoft YaHei"/>
                          <a:ea typeface="Microsoft YaHei"/>
                          <a:cs typeface="Microsoft YaHei"/>
                        </a:rPr>
                        <a:t>边界内行为正确</a:t>
                      </a:r>
                    </a:p>
                    <a:p>
                      <a:r>
                        <a:rPr sz="1725" b="0">
                          <a:solidFill>
                            <a:srgbClr val="163044"/>
                          </a:solidFill>
                          <a:latin typeface="Microsoft YaHei"/>
                          <a:ea typeface="Microsoft YaHei"/>
                          <a:cs typeface="Microsoft YaHei"/>
                        </a:rPr>
                        <a:t>超限按规则拒绝或降级</a:t>
                      </a:r>
                    </a:p>
                  </a:txBody>
                  <a:tcPr anchor="ctr">
                    <a:solidFill>
                      <a:srgbClr val="F5F8FA"/>
                    </a:solidFill>
                  </a:tcPr>
                </a:tc>
                <a:extLst>
                  <a:ext uri="{0D108BD9-81ED-4DB2-BD59-A6C34878D82A}">
                    <a16:rowId xmlns:a16="http://schemas.microsoft.com/office/drawing/2014/main" val="10002"/>
                  </a:ext>
                </a:extLst>
              </a:tr>
              <a:tr h="647700">
                <a:tc>
                  <a:txBody>
                    <a:bodyPr/>
                    <a:lstStyle/>
                    <a:p>
                      <a:r>
                        <a:rPr sz="1725" b="1">
                          <a:solidFill>
                            <a:srgbClr val="163044"/>
                          </a:solidFill>
                          <a:latin typeface="Microsoft YaHei"/>
                          <a:ea typeface="Microsoft YaHei"/>
                          <a:cs typeface="Microsoft YaHei"/>
                        </a:rPr>
                        <a:t>状态转换</a:t>
                      </a:r>
                    </a:p>
                  </a:txBody>
                  <a:tcPr anchor="ctr">
                    <a:solidFill>
                      <a:srgbClr val="FFFFFF"/>
                    </a:solidFill>
                  </a:tcPr>
                </a:tc>
                <a:tc>
                  <a:txBody>
                    <a:bodyPr/>
                    <a:lstStyle/>
                    <a:p>
                      <a:r>
                        <a:rPr sz="1725" b="0">
                          <a:solidFill>
                            <a:srgbClr val="163044"/>
                          </a:solidFill>
                          <a:latin typeface="Microsoft YaHei"/>
                          <a:ea typeface="Microsoft YaHei"/>
                          <a:cs typeface="Microsoft YaHei"/>
                        </a:rPr>
                        <a:t>已保存、就绪、更正、删除</a:t>
                      </a:r>
                    </a:p>
                    <a:p>
                      <a:r>
                        <a:rPr sz="1725" b="0">
                          <a:solidFill>
                            <a:srgbClr val="163044"/>
                          </a:solidFill>
                          <a:latin typeface="Microsoft YaHei"/>
                          <a:ea typeface="Microsoft YaHei"/>
                          <a:cs typeface="Microsoft YaHei"/>
                        </a:rPr>
                        <a:t>分别在处理前和处理中切换</a:t>
                      </a:r>
                    </a:p>
                  </a:txBody>
                  <a:tcPr anchor="ctr">
                    <a:solidFill>
                      <a:srgbClr val="FFFFFF"/>
                    </a:solidFill>
                  </a:tcPr>
                </a:tc>
                <a:tc>
                  <a:txBody>
                    <a:bodyPr/>
                    <a:lstStyle/>
                    <a:p>
                      <a:r>
                        <a:rPr sz="1725" b="0">
                          <a:solidFill>
                            <a:srgbClr val="163044"/>
                          </a:solidFill>
                          <a:latin typeface="Microsoft YaHei"/>
                          <a:ea typeface="Microsoft YaHei"/>
                          <a:cs typeface="Microsoft YaHei"/>
                        </a:rPr>
                        <a:t>新版本可用</a:t>
                      </a:r>
                    </a:p>
                    <a:p>
                      <a:r>
                        <a:rPr sz="1725" b="0">
                          <a:solidFill>
                            <a:srgbClr val="163044"/>
                          </a:solidFill>
                          <a:latin typeface="Microsoft YaHei"/>
                          <a:ea typeface="Microsoft YaHei"/>
                          <a:cs typeface="Microsoft YaHei"/>
                        </a:rPr>
                        <a:t>旧版本和迟到结果不能重新生效</a:t>
                      </a:r>
                    </a:p>
                  </a:txBody>
                  <a:tcPr anchor="ctr">
                    <a:solidFill>
                      <a:srgbClr val="FFFFFF"/>
                    </a:solidFill>
                  </a:tcPr>
                </a:tc>
                <a:extLst>
                  <a:ext uri="{0D108BD9-81ED-4DB2-BD59-A6C34878D82A}">
                    <a16:rowId xmlns:a16="http://schemas.microsoft.com/office/drawing/2014/main" val="10003"/>
                  </a:ext>
                </a:extLst>
              </a:tr>
              <a:tr h="647700">
                <a:tc>
                  <a:txBody>
                    <a:bodyPr/>
                    <a:lstStyle/>
                    <a:p>
                      <a:r>
                        <a:rPr sz="1725" b="1">
                          <a:solidFill>
                            <a:srgbClr val="163044"/>
                          </a:solidFill>
                          <a:latin typeface="Microsoft YaHei"/>
                          <a:ea typeface="Microsoft YaHei"/>
                          <a:cs typeface="Microsoft YaHei"/>
                        </a:rPr>
                        <a:t>决策表</a:t>
                      </a:r>
                    </a:p>
                  </a:txBody>
                  <a:tcPr anchor="ctr">
                    <a:solidFill>
                      <a:srgbClr val="F5F8FA"/>
                    </a:solidFill>
                  </a:tcPr>
                </a:tc>
                <a:tc>
                  <a:txBody>
                    <a:bodyPr/>
                    <a:lstStyle/>
                    <a:p>
                      <a:r>
                        <a:rPr sz="1725" b="0">
                          <a:solidFill>
                            <a:srgbClr val="163044"/>
                          </a:solidFill>
                          <a:latin typeface="Microsoft YaHei"/>
                          <a:ea typeface="Microsoft YaHei"/>
                          <a:cs typeface="Microsoft YaHei"/>
                        </a:rPr>
                        <a:t>组合权限、当前版本</a:t>
                      </a:r>
                    </a:p>
                    <a:p>
                      <a:r>
                        <a:rPr sz="1725" b="0">
                          <a:solidFill>
                            <a:srgbClr val="163044"/>
                          </a:solidFill>
                          <a:latin typeface="Microsoft YaHei"/>
                          <a:ea typeface="Microsoft YaHei"/>
                          <a:cs typeface="Microsoft YaHei"/>
                        </a:rPr>
                        <a:t>正文可读性三项条件</a:t>
                      </a:r>
                    </a:p>
                  </a:txBody>
                  <a:tcPr anchor="ctr">
                    <a:solidFill>
                      <a:srgbClr val="F5F8FA"/>
                    </a:solidFill>
                  </a:tcPr>
                </a:tc>
                <a:tc>
                  <a:txBody>
                    <a:bodyPr/>
                    <a:lstStyle/>
                    <a:p>
                      <a:r>
                        <a:rPr sz="1725" b="0">
                          <a:solidFill>
                            <a:srgbClr val="163044"/>
                          </a:solidFill>
                          <a:latin typeface="Microsoft YaHei"/>
                          <a:ea typeface="Microsoft YaHei"/>
                          <a:cs typeface="Microsoft YaHei"/>
                        </a:rPr>
                        <a:t>仅符合全部条件的正文可交付</a:t>
                      </a:r>
                    </a:p>
                    <a:p>
                      <a:r>
                        <a:rPr sz="1725" b="0">
                          <a:solidFill>
                            <a:srgbClr val="163044"/>
                          </a:solidFill>
                          <a:latin typeface="Microsoft YaHei"/>
                          <a:ea typeface="Microsoft YaHei"/>
                          <a:cs typeface="Microsoft YaHei"/>
                        </a:rPr>
                        <a:t>无法核实时明确报告原因</a:t>
                      </a:r>
                    </a:p>
                  </a:txBody>
                  <a:tcPr anchor="ctr">
                    <a:solidFill>
                      <a:srgbClr val="F5F8FA"/>
                    </a:solidFill>
                  </a:tcPr>
                </a:tc>
                <a:extLst>
                  <a:ext uri="{0D108BD9-81ED-4DB2-BD59-A6C34878D82A}">
                    <a16:rowId xmlns:a16="http://schemas.microsoft.com/office/drawing/2014/main" val="10004"/>
                  </a:ext>
                </a:extLst>
              </a:tr>
              <a:tr h="647700">
                <a:tc>
                  <a:txBody>
                    <a:bodyPr/>
                    <a:lstStyle/>
                    <a:p>
                      <a:r>
                        <a:rPr sz="1725" b="1">
                          <a:solidFill>
                            <a:srgbClr val="163044"/>
                          </a:solidFill>
                          <a:latin typeface="Microsoft YaHei"/>
                          <a:ea typeface="Microsoft YaHei"/>
                          <a:cs typeface="Microsoft YaHei"/>
                        </a:rPr>
                        <a:t>故障注入</a:t>
                      </a:r>
                    </a:p>
                  </a:txBody>
                  <a:tcPr anchor="ctr">
                    <a:solidFill>
                      <a:srgbClr val="FFFFFF"/>
                    </a:solidFill>
                  </a:tcPr>
                </a:tc>
                <a:tc>
                  <a:txBody>
                    <a:bodyPr/>
                    <a:lstStyle/>
                    <a:p>
                      <a:r>
                        <a:rPr sz="1725" b="0">
                          <a:solidFill>
                            <a:srgbClr val="163044"/>
                          </a:solidFill>
                          <a:latin typeface="Microsoft YaHei"/>
                          <a:ea typeface="Microsoft YaHei"/>
                          <a:cs typeface="Microsoft YaHei"/>
                        </a:rPr>
                        <a:t>超时、丢响应、重复事件</a:t>
                      </a:r>
                    </a:p>
                    <a:p>
                      <a:r>
                        <a:rPr sz="1725" b="0">
                          <a:solidFill>
                            <a:srgbClr val="163044"/>
                          </a:solidFill>
                          <a:latin typeface="Microsoft YaHei"/>
                          <a:ea typeface="Microsoft YaHei"/>
                          <a:cs typeface="Microsoft YaHei"/>
                        </a:rPr>
                        <a:t>任务执行中重启</a:t>
                      </a:r>
                    </a:p>
                  </a:txBody>
                  <a:tcPr anchor="ctr">
                    <a:solidFill>
                      <a:srgbClr val="FFFFFF"/>
                    </a:solidFill>
                  </a:tcPr>
                </a:tc>
                <a:tc>
                  <a:txBody>
                    <a:bodyPr/>
                    <a:lstStyle/>
                    <a:p>
                      <a:r>
                        <a:rPr sz="1725" b="0">
                          <a:solidFill>
                            <a:srgbClr val="163044"/>
                          </a:solidFill>
                          <a:latin typeface="Microsoft YaHei"/>
                          <a:ea typeface="Microsoft YaHei"/>
                          <a:cs typeface="Microsoft YaHei"/>
                        </a:rPr>
                        <a:t>结果不假报成功、动作不重复</a:t>
                      </a:r>
                    </a:p>
                    <a:p>
                      <a:r>
                        <a:rPr sz="1725" b="0">
                          <a:solidFill>
                            <a:srgbClr val="163044"/>
                          </a:solidFill>
                          <a:latin typeface="Microsoft YaHei"/>
                          <a:ea typeface="Microsoft YaHei"/>
                          <a:cs typeface="Microsoft YaHei"/>
                        </a:rPr>
                        <a:t>恢复后数据与状态一致</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5" name="test-text-40">
            <a:extLst>
              <a:ext uri="{FF2B5EF4-FFF2-40B4-BE49-F238E27FC236}">
                <a16:creationId xmlns:a16="http://schemas.microsoft.com/office/drawing/2014/main" id="{D7B40E1B-62DB-4239-961B-93C4FD6CC439}"/>
              </a:ext>
            </a:extLst>
          </p:cNvPr>
          <p:cNvSpPr>
            <a:spLocks noGrp="1"/>
          </p:cNvSpPr>
          <p:nvPr/>
        </p:nvSpPr>
        <p:spPr>
          <a:xfrm>
            <a:off x="609600" y="5953125"/>
            <a:ext cx="10972800" cy="295275"/>
          </a:xfrm>
          <a:prstGeom prst="rect">
            <a:avLst/>
          </a:prstGeom>
          <a:noFill/>
          <a:ln w="0">
            <a:noFill/>
          </a:ln>
        </p:spPr>
        <p:txBody>
          <a:bodyPr wrap="square" lIns="0" tIns="0" rIns="0" bIns="0" anchor="ctr">
            <a:noAutofit/>
          </a:bodyPr>
          <a:lstStyle/>
          <a:p>
            <a:pPr algn="l">
              <a:defRPr sz="1575" b="1">
                <a:solidFill>
                  <a:srgbClr val="087F80"/>
                </a:solidFill>
                <a:latin typeface="Microsoft YaHei"/>
                <a:ea typeface="Microsoft YaHei"/>
                <a:cs typeface="Microsoft YaHei"/>
              </a:defRPr>
            </a:pPr>
            <a:r>
              <a:rPr sz="1575" b="1">
                <a:solidFill>
                  <a:srgbClr val="087F80"/>
                </a:solidFill>
                <a:latin typeface="Microsoft YaHei"/>
                <a:ea typeface="Microsoft YaHei"/>
                <a:cs typeface="Microsoft YaHei"/>
              </a:rPr>
              <a:t>核心必测：保存、召回、更正、删除、隔离和恢复。数值边界从批准的配置取值。</a:t>
            </a:r>
          </a:p>
        </p:txBody>
      </p:sp>
      <p:sp>
        <p:nvSpPr>
          <p:cNvPr id="6" name="直接连接符 5">
            <a:extLst>
              <a:ext uri="{FF2B5EF4-FFF2-40B4-BE49-F238E27FC236}">
                <a16:creationId xmlns:a16="http://schemas.microsoft.com/office/drawing/2014/main" id="{CF791DAC-CABE-46CD-AD92-569F138431D6}"/>
              </a:ext>
            </a:extLst>
          </p:cNvPr>
          <p:cNvSpPr>
            <a:spLocks noGrp="1"/>
          </p:cNvSpPr>
          <p:nvPr/>
        </p:nvSpPr>
        <p:spPr>
          <a:xfrm>
            <a:off x="609600" y="6324600"/>
            <a:ext cx="10972800" cy="95"/>
          </a:xfrm>
          <a:prstGeom prst="line">
            <a:avLst/>
          </a:prstGeom>
          <a:noFill/>
          <a:ln w="9525">
            <a:solidFill>
              <a:srgbClr val="D7E2E8"/>
            </a:solidFill>
          </a:ln>
        </p:spPr>
      </p:sp>
      <p:sp>
        <p:nvSpPr>
          <p:cNvPr id="7" name="test-text-41">
            <a:extLst>
              <a:ext uri="{FF2B5EF4-FFF2-40B4-BE49-F238E27FC236}">
                <a16:creationId xmlns:a16="http://schemas.microsoft.com/office/drawing/2014/main" id="{B532CFE4-D610-42C8-86C8-E03F360EA846}"/>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V4.3</a:t>
            </a:r>
          </a:p>
        </p:txBody>
      </p:sp>
      <p:sp>
        <p:nvSpPr>
          <p:cNvPr id="8" name="test-text-42">
            <a:extLst>
              <a:ext uri="{FF2B5EF4-FFF2-40B4-BE49-F238E27FC236}">
                <a16:creationId xmlns:a16="http://schemas.microsoft.com/office/drawing/2014/main" id="{7564E480-5A12-4ED6-8066-EDAA938EB240}"/>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15 / 24</a:t>
            </a:r>
          </a:p>
        </p:txBody>
      </p:sp>
    </p:spTree>
    <p:extLst>
      <p:ext uri="{BB962C8B-B14F-4D97-AF65-F5344CB8AC3E}">
        <p14:creationId xmlns:p14="http://schemas.microsoft.com/office/powerpoint/2010/main" val="20129196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st-text-43">
            <a:extLst>
              <a:ext uri="{FF2B5EF4-FFF2-40B4-BE49-F238E27FC236}">
                <a16:creationId xmlns:a16="http://schemas.microsoft.com/office/drawing/2014/main" id="{086371E5-1F68-4914-A4BB-5FC5A35D0A4E}"/>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st-text-44">
            <a:extLst>
              <a:ext uri="{FF2B5EF4-FFF2-40B4-BE49-F238E27FC236}">
                <a16:creationId xmlns:a16="http://schemas.microsoft.com/office/drawing/2014/main" id="{0D7497B2-55AB-40B0-AFBD-FA31AEB63220}"/>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000" b="1">
                <a:solidFill>
                  <a:srgbClr val="163044"/>
                </a:solidFill>
                <a:latin typeface="Microsoft YaHei"/>
                <a:ea typeface="Microsoft YaHei"/>
                <a:cs typeface="Microsoft YaHei"/>
              </a:defRPr>
            </a:pPr>
            <a:r>
              <a:rPr sz="3000" b="1">
                <a:solidFill>
                  <a:srgbClr val="163044"/>
                </a:solidFill>
                <a:latin typeface="Microsoft YaHei"/>
                <a:ea typeface="Microsoft YaHei"/>
                <a:cs typeface="Microsoft YaHei"/>
              </a:rPr>
              <a:t>用例示例：更正后只能交付新预算</a:t>
            </a:r>
          </a:p>
        </p:txBody>
      </p:sp>
      <p:sp>
        <p:nvSpPr>
          <p:cNvPr id="3" name="test-text-45">
            <a:extLst>
              <a:ext uri="{FF2B5EF4-FFF2-40B4-BE49-F238E27FC236}">
                <a16:creationId xmlns:a16="http://schemas.microsoft.com/office/drawing/2014/main" id="{8B985F9D-C1D8-43FE-B99F-19425C3346BA}"/>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TC-P3-04-01　更正与跨会话召回　核心必测　设计示例，未执行</a:t>
            </a:r>
          </a:p>
        </p:txBody>
      </p:sp>
      <p:sp>
        <p:nvSpPr>
          <p:cNvPr id="4" name="test-text-46">
            <a:extLst>
              <a:ext uri="{FF2B5EF4-FFF2-40B4-BE49-F238E27FC236}">
                <a16:creationId xmlns:a16="http://schemas.microsoft.com/office/drawing/2014/main" id="{0CCC4072-AD6F-4F83-B4DB-52916ACF8158}"/>
              </a:ext>
            </a:extLst>
          </p:cNvPr>
          <p:cNvSpPr>
            <a:spLocks noGrp="1"/>
          </p:cNvSpPr>
          <p:nvPr/>
        </p:nvSpPr>
        <p:spPr>
          <a:xfrm>
            <a:off x="609600" y="1885950"/>
            <a:ext cx="10972800" cy="3048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责任：赵旭东编写，肖宇联合验证；杨鹏通 / A 开发负责人评审</a:t>
            </a:r>
          </a:p>
        </p:txBody>
      </p:sp>
      <p:sp>
        <p:nvSpPr>
          <p:cNvPr id="5" name="test-text-47">
            <a:extLst>
              <a:ext uri="{FF2B5EF4-FFF2-40B4-BE49-F238E27FC236}">
                <a16:creationId xmlns:a16="http://schemas.microsoft.com/office/drawing/2014/main" id="{E223E146-F79D-41A8-B9F7-675B4277B203}"/>
              </a:ext>
            </a:extLst>
          </p:cNvPr>
          <p:cNvSpPr>
            <a:spLocks noGrp="1"/>
          </p:cNvSpPr>
          <p:nvPr/>
        </p:nvSpPr>
        <p:spPr>
          <a:xfrm>
            <a:off x="609600" y="2247900"/>
            <a:ext cx="10972800" cy="333375"/>
          </a:xfrm>
          <a:prstGeom prst="rect">
            <a:avLst/>
          </a:prstGeom>
          <a:noFill/>
          <a:ln w="0">
            <a:noFill/>
          </a:ln>
        </p:spPr>
        <p:txBody>
          <a:bodyPr wrap="square" lIns="0" tIns="0" rIns="0" bIns="0" anchor="ctr">
            <a:noAutofit/>
          </a:bodyPr>
          <a:lstStyle/>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前置：租户 A 的授权用户使用两个会话。已保存预算 20 万并长期就绪，留存旧结果。</a:t>
            </a:r>
          </a:p>
        </p:txBody>
      </p:sp>
      <p:graphicFrame>
        <p:nvGraphicFramePr>
          <p:cNvPr id="17" name="表格 16"/>
          <p:cNvGraphicFramePr/>
          <p:nvPr/>
        </p:nvGraphicFramePr>
        <p:xfrm>
          <a:off x="609600" y="2705100"/>
          <a:ext cx="10972800" cy="2686050"/>
        </p:xfrm>
        <a:graphic>
          <a:graphicData uri="http://schemas.openxmlformats.org/drawingml/2006/table">
            <a:tbl>
              <a:tblPr/>
              <a:tblGrid>
                <a:gridCol w="723900">
                  <a:extLst>
                    <a:ext uri="{9D8B030D-6E8A-4147-A177-3AD203B41FA5}">
                      <a16:colId xmlns:a16="http://schemas.microsoft.com/office/drawing/2014/main" val="20000"/>
                    </a:ext>
                  </a:extLst>
                </a:gridCol>
                <a:gridCol w="4095750">
                  <a:extLst>
                    <a:ext uri="{9D8B030D-6E8A-4147-A177-3AD203B41FA5}">
                      <a16:colId xmlns:a16="http://schemas.microsoft.com/office/drawing/2014/main" val="20001"/>
                    </a:ext>
                  </a:extLst>
                </a:gridCol>
                <a:gridCol w="4391025">
                  <a:extLst>
                    <a:ext uri="{9D8B030D-6E8A-4147-A177-3AD203B41FA5}">
                      <a16:colId xmlns:a16="http://schemas.microsoft.com/office/drawing/2014/main" val="20002"/>
                    </a:ext>
                  </a:extLst>
                </a:gridCol>
                <a:gridCol w="1762125">
                  <a:extLst>
                    <a:ext uri="{9D8B030D-6E8A-4147-A177-3AD203B41FA5}">
                      <a16:colId xmlns:a16="http://schemas.microsoft.com/office/drawing/2014/main" val="20003"/>
                    </a:ext>
                  </a:extLst>
                </a:gridCol>
              </a:tblGrid>
              <a:tr h="400050">
                <a:tc>
                  <a:txBody>
                    <a:bodyPr/>
                    <a:lstStyle/>
                    <a:p>
                      <a:r>
                        <a:rPr sz="1800" b="1">
                          <a:solidFill>
                            <a:srgbClr val="FFFFFF"/>
                          </a:solidFill>
                          <a:latin typeface="Microsoft YaHei"/>
                          <a:ea typeface="Microsoft YaHei"/>
                          <a:cs typeface="Microsoft YaHei"/>
                        </a:rPr>
                        <a:t>步骤</a:t>
                      </a:r>
                    </a:p>
                  </a:txBody>
                  <a:tcPr anchor="ctr">
                    <a:solidFill>
                      <a:srgbClr val="163044"/>
                    </a:solidFill>
                  </a:tcPr>
                </a:tc>
                <a:tc>
                  <a:txBody>
                    <a:bodyPr/>
                    <a:lstStyle/>
                    <a:p>
                      <a:r>
                        <a:rPr sz="1800" b="1">
                          <a:solidFill>
                            <a:srgbClr val="FFFFFF"/>
                          </a:solidFill>
                          <a:latin typeface="Microsoft YaHei"/>
                          <a:ea typeface="Microsoft YaHei"/>
                          <a:cs typeface="Microsoft YaHei"/>
                        </a:rPr>
                        <a:t>操作与输入</a:t>
                      </a:r>
                    </a:p>
                  </a:txBody>
                  <a:tcPr anchor="ctr">
                    <a:solidFill>
                      <a:srgbClr val="163044"/>
                    </a:solidFill>
                  </a:tcPr>
                </a:tc>
                <a:tc>
                  <a:txBody>
                    <a:bodyPr/>
                    <a:lstStyle/>
                    <a:p>
                      <a:r>
                        <a:rPr sz="1800" b="1">
                          <a:solidFill>
                            <a:srgbClr val="FFFFFF"/>
                          </a:solidFill>
                          <a:latin typeface="Microsoft YaHei"/>
                          <a:ea typeface="Microsoft YaHei"/>
                          <a:cs typeface="Microsoft YaHei"/>
                        </a:rPr>
                        <a:t>逐步预期</a:t>
                      </a:r>
                    </a:p>
                  </a:txBody>
                  <a:tcPr anchor="ctr">
                    <a:solidFill>
                      <a:srgbClr val="163044"/>
                    </a:solidFill>
                  </a:tcPr>
                </a:tc>
                <a:tc>
                  <a:txBody>
                    <a:bodyPr/>
                    <a:lstStyle/>
                    <a:p>
                      <a:r>
                        <a:rPr sz="1800" b="1">
                          <a:solidFill>
                            <a:srgbClr val="FFFFFF"/>
                          </a:solidFill>
                          <a:latin typeface="Microsoft YaHei"/>
                          <a:ea typeface="Microsoft YaHei"/>
                          <a:cs typeface="Microsoft YaHei"/>
                        </a:rPr>
                        <a:t>证据</a:t>
                      </a:r>
                    </a:p>
                  </a:txBody>
                  <a:tcPr anchor="ctr">
                    <a:solidFill>
                      <a:srgbClr val="163044"/>
                    </a:solidFill>
                  </a:tcPr>
                </a:tc>
                <a:extLst>
                  <a:ext uri="{0D108BD9-81ED-4DB2-BD59-A6C34878D82A}">
                    <a16:rowId xmlns:a16="http://schemas.microsoft.com/office/drawing/2014/main" val="10000"/>
                  </a:ext>
                </a:extLst>
              </a:tr>
              <a:tr h="762000">
                <a:tc>
                  <a:txBody>
                    <a:bodyPr/>
                    <a:lstStyle/>
                    <a:p>
                      <a:r>
                        <a:rPr sz="1650" b="1">
                          <a:solidFill>
                            <a:srgbClr val="163044"/>
                          </a:solidFill>
                          <a:latin typeface="Microsoft YaHei"/>
                          <a:ea typeface="Microsoft YaHei"/>
                          <a:cs typeface="Microsoft YaHei"/>
                        </a:rPr>
                        <a:t>1</a:t>
                      </a:r>
                    </a:p>
                  </a:txBody>
                  <a:tcPr anchor="ctr">
                    <a:solidFill>
                      <a:srgbClr val="FFFFFF"/>
                    </a:solidFill>
                  </a:tcPr>
                </a:tc>
                <a:tc>
                  <a:txBody>
                    <a:bodyPr/>
                    <a:lstStyle/>
                    <a:p>
                      <a:r>
                        <a:rPr sz="1650" b="0">
                          <a:solidFill>
                            <a:srgbClr val="163044"/>
                          </a:solidFill>
                          <a:latin typeface="Microsoft YaHei"/>
                          <a:ea typeface="Microsoft YaHei"/>
                          <a:cs typeface="Microsoft YaHei"/>
                        </a:rPr>
                        <a:t>会话一将同一预算更正为 15 万</a:t>
                      </a:r>
                    </a:p>
                    <a:p>
                      <a:r>
                        <a:rPr sz="1650" b="0">
                          <a:solidFill>
                            <a:srgbClr val="163044"/>
                          </a:solidFill>
                          <a:latin typeface="Microsoft YaHei"/>
                          <a:ea typeface="Microsoft YaHei"/>
                          <a:cs typeface="Microsoft YaHei"/>
                        </a:rPr>
                        <a:t>等待新版达到长期检索就绪</a:t>
                      </a:r>
                    </a:p>
                  </a:txBody>
                  <a:tcPr anchor="ctr">
                    <a:solidFill>
                      <a:srgbClr val="FFFFFF"/>
                    </a:solidFill>
                  </a:tcPr>
                </a:tc>
                <a:tc>
                  <a:txBody>
                    <a:bodyPr/>
                    <a:lstStyle/>
                    <a:p>
                      <a:r>
                        <a:rPr sz="1650" b="0">
                          <a:solidFill>
                            <a:srgbClr val="163044"/>
                          </a:solidFill>
                          <a:latin typeface="Microsoft YaHei"/>
                          <a:ea typeface="Microsoft YaHei"/>
                          <a:cs typeface="Microsoft YaHei"/>
                        </a:rPr>
                        <a:t>更正记录关联原预算</a:t>
                      </a:r>
                    </a:p>
                    <a:p>
                      <a:r>
                        <a:rPr sz="1650" b="0">
                          <a:solidFill>
                            <a:srgbClr val="163044"/>
                          </a:solidFill>
                          <a:latin typeface="Microsoft YaHei"/>
                          <a:ea typeface="Microsoft YaHei"/>
                          <a:cs typeface="Microsoft YaHei"/>
                        </a:rPr>
                        <a:t>当前版本变为新版，就绪状态可核对</a:t>
                      </a:r>
                    </a:p>
                  </a:txBody>
                  <a:tcPr anchor="ctr">
                    <a:solidFill>
                      <a:srgbClr val="FFFFFF"/>
                    </a:solidFill>
                  </a:tcPr>
                </a:tc>
                <a:tc>
                  <a:txBody>
                    <a:bodyPr/>
                    <a:lstStyle/>
                    <a:p>
                      <a:r>
                        <a:rPr sz="1650" b="0">
                          <a:solidFill>
                            <a:srgbClr val="163044"/>
                          </a:solidFill>
                          <a:latin typeface="Microsoft YaHei"/>
                          <a:ea typeface="Microsoft YaHei"/>
                          <a:cs typeface="Microsoft YaHei"/>
                        </a:rPr>
                        <a:t>更正记录</a:t>
                      </a:r>
                    </a:p>
                    <a:p>
                      <a:r>
                        <a:rPr sz="1650" b="0">
                          <a:solidFill>
                            <a:srgbClr val="163044"/>
                          </a:solidFill>
                          <a:latin typeface="Microsoft YaHei"/>
                          <a:ea typeface="Microsoft YaHei"/>
                          <a:cs typeface="Microsoft YaHei"/>
                        </a:rPr>
                        <a:t>版本及状态</a:t>
                      </a:r>
                    </a:p>
                  </a:txBody>
                  <a:tcPr anchor="ctr">
                    <a:solidFill>
                      <a:srgbClr val="FFFFFF"/>
                    </a:solidFill>
                  </a:tcPr>
                </a:tc>
                <a:extLst>
                  <a:ext uri="{0D108BD9-81ED-4DB2-BD59-A6C34878D82A}">
                    <a16:rowId xmlns:a16="http://schemas.microsoft.com/office/drawing/2014/main" val="10001"/>
                  </a:ext>
                </a:extLst>
              </a:tr>
              <a:tr h="762000">
                <a:tc>
                  <a:txBody>
                    <a:bodyPr/>
                    <a:lstStyle/>
                    <a:p>
                      <a:r>
                        <a:rPr sz="1650" b="1">
                          <a:solidFill>
                            <a:srgbClr val="163044"/>
                          </a:solidFill>
                          <a:latin typeface="Microsoft YaHei"/>
                          <a:ea typeface="Microsoft YaHei"/>
                          <a:cs typeface="Microsoft YaHei"/>
                        </a:rPr>
                        <a:t>2</a:t>
                      </a:r>
                    </a:p>
                  </a:txBody>
                  <a:tcPr anchor="ctr">
                    <a:solidFill>
                      <a:srgbClr val="F5F8FA"/>
                    </a:solidFill>
                  </a:tcPr>
                </a:tc>
                <a:tc>
                  <a:txBody>
                    <a:bodyPr/>
                    <a:lstStyle/>
                    <a:p>
                      <a:r>
                        <a:rPr sz="1650" b="0">
                          <a:solidFill>
                            <a:srgbClr val="163044"/>
                          </a:solidFill>
                          <a:latin typeface="Microsoft YaHei"/>
                          <a:ea typeface="Microsoft YaHei"/>
                          <a:cs typeface="Microsoft YaHei"/>
                        </a:rPr>
                        <a:t>会话二询问“当前预算是多少？”</a:t>
                      </a:r>
                    </a:p>
                    <a:p>
                      <a:r>
                        <a:rPr sz="1650" b="0">
                          <a:solidFill>
                            <a:srgbClr val="163044"/>
                          </a:solidFill>
                          <a:latin typeface="Microsoft YaHei"/>
                          <a:ea typeface="Microsoft YaHei"/>
                          <a:cs typeface="Microsoft YaHei"/>
                        </a:rPr>
                        <a:t>读取本次交付的记忆材料</a:t>
                      </a:r>
                    </a:p>
                  </a:txBody>
                  <a:tcPr anchor="ctr">
                    <a:solidFill>
                      <a:srgbClr val="F5F8FA"/>
                    </a:solidFill>
                  </a:tcPr>
                </a:tc>
                <a:tc>
                  <a:txBody>
                    <a:bodyPr/>
                    <a:lstStyle/>
                    <a:p>
                      <a:r>
                        <a:rPr sz="1650" b="0">
                          <a:solidFill>
                            <a:srgbClr val="163044"/>
                          </a:solidFill>
                          <a:latin typeface="Microsoft YaHei"/>
                          <a:ea typeface="Microsoft YaHei"/>
                          <a:cs typeface="Microsoft YaHei"/>
                        </a:rPr>
                        <a:t>包含 15 万及对应来源、新版本</a:t>
                      </a:r>
                    </a:p>
                    <a:p>
                      <a:r>
                        <a:rPr sz="1650" b="0">
                          <a:solidFill>
                            <a:srgbClr val="163044"/>
                          </a:solidFill>
                          <a:latin typeface="Microsoft YaHei"/>
                          <a:ea typeface="Microsoft YaHei"/>
                          <a:cs typeface="Microsoft YaHei"/>
                        </a:rPr>
                        <a:t>不把旧 20 万作为当前预算交付</a:t>
                      </a:r>
                    </a:p>
                  </a:txBody>
                  <a:tcPr anchor="ctr">
                    <a:solidFill>
                      <a:srgbClr val="F5F8FA"/>
                    </a:solidFill>
                  </a:tcPr>
                </a:tc>
                <a:tc>
                  <a:txBody>
                    <a:bodyPr/>
                    <a:lstStyle/>
                    <a:p>
                      <a:r>
                        <a:rPr sz="1650" b="0">
                          <a:solidFill>
                            <a:srgbClr val="163044"/>
                          </a:solidFill>
                          <a:latin typeface="Microsoft YaHei"/>
                          <a:ea typeface="Microsoft YaHei"/>
                          <a:cs typeface="Microsoft YaHei"/>
                        </a:rPr>
                        <a:t>召回材料</a:t>
                      </a:r>
                    </a:p>
                    <a:p>
                      <a:r>
                        <a:rPr sz="1650" b="0">
                          <a:solidFill>
                            <a:srgbClr val="163044"/>
                          </a:solidFill>
                          <a:latin typeface="Microsoft YaHei"/>
                          <a:ea typeface="Microsoft YaHei"/>
                          <a:cs typeface="Microsoft YaHei"/>
                        </a:rPr>
                        <a:t>来源与版本</a:t>
                      </a:r>
                    </a:p>
                  </a:txBody>
                  <a:tcPr anchor="ctr">
                    <a:solidFill>
                      <a:srgbClr val="F5F8FA"/>
                    </a:solidFill>
                  </a:tcPr>
                </a:tc>
                <a:extLst>
                  <a:ext uri="{0D108BD9-81ED-4DB2-BD59-A6C34878D82A}">
                    <a16:rowId xmlns:a16="http://schemas.microsoft.com/office/drawing/2014/main" val="10002"/>
                  </a:ext>
                </a:extLst>
              </a:tr>
              <a:tr h="762000">
                <a:tc>
                  <a:txBody>
                    <a:bodyPr/>
                    <a:lstStyle/>
                    <a:p>
                      <a:r>
                        <a:rPr sz="1650" b="1">
                          <a:solidFill>
                            <a:srgbClr val="163044"/>
                          </a:solidFill>
                          <a:latin typeface="Microsoft YaHei"/>
                          <a:ea typeface="Microsoft YaHei"/>
                          <a:cs typeface="Microsoft YaHei"/>
                        </a:rPr>
                        <a:t>3</a:t>
                      </a:r>
                    </a:p>
                  </a:txBody>
                  <a:tcPr anchor="ctr">
                    <a:solidFill>
                      <a:srgbClr val="FFFFFF"/>
                    </a:solidFill>
                  </a:tcPr>
                </a:tc>
                <a:tc>
                  <a:txBody>
                    <a:bodyPr/>
                    <a:lstStyle/>
                    <a:p>
                      <a:r>
                        <a:rPr sz="1650" b="0">
                          <a:solidFill>
                            <a:srgbClr val="163044"/>
                          </a:solidFill>
                          <a:latin typeface="Microsoft YaHei"/>
                          <a:ea typeface="Microsoft YaHei"/>
                          <a:cs typeface="Microsoft YaHei"/>
                        </a:rPr>
                        <a:t>再次获取更正前保存的旧结果</a:t>
                      </a:r>
                    </a:p>
                  </a:txBody>
                  <a:tcPr anchor="ctr">
                    <a:solidFill>
                      <a:srgbClr val="FFFFFF"/>
                    </a:solidFill>
                  </a:tcPr>
                </a:tc>
                <a:tc>
                  <a:txBody>
                    <a:bodyPr/>
                    <a:lstStyle/>
                    <a:p>
                      <a:r>
                        <a:rPr sz="1650" b="0">
                          <a:solidFill>
                            <a:srgbClr val="163044"/>
                          </a:solidFill>
                          <a:latin typeface="Microsoft YaHei"/>
                          <a:ea typeface="Microsoft YaHei"/>
                          <a:cs typeface="Microsoft YaHei"/>
                        </a:rPr>
                        <a:t>旧结果失效或拒绝重取</a:t>
                      </a:r>
                    </a:p>
                    <a:p>
                      <a:r>
                        <a:rPr sz="1650" b="0">
                          <a:solidFill>
                            <a:srgbClr val="163044"/>
                          </a:solidFill>
                          <a:latin typeface="Microsoft YaHei"/>
                          <a:ea typeface="Microsoft YaHei"/>
                          <a:cs typeface="Microsoft YaHei"/>
                        </a:rPr>
                        <a:t>不再交付旧 20 万正文</a:t>
                      </a:r>
                    </a:p>
                  </a:txBody>
                  <a:tcPr anchor="ctr">
                    <a:solidFill>
                      <a:srgbClr val="FFFFFF"/>
                    </a:solidFill>
                  </a:tcPr>
                </a:tc>
                <a:tc>
                  <a:txBody>
                    <a:bodyPr/>
                    <a:lstStyle/>
                    <a:p>
                      <a:r>
                        <a:rPr sz="1650" b="0">
                          <a:solidFill>
                            <a:srgbClr val="163044"/>
                          </a:solidFill>
                          <a:latin typeface="Microsoft YaHei"/>
                          <a:ea typeface="Microsoft YaHei"/>
                          <a:cs typeface="Microsoft YaHei"/>
                        </a:rPr>
                        <a:t>重取结果</a:t>
                      </a:r>
                    </a:p>
                    <a:p>
                      <a:r>
                        <a:rPr sz="1650" b="0">
                          <a:solidFill>
                            <a:srgbClr val="163044"/>
                          </a:solidFill>
                          <a:latin typeface="Microsoft YaHei"/>
                          <a:ea typeface="Microsoft YaHei"/>
                          <a:cs typeface="Microsoft YaHei"/>
                        </a:rPr>
                        <a:t>拒绝原因</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7" name="test-text-48">
            <a:extLst>
              <a:ext uri="{FF2B5EF4-FFF2-40B4-BE49-F238E27FC236}">
                <a16:creationId xmlns:a16="http://schemas.microsoft.com/office/drawing/2014/main" id="{D5371F78-7124-4232-8CDA-E201BF8BEC4B}"/>
              </a:ext>
            </a:extLst>
          </p:cNvPr>
          <p:cNvSpPr>
            <a:spLocks noGrp="1"/>
          </p:cNvSpPr>
          <p:nvPr/>
        </p:nvSpPr>
        <p:spPr>
          <a:xfrm>
            <a:off x="609600" y="5495925"/>
            <a:ext cx="10972800" cy="266700"/>
          </a:xfrm>
          <a:prstGeom prst="rect">
            <a:avLst/>
          </a:prstGeom>
          <a:noFill/>
          <a:ln w="0">
            <a:noFill/>
          </a:ln>
        </p:spPr>
        <p:txBody>
          <a:bodyPr wrap="square" lIns="0" tIns="0" rIns="0" bIns="0" anchor="ctr">
            <a:noAutofit/>
          </a:bodyPr>
          <a:lstStyle/>
          <a:p>
            <a:pPr algn="l">
              <a:defRPr sz="1575" b="0">
                <a:solidFill>
                  <a:srgbClr val="5B6D7A"/>
                </a:solidFill>
                <a:latin typeface="Microsoft YaHei"/>
                <a:ea typeface="Microsoft YaHei"/>
                <a:cs typeface="Microsoft YaHei"/>
              </a:defRPr>
            </a:pPr>
            <a:r>
              <a:rPr sz="1575" b="0">
                <a:solidFill>
                  <a:srgbClr val="5B6D7A"/>
                </a:solidFill>
                <a:latin typeface="Microsoft YaHei"/>
                <a:ea typeface="Microsoft YaHei"/>
                <a:cs typeface="Microsoft YaHei"/>
              </a:rPr>
              <a:t>运行前登记：用例版本、代码版本、环境与数据。Mock 和真实 P2 分别执行、分别留记录。</a:t>
            </a:r>
          </a:p>
        </p:txBody>
      </p:sp>
      <p:sp>
        <p:nvSpPr>
          <p:cNvPr id="8" name="test-text-49">
            <a:extLst>
              <a:ext uri="{FF2B5EF4-FFF2-40B4-BE49-F238E27FC236}">
                <a16:creationId xmlns:a16="http://schemas.microsoft.com/office/drawing/2014/main" id="{A8B926D3-603B-4FFB-8F2F-1996F5B36A15}"/>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500" b="1">
                <a:solidFill>
                  <a:srgbClr val="087F80"/>
                </a:solidFill>
                <a:latin typeface="Microsoft YaHei"/>
                <a:ea typeface="Microsoft YaHei"/>
                <a:cs typeface="Microsoft YaHei"/>
              </a:defRPr>
            </a:pPr>
            <a:r>
              <a:rPr sz="1500" b="1">
                <a:solidFill>
                  <a:srgbClr val="087F80"/>
                </a:solidFill>
                <a:latin typeface="Microsoft YaHei"/>
                <a:ea typeface="Microsoft YaHei"/>
                <a:cs typeface="Microsoft YaHei"/>
              </a:rPr>
              <a:t>等待：按就绪状态和环境时限。清理：复位本例数据。结果：未执行，实际结果 / 证据 / 缺陷留待记录。</a:t>
            </a:r>
          </a:p>
        </p:txBody>
      </p:sp>
      <p:sp>
        <p:nvSpPr>
          <p:cNvPr id="9" name="直接连接符 8">
            <a:extLst>
              <a:ext uri="{FF2B5EF4-FFF2-40B4-BE49-F238E27FC236}">
                <a16:creationId xmlns:a16="http://schemas.microsoft.com/office/drawing/2014/main" id="{F8DA28F6-749A-4D6D-BED3-D0321ED2129F}"/>
              </a:ext>
            </a:extLst>
          </p:cNvPr>
          <p:cNvSpPr>
            <a:spLocks noGrp="1"/>
          </p:cNvSpPr>
          <p:nvPr/>
        </p:nvSpPr>
        <p:spPr>
          <a:xfrm>
            <a:off x="609600" y="6324600"/>
            <a:ext cx="10972800" cy="95"/>
          </a:xfrm>
          <a:prstGeom prst="line">
            <a:avLst/>
          </a:prstGeom>
          <a:noFill/>
          <a:ln w="9525">
            <a:solidFill>
              <a:srgbClr val="D7E2E8"/>
            </a:solidFill>
          </a:ln>
        </p:spPr>
      </p:sp>
      <p:sp>
        <p:nvSpPr>
          <p:cNvPr id="10" name="test-text-50">
            <a:extLst>
              <a:ext uri="{FF2B5EF4-FFF2-40B4-BE49-F238E27FC236}">
                <a16:creationId xmlns:a16="http://schemas.microsoft.com/office/drawing/2014/main" id="{CE08CDF8-AA1B-41FF-ACDF-A1C88A9A15ED}"/>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V4.3</a:t>
            </a:r>
          </a:p>
        </p:txBody>
      </p:sp>
      <p:sp>
        <p:nvSpPr>
          <p:cNvPr id="11" name="test-text-51">
            <a:extLst>
              <a:ext uri="{FF2B5EF4-FFF2-40B4-BE49-F238E27FC236}">
                <a16:creationId xmlns:a16="http://schemas.microsoft.com/office/drawing/2014/main" id="{593A029C-710C-43D5-82CC-A3F8393897CD}"/>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16 / 24</a:t>
            </a:r>
          </a:p>
        </p:txBody>
      </p:sp>
    </p:spTree>
    <p:extLst>
      <p:ext uri="{BB962C8B-B14F-4D97-AF65-F5344CB8AC3E}">
        <p14:creationId xmlns:p14="http://schemas.microsoft.com/office/powerpoint/2010/main" val="19380367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est-text-52">
            <a:extLst>
              <a:ext uri="{FF2B5EF4-FFF2-40B4-BE49-F238E27FC236}">
                <a16:creationId xmlns:a16="http://schemas.microsoft.com/office/drawing/2014/main" id="{64D5727C-34EE-493C-B2F8-A8789F4BA1A9}"/>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st-text-53">
            <a:extLst>
              <a:ext uri="{FF2B5EF4-FFF2-40B4-BE49-F238E27FC236}">
                <a16:creationId xmlns:a16="http://schemas.microsoft.com/office/drawing/2014/main" id="{2EB916E6-AB22-4774-9A81-5779EF79BE8B}"/>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000" b="1">
                <a:solidFill>
                  <a:srgbClr val="163044"/>
                </a:solidFill>
                <a:latin typeface="Microsoft YaHei"/>
                <a:ea typeface="Microsoft YaHei"/>
                <a:cs typeface="Microsoft YaHei"/>
              </a:defRPr>
            </a:pPr>
            <a:r>
              <a:rPr sz="3000" b="1">
                <a:solidFill>
                  <a:srgbClr val="163044"/>
                </a:solidFill>
                <a:latin typeface="Microsoft YaHei"/>
                <a:ea typeface="Microsoft YaHei"/>
                <a:cs typeface="Microsoft YaHei"/>
              </a:rPr>
              <a:t>没有 P2 时，测试怎样用 Mock 执行</a:t>
            </a:r>
          </a:p>
        </p:txBody>
      </p:sp>
      <p:sp>
        <p:nvSpPr>
          <p:cNvPr id="3" name="test-text-54">
            <a:extLst>
              <a:ext uri="{FF2B5EF4-FFF2-40B4-BE49-F238E27FC236}">
                <a16:creationId xmlns:a16="http://schemas.microsoft.com/office/drawing/2014/main" id="{2A0D9F73-E4D0-4D13-B6C2-DF2E4844B90C}"/>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测试人员准备固定数据和故障时序，脚本控制替身，再检查真实产生的数据与状态</a:t>
            </a:r>
          </a:p>
        </p:txBody>
      </p:sp>
      <p:graphicFrame>
        <p:nvGraphicFramePr>
          <p:cNvPr id="14" name="表格 13"/>
          <p:cNvGraphicFramePr/>
          <p:nvPr/>
        </p:nvGraphicFramePr>
        <p:xfrm>
          <a:off x="609600" y="1971675"/>
          <a:ext cx="10972800" cy="3400425"/>
        </p:xfrm>
        <a:graphic>
          <a:graphicData uri="http://schemas.openxmlformats.org/drawingml/2006/table">
            <a:tbl>
              <a:tblPr/>
              <a:tblGrid>
                <a:gridCol w="1714500">
                  <a:extLst>
                    <a:ext uri="{9D8B030D-6E8A-4147-A177-3AD203B41FA5}">
                      <a16:colId xmlns:a16="http://schemas.microsoft.com/office/drawing/2014/main" val="20000"/>
                    </a:ext>
                  </a:extLst>
                </a:gridCol>
                <a:gridCol w="4743450">
                  <a:extLst>
                    <a:ext uri="{9D8B030D-6E8A-4147-A177-3AD203B41FA5}">
                      <a16:colId xmlns:a16="http://schemas.microsoft.com/office/drawing/2014/main" val="20001"/>
                    </a:ext>
                  </a:extLst>
                </a:gridCol>
                <a:gridCol w="4514850">
                  <a:extLst>
                    <a:ext uri="{9D8B030D-6E8A-4147-A177-3AD203B41FA5}">
                      <a16:colId xmlns:a16="http://schemas.microsoft.com/office/drawing/2014/main" val="20002"/>
                    </a:ext>
                  </a:extLst>
                </a:gridCol>
              </a:tblGrid>
              <a:tr h="457200">
                <a:tc>
                  <a:txBody>
                    <a:bodyPr/>
                    <a:lstStyle/>
                    <a:p>
                      <a:r>
                        <a:rPr sz="1800" b="1">
                          <a:solidFill>
                            <a:srgbClr val="FFFFFF"/>
                          </a:solidFill>
                          <a:latin typeface="Microsoft YaHei"/>
                          <a:ea typeface="Microsoft YaHei"/>
                          <a:cs typeface="Microsoft YaHei"/>
                        </a:rPr>
                        <a:t>模拟对象</a:t>
                      </a:r>
                    </a:p>
                  </a:txBody>
                  <a:tcPr anchor="ctr">
                    <a:solidFill>
                      <a:srgbClr val="163044"/>
                    </a:solidFill>
                  </a:tcPr>
                </a:tc>
                <a:tc>
                  <a:txBody>
                    <a:bodyPr/>
                    <a:lstStyle/>
                    <a:p>
                      <a:r>
                        <a:rPr sz="1800" b="1">
                          <a:solidFill>
                            <a:srgbClr val="FFFFFF"/>
                          </a:solidFill>
                          <a:latin typeface="Microsoft YaHei"/>
                          <a:ea typeface="Microsoft YaHei"/>
                          <a:cs typeface="Microsoft YaHei"/>
                        </a:rPr>
                        <a:t>测试怎样操作</a:t>
                      </a:r>
                    </a:p>
                  </a:txBody>
                  <a:tcPr anchor="ctr">
                    <a:solidFill>
                      <a:srgbClr val="163044"/>
                    </a:solidFill>
                  </a:tcPr>
                </a:tc>
                <a:tc>
                  <a:txBody>
                    <a:bodyPr/>
                    <a:lstStyle/>
                    <a:p>
                      <a:r>
                        <a:rPr sz="1800" b="1">
                          <a:solidFill>
                            <a:srgbClr val="FFFFFF"/>
                          </a:solidFill>
                          <a:latin typeface="Microsoft YaHei"/>
                          <a:ea typeface="Microsoft YaHei"/>
                          <a:cs typeface="Microsoft YaHei"/>
                        </a:rPr>
                        <a:t>用什么结果判断</a:t>
                      </a:r>
                    </a:p>
                  </a:txBody>
                  <a:tcPr anchor="ctr">
                    <a:solidFill>
                      <a:srgbClr val="163044"/>
                    </a:solidFill>
                  </a:tcPr>
                </a:tc>
                <a:extLst>
                  <a:ext uri="{0D108BD9-81ED-4DB2-BD59-A6C34878D82A}">
                    <a16:rowId xmlns:a16="http://schemas.microsoft.com/office/drawing/2014/main" val="10000"/>
                  </a:ext>
                </a:extLst>
              </a:tr>
              <a:tr h="981075">
                <a:tc>
                  <a:txBody>
                    <a:bodyPr/>
                    <a:lstStyle/>
                    <a:p>
                      <a:r>
                        <a:rPr sz="1725" b="1">
                          <a:solidFill>
                            <a:srgbClr val="163044"/>
                          </a:solidFill>
                          <a:latin typeface="Microsoft YaHei"/>
                          <a:ea typeface="Microsoft YaHei"/>
                          <a:cs typeface="Microsoft YaHei"/>
                        </a:rPr>
                        <a:t>正文存储</a:t>
                      </a:r>
                    </a:p>
                  </a:txBody>
                  <a:tcPr anchor="ctr">
                    <a:solidFill>
                      <a:srgbClr val="FFFFFF"/>
                    </a:solidFill>
                  </a:tcPr>
                </a:tc>
                <a:tc>
                  <a:txBody>
                    <a:bodyPr/>
                    <a:lstStyle/>
                    <a:p>
                      <a:r>
                        <a:rPr sz="1725" b="0">
                          <a:solidFill>
                            <a:srgbClr val="163044"/>
                          </a:solidFill>
                          <a:latin typeface="Microsoft YaHei"/>
                          <a:ea typeface="Microsoft YaHei"/>
                          <a:cs typeface="Microsoft YaHei"/>
                        </a:rPr>
                        <a:t>把原文写入独立 SQLite</a:t>
                      </a:r>
                    </a:p>
                    <a:p>
                      <a:r>
                        <a:rPr sz="1725" b="0">
                          <a:solidFill>
                            <a:srgbClr val="163044"/>
                          </a:solidFill>
                          <a:latin typeface="Microsoft YaHei"/>
                          <a:ea typeface="Microsoft YaHei"/>
                          <a:cs typeface="Microsoft YaHei"/>
                        </a:rPr>
                        <a:t>重建实例后读回</a:t>
                      </a:r>
                    </a:p>
                    <a:p>
                      <a:r>
                        <a:rPr sz="1725" b="0">
                          <a:solidFill>
                            <a:srgbClr val="163044"/>
                          </a:solidFill>
                          <a:latin typeface="Microsoft YaHei"/>
                          <a:ea typeface="Microsoft YaHei"/>
                          <a:cs typeface="Microsoft YaHei"/>
                        </a:rPr>
                        <a:t>切换为不可用后再次读取</a:t>
                      </a:r>
                    </a:p>
                  </a:txBody>
                  <a:tcPr anchor="ctr">
                    <a:solidFill>
                      <a:srgbClr val="FFFFFF"/>
                    </a:solidFill>
                  </a:tcPr>
                </a:tc>
                <a:tc>
                  <a:txBody>
                    <a:bodyPr/>
                    <a:lstStyle/>
                    <a:p>
                      <a:r>
                        <a:rPr sz="1725" b="0">
                          <a:solidFill>
                            <a:srgbClr val="163044"/>
                          </a:solidFill>
                          <a:latin typeface="Microsoft YaHei"/>
                          <a:ea typeface="Microsoft YaHei"/>
                          <a:cs typeface="Microsoft YaHei"/>
                        </a:rPr>
                        <a:t>正文、版本与指纹一致</a:t>
                      </a:r>
                    </a:p>
                    <a:p>
                      <a:r>
                        <a:rPr sz="1725" b="0">
                          <a:solidFill>
                            <a:srgbClr val="163044"/>
                          </a:solidFill>
                          <a:latin typeface="Microsoft YaHei"/>
                          <a:ea typeface="Microsoft YaHei"/>
                          <a:cs typeface="Microsoft YaHei"/>
                        </a:rPr>
                        <a:t>重启后仍能读取</a:t>
                      </a:r>
                    </a:p>
                    <a:p>
                      <a:r>
                        <a:rPr sz="1725" b="0">
                          <a:solidFill>
                            <a:srgbClr val="163044"/>
                          </a:solidFill>
                          <a:latin typeface="Microsoft YaHei"/>
                          <a:ea typeface="Microsoft YaHei"/>
                          <a:cs typeface="Microsoft YaHei"/>
                        </a:rPr>
                        <a:t>依赖不可用时明确失败</a:t>
                      </a:r>
                    </a:p>
                  </a:txBody>
                  <a:tcPr anchor="ctr">
                    <a:solidFill>
                      <a:srgbClr val="FFFFFF"/>
                    </a:solidFill>
                  </a:tcPr>
                </a:tc>
                <a:extLst>
                  <a:ext uri="{0D108BD9-81ED-4DB2-BD59-A6C34878D82A}">
                    <a16:rowId xmlns:a16="http://schemas.microsoft.com/office/drawing/2014/main" val="10001"/>
                  </a:ext>
                </a:extLst>
              </a:tr>
              <a:tr h="981075">
                <a:tc>
                  <a:txBody>
                    <a:bodyPr/>
                    <a:lstStyle/>
                    <a:p>
                      <a:r>
                        <a:rPr sz="1725" b="1">
                          <a:solidFill>
                            <a:srgbClr val="163044"/>
                          </a:solidFill>
                          <a:latin typeface="Microsoft YaHei"/>
                          <a:ea typeface="Microsoft YaHei"/>
                          <a:cs typeface="Microsoft YaHei"/>
                        </a:rPr>
                        <a:t>向量状态</a:t>
                      </a:r>
                    </a:p>
                  </a:txBody>
                  <a:tcPr anchor="ctr">
                    <a:solidFill>
                      <a:srgbClr val="F5F8FA"/>
                    </a:solidFill>
                  </a:tcPr>
                </a:tc>
                <a:tc>
                  <a:txBody>
                    <a:bodyPr/>
                    <a:lstStyle/>
                    <a:p>
                      <a:r>
                        <a:rPr sz="1725" b="0">
                          <a:solidFill>
                            <a:srgbClr val="163044"/>
                          </a:solidFill>
                          <a:latin typeface="Microsoft YaHei"/>
                          <a:ea typeface="Microsoft YaHei"/>
                          <a:cs typeface="Microsoft YaHei"/>
                        </a:rPr>
                        <a:t>写入向量与操作记录</a:t>
                      </a:r>
                    </a:p>
                    <a:p>
                      <a:r>
                        <a:rPr sz="1725" b="0">
                          <a:solidFill>
                            <a:srgbClr val="163044"/>
                          </a:solidFill>
                          <a:latin typeface="Microsoft YaHei"/>
                          <a:ea typeface="Microsoft YaHei"/>
                          <a:cs typeface="Microsoft YaHei"/>
                        </a:rPr>
                        <a:t>先保持不可检索，再开放可见</a:t>
                      </a:r>
                    </a:p>
                    <a:p>
                      <a:r>
                        <a:rPr sz="1725" b="0">
                          <a:solidFill>
                            <a:srgbClr val="163044"/>
                          </a:solidFill>
                          <a:latin typeface="Microsoft YaHei"/>
                          <a:ea typeface="Microsoft YaHei"/>
                          <a:cs typeface="Microsoft YaHei"/>
                        </a:rPr>
                        <a:t>注入“已写入但响应超时”</a:t>
                      </a:r>
                    </a:p>
                  </a:txBody>
                  <a:tcPr anchor="ctr">
                    <a:solidFill>
                      <a:srgbClr val="F5F8FA"/>
                    </a:solidFill>
                  </a:tcPr>
                </a:tc>
                <a:tc>
                  <a:txBody>
                    <a:bodyPr/>
                    <a:lstStyle/>
                    <a:p>
                      <a:r>
                        <a:rPr sz="1725" b="0">
                          <a:solidFill>
                            <a:srgbClr val="163044"/>
                          </a:solidFill>
                          <a:latin typeface="Microsoft YaHei"/>
                          <a:ea typeface="Microsoft YaHei"/>
                          <a:cs typeface="Microsoft YaHei"/>
                        </a:rPr>
                        <a:t>受理和检索就绪分别核对</a:t>
                      </a:r>
                    </a:p>
                    <a:p>
                      <a:r>
                        <a:rPr sz="1725" b="0">
                          <a:solidFill>
                            <a:srgbClr val="163044"/>
                          </a:solidFill>
                          <a:latin typeface="Microsoft YaHei"/>
                          <a:ea typeface="Microsoft YaHei"/>
                          <a:cs typeface="Microsoft YaHei"/>
                        </a:rPr>
                        <a:t>查回原操作，重试不重复</a:t>
                      </a:r>
                    </a:p>
                    <a:p>
                      <a:r>
                        <a:rPr sz="1725" b="0">
                          <a:solidFill>
                            <a:srgbClr val="163044"/>
                          </a:solidFill>
                          <a:latin typeface="Microsoft YaHei"/>
                          <a:ea typeface="Microsoft YaHei"/>
                          <a:cs typeface="Microsoft YaHei"/>
                        </a:rPr>
                        <a:t>删除后迟到写入不能复活</a:t>
                      </a:r>
                    </a:p>
                  </a:txBody>
                  <a:tcPr anchor="ctr">
                    <a:solidFill>
                      <a:srgbClr val="F5F8FA"/>
                    </a:solidFill>
                  </a:tcPr>
                </a:tc>
                <a:extLst>
                  <a:ext uri="{0D108BD9-81ED-4DB2-BD59-A6C34878D82A}">
                    <a16:rowId xmlns:a16="http://schemas.microsoft.com/office/drawing/2014/main" val="10002"/>
                  </a:ext>
                </a:extLst>
              </a:tr>
              <a:tr h="981075">
                <a:tc>
                  <a:txBody>
                    <a:bodyPr/>
                    <a:lstStyle/>
                    <a:p>
                      <a:r>
                        <a:rPr sz="1725" b="1">
                          <a:solidFill>
                            <a:srgbClr val="163044"/>
                          </a:solidFill>
                          <a:latin typeface="Microsoft YaHei"/>
                          <a:ea typeface="Microsoft YaHei"/>
                          <a:cs typeface="Microsoft YaHei"/>
                        </a:rPr>
                        <a:t>调度动作</a:t>
                      </a:r>
                    </a:p>
                  </a:txBody>
                  <a:tcPr anchor="ctr">
                    <a:solidFill>
                      <a:srgbClr val="FFFFFF"/>
                    </a:solidFill>
                  </a:tcPr>
                </a:tc>
                <a:tc>
                  <a:txBody>
                    <a:bodyPr/>
                    <a:lstStyle/>
                    <a:p>
                      <a:r>
                        <a:rPr sz="1725" b="0">
                          <a:solidFill>
                            <a:srgbClr val="163044"/>
                          </a:solidFill>
                          <a:latin typeface="Microsoft YaHei"/>
                          <a:ea typeface="Microsoft YaHei"/>
                          <a:cs typeface="Microsoft YaHei"/>
                        </a:rPr>
                        <a:t>设置对象层级和剩余容量</a:t>
                      </a:r>
                    </a:p>
                    <a:p>
                      <a:r>
                        <a:rPr sz="1725" b="0">
                          <a:solidFill>
                            <a:srgbClr val="163044"/>
                          </a:solidFill>
                          <a:latin typeface="Microsoft YaHei"/>
                          <a:ea typeface="Microsoft YaHei"/>
                          <a:cs typeface="Microsoft YaHei"/>
                        </a:rPr>
                        <a:t>显式推进动作，注入丢响应</a:t>
                      </a:r>
                    </a:p>
                    <a:p>
                      <a:r>
                        <a:rPr sz="1725" b="0">
                          <a:solidFill>
                            <a:srgbClr val="163044"/>
                          </a:solidFill>
                          <a:latin typeface="Microsoft YaHei"/>
                          <a:ea typeface="Microsoft YaHei"/>
                          <a:cs typeface="Microsoft YaHei"/>
                        </a:rPr>
                        <a:t>查询原动作并核对对象</a:t>
                      </a:r>
                    </a:p>
                  </a:txBody>
                  <a:tcPr anchor="ctr">
                    <a:solidFill>
                      <a:srgbClr val="FFFFFF"/>
                    </a:solidFill>
                  </a:tcPr>
                </a:tc>
                <a:tc>
                  <a:txBody>
                    <a:bodyPr/>
                    <a:lstStyle/>
                    <a:p>
                      <a:r>
                        <a:rPr sz="1725" b="0">
                          <a:solidFill>
                            <a:srgbClr val="163044"/>
                          </a:solidFill>
                          <a:latin typeface="Microsoft YaHei"/>
                          <a:ea typeface="Microsoft YaHei"/>
                          <a:cs typeface="Microsoft YaHei"/>
                        </a:rPr>
                        <a:t>容量限制生效</a:t>
                      </a:r>
                    </a:p>
                    <a:p>
                      <a:r>
                        <a:rPr sz="1725" b="0">
                          <a:solidFill>
                            <a:srgbClr val="163044"/>
                          </a:solidFill>
                          <a:latin typeface="Microsoft YaHei"/>
                          <a:ea typeface="Microsoft YaHei"/>
                          <a:cs typeface="Microsoft YaHei"/>
                        </a:rPr>
                        <a:t>动作不重复</a:t>
                      </a:r>
                    </a:p>
                    <a:p>
                      <a:r>
                        <a:rPr sz="1725" b="0">
                          <a:solidFill>
                            <a:srgbClr val="163044"/>
                          </a:solidFill>
                          <a:latin typeface="Microsoft YaHei"/>
                          <a:ea typeface="Microsoft YaHei"/>
                          <a:cs typeface="Microsoft YaHei"/>
                        </a:rPr>
                        <a:t>实际效果与完成状态一致</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5" name="test-text-55">
            <a:extLst>
              <a:ext uri="{FF2B5EF4-FFF2-40B4-BE49-F238E27FC236}">
                <a16:creationId xmlns:a16="http://schemas.microsoft.com/office/drawing/2014/main" id="{DC46FAD9-C742-410A-96B7-3D3BD5449177}"/>
              </a:ext>
            </a:extLst>
          </p:cNvPr>
          <p:cNvSpPr>
            <a:spLocks noGrp="1"/>
          </p:cNvSpPr>
          <p:nvPr/>
        </p:nvSpPr>
        <p:spPr>
          <a:xfrm>
            <a:off x="609600" y="5467350"/>
            <a:ext cx="1524000" cy="3429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接入真实 P2 后</a:t>
            </a:r>
          </a:p>
        </p:txBody>
      </p:sp>
      <p:sp>
        <p:nvSpPr>
          <p:cNvPr id="6" name="test-text-56">
            <a:extLst>
              <a:ext uri="{FF2B5EF4-FFF2-40B4-BE49-F238E27FC236}">
                <a16:creationId xmlns:a16="http://schemas.microsoft.com/office/drawing/2014/main" id="{8C786A89-F809-4E4F-9890-0FAD13F8B0EF}"/>
              </a:ext>
            </a:extLst>
          </p:cNvPr>
          <p:cNvSpPr>
            <a:spLocks noGrp="1"/>
          </p:cNvSpPr>
          <p:nvPr/>
        </p:nvSpPr>
        <p:spPr>
          <a:xfrm>
            <a:off x="2190750" y="5467350"/>
            <a:ext cx="9391650" cy="342900"/>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重跑同一业务用例，再测真实检索质量、权限、存储和故障恢复。</a:t>
            </a:r>
          </a:p>
        </p:txBody>
      </p:sp>
      <p:sp>
        <p:nvSpPr>
          <p:cNvPr id="7" name="test-text-57">
            <a:extLst>
              <a:ext uri="{FF2B5EF4-FFF2-40B4-BE49-F238E27FC236}">
                <a16:creationId xmlns:a16="http://schemas.microsoft.com/office/drawing/2014/main" id="{C20DA18D-52DB-4731-97F3-E1773597F959}"/>
              </a:ext>
            </a:extLst>
          </p:cNvPr>
          <p:cNvSpPr>
            <a:spLocks noGrp="1"/>
          </p:cNvSpPr>
          <p:nvPr/>
        </p:nvSpPr>
        <p:spPr>
          <a:xfrm>
            <a:off x="609600" y="5953125"/>
            <a:ext cx="10972800" cy="295275"/>
          </a:xfrm>
          <a:prstGeom prst="rect">
            <a:avLst/>
          </a:prstGeom>
          <a:noFill/>
          <a:ln w="0">
            <a:noFill/>
          </a:ln>
        </p:spPr>
        <p:txBody>
          <a:bodyPr wrap="square" lIns="0" tIns="0" rIns="0" bIns="0" anchor="ctr">
            <a:noAutofit/>
          </a:bodyPr>
          <a:lstStyle/>
          <a:p>
            <a:pPr algn="l">
              <a:defRPr sz="1575" b="1">
                <a:solidFill>
                  <a:srgbClr val="087F80"/>
                </a:solidFill>
                <a:latin typeface="Microsoft YaHei"/>
                <a:ea typeface="Microsoft YaHei"/>
                <a:cs typeface="Microsoft YaHei"/>
              </a:defRPr>
            </a:pPr>
            <a:r>
              <a:rPr sz="1575" b="1">
                <a:solidFill>
                  <a:srgbClr val="087F80"/>
                </a:solidFill>
                <a:latin typeface="Microsoft YaHei"/>
                <a:ea typeface="Microsoft YaHei"/>
                <a:cs typeface="Microsoft YaHei"/>
              </a:rPr>
              <a:t>这三类替身分别使用。模拟状态通过，不等于真实 P2 联调或性能通过。</a:t>
            </a:r>
          </a:p>
        </p:txBody>
      </p:sp>
      <p:sp>
        <p:nvSpPr>
          <p:cNvPr id="8" name="直接连接符 7">
            <a:extLst>
              <a:ext uri="{FF2B5EF4-FFF2-40B4-BE49-F238E27FC236}">
                <a16:creationId xmlns:a16="http://schemas.microsoft.com/office/drawing/2014/main" id="{2B898B41-0B69-4886-9559-3441AA5F3837}"/>
              </a:ext>
            </a:extLst>
          </p:cNvPr>
          <p:cNvSpPr>
            <a:spLocks noGrp="1"/>
          </p:cNvSpPr>
          <p:nvPr/>
        </p:nvSpPr>
        <p:spPr>
          <a:xfrm>
            <a:off x="609600" y="6324600"/>
            <a:ext cx="10972800" cy="95"/>
          </a:xfrm>
          <a:prstGeom prst="line">
            <a:avLst/>
          </a:prstGeom>
          <a:noFill/>
          <a:ln w="9525">
            <a:solidFill>
              <a:srgbClr val="D7E2E8"/>
            </a:solidFill>
          </a:ln>
        </p:spPr>
      </p:sp>
      <p:sp>
        <p:nvSpPr>
          <p:cNvPr id="9" name="test-text-58">
            <a:extLst>
              <a:ext uri="{FF2B5EF4-FFF2-40B4-BE49-F238E27FC236}">
                <a16:creationId xmlns:a16="http://schemas.microsoft.com/office/drawing/2014/main" id="{ECCF9774-C4E7-40D2-AFED-2CEE570A8C51}"/>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V4.3</a:t>
            </a:r>
          </a:p>
        </p:txBody>
      </p:sp>
      <p:sp>
        <p:nvSpPr>
          <p:cNvPr id="10" name="test-text-59">
            <a:extLst>
              <a:ext uri="{FF2B5EF4-FFF2-40B4-BE49-F238E27FC236}">
                <a16:creationId xmlns:a16="http://schemas.microsoft.com/office/drawing/2014/main" id="{5DC42D5F-F032-4D31-A68D-5E4145ABAA7C}"/>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17 / 24</a:t>
            </a:r>
          </a:p>
        </p:txBody>
      </p:sp>
    </p:spTree>
    <p:extLst>
      <p:ext uri="{BB962C8B-B14F-4D97-AF65-F5344CB8AC3E}">
        <p14:creationId xmlns:p14="http://schemas.microsoft.com/office/powerpoint/2010/main" val="95106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31" name="直接箭头连接符 30"/>
          <p:cNvCxnSpPr>
            <a:stCxn id="10" idx="3"/>
            <a:endCxn id="12" idx="1"/>
          </p:cNvCxnSpPr>
          <p:nvPr/>
        </p:nvCxnSpPr>
        <p:spPr>
          <a:xfrm>
            <a:off x="9353550" y="2300288"/>
            <a:ext cx="171450" cy="0"/>
          </a:xfrm>
          <a:prstGeom prst="straightConnector1">
            <a:avLst/>
          </a:prstGeom>
          <a:ln w="19050">
            <a:solidFill>
              <a:srgbClr val="25699A"/>
            </a:solidFill>
            <a:tailEnd type="arrow" w="med" len="med"/>
          </a:ln>
        </p:spPr>
      </p:cxnSp>
      <p:cxnSp>
        <p:nvCxnSpPr>
          <p:cNvPr id="32" name="直接箭头连接符 31"/>
          <p:cNvCxnSpPr>
            <a:stCxn id="8" idx="3"/>
            <a:endCxn id="10" idx="1"/>
          </p:cNvCxnSpPr>
          <p:nvPr/>
        </p:nvCxnSpPr>
        <p:spPr>
          <a:xfrm>
            <a:off x="7124700" y="2300288"/>
            <a:ext cx="171450" cy="0"/>
          </a:xfrm>
          <a:prstGeom prst="straightConnector1">
            <a:avLst/>
          </a:prstGeom>
          <a:ln w="19050">
            <a:solidFill>
              <a:srgbClr val="25699A"/>
            </a:solidFill>
            <a:tailEnd type="arrow" w="med" len="med"/>
          </a:ln>
        </p:spPr>
      </p:cxnSp>
      <p:cxnSp>
        <p:nvCxnSpPr>
          <p:cNvPr id="33" name="直接箭头连接符 32"/>
          <p:cNvCxnSpPr>
            <a:stCxn id="6" idx="3"/>
            <a:endCxn id="8" idx="1"/>
          </p:cNvCxnSpPr>
          <p:nvPr/>
        </p:nvCxnSpPr>
        <p:spPr>
          <a:xfrm>
            <a:off x="4895850" y="2300288"/>
            <a:ext cx="171450" cy="0"/>
          </a:xfrm>
          <a:prstGeom prst="straightConnector1">
            <a:avLst/>
          </a:prstGeom>
          <a:ln w="19050">
            <a:solidFill>
              <a:srgbClr val="25699A"/>
            </a:solidFill>
            <a:tailEnd type="arrow" w="med" len="med"/>
          </a:ln>
        </p:spPr>
      </p:cxnSp>
      <p:cxnSp>
        <p:nvCxnSpPr>
          <p:cNvPr id="34" name="直接箭头连接符 33"/>
          <p:cNvCxnSpPr>
            <a:stCxn id="4" idx="3"/>
            <a:endCxn id="6" idx="1"/>
          </p:cNvCxnSpPr>
          <p:nvPr/>
        </p:nvCxnSpPr>
        <p:spPr>
          <a:xfrm>
            <a:off x="2667000" y="2300288"/>
            <a:ext cx="171450" cy="0"/>
          </a:xfrm>
          <a:prstGeom prst="straightConnector1">
            <a:avLst/>
          </a:prstGeom>
          <a:ln w="19050">
            <a:solidFill>
              <a:srgbClr val="25699A"/>
            </a:solidFill>
            <a:tailEnd type="arrow" w="med" len="med"/>
          </a:ln>
        </p:spPr>
      </p:cxnSp>
      <p:sp>
        <p:nvSpPr>
          <p:cNvPr id="35" name="test-text-60">
            <a:extLst>
              <a:ext uri="{FF2B5EF4-FFF2-40B4-BE49-F238E27FC236}">
                <a16:creationId xmlns:a16="http://schemas.microsoft.com/office/drawing/2014/main" id="{1C39C82D-C4DC-418B-8213-967758CFE064}"/>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st-text-61">
            <a:extLst>
              <a:ext uri="{FF2B5EF4-FFF2-40B4-BE49-F238E27FC236}">
                <a16:creationId xmlns:a16="http://schemas.microsoft.com/office/drawing/2014/main" id="{FBCE1A37-1803-4C33-9F71-DB0ED2D658C0}"/>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000" b="1">
                <a:solidFill>
                  <a:srgbClr val="163044"/>
                </a:solidFill>
                <a:latin typeface="Microsoft YaHei"/>
                <a:ea typeface="Microsoft YaHei"/>
                <a:cs typeface="Microsoft YaHei"/>
              </a:defRPr>
            </a:pPr>
            <a:r>
              <a:rPr sz="3000" b="1">
                <a:solidFill>
                  <a:srgbClr val="163044"/>
                </a:solidFill>
                <a:latin typeface="Microsoft YaHei"/>
                <a:ea typeface="Microsoft YaHei"/>
                <a:cs typeface="Microsoft YaHei"/>
              </a:rPr>
              <a:t>执行与复测：每次失败都回到同一条用例</a:t>
            </a:r>
          </a:p>
        </p:txBody>
      </p:sp>
      <p:sp>
        <p:nvSpPr>
          <p:cNvPr id="3" name="test-text-62">
            <a:extLst>
              <a:ext uri="{FF2B5EF4-FFF2-40B4-BE49-F238E27FC236}">
                <a16:creationId xmlns:a16="http://schemas.microsoft.com/office/drawing/2014/main" id="{1D0E7A26-FE03-421A-944E-E9E7B0A7CAE5}"/>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建议执行节奏：每次提交做自测与冒烟，每日构建做回归，候选版本做完整验证</a:t>
            </a:r>
          </a:p>
        </p:txBody>
      </p:sp>
      <p:sp>
        <p:nvSpPr>
          <p:cNvPr id="4" name="test-node-63">
            <a:extLst>
              <a:ext uri="{FF2B5EF4-FFF2-40B4-BE49-F238E27FC236}">
                <a16:creationId xmlns:a16="http://schemas.microsoft.com/office/drawing/2014/main" id="{75D15D0B-9EF4-4D35-992B-B54BF12A810B}"/>
              </a:ext>
            </a:extLst>
          </p:cNvPr>
          <p:cNvSpPr>
            <a:spLocks noGrp="1"/>
          </p:cNvSpPr>
          <p:nvPr/>
        </p:nvSpPr>
        <p:spPr>
          <a:xfrm>
            <a:off x="609600" y="2028825"/>
            <a:ext cx="2057400" cy="542925"/>
          </a:xfrm>
          <a:prstGeom prst="rect">
            <a:avLst/>
          </a:prstGeom>
          <a:solidFill>
            <a:srgbClr val="EDF4F8"/>
          </a:solidFill>
          <a:ln w="9525">
            <a:solidFill>
              <a:srgbClr val="D7E2E8"/>
            </a:solidFill>
          </a:ln>
        </p:spPr>
        <p:txBody>
          <a:bodyPr lIns="28575" tIns="28575" rIns="28575" bIns="28575" anchor="ctr">
            <a:noAutofit/>
          </a:bodyPr>
          <a:lstStyle/>
          <a:p>
            <a:pPr algn="ctr">
              <a:defRPr sz="1800" b="1">
                <a:solidFill>
                  <a:srgbClr val="163044"/>
                </a:solidFill>
                <a:latin typeface="Microsoft YaHei"/>
                <a:ea typeface="Microsoft YaHei"/>
                <a:cs typeface="Microsoft YaHei"/>
              </a:defRPr>
            </a:pPr>
            <a:r>
              <a:rPr sz="1800" b="1">
                <a:solidFill>
                  <a:srgbClr val="163044"/>
                </a:solidFill>
                <a:latin typeface="Microsoft YaHei"/>
                <a:ea typeface="Microsoft YaHei"/>
                <a:cs typeface="Microsoft YaHei"/>
              </a:rPr>
              <a:t>准备</a:t>
            </a:r>
          </a:p>
        </p:txBody>
      </p:sp>
      <p:sp>
        <p:nvSpPr>
          <p:cNvPr id="5" name="test-text-64">
            <a:extLst>
              <a:ext uri="{FF2B5EF4-FFF2-40B4-BE49-F238E27FC236}">
                <a16:creationId xmlns:a16="http://schemas.microsoft.com/office/drawing/2014/main" id="{1C3AB4DB-D0CB-4238-A093-DCB0BEA29525}"/>
              </a:ext>
            </a:extLst>
          </p:cNvPr>
          <p:cNvSpPr>
            <a:spLocks noGrp="1"/>
          </p:cNvSpPr>
          <p:nvPr/>
        </p:nvSpPr>
        <p:spPr>
          <a:xfrm>
            <a:off x="609600" y="2695575"/>
            <a:ext cx="2057400" cy="723900"/>
          </a:xfrm>
          <a:prstGeom prst="rect">
            <a:avLst/>
          </a:prstGeom>
          <a:noFill/>
          <a:ln w="0">
            <a:noFill/>
          </a:ln>
        </p:spPr>
        <p:txBody>
          <a:bodyPr wrap="square" lIns="0" tIns="0" rIns="0" bIns="0" anchor="ctr">
            <a:noAutofit/>
          </a:bodyPr>
          <a:lstStyle/>
          <a:p>
            <a:pPr algn="ctr">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固定版本、环境</a:t>
            </a:r>
          </a:p>
          <a:p>
            <a:pPr algn="ctr">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装入隔离数据</a:t>
            </a:r>
          </a:p>
        </p:txBody>
      </p:sp>
      <p:sp>
        <p:nvSpPr>
          <p:cNvPr id="6" name="test-node-65">
            <a:extLst>
              <a:ext uri="{FF2B5EF4-FFF2-40B4-BE49-F238E27FC236}">
                <a16:creationId xmlns:a16="http://schemas.microsoft.com/office/drawing/2014/main" id="{F5C5D2EA-CC98-4EAD-9B2A-E9D532BDF9FD}"/>
              </a:ext>
            </a:extLst>
          </p:cNvPr>
          <p:cNvSpPr>
            <a:spLocks noGrp="1"/>
          </p:cNvSpPr>
          <p:nvPr/>
        </p:nvSpPr>
        <p:spPr>
          <a:xfrm>
            <a:off x="2838450" y="2028825"/>
            <a:ext cx="2057400" cy="542925"/>
          </a:xfrm>
          <a:prstGeom prst="rect">
            <a:avLst/>
          </a:prstGeom>
          <a:solidFill>
            <a:srgbClr val="EDF4F8"/>
          </a:solidFill>
          <a:ln w="9525">
            <a:solidFill>
              <a:srgbClr val="D7E2E8"/>
            </a:solidFill>
          </a:ln>
        </p:spPr>
        <p:txBody>
          <a:bodyPr lIns="28575" tIns="28575" rIns="28575" bIns="28575" anchor="ctr">
            <a:noAutofit/>
          </a:bodyPr>
          <a:lstStyle/>
          <a:p>
            <a:pPr algn="ctr">
              <a:defRPr sz="1800" b="1">
                <a:solidFill>
                  <a:srgbClr val="163044"/>
                </a:solidFill>
                <a:latin typeface="Microsoft YaHei"/>
                <a:ea typeface="Microsoft YaHei"/>
                <a:cs typeface="Microsoft YaHei"/>
              </a:defRPr>
            </a:pPr>
            <a:r>
              <a:rPr sz="1800" b="1">
                <a:solidFill>
                  <a:srgbClr val="163044"/>
                </a:solidFill>
                <a:latin typeface="Microsoft YaHei"/>
                <a:ea typeface="Microsoft YaHei"/>
                <a:cs typeface="Microsoft YaHei"/>
              </a:rPr>
              <a:t>执行</a:t>
            </a:r>
          </a:p>
        </p:txBody>
      </p:sp>
      <p:sp>
        <p:nvSpPr>
          <p:cNvPr id="7" name="test-text-66">
            <a:extLst>
              <a:ext uri="{FF2B5EF4-FFF2-40B4-BE49-F238E27FC236}">
                <a16:creationId xmlns:a16="http://schemas.microsoft.com/office/drawing/2014/main" id="{26D12213-0F09-43AF-83F1-D5DDD9829136}"/>
              </a:ext>
            </a:extLst>
          </p:cNvPr>
          <p:cNvSpPr>
            <a:spLocks noGrp="1"/>
          </p:cNvSpPr>
          <p:nvPr/>
        </p:nvSpPr>
        <p:spPr>
          <a:xfrm>
            <a:off x="2838450" y="2695575"/>
            <a:ext cx="2057400" cy="723900"/>
          </a:xfrm>
          <a:prstGeom prst="rect">
            <a:avLst/>
          </a:prstGeom>
          <a:noFill/>
          <a:ln w="0">
            <a:noFill/>
          </a:ln>
        </p:spPr>
        <p:txBody>
          <a:bodyPr wrap="square" lIns="0" tIns="0" rIns="0" bIns="0" anchor="ctr">
            <a:noAutofit/>
          </a:bodyPr>
          <a:lstStyle/>
          <a:p>
            <a:pPr algn="ctr">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按编号步骤操作</a:t>
            </a:r>
          </a:p>
          <a:p>
            <a:pPr algn="ctr">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按状态等待完成</a:t>
            </a:r>
          </a:p>
        </p:txBody>
      </p:sp>
      <p:sp>
        <p:nvSpPr>
          <p:cNvPr id="8" name="test-node-67">
            <a:extLst>
              <a:ext uri="{FF2B5EF4-FFF2-40B4-BE49-F238E27FC236}">
                <a16:creationId xmlns:a16="http://schemas.microsoft.com/office/drawing/2014/main" id="{C000AD06-406F-4665-BE4F-108D4933761A}"/>
              </a:ext>
            </a:extLst>
          </p:cNvPr>
          <p:cNvSpPr>
            <a:spLocks noGrp="1"/>
          </p:cNvSpPr>
          <p:nvPr/>
        </p:nvSpPr>
        <p:spPr>
          <a:xfrm>
            <a:off x="5067300" y="2028825"/>
            <a:ext cx="2057400" cy="542925"/>
          </a:xfrm>
          <a:prstGeom prst="rect">
            <a:avLst/>
          </a:prstGeom>
          <a:solidFill>
            <a:srgbClr val="EDF4F8"/>
          </a:solidFill>
          <a:ln w="9525">
            <a:solidFill>
              <a:srgbClr val="D7E2E8"/>
            </a:solidFill>
          </a:ln>
        </p:spPr>
        <p:txBody>
          <a:bodyPr lIns="28575" tIns="28575" rIns="28575" bIns="28575" anchor="ctr">
            <a:noAutofit/>
          </a:bodyPr>
          <a:lstStyle/>
          <a:p>
            <a:pPr algn="ctr">
              <a:defRPr sz="1800" b="1">
                <a:solidFill>
                  <a:srgbClr val="163044"/>
                </a:solidFill>
                <a:latin typeface="Microsoft YaHei"/>
                <a:ea typeface="Microsoft YaHei"/>
                <a:cs typeface="Microsoft YaHei"/>
              </a:defRPr>
            </a:pPr>
            <a:r>
              <a:rPr sz="1800" b="1">
                <a:solidFill>
                  <a:srgbClr val="163044"/>
                </a:solidFill>
                <a:latin typeface="Microsoft YaHei"/>
                <a:ea typeface="Microsoft YaHei"/>
                <a:cs typeface="Microsoft YaHei"/>
              </a:rPr>
              <a:t>判定</a:t>
            </a:r>
          </a:p>
        </p:txBody>
      </p:sp>
      <p:sp>
        <p:nvSpPr>
          <p:cNvPr id="9" name="test-text-68">
            <a:extLst>
              <a:ext uri="{FF2B5EF4-FFF2-40B4-BE49-F238E27FC236}">
                <a16:creationId xmlns:a16="http://schemas.microsoft.com/office/drawing/2014/main" id="{2B9A6059-7960-428D-A104-A085D75E3A1C}"/>
              </a:ext>
            </a:extLst>
          </p:cNvPr>
          <p:cNvSpPr>
            <a:spLocks noGrp="1"/>
          </p:cNvSpPr>
          <p:nvPr/>
        </p:nvSpPr>
        <p:spPr>
          <a:xfrm>
            <a:off x="5067300" y="2695575"/>
            <a:ext cx="2057400" cy="723900"/>
          </a:xfrm>
          <a:prstGeom prst="rect">
            <a:avLst/>
          </a:prstGeom>
          <a:noFill/>
          <a:ln w="0">
            <a:noFill/>
          </a:ln>
        </p:spPr>
        <p:txBody>
          <a:bodyPr wrap="square" lIns="0" tIns="0" rIns="0" bIns="0" anchor="ctr">
            <a:noAutofit/>
          </a:bodyPr>
          <a:lstStyle/>
          <a:p>
            <a:pPr algn="ctr">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逐步对比预期</a:t>
            </a:r>
          </a:p>
          <a:p>
            <a:pPr algn="ctr">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保存实际结果</a:t>
            </a:r>
          </a:p>
        </p:txBody>
      </p:sp>
      <p:sp>
        <p:nvSpPr>
          <p:cNvPr id="10" name="test-node-69">
            <a:extLst>
              <a:ext uri="{FF2B5EF4-FFF2-40B4-BE49-F238E27FC236}">
                <a16:creationId xmlns:a16="http://schemas.microsoft.com/office/drawing/2014/main" id="{16CE1C99-F600-496F-8C36-7C5921D2F9A7}"/>
              </a:ext>
            </a:extLst>
          </p:cNvPr>
          <p:cNvSpPr>
            <a:spLocks noGrp="1"/>
          </p:cNvSpPr>
          <p:nvPr/>
        </p:nvSpPr>
        <p:spPr>
          <a:xfrm>
            <a:off x="7296150" y="2028825"/>
            <a:ext cx="2057400" cy="542925"/>
          </a:xfrm>
          <a:prstGeom prst="rect">
            <a:avLst/>
          </a:prstGeom>
          <a:solidFill>
            <a:srgbClr val="EDF4F8"/>
          </a:solidFill>
          <a:ln w="9525">
            <a:solidFill>
              <a:srgbClr val="D7E2E8"/>
            </a:solidFill>
          </a:ln>
        </p:spPr>
        <p:txBody>
          <a:bodyPr lIns="28575" tIns="28575" rIns="28575" bIns="28575" anchor="ctr">
            <a:noAutofit/>
          </a:bodyPr>
          <a:lstStyle/>
          <a:p>
            <a:pPr algn="ctr">
              <a:defRPr sz="1800" b="1">
                <a:solidFill>
                  <a:srgbClr val="163044"/>
                </a:solidFill>
                <a:latin typeface="Microsoft YaHei"/>
                <a:ea typeface="Microsoft YaHei"/>
                <a:cs typeface="Microsoft YaHei"/>
              </a:defRPr>
            </a:pPr>
            <a:r>
              <a:rPr sz="1800" b="1">
                <a:solidFill>
                  <a:srgbClr val="163044"/>
                </a:solidFill>
                <a:latin typeface="Microsoft YaHei"/>
                <a:ea typeface="Microsoft YaHei"/>
                <a:cs typeface="Microsoft YaHei"/>
              </a:rPr>
              <a:t>修复</a:t>
            </a:r>
          </a:p>
        </p:txBody>
      </p:sp>
      <p:sp>
        <p:nvSpPr>
          <p:cNvPr id="11" name="test-text-70">
            <a:extLst>
              <a:ext uri="{FF2B5EF4-FFF2-40B4-BE49-F238E27FC236}">
                <a16:creationId xmlns:a16="http://schemas.microsoft.com/office/drawing/2014/main" id="{9DED902A-B455-40C9-B056-D2FF56F0536E}"/>
              </a:ext>
            </a:extLst>
          </p:cNvPr>
          <p:cNvSpPr>
            <a:spLocks noGrp="1"/>
          </p:cNvSpPr>
          <p:nvPr/>
        </p:nvSpPr>
        <p:spPr>
          <a:xfrm>
            <a:off x="7296150" y="2695575"/>
            <a:ext cx="2057400" cy="723900"/>
          </a:xfrm>
          <a:prstGeom prst="rect">
            <a:avLst/>
          </a:prstGeom>
          <a:noFill/>
          <a:ln w="0">
            <a:noFill/>
          </a:ln>
        </p:spPr>
        <p:txBody>
          <a:bodyPr wrap="square" lIns="0" tIns="0" rIns="0" bIns="0" anchor="ctr">
            <a:noAutofit/>
          </a:bodyPr>
          <a:lstStyle/>
          <a:p>
            <a:pPr algn="ctr">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失败时登记缺陷</a:t>
            </a:r>
          </a:p>
          <a:p>
            <a:pPr algn="ctr">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开发提交修复</a:t>
            </a:r>
          </a:p>
        </p:txBody>
      </p:sp>
      <p:sp>
        <p:nvSpPr>
          <p:cNvPr id="12" name="test-node-71">
            <a:extLst>
              <a:ext uri="{FF2B5EF4-FFF2-40B4-BE49-F238E27FC236}">
                <a16:creationId xmlns:a16="http://schemas.microsoft.com/office/drawing/2014/main" id="{215956C1-5B28-4954-B2B9-D202193AA874}"/>
              </a:ext>
            </a:extLst>
          </p:cNvPr>
          <p:cNvSpPr>
            <a:spLocks noGrp="1"/>
          </p:cNvSpPr>
          <p:nvPr/>
        </p:nvSpPr>
        <p:spPr>
          <a:xfrm>
            <a:off x="9525000" y="2028825"/>
            <a:ext cx="2057400" cy="542925"/>
          </a:xfrm>
          <a:prstGeom prst="rect">
            <a:avLst/>
          </a:prstGeom>
          <a:solidFill>
            <a:srgbClr val="EDF4F8"/>
          </a:solidFill>
          <a:ln w="9525">
            <a:solidFill>
              <a:srgbClr val="D7E2E8"/>
            </a:solidFill>
          </a:ln>
        </p:spPr>
        <p:txBody>
          <a:bodyPr lIns="28575" tIns="28575" rIns="28575" bIns="28575" anchor="ctr">
            <a:noAutofit/>
          </a:bodyPr>
          <a:lstStyle/>
          <a:p>
            <a:pPr algn="ctr">
              <a:defRPr sz="1800" b="1">
                <a:solidFill>
                  <a:srgbClr val="163044"/>
                </a:solidFill>
                <a:latin typeface="Microsoft YaHei"/>
                <a:ea typeface="Microsoft YaHei"/>
                <a:cs typeface="Microsoft YaHei"/>
              </a:defRPr>
            </a:pPr>
            <a:r>
              <a:rPr sz="1800" b="1">
                <a:solidFill>
                  <a:srgbClr val="163044"/>
                </a:solidFill>
                <a:latin typeface="Microsoft YaHei"/>
                <a:ea typeface="Microsoft YaHei"/>
                <a:cs typeface="Microsoft YaHei"/>
              </a:rPr>
              <a:t>复测</a:t>
            </a:r>
          </a:p>
        </p:txBody>
      </p:sp>
      <p:sp>
        <p:nvSpPr>
          <p:cNvPr id="13" name="test-text-72">
            <a:extLst>
              <a:ext uri="{FF2B5EF4-FFF2-40B4-BE49-F238E27FC236}">
                <a16:creationId xmlns:a16="http://schemas.microsoft.com/office/drawing/2014/main" id="{734EB608-0004-4C6A-9FA5-93571AD6281C}"/>
              </a:ext>
            </a:extLst>
          </p:cNvPr>
          <p:cNvSpPr>
            <a:spLocks noGrp="1"/>
          </p:cNvSpPr>
          <p:nvPr/>
        </p:nvSpPr>
        <p:spPr>
          <a:xfrm>
            <a:off x="9525000" y="2695575"/>
            <a:ext cx="2057400" cy="723900"/>
          </a:xfrm>
          <a:prstGeom prst="rect">
            <a:avLst/>
          </a:prstGeom>
          <a:noFill/>
          <a:ln w="0">
            <a:noFill/>
          </a:ln>
        </p:spPr>
        <p:txBody>
          <a:bodyPr wrap="square" lIns="0" tIns="0" rIns="0" bIns="0" anchor="ctr">
            <a:noAutofit/>
          </a:bodyPr>
          <a:lstStyle/>
          <a:p>
            <a:pPr algn="ctr">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原用例再次执行</a:t>
            </a:r>
          </a:p>
          <a:p>
            <a:pPr algn="ctr">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回归受影响流程</a:t>
            </a:r>
          </a:p>
        </p:txBody>
      </p:sp>
      <p:sp>
        <p:nvSpPr>
          <p:cNvPr id="18" name="直接连接符 17">
            <a:extLst>
              <a:ext uri="{FF2B5EF4-FFF2-40B4-BE49-F238E27FC236}">
                <a16:creationId xmlns:a16="http://schemas.microsoft.com/office/drawing/2014/main" id="{38317B44-F1BA-4C87-BA65-E5846714D08A}"/>
              </a:ext>
            </a:extLst>
          </p:cNvPr>
          <p:cNvSpPr>
            <a:spLocks noGrp="1"/>
          </p:cNvSpPr>
          <p:nvPr/>
        </p:nvSpPr>
        <p:spPr>
          <a:xfrm>
            <a:off x="609600" y="3629025"/>
            <a:ext cx="10972800" cy="95"/>
          </a:xfrm>
          <a:prstGeom prst="line">
            <a:avLst/>
          </a:prstGeom>
          <a:noFill/>
          <a:ln w="9525">
            <a:solidFill>
              <a:srgbClr val="D7E2E8"/>
            </a:solidFill>
          </a:ln>
        </p:spPr>
      </p:sp>
      <p:sp>
        <p:nvSpPr>
          <p:cNvPr id="19" name="test-text-73">
            <a:extLst>
              <a:ext uri="{FF2B5EF4-FFF2-40B4-BE49-F238E27FC236}">
                <a16:creationId xmlns:a16="http://schemas.microsoft.com/office/drawing/2014/main" id="{C26241F5-AF14-44B1-ADDB-1CDBEBA3AA5B}"/>
              </a:ext>
            </a:extLst>
          </p:cNvPr>
          <p:cNvSpPr>
            <a:spLocks noGrp="1"/>
          </p:cNvSpPr>
          <p:nvPr/>
        </p:nvSpPr>
        <p:spPr>
          <a:xfrm>
            <a:off x="609600" y="3667125"/>
            <a:ext cx="2190750" cy="581025"/>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自动化怎样落地</a:t>
            </a:r>
          </a:p>
        </p:txBody>
      </p:sp>
      <p:sp>
        <p:nvSpPr>
          <p:cNvPr id="20" name="test-text-74">
            <a:extLst>
              <a:ext uri="{FF2B5EF4-FFF2-40B4-BE49-F238E27FC236}">
                <a16:creationId xmlns:a16="http://schemas.microsoft.com/office/drawing/2014/main" id="{7E8544A9-690F-44B4-B145-443E056320CA}"/>
              </a:ext>
            </a:extLst>
          </p:cNvPr>
          <p:cNvSpPr>
            <a:spLocks noGrp="1"/>
          </p:cNvSpPr>
          <p:nvPr/>
        </p:nvSpPr>
        <p:spPr>
          <a:xfrm>
            <a:off x="2914650" y="3667125"/>
            <a:ext cx="8667750" cy="58102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每条脚本对应一个用例编号，使用固定夹具，断言响应及持久结果，运行后复位。</a:t>
            </a:r>
          </a:p>
        </p:txBody>
      </p:sp>
      <p:sp>
        <p:nvSpPr>
          <p:cNvPr id="21" name="直接连接符 20">
            <a:extLst>
              <a:ext uri="{FF2B5EF4-FFF2-40B4-BE49-F238E27FC236}">
                <a16:creationId xmlns:a16="http://schemas.microsoft.com/office/drawing/2014/main" id="{3475671B-BBBB-4079-B3D3-FF99562A10A8}"/>
              </a:ext>
            </a:extLst>
          </p:cNvPr>
          <p:cNvSpPr>
            <a:spLocks noGrp="1"/>
          </p:cNvSpPr>
          <p:nvPr/>
        </p:nvSpPr>
        <p:spPr>
          <a:xfrm>
            <a:off x="609600" y="4333875"/>
            <a:ext cx="10972800" cy="95"/>
          </a:xfrm>
          <a:prstGeom prst="line">
            <a:avLst/>
          </a:prstGeom>
          <a:noFill/>
          <a:ln w="9525">
            <a:solidFill>
              <a:srgbClr val="D7E2E8"/>
            </a:solidFill>
          </a:ln>
        </p:spPr>
      </p:sp>
      <p:sp>
        <p:nvSpPr>
          <p:cNvPr id="22" name="test-text-75">
            <a:extLst>
              <a:ext uri="{FF2B5EF4-FFF2-40B4-BE49-F238E27FC236}">
                <a16:creationId xmlns:a16="http://schemas.microsoft.com/office/drawing/2014/main" id="{F6A653B6-0EE7-4494-B35D-22C990B6A415}"/>
              </a:ext>
            </a:extLst>
          </p:cNvPr>
          <p:cNvSpPr>
            <a:spLocks noGrp="1"/>
          </p:cNvSpPr>
          <p:nvPr/>
        </p:nvSpPr>
        <p:spPr>
          <a:xfrm>
            <a:off x="609600" y="4371975"/>
            <a:ext cx="2190750" cy="581025"/>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每次执行留下什么</a:t>
            </a:r>
          </a:p>
        </p:txBody>
      </p:sp>
      <p:sp>
        <p:nvSpPr>
          <p:cNvPr id="23" name="test-text-76">
            <a:extLst>
              <a:ext uri="{FF2B5EF4-FFF2-40B4-BE49-F238E27FC236}">
                <a16:creationId xmlns:a16="http://schemas.microsoft.com/office/drawing/2014/main" id="{73D1BEF9-9957-460E-9976-6D9AF1E80E0E}"/>
              </a:ext>
            </a:extLst>
          </p:cNvPr>
          <p:cNvSpPr>
            <a:spLocks noGrp="1"/>
          </p:cNvSpPr>
          <p:nvPr/>
        </p:nvSpPr>
        <p:spPr>
          <a:xfrm>
            <a:off x="2914650" y="4371975"/>
            <a:ext cx="8667750" cy="58102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执行编号、版本、环境、实际结果、证据编号、缺陷编号。失败记录保留。</a:t>
            </a:r>
          </a:p>
        </p:txBody>
      </p:sp>
      <p:sp>
        <p:nvSpPr>
          <p:cNvPr id="24" name="直接连接符 23">
            <a:extLst>
              <a:ext uri="{FF2B5EF4-FFF2-40B4-BE49-F238E27FC236}">
                <a16:creationId xmlns:a16="http://schemas.microsoft.com/office/drawing/2014/main" id="{42E71F9D-0D52-4DA0-B6D8-EDF7A6C9C6DF}"/>
              </a:ext>
            </a:extLst>
          </p:cNvPr>
          <p:cNvSpPr>
            <a:spLocks noGrp="1"/>
          </p:cNvSpPr>
          <p:nvPr/>
        </p:nvSpPr>
        <p:spPr>
          <a:xfrm>
            <a:off x="609600" y="5038725"/>
            <a:ext cx="10972800" cy="95"/>
          </a:xfrm>
          <a:prstGeom prst="line">
            <a:avLst/>
          </a:prstGeom>
          <a:noFill/>
          <a:ln w="9525">
            <a:solidFill>
              <a:srgbClr val="D7E2E8"/>
            </a:solidFill>
          </a:ln>
        </p:spPr>
      </p:sp>
      <p:sp>
        <p:nvSpPr>
          <p:cNvPr id="25" name="test-text-77">
            <a:extLst>
              <a:ext uri="{FF2B5EF4-FFF2-40B4-BE49-F238E27FC236}">
                <a16:creationId xmlns:a16="http://schemas.microsoft.com/office/drawing/2014/main" id="{8C405B1F-E542-4757-90D2-C1A86AB86EE2}"/>
              </a:ext>
            </a:extLst>
          </p:cNvPr>
          <p:cNvSpPr>
            <a:spLocks noGrp="1"/>
          </p:cNvSpPr>
          <p:nvPr/>
        </p:nvSpPr>
        <p:spPr>
          <a:xfrm>
            <a:off x="609600" y="5076825"/>
            <a:ext cx="2190750" cy="581025"/>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缺陷怎样关闭</a:t>
            </a:r>
          </a:p>
        </p:txBody>
      </p:sp>
      <p:sp>
        <p:nvSpPr>
          <p:cNvPr id="26" name="test-text-78">
            <a:extLst>
              <a:ext uri="{FF2B5EF4-FFF2-40B4-BE49-F238E27FC236}">
                <a16:creationId xmlns:a16="http://schemas.microsoft.com/office/drawing/2014/main" id="{C3E7143E-6A6E-4C3F-B44F-637F5E5AC9C0}"/>
              </a:ext>
            </a:extLst>
          </p:cNvPr>
          <p:cNvSpPr>
            <a:spLocks noGrp="1"/>
          </p:cNvSpPr>
          <p:nvPr/>
        </p:nvSpPr>
        <p:spPr>
          <a:xfrm>
            <a:off x="2914650" y="5076825"/>
            <a:ext cx="8667750" cy="58102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测试人员复测原场景及受影响链路，通过后关闭。阻塞、跳过和未执行单独统计。</a:t>
            </a:r>
          </a:p>
        </p:txBody>
      </p:sp>
      <p:sp>
        <p:nvSpPr>
          <p:cNvPr id="27" name="test-text-79">
            <a:extLst>
              <a:ext uri="{FF2B5EF4-FFF2-40B4-BE49-F238E27FC236}">
                <a16:creationId xmlns:a16="http://schemas.microsoft.com/office/drawing/2014/main" id="{4F00E13E-C7A8-4B09-8C6D-D9850397797C}"/>
              </a:ext>
            </a:extLst>
          </p:cNvPr>
          <p:cNvSpPr>
            <a:spLocks noGrp="1"/>
          </p:cNvSpPr>
          <p:nvPr/>
        </p:nvSpPr>
        <p:spPr>
          <a:xfrm>
            <a:off x="609600" y="5943600"/>
            <a:ext cx="10972800" cy="314325"/>
          </a:xfrm>
          <a:prstGeom prst="rect">
            <a:avLst/>
          </a:prstGeom>
          <a:noFill/>
          <a:ln w="0">
            <a:noFill/>
          </a:ln>
        </p:spPr>
        <p:txBody>
          <a:bodyPr wrap="square" lIns="0" tIns="0" rIns="0" bIns="0" anchor="ctr">
            <a:noAutofit/>
          </a:bodyPr>
          <a:lstStyle/>
          <a:p>
            <a:pPr algn="l">
              <a:defRPr sz="1575" b="1">
                <a:solidFill>
                  <a:srgbClr val="087F80"/>
                </a:solidFill>
                <a:latin typeface="Microsoft YaHei"/>
                <a:ea typeface="Microsoft YaHei"/>
                <a:cs typeface="Microsoft YaHei"/>
              </a:defRPr>
            </a:pPr>
            <a:r>
              <a:rPr sz="1575" b="1">
                <a:solidFill>
                  <a:srgbClr val="087F80"/>
                </a:solidFill>
                <a:latin typeface="Microsoft YaHei"/>
                <a:ea typeface="Microsoft YaHei"/>
                <a:cs typeface="Microsoft YaHei"/>
              </a:rPr>
              <a:t>同一用例可以执行多次，每次新增记录。开发标记“已修复”后仍要由测试复测。</a:t>
            </a:r>
          </a:p>
        </p:txBody>
      </p:sp>
      <p:sp>
        <p:nvSpPr>
          <p:cNvPr id="28" name="直接连接符 27">
            <a:extLst>
              <a:ext uri="{FF2B5EF4-FFF2-40B4-BE49-F238E27FC236}">
                <a16:creationId xmlns:a16="http://schemas.microsoft.com/office/drawing/2014/main" id="{49CAB8EE-4DAB-421B-95C5-C40293119AF9}"/>
              </a:ext>
            </a:extLst>
          </p:cNvPr>
          <p:cNvSpPr>
            <a:spLocks noGrp="1"/>
          </p:cNvSpPr>
          <p:nvPr/>
        </p:nvSpPr>
        <p:spPr>
          <a:xfrm>
            <a:off x="609600" y="6324600"/>
            <a:ext cx="10972800" cy="95"/>
          </a:xfrm>
          <a:prstGeom prst="line">
            <a:avLst/>
          </a:prstGeom>
          <a:noFill/>
          <a:ln w="9525">
            <a:solidFill>
              <a:srgbClr val="D7E2E8"/>
            </a:solidFill>
          </a:ln>
        </p:spPr>
      </p:sp>
      <p:sp>
        <p:nvSpPr>
          <p:cNvPr id="29" name="test-text-80">
            <a:extLst>
              <a:ext uri="{FF2B5EF4-FFF2-40B4-BE49-F238E27FC236}">
                <a16:creationId xmlns:a16="http://schemas.microsoft.com/office/drawing/2014/main" id="{F1FC8498-BF20-40F9-9448-B5E4A7C5CC76}"/>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V4.3</a:t>
            </a:r>
          </a:p>
        </p:txBody>
      </p:sp>
      <p:sp>
        <p:nvSpPr>
          <p:cNvPr id="30" name="test-text-81">
            <a:extLst>
              <a:ext uri="{FF2B5EF4-FFF2-40B4-BE49-F238E27FC236}">
                <a16:creationId xmlns:a16="http://schemas.microsoft.com/office/drawing/2014/main" id="{EFDF577B-4D82-4080-8A5D-E14B4225DF67}"/>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18 / 24</a:t>
            </a:r>
          </a:p>
        </p:txBody>
      </p:sp>
    </p:spTree>
    <p:extLst>
      <p:ext uri="{BB962C8B-B14F-4D97-AF65-F5344CB8AC3E}">
        <p14:creationId xmlns:p14="http://schemas.microsoft.com/office/powerpoint/2010/main" val="8604998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st-text-82">
            <a:extLst>
              <a:ext uri="{FF2B5EF4-FFF2-40B4-BE49-F238E27FC236}">
                <a16:creationId xmlns:a16="http://schemas.microsoft.com/office/drawing/2014/main" id="{3E009E10-3075-45C9-B0A0-E253AD9E7609}"/>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st-text-83">
            <a:extLst>
              <a:ext uri="{FF2B5EF4-FFF2-40B4-BE49-F238E27FC236}">
                <a16:creationId xmlns:a16="http://schemas.microsoft.com/office/drawing/2014/main" id="{BED6108B-0D57-4B81-B1F2-686996D9FE17}"/>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000" b="1">
                <a:solidFill>
                  <a:srgbClr val="163044"/>
                </a:solidFill>
                <a:latin typeface="Microsoft YaHei"/>
                <a:ea typeface="Microsoft YaHei"/>
                <a:cs typeface="Microsoft YaHei"/>
              </a:defRPr>
            </a:pPr>
            <a:r>
              <a:rPr sz="3000" b="1">
                <a:solidFill>
                  <a:srgbClr val="163044"/>
                </a:solidFill>
                <a:latin typeface="Microsoft YaHei"/>
                <a:ea typeface="Microsoft YaHei"/>
                <a:cs typeface="Microsoft YaHei"/>
              </a:rPr>
              <a:t>系统测试：质量、性能与恢复怎样测</a:t>
            </a:r>
          </a:p>
        </p:txBody>
      </p:sp>
      <p:sp>
        <p:nvSpPr>
          <p:cNvPr id="3" name="test-text-84">
            <a:extLst>
              <a:ext uri="{FF2B5EF4-FFF2-40B4-BE49-F238E27FC236}">
                <a16:creationId xmlns:a16="http://schemas.microsoft.com/office/drawing/2014/main" id="{02B3DF61-93A5-4A79-AFEB-07E45F526ACA}"/>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固定数据、模型、负载和机器条件，用可重复的测量支撑验收</a:t>
            </a:r>
          </a:p>
        </p:txBody>
      </p:sp>
      <p:graphicFrame>
        <p:nvGraphicFramePr>
          <p:cNvPr id="12" name="表格 11"/>
          <p:cNvGraphicFramePr/>
          <p:nvPr/>
        </p:nvGraphicFramePr>
        <p:xfrm>
          <a:off x="609600" y="1971675"/>
          <a:ext cx="10972800" cy="3695700"/>
        </p:xfrm>
        <a:graphic>
          <a:graphicData uri="http://schemas.openxmlformats.org/drawingml/2006/table">
            <a:tbl>
              <a:tblPr/>
              <a:tblGrid>
                <a:gridCol w="2238375">
                  <a:extLst>
                    <a:ext uri="{9D8B030D-6E8A-4147-A177-3AD203B41FA5}">
                      <a16:colId xmlns:a16="http://schemas.microsoft.com/office/drawing/2014/main" val="20000"/>
                    </a:ext>
                  </a:extLst>
                </a:gridCol>
                <a:gridCol w="5591175">
                  <a:extLst>
                    <a:ext uri="{9D8B030D-6E8A-4147-A177-3AD203B41FA5}">
                      <a16:colId xmlns:a16="http://schemas.microsoft.com/office/drawing/2014/main" val="20001"/>
                    </a:ext>
                  </a:extLst>
                </a:gridCol>
                <a:gridCol w="3143250">
                  <a:extLst>
                    <a:ext uri="{9D8B030D-6E8A-4147-A177-3AD203B41FA5}">
                      <a16:colId xmlns:a16="http://schemas.microsoft.com/office/drawing/2014/main" val="20002"/>
                    </a:ext>
                  </a:extLst>
                </a:gridCol>
              </a:tblGrid>
              <a:tr h="457200">
                <a:tc>
                  <a:txBody>
                    <a:bodyPr/>
                    <a:lstStyle/>
                    <a:p>
                      <a:r>
                        <a:rPr sz="1800" b="1">
                          <a:solidFill>
                            <a:srgbClr val="FFFFFF"/>
                          </a:solidFill>
                          <a:latin typeface="Microsoft YaHei"/>
                          <a:ea typeface="Microsoft YaHei"/>
                          <a:cs typeface="Microsoft YaHei"/>
                        </a:rPr>
                        <a:t>测试项与牵头</a:t>
                      </a:r>
                    </a:p>
                  </a:txBody>
                  <a:tcPr anchor="ctr">
                    <a:solidFill>
                      <a:srgbClr val="163044"/>
                    </a:solidFill>
                  </a:tcPr>
                </a:tc>
                <a:tc>
                  <a:txBody>
                    <a:bodyPr/>
                    <a:lstStyle/>
                    <a:p>
                      <a:r>
                        <a:rPr sz="1800" b="1">
                          <a:solidFill>
                            <a:srgbClr val="FFFFFF"/>
                          </a:solidFill>
                          <a:latin typeface="Microsoft YaHei"/>
                          <a:ea typeface="Microsoft YaHei"/>
                          <a:cs typeface="Microsoft YaHei"/>
                        </a:rPr>
                        <a:t>具体实施方法</a:t>
                      </a:r>
                    </a:p>
                  </a:txBody>
                  <a:tcPr anchor="ctr">
                    <a:solidFill>
                      <a:srgbClr val="163044"/>
                    </a:solidFill>
                  </a:tcPr>
                </a:tc>
                <a:tc>
                  <a:txBody>
                    <a:bodyPr/>
                    <a:lstStyle/>
                    <a:p>
                      <a:r>
                        <a:rPr sz="1800" b="1">
                          <a:solidFill>
                            <a:srgbClr val="FFFFFF"/>
                          </a:solidFill>
                          <a:latin typeface="Microsoft YaHei"/>
                          <a:ea typeface="Microsoft YaHei"/>
                          <a:cs typeface="Microsoft YaHei"/>
                        </a:rPr>
                        <a:t>输出证据</a:t>
                      </a:r>
                    </a:p>
                  </a:txBody>
                  <a:tcPr anchor="ctr">
                    <a:solidFill>
                      <a:srgbClr val="163044"/>
                    </a:solidFill>
                  </a:tcPr>
                </a:tc>
                <a:extLst>
                  <a:ext uri="{0D108BD9-81ED-4DB2-BD59-A6C34878D82A}">
                    <a16:rowId xmlns:a16="http://schemas.microsoft.com/office/drawing/2014/main" val="10000"/>
                  </a:ext>
                </a:extLst>
              </a:tr>
              <a:tr h="809625">
                <a:tc>
                  <a:txBody>
                    <a:bodyPr/>
                    <a:lstStyle/>
                    <a:p>
                      <a:r>
                        <a:rPr sz="1725" b="1">
                          <a:solidFill>
                            <a:srgbClr val="163044"/>
                          </a:solidFill>
                          <a:latin typeface="Microsoft YaHei"/>
                          <a:ea typeface="Microsoft YaHei"/>
                          <a:cs typeface="Microsoft YaHei"/>
                        </a:rPr>
                        <a:t>记忆质量</a:t>
                      </a:r>
                    </a:p>
                    <a:p>
                      <a:r>
                        <a:rPr sz="1725" b="1">
                          <a:solidFill>
                            <a:srgbClr val="163044"/>
                          </a:solidFill>
                          <a:latin typeface="Microsoft YaHei"/>
                          <a:ea typeface="Microsoft YaHei"/>
                          <a:cs typeface="Microsoft YaHei"/>
                        </a:rPr>
                        <a:t>赵旭东、肖宇</a:t>
                      </a:r>
                    </a:p>
                  </a:txBody>
                  <a:tcPr anchor="ctr">
                    <a:solidFill>
                      <a:srgbClr val="FFFFFF"/>
                    </a:solidFill>
                  </a:tcPr>
                </a:tc>
                <a:tc>
                  <a:txBody>
                    <a:bodyPr/>
                    <a:lstStyle/>
                    <a:p>
                      <a:r>
                        <a:rPr sz="1725" b="0">
                          <a:solidFill>
                            <a:srgbClr val="163044"/>
                          </a:solidFill>
                          <a:latin typeface="Microsoft YaHei"/>
                          <a:ea typeface="Microsoft YaHei"/>
                          <a:cs typeface="Microsoft YaHei"/>
                        </a:rPr>
                        <a:t>准备有标准答案的独立样本，保留数字、否定和来源</a:t>
                      </a:r>
                    </a:p>
                    <a:p>
                      <a:r>
                        <a:rPr sz="1725" b="0">
                          <a:solidFill>
                            <a:srgbClr val="163044"/>
                          </a:solidFill>
                          <a:latin typeface="Microsoft YaHei"/>
                          <a:ea typeface="Microsoft YaHei"/>
                          <a:cs typeface="Microsoft YaHei"/>
                        </a:rPr>
                        <a:t>分别检查提取保真、召回相关性与版本正确性</a:t>
                      </a:r>
                    </a:p>
                  </a:txBody>
                  <a:tcPr anchor="ctr">
                    <a:solidFill>
                      <a:srgbClr val="FFFFFF"/>
                    </a:solidFill>
                  </a:tcPr>
                </a:tc>
                <a:tc>
                  <a:txBody>
                    <a:bodyPr/>
                    <a:lstStyle/>
                    <a:p>
                      <a:r>
                        <a:rPr sz="1725" b="0">
                          <a:solidFill>
                            <a:srgbClr val="163044"/>
                          </a:solidFill>
                          <a:latin typeface="Microsoft YaHei"/>
                          <a:ea typeface="Microsoft YaHei"/>
                          <a:cs typeface="Microsoft YaHei"/>
                        </a:rPr>
                        <a:t>逐条结果与错误样本</a:t>
                      </a:r>
                    </a:p>
                    <a:p>
                      <a:r>
                        <a:rPr sz="1725" b="0">
                          <a:solidFill>
                            <a:srgbClr val="163044"/>
                          </a:solidFill>
                          <a:latin typeface="Microsoft YaHei"/>
                          <a:ea typeface="Microsoft YaHei"/>
                          <a:cs typeface="Microsoft YaHei"/>
                        </a:rPr>
                        <a:t>固定数据集的质量报告</a:t>
                      </a:r>
                    </a:p>
                  </a:txBody>
                  <a:tcPr anchor="ctr">
                    <a:solidFill>
                      <a:srgbClr val="FFFFFF"/>
                    </a:solidFill>
                  </a:tcPr>
                </a:tc>
                <a:extLst>
                  <a:ext uri="{0D108BD9-81ED-4DB2-BD59-A6C34878D82A}">
                    <a16:rowId xmlns:a16="http://schemas.microsoft.com/office/drawing/2014/main" val="10001"/>
                  </a:ext>
                </a:extLst>
              </a:tr>
              <a:tr h="809625">
                <a:tc>
                  <a:txBody>
                    <a:bodyPr/>
                    <a:lstStyle/>
                    <a:p>
                      <a:r>
                        <a:rPr sz="1725" b="1">
                          <a:solidFill>
                            <a:srgbClr val="163044"/>
                          </a:solidFill>
                          <a:latin typeface="Microsoft YaHei"/>
                          <a:ea typeface="Microsoft YaHei"/>
                          <a:cs typeface="Microsoft YaHei"/>
                        </a:rPr>
                        <a:t>性能与并发</a:t>
                      </a:r>
                    </a:p>
                    <a:p>
                      <a:r>
                        <a:rPr sz="1725" b="1">
                          <a:solidFill>
                            <a:srgbClr val="163044"/>
                          </a:solidFill>
                          <a:latin typeface="Microsoft YaHei"/>
                          <a:ea typeface="Microsoft YaHei"/>
                          <a:cs typeface="Microsoft YaHei"/>
                        </a:rPr>
                        <a:t>肖宇牵头</a:t>
                      </a:r>
                    </a:p>
                  </a:txBody>
                  <a:tcPr anchor="ctr">
                    <a:solidFill>
                      <a:srgbClr val="F5F8FA"/>
                    </a:solidFill>
                  </a:tcPr>
                </a:tc>
                <a:tc>
                  <a:txBody>
                    <a:bodyPr/>
                    <a:lstStyle/>
                    <a:p>
                      <a:r>
                        <a:rPr sz="1725" b="0">
                          <a:solidFill>
                            <a:srgbClr val="163044"/>
                          </a:solidFill>
                          <a:latin typeface="Microsoft YaHei"/>
                          <a:ea typeface="Microsoft YaHei"/>
                          <a:cs typeface="Microsoft YaHei"/>
                        </a:rPr>
                        <a:t>固定规模、并发和输入长度，逐档增加负载</a:t>
                      </a:r>
                    </a:p>
                    <a:p>
                      <a:r>
                        <a:rPr sz="1725" b="0">
                          <a:solidFill>
                            <a:srgbClr val="163044"/>
                          </a:solidFill>
                          <a:latin typeface="Microsoft YaHei"/>
                          <a:ea typeface="Microsoft YaHei"/>
                          <a:cs typeface="Microsoft YaHei"/>
                        </a:rPr>
                        <a:t>同时运行后台任务，分别测保存与完整召回</a:t>
                      </a:r>
                    </a:p>
                  </a:txBody>
                  <a:tcPr anchor="ctr">
                    <a:solidFill>
                      <a:srgbClr val="F5F8FA"/>
                    </a:solidFill>
                  </a:tcPr>
                </a:tc>
                <a:tc>
                  <a:txBody>
                    <a:bodyPr/>
                    <a:lstStyle/>
                    <a:p>
                      <a:r>
                        <a:rPr sz="1725" b="0">
                          <a:solidFill>
                            <a:srgbClr val="163044"/>
                          </a:solidFill>
                          <a:latin typeface="Microsoft YaHei"/>
                          <a:ea typeface="Microsoft YaHei"/>
                          <a:cs typeface="Microsoft YaHei"/>
                        </a:rPr>
                        <a:t>吞吐、延迟分位数</a:t>
                      </a:r>
                    </a:p>
                    <a:p>
                      <a:r>
                        <a:rPr sz="1725" b="0">
                          <a:solidFill>
                            <a:srgbClr val="163044"/>
                          </a:solidFill>
                          <a:latin typeface="Microsoft YaHei"/>
                          <a:ea typeface="Microsoft YaHei"/>
                          <a:cs typeface="Microsoft YaHei"/>
                        </a:rPr>
                        <a:t>错误率与资源占用</a:t>
                      </a:r>
                    </a:p>
                  </a:txBody>
                  <a:tcPr anchor="ctr">
                    <a:solidFill>
                      <a:srgbClr val="F5F8FA"/>
                    </a:solidFill>
                  </a:tcPr>
                </a:tc>
                <a:extLst>
                  <a:ext uri="{0D108BD9-81ED-4DB2-BD59-A6C34878D82A}">
                    <a16:rowId xmlns:a16="http://schemas.microsoft.com/office/drawing/2014/main" val="10002"/>
                  </a:ext>
                </a:extLst>
              </a:tr>
              <a:tr h="809625">
                <a:tc>
                  <a:txBody>
                    <a:bodyPr/>
                    <a:lstStyle/>
                    <a:p>
                      <a:r>
                        <a:rPr sz="1725" b="1">
                          <a:solidFill>
                            <a:srgbClr val="163044"/>
                          </a:solidFill>
                          <a:latin typeface="Microsoft YaHei"/>
                          <a:ea typeface="Microsoft YaHei"/>
                          <a:cs typeface="Microsoft YaHei"/>
                        </a:rPr>
                        <a:t>长稳与故障</a:t>
                      </a:r>
                    </a:p>
                    <a:p>
                      <a:r>
                        <a:rPr sz="1725" b="1">
                          <a:solidFill>
                            <a:srgbClr val="163044"/>
                          </a:solidFill>
                          <a:latin typeface="Microsoft YaHei"/>
                          <a:ea typeface="Microsoft YaHei"/>
                          <a:cs typeface="Microsoft YaHei"/>
                        </a:rPr>
                        <a:t>谭旭梁牵头</a:t>
                      </a:r>
                    </a:p>
                  </a:txBody>
                  <a:tcPr anchor="ctr">
                    <a:solidFill>
                      <a:srgbClr val="FFFFFF"/>
                    </a:solidFill>
                  </a:tcPr>
                </a:tc>
                <a:tc>
                  <a:txBody>
                    <a:bodyPr/>
                    <a:lstStyle/>
                    <a:p>
                      <a:r>
                        <a:rPr sz="1725" b="0">
                          <a:solidFill>
                            <a:srgbClr val="163044"/>
                          </a:solidFill>
                          <a:latin typeface="Microsoft YaHei"/>
                          <a:ea typeface="Microsoft YaHei"/>
                          <a:cs typeface="Microsoft YaHei"/>
                        </a:rPr>
                        <a:t>最终候选连续运行至少 24 小时</a:t>
                      </a:r>
                    </a:p>
                    <a:p>
                      <a:r>
                        <a:rPr sz="1725" b="0">
                          <a:solidFill>
                            <a:srgbClr val="163044"/>
                          </a:solidFill>
                          <a:latin typeface="Microsoft YaHei"/>
                          <a:ea typeface="Microsoft YaHei"/>
                          <a:cs typeface="Microsoft YaHei"/>
                        </a:rPr>
                        <a:t>注入重启、依赖中断和重复事件，核对恢复后状态</a:t>
                      </a:r>
                    </a:p>
                  </a:txBody>
                  <a:tcPr anchor="ctr">
                    <a:solidFill>
                      <a:srgbClr val="FFFFFF"/>
                    </a:solidFill>
                  </a:tcPr>
                </a:tc>
                <a:tc>
                  <a:txBody>
                    <a:bodyPr/>
                    <a:lstStyle/>
                    <a:p>
                      <a:r>
                        <a:rPr sz="1725" b="0">
                          <a:solidFill>
                            <a:srgbClr val="163044"/>
                          </a:solidFill>
                          <a:latin typeface="Microsoft YaHei"/>
                          <a:ea typeface="Microsoft YaHei"/>
                          <a:cs typeface="Microsoft YaHei"/>
                        </a:rPr>
                        <a:t>运行曲线、恢复时间</a:t>
                      </a:r>
                    </a:p>
                    <a:p>
                      <a:r>
                        <a:rPr sz="1725" b="0">
                          <a:solidFill>
                            <a:srgbClr val="163044"/>
                          </a:solidFill>
                          <a:latin typeface="Microsoft YaHei"/>
                          <a:ea typeface="Microsoft YaHei"/>
                          <a:cs typeface="Microsoft YaHei"/>
                        </a:rPr>
                        <a:t>一致性与重复动作检查</a:t>
                      </a:r>
                    </a:p>
                  </a:txBody>
                  <a:tcPr anchor="ctr">
                    <a:solidFill>
                      <a:srgbClr val="FFFFFF"/>
                    </a:solidFill>
                  </a:tcPr>
                </a:tc>
                <a:extLst>
                  <a:ext uri="{0D108BD9-81ED-4DB2-BD59-A6C34878D82A}">
                    <a16:rowId xmlns:a16="http://schemas.microsoft.com/office/drawing/2014/main" val="10003"/>
                  </a:ext>
                </a:extLst>
              </a:tr>
              <a:tr h="809625">
                <a:tc>
                  <a:txBody>
                    <a:bodyPr/>
                    <a:lstStyle/>
                    <a:p>
                      <a:r>
                        <a:rPr sz="1725" b="1">
                          <a:solidFill>
                            <a:srgbClr val="163044"/>
                          </a:solidFill>
                          <a:latin typeface="Microsoft YaHei"/>
                          <a:ea typeface="Microsoft YaHei"/>
                          <a:cs typeface="Microsoft YaHei"/>
                        </a:rPr>
                        <a:t>部署与恢复</a:t>
                      </a:r>
                    </a:p>
                    <a:p>
                      <a:r>
                        <a:rPr sz="1725" b="1">
                          <a:solidFill>
                            <a:srgbClr val="163044"/>
                          </a:solidFill>
                          <a:latin typeface="Microsoft YaHei"/>
                          <a:ea typeface="Microsoft YaHei"/>
                          <a:cs typeface="Microsoft YaHei"/>
                        </a:rPr>
                        <a:t>谭旭梁牵头</a:t>
                      </a:r>
                    </a:p>
                  </a:txBody>
                  <a:tcPr anchor="ctr">
                    <a:solidFill>
                      <a:srgbClr val="F5F8FA"/>
                    </a:solidFill>
                  </a:tcPr>
                </a:tc>
                <a:tc>
                  <a:txBody>
                    <a:bodyPr/>
                    <a:lstStyle/>
                    <a:p>
                      <a:r>
                        <a:rPr sz="1725" b="0">
                          <a:solidFill>
                            <a:srgbClr val="163044"/>
                          </a:solidFill>
                          <a:latin typeface="Microsoft YaHei"/>
                          <a:ea typeface="Microsoft YaHei"/>
                          <a:cs typeface="Microsoft YaHei"/>
                        </a:rPr>
                        <a:t>按交付手册部署，演练备份恢复与回滚</a:t>
                      </a:r>
                    </a:p>
                    <a:p>
                      <a:r>
                        <a:rPr sz="1725" b="0">
                          <a:solidFill>
                            <a:srgbClr val="163044"/>
                          </a:solidFill>
                          <a:latin typeface="Microsoft YaHei"/>
                          <a:ea typeface="Microsoft YaHei"/>
                          <a:cs typeface="Microsoft YaHei"/>
                        </a:rPr>
                        <a:t>恢复后重跑核心业务用例并核对数据</a:t>
                      </a:r>
                    </a:p>
                  </a:txBody>
                  <a:tcPr anchor="ctr">
                    <a:solidFill>
                      <a:srgbClr val="F5F8FA"/>
                    </a:solidFill>
                  </a:tcPr>
                </a:tc>
                <a:tc>
                  <a:txBody>
                    <a:bodyPr/>
                    <a:lstStyle/>
                    <a:p>
                      <a:r>
                        <a:rPr sz="1725" b="0">
                          <a:solidFill>
                            <a:srgbClr val="163044"/>
                          </a:solidFill>
                          <a:latin typeface="Microsoft YaHei"/>
                          <a:ea typeface="Microsoft YaHei"/>
                          <a:cs typeface="Microsoft YaHei"/>
                        </a:rPr>
                        <a:t>部署和演练记录</a:t>
                      </a:r>
                    </a:p>
                    <a:p>
                      <a:r>
                        <a:rPr sz="1725" b="0">
                          <a:solidFill>
                            <a:srgbClr val="163044"/>
                          </a:solidFill>
                          <a:latin typeface="Microsoft YaHei"/>
                          <a:ea typeface="Microsoft YaHei"/>
                          <a:cs typeface="Microsoft YaHei"/>
                        </a:rPr>
                        <a:t>恢复后的业务回归结果</a:t>
                      </a:r>
                    </a:p>
                  </a:txBody>
                  <a:tcPr anchor="ctr">
                    <a:solidFill>
                      <a:srgbClr val="F5F8FA"/>
                    </a:solidFill>
                  </a:tcPr>
                </a:tc>
                <a:extLst>
                  <a:ext uri="{0D108BD9-81ED-4DB2-BD59-A6C34878D82A}">
                    <a16:rowId xmlns:a16="http://schemas.microsoft.com/office/drawing/2014/main" val="10004"/>
                  </a:ext>
                </a:extLst>
              </a:tr>
            </a:tbl>
          </a:graphicData>
        </a:graphic>
      </p:graphicFrame>
      <p:sp>
        <p:nvSpPr>
          <p:cNvPr id="5" name="test-text-85">
            <a:extLst>
              <a:ext uri="{FF2B5EF4-FFF2-40B4-BE49-F238E27FC236}">
                <a16:creationId xmlns:a16="http://schemas.microsoft.com/office/drawing/2014/main" id="{9376B7C2-4375-40D4-A652-26319E0118A3}"/>
              </a:ext>
            </a:extLst>
          </p:cNvPr>
          <p:cNvSpPr>
            <a:spLocks noGrp="1"/>
          </p:cNvSpPr>
          <p:nvPr/>
        </p:nvSpPr>
        <p:spPr>
          <a:xfrm>
            <a:off x="609600" y="5953125"/>
            <a:ext cx="10972800" cy="295275"/>
          </a:xfrm>
          <a:prstGeom prst="rect">
            <a:avLst/>
          </a:prstGeom>
          <a:noFill/>
          <a:ln w="0">
            <a:noFill/>
          </a:ln>
        </p:spPr>
        <p:txBody>
          <a:bodyPr wrap="square" lIns="0" tIns="0" rIns="0" bIns="0" anchor="ctr">
            <a:noAutofit/>
          </a:bodyPr>
          <a:lstStyle/>
          <a:p>
            <a:pPr algn="l">
              <a:defRPr sz="1575" b="1">
                <a:solidFill>
                  <a:srgbClr val="087F80"/>
                </a:solidFill>
                <a:latin typeface="Microsoft YaHei"/>
                <a:ea typeface="Microsoft YaHei"/>
                <a:cs typeface="Microsoft YaHei"/>
              </a:defRPr>
            </a:pPr>
            <a:r>
              <a:rPr sz="1575" b="1">
                <a:solidFill>
                  <a:srgbClr val="087F80"/>
                </a:solidFill>
                <a:latin typeface="Microsoft YaHei"/>
                <a:ea typeface="Microsoft YaHei"/>
                <a:cs typeface="Microsoft YaHei"/>
              </a:rPr>
              <a:t>专项牵头为建议，三流程及运行人员配合。按批准指标验收，影响运行的修复后重跑长稳。</a:t>
            </a:r>
          </a:p>
        </p:txBody>
      </p:sp>
      <p:sp>
        <p:nvSpPr>
          <p:cNvPr id="6" name="直接连接符 5">
            <a:extLst>
              <a:ext uri="{FF2B5EF4-FFF2-40B4-BE49-F238E27FC236}">
                <a16:creationId xmlns:a16="http://schemas.microsoft.com/office/drawing/2014/main" id="{9CFB51F8-31E0-4D27-9ECF-7A57E27E0414}"/>
              </a:ext>
            </a:extLst>
          </p:cNvPr>
          <p:cNvSpPr>
            <a:spLocks noGrp="1"/>
          </p:cNvSpPr>
          <p:nvPr/>
        </p:nvSpPr>
        <p:spPr>
          <a:xfrm>
            <a:off x="609600" y="6324600"/>
            <a:ext cx="10972800" cy="95"/>
          </a:xfrm>
          <a:prstGeom prst="line">
            <a:avLst/>
          </a:prstGeom>
          <a:noFill/>
          <a:ln w="9525">
            <a:solidFill>
              <a:srgbClr val="D7E2E8"/>
            </a:solidFill>
          </a:ln>
        </p:spPr>
      </p:sp>
      <p:sp>
        <p:nvSpPr>
          <p:cNvPr id="7" name="test-text-86">
            <a:extLst>
              <a:ext uri="{FF2B5EF4-FFF2-40B4-BE49-F238E27FC236}">
                <a16:creationId xmlns:a16="http://schemas.microsoft.com/office/drawing/2014/main" id="{42D27119-61DE-4FBC-BE27-05DF1841CA7C}"/>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V4.3</a:t>
            </a:r>
          </a:p>
        </p:txBody>
      </p:sp>
      <p:sp>
        <p:nvSpPr>
          <p:cNvPr id="8" name="test-text-87">
            <a:extLst>
              <a:ext uri="{FF2B5EF4-FFF2-40B4-BE49-F238E27FC236}">
                <a16:creationId xmlns:a16="http://schemas.microsoft.com/office/drawing/2014/main" id="{7B581158-09A4-47F2-A17F-3C8EAA9F6D82}"/>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19 / 24</a:t>
            </a:r>
          </a:p>
        </p:txBody>
      </p:sp>
    </p:spTree>
    <p:extLst>
      <p:ext uri="{BB962C8B-B14F-4D97-AF65-F5344CB8AC3E}">
        <p14:creationId xmlns:p14="http://schemas.microsoft.com/office/powerpoint/2010/main" val="13676353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st-text-88">
            <a:extLst>
              <a:ext uri="{FF2B5EF4-FFF2-40B4-BE49-F238E27FC236}">
                <a16:creationId xmlns:a16="http://schemas.microsoft.com/office/drawing/2014/main" id="{50472E06-B782-42A7-8E44-D0990171C28D}"/>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st-text-89">
            <a:extLst>
              <a:ext uri="{FF2B5EF4-FFF2-40B4-BE49-F238E27FC236}">
                <a16:creationId xmlns:a16="http://schemas.microsoft.com/office/drawing/2014/main" id="{BE27E736-78AA-43A7-ABE8-1E12C2455893}"/>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000" b="1">
                <a:solidFill>
                  <a:srgbClr val="163044"/>
                </a:solidFill>
                <a:latin typeface="Microsoft YaHei"/>
                <a:ea typeface="Microsoft YaHei"/>
                <a:cs typeface="Microsoft YaHei"/>
              </a:defRPr>
            </a:pPr>
            <a:r>
              <a:rPr sz="3000" b="1">
                <a:solidFill>
                  <a:srgbClr val="163044"/>
                </a:solidFill>
                <a:latin typeface="Microsoft YaHei"/>
                <a:ea typeface="Microsoft YaHei"/>
                <a:cs typeface="Microsoft YaHei"/>
              </a:rPr>
              <a:t>验收标准：用什么证据进入下一阶段</a:t>
            </a:r>
          </a:p>
        </p:txBody>
      </p:sp>
      <p:sp>
        <p:nvSpPr>
          <p:cNvPr id="3" name="test-text-90">
            <a:extLst>
              <a:ext uri="{FF2B5EF4-FFF2-40B4-BE49-F238E27FC236}">
                <a16:creationId xmlns:a16="http://schemas.microsoft.com/office/drawing/2014/main" id="{D0BA24BF-8B7B-4A3B-B864-3FBA1837482C}"/>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测试负责人出具结论，陈凯组织阶段验收，业务代表完成 UAT 签收</a:t>
            </a:r>
          </a:p>
        </p:txBody>
      </p:sp>
      <p:graphicFrame>
        <p:nvGraphicFramePr>
          <p:cNvPr id="12" name="表格 11"/>
          <p:cNvGraphicFramePr/>
          <p:nvPr/>
        </p:nvGraphicFramePr>
        <p:xfrm>
          <a:off x="609600" y="1971675"/>
          <a:ext cx="10972800" cy="3924300"/>
        </p:xfrm>
        <a:graphic>
          <a:graphicData uri="http://schemas.openxmlformats.org/drawingml/2006/table">
            <a:tbl>
              <a:tblPr/>
              <a:tblGrid>
                <a:gridCol w="1952625">
                  <a:extLst>
                    <a:ext uri="{9D8B030D-6E8A-4147-A177-3AD203B41FA5}">
                      <a16:colId xmlns:a16="http://schemas.microsoft.com/office/drawing/2014/main" val="20000"/>
                    </a:ext>
                  </a:extLst>
                </a:gridCol>
                <a:gridCol w="6210300">
                  <a:extLst>
                    <a:ext uri="{9D8B030D-6E8A-4147-A177-3AD203B41FA5}">
                      <a16:colId xmlns:a16="http://schemas.microsoft.com/office/drawing/2014/main" val="20001"/>
                    </a:ext>
                  </a:extLst>
                </a:gridCol>
                <a:gridCol w="2809875">
                  <a:extLst>
                    <a:ext uri="{9D8B030D-6E8A-4147-A177-3AD203B41FA5}">
                      <a16:colId xmlns:a16="http://schemas.microsoft.com/office/drawing/2014/main" val="20002"/>
                    </a:ext>
                  </a:extLst>
                </a:gridCol>
              </a:tblGrid>
              <a:tr h="457200">
                <a:tc>
                  <a:txBody>
                    <a:bodyPr/>
                    <a:lstStyle/>
                    <a:p>
                      <a:r>
                        <a:rPr sz="1800" b="1">
                          <a:solidFill>
                            <a:srgbClr val="FFFFFF"/>
                          </a:solidFill>
                          <a:latin typeface="Microsoft YaHei"/>
                          <a:ea typeface="Microsoft YaHei"/>
                          <a:cs typeface="Microsoft YaHei"/>
                        </a:rPr>
                        <a:t>关口</a:t>
                      </a:r>
                    </a:p>
                  </a:txBody>
                  <a:tcPr anchor="ctr">
                    <a:solidFill>
                      <a:srgbClr val="163044"/>
                    </a:solidFill>
                  </a:tcPr>
                </a:tc>
                <a:tc>
                  <a:txBody>
                    <a:bodyPr/>
                    <a:lstStyle/>
                    <a:p>
                      <a:r>
                        <a:rPr sz="1800" b="1">
                          <a:solidFill>
                            <a:srgbClr val="FFFFFF"/>
                          </a:solidFill>
                          <a:latin typeface="Microsoft YaHei"/>
                          <a:ea typeface="Microsoft YaHei"/>
                          <a:cs typeface="Microsoft YaHei"/>
                        </a:rPr>
                        <a:t>必须具备的结果</a:t>
                      </a:r>
                    </a:p>
                  </a:txBody>
                  <a:tcPr anchor="ctr">
                    <a:solidFill>
                      <a:srgbClr val="163044"/>
                    </a:solidFill>
                  </a:tcPr>
                </a:tc>
                <a:tc>
                  <a:txBody>
                    <a:bodyPr/>
                    <a:lstStyle/>
                    <a:p>
                      <a:r>
                        <a:rPr sz="1800" b="1">
                          <a:solidFill>
                            <a:srgbClr val="FFFFFF"/>
                          </a:solidFill>
                          <a:latin typeface="Microsoft YaHei"/>
                          <a:ea typeface="Microsoft YaHei"/>
                          <a:cs typeface="Microsoft YaHei"/>
                        </a:rPr>
                        <a:t>确认责任</a:t>
                      </a:r>
                    </a:p>
                  </a:txBody>
                  <a:tcPr anchor="ctr">
                    <a:solidFill>
                      <a:srgbClr val="163044"/>
                    </a:solidFill>
                  </a:tcPr>
                </a:tc>
                <a:extLst>
                  <a:ext uri="{0D108BD9-81ED-4DB2-BD59-A6C34878D82A}">
                    <a16:rowId xmlns:a16="http://schemas.microsoft.com/office/drawing/2014/main" val="10000"/>
                  </a:ext>
                </a:extLst>
              </a:tr>
              <a:tr h="866775">
                <a:tc>
                  <a:txBody>
                    <a:bodyPr/>
                    <a:lstStyle/>
                    <a:p>
                      <a:r>
                        <a:rPr sz="1725" b="1">
                          <a:solidFill>
                            <a:srgbClr val="163044"/>
                          </a:solidFill>
                          <a:latin typeface="Microsoft YaHei"/>
                          <a:ea typeface="Microsoft YaHei"/>
                          <a:cs typeface="Microsoft YaHei"/>
                        </a:rPr>
                        <a:t>提测准入</a:t>
                      </a:r>
                    </a:p>
                  </a:txBody>
                  <a:tcPr anchor="ctr">
                    <a:solidFill>
                      <a:srgbClr val="FFFFFF"/>
                    </a:solidFill>
                  </a:tcPr>
                </a:tc>
                <a:tc>
                  <a:txBody>
                    <a:bodyPr/>
                    <a:lstStyle/>
                    <a:p>
                      <a:r>
                        <a:rPr sz="1725" b="0">
                          <a:solidFill>
                            <a:srgbClr val="163044"/>
                          </a:solidFill>
                          <a:latin typeface="Microsoft YaHei"/>
                          <a:ea typeface="Microsoft YaHei"/>
                          <a:cs typeface="Microsoft YaHei"/>
                        </a:rPr>
                        <a:t>范围与候选版本固定，开发自测通过</a:t>
                      </a:r>
                    </a:p>
                    <a:p>
                      <a:r>
                        <a:rPr sz="1725" b="0">
                          <a:solidFill>
                            <a:srgbClr val="163044"/>
                          </a:solidFill>
                          <a:latin typeface="Microsoft YaHei"/>
                          <a:ea typeface="Microsoft YaHei"/>
                          <a:cs typeface="Microsoft YaHei"/>
                        </a:rPr>
                        <a:t>用例已评审，数据、环境和观察入口可用</a:t>
                      </a:r>
                    </a:p>
                  </a:txBody>
                  <a:tcPr anchor="ctr">
                    <a:solidFill>
                      <a:srgbClr val="FFFFFF"/>
                    </a:solidFill>
                  </a:tcPr>
                </a:tc>
                <a:tc>
                  <a:txBody>
                    <a:bodyPr/>
                    <a:lstStyle/>
                    <a:p>
                      <a:r>
                        <a:rPr sz="1725" b="0">
                          <a:solidFill>
                            <a:srgbClr val="163044"/>
                          </a:solidFill>
                          <a:latin typeface="Microsoft YaHei"/>
                          <a:ea typeface="Microsoft YaHei"/>
                          <a:cs typeface="Microsoft YaHei"/>
                        </a:rPr>
                        <a:t>对应开发提交</a:t>
                      </a:r>
                    </a:p>
                    <a:p>
                      <a:r>
                        <a:rPr sz="1725" b="0">
                          <a:solidFill>
                            <a:srgbClr val="163044"/>
                          </a:solidFill>
                          <a:latin typeface="Microsoft YaHei"/>
                          <a:ea typeface="Microsoft YaHei"/>
                          <a:cs typeface="Microsoft YaHei"/>
                        </a:rPr>
                        <a:t>测试负责人检查</a:t>
                      </a:r>
                    </a:p>
                  </a:txBody>
                  <a:tcPr anchor="ctr">
                    <a:solidFill>
                      <a:srgbClr val="FFFFFF"/>
                    </a:solidFill>
                  </a:tcPr>
                </a:tc>
                <a:extLst>
                  <a:ext uri="{0D108BD9-81ED-4DB2-BD59-A6C34878D82A}">
                    <a16:rowId xmlns:a16="http://schemas.microsoft.com/office/drawing/2014/main" val="10001"/>
                  </a:ext>
                </a:extLst>
              </a:tr>
              <a:tr h="866775">
                <a:tc>
                  <a:txBody>
                    <a:bodyPr/>
                    <a:lstStyle/>
                    <a:p>
                      <a:r>
                        <a:rPr sz="1725" b="1">
                          <a:solidFill>
                            <a:srgbClr val="163044"/>
                          </a:solidFill>
                          <a:latin typeface="Microsoft YaHei"/>
                          <a:ea typeface="Microsoft YaHei"/>
                          <a:cs typeface="Microsoft YaHei"/>
                        </a:rPr>
                        <a:t>系统测试通过</a:t>
                      </a:r>
                    </a:p>
                  </a:txBody>
                  <a:tcPr anchor="ctr">
                    <a:solidFill>
                      <a:srgbClr val="F5F8FA"/>
                    </a:solidFill>
                  </a:tcPr>
                </a:tc>
                <a:tc>
                  <a:txBody>
                    <a:bodyPr/>
                    <a:lstStyle/>
                    <a:p>
                      <a:r>
                        <a:rPr sz="1725" b="0">
                          <a:solidFill>
                            <a:srgbClr val="163044"/>
                          </a:solidFill>
                          <a:latin typeface="Microsoft YaHei"/>
                          <a:ea typeface="Microsoft YaHei"/>
                          <a:cs typeface="Microsoft YaHei"/>
                        </a:rPr>
                        <a:t>核心业务与真实依赖必测项通过</a:t>
                      </a:r>
                    </a:p>
                    <a:p>
                      <a:r>
                        <a:rPr sz="1725" b="0">
                          <a:solidFill>
                            <a:srgbClr val="163044"/>
                          </a:solidFill>
                          <a:latin typeface="Microsoft YaHei"/>
                          <a:ea typeface="Microsoft YaHei"/>
                          <a:cs typeface="Microsoft YaHei"/>
                        </a:rPr>
                        <a:t>质量、性能、长稳和恢复达标，阻断缺陷复测关闭</a:t>
                      </a:r>
                    </a:p>
                  </a:txBody>
                  <a:tcPr anchor="ctr">
                    <a:solidFill>
                      <a:srgbClr val="F5F8FA"/>
                    </a:solidFill>
                  </a:tcPr>
                </a:tc>
                <a:tc>
                  <a:txBody>
                    <a:bodyPr/>
                    <a:lstStyle/>
                    <a:p>
                      <a:r>
                        <a:rPr sz="1725" b="0">
                          <a:solidFill>
                            <a:srgbClr val="163044"/>
                          </a:solidFill>
                          <a:latin typeface="Microsoft YaHei"/>
                          <a:ea typeface="Microsoft YaHei"/>
                          <a:cs typeface="Microsoft YaHei"/>
                        </a:rPr>
                        <a:t>三位测试出报告</a:t>
                      </a:r>
                    </a:p>
                    <a:p>
                      <a:r>
                        <a:rPr sz="1725" b="0">
                          <a:solidFill>
                            <a:srgbClr val="163044"/>
                          </a:solidFill>
                          <a:latin typeface="Microsoft YaHei"/>
                          <a:ea typeface="Microsoft YaHei"/>
                          <a:cs typeface="Microsoft YaHei"/>
                        </a:rPr>
                        <a:t>陈凯组织验收</a:t>
                      </a:r>
                    </a:p>
                  </a:txBody>
                  <a:tcPr anchor="ctr">
                    <a:solidFill>
                      <a:srgbClr val="F5F8FA"/>
                    </a:solidFill>
                  </a:tcPr>
                </a:tc>
                <a:extLst>
                  <a:ext uri="{0D108BD9-81ED-4DB2-BD59-A6C34878D82A}">
                    <a16:rowId xmlns:a16="http://schemas.microsoft.com/office/drawing/2014/main" val="10002"/>
                  </a:ext>
                </a:extLst>
              </a:tr>
              <a:tr h="866775">
                <a:tc>
                  <a:txBody>
                    <a:bodyPr/>
                    <a:lstStyle/>
                    <a:p>
                      <a:r>
                        <a:rPr sz="1725" b="1">
                          <a:solidFill>
                            <a:srgbClr val="163044"/>
                          </a:solidFill>
                          <a:latin typeface="Microsoft YaHei"/>
                          <a:ea typeface="Microsoft YaHei"/>
                          <a:cs typeface="Microsoft YaHei"/>
                        </a:rPr>
                        <a:t>业务验收通过</a:t>
                      </a:r>
                    </a:p>
                  </a:txBody>
                  <a:tcPr anchor="ctr">
                    <a:solidFill>
                      <a:srgbClr val="FFFFFF"/>
                    </a:solidFill>
                  </a:tcPr>
                </a:tc>
                <a:tc>
                  <a:txBody>
                    <a:bodyPr/>
                    <a:lstStyle/>
                    <a:p>
                      <a:r>
                        <a:rPr sz="1725" b="0">
                          <a:solidFill>
                            <a:srgbClr val="163044"/>
                          </a:solidFill>
                          <a:latin typeface="Microsoft YaHei"/>
                          <a:ea typeface="Microsoft YaHei"/>
                          <a:cs typeface="Microsoft YaHei"/>
                        </a:rPr>
                        <a:t>业务代表完成约定场景，逐项核对实际结果</a:t>
                      </a:r>
                    </a:p>
                    <a:p>
                      <a:r>
                        <a:rPr sz="1725" b="0">
                          <a:solidFill>
                            <a:srgbClr val="163044"/>
                          </a:solidFill>
                          <a:latin typeface="Microsoft YaHei"/>
                          <a:ea typeface="Microsoft YaHei"/>
                          <a:cs typeface="Microsoft YaHei"/>
                        </a:rPr>
                        <a:t>一般遗留问题记录接受条件、负责人及关闭日期</a:t>
                      </a:r>
                    </a:p>
                  </a:txBody>
                  <a:tcPr anchor="ctr">
                    <a:solidFill>
                      <a:srgbClr val="FFFFFF"/>
                    </a:solidFill>
                  </a:tcPr>
                </a:tc>
                <a:tc>
                  <a:txBody>
                    <a:bodyPr/>
                    <a:lstStyle/>
                    <a:p>
                      <a:r>
                        <a:rPr sz="1725" b="0">
                          <a:solidFill>
                            <a:srgbClr val="163044"/>
                          </a:solidFill>
                          <a:latin typeface="Microsoft YaHei"/>
                          <a:ea typeface="Microsoft YaHei"/>
                          <a:cs typeface="Microsoft YaHei"/>
                        </a:rPr>
                        <a:t>业务代表签收</a:t>
                      </a:r>
                    </a:p>
                    <a:p>
                      <a:r>
                        <a:rPr sz="1725" b="0">
                          <a:solidFill>
                            <a:srgbClr val="163044"/>
                          </a:solidFill>
                          <a:latin typeface="Microsoft YaHei"/>
                          <a:ea typeface="Microsoft YaHei"/>
                          <a:cs typeface="Microsoft YaHei"/>
                        </a:rPr>
                        <a:t>测试人员见证</a:t>
                      </a:r>
                    </a:p>
                  </a:txBody>
                  <a:tcPr anchor="ctr">
                    <a:solidFill>
                      <a:srgbClr val="FFFFFF"/>
                    </a:solidFill>
                  </a:tcPr>
                </a:tc>
                <a:extLst>
                  <a:ext uri="{0D108BD9-81ED-4DB2-BD59-A6C34878D82A}">
                    <a16:rowId xmlns:a16="http://schemas.microsoft.com/office/drawing/2014/main" val="10003"/>
                  </a:ext>
                </a:extLst>
              </a:tr>
              <a:tr h="866775">
                <a:tc>
                  <a:txBody>
                    <a:bodyPr/>
                    <a:lstStyle/>
                    <a:p>
                      <a:r>
                        <a:rPr sz="1725" b="1">
                          <a:solidFill>
                            <a:srgbClr val="163044"/>
                          </a:solidFill>
                          <a:latin typeface="Microsoft YaHei"/>
                          <a:ea typeface="Microsoft YaHei"/>
                          <a:cs typeface="Microsoft YaHei"/>
                        </a:rPr>
                        <a:t>上线交付</a:t>
                      </a:r>
                    </a:p>
                  </a:txBody>
                  <a:tcPr anchor="ctr">
                    <a:solidFill>
                      <a:srgbClr val="F5F8FA"/>
                    </a:solidFill>
                  </a:tcPr>
                </a:tc>
                <a:tc>
                  <a:txBody>
                    <a:bodyPr/>
                    <a:lstStyle/>
                    <a:p>
                      <a:r>
                        <a:rPr sz="1725" b="0">
                          <a:solidFill>
                            <a:srgbClr val="163044"/>
                          </a:solidFill>
                          <a:latin typeface="Microsoft YaHei"/>
                          <a:ea typeface="Microsoft YaHei"/>
                          <a:cs typeface="Microsoft YaHei"/>
                        </a:rPr>
                        <a:t>版本、配置、回滚与运行交接齐备</a:t>
                      </a:r>
                    </a:p>
                    <a:p>
                      <a:r>
                        <a:rPr sz="1725" b="0">
                          <a:solidFill>
                            <a:srgbClr val="163044"/>
                          </a:solidFill>
                          <a:latin typeface="Microsoft YaHei"/>
                          <a:ea typeface="Microsoft YaHei"/>
                          <a:cs typeface="Microsoft YaHei"/>
                        </a:rPr>
                        <a:t>发布后核心冒烟与监控正常，失败则按预案回退</a:t>
                      </a:r>
                    </a:p>
                  </a:txBody>
                  <a:tcPr anchor="ctr">
                    <a:solidFill>
                      <a:srgbClr val="F5F8FA"/>
                    </a:solidFill>
                  </a:tcPr>
                </a:tc>
                <a:tc>
                  <a:txBody>
                    <a:bodyPr/>
                    <a:lstStyle/>
                    <a:p>
                      <a:r>
                        <a:rPr sz="1725" b="0">
                          <a:solidFill>
                            <a:srgbClr val="163044"/>
                          </a:solidFill>
                          <a:latin typeface="Microsoft YaHei"/>
                          <a:ea typeface="Microsoft YaHei"/>
                          <a:cs typeface="Microsoft YaHei"/>
                        </a:rPr>
                        <a:t>陈凯确认发布</a:t>
                      </a:r>
                    </a:p>
                    <a:p>
                      <a:r>
                        <a:rPr sz="1725" b="0">
                          <a:solidFill>
                            <a:srgbClr val="163044"/>
                          </a:solidFill>
                          <a:latin typeface="Microsoft YaHei"/>
                          <a:ea typeface="Microsoft YaHei"/>
                          <a:cs typeface="Microsoft YaHei"/>
                        </a:rPr>
                        <a:t>运行接手人确认</a:t>
                      </a:r>
                    </a:p>
                  </a:txBody>
                  <a:tcPr anchor="ctr">
                    <a:solidFill>
                      <a:srgbClr val="F5F8FA"/>
                    </a:solidFill>
                  </a:tcPr>
                </a:tc>
                <a:extLst>
                  <a:ext uri="{0D108BD9-81ED-4DB2-BD59-A6C34878D82A}">
                    <a16:rowId xmlns:a16="http://schemas.microsoft.com/office/drawing/2014/main" val="10004"/>
                  </a:ext>
                </a:extLst>
              </a:tr>
            </a:tbl>
          </a:graphicData>
        </a:graphic>
      </p:graphicFrame>
      <p:sp>
        <p:nvSpPr>
          <p:cNvPr id="5" name="test-text-91">
            <a:extLst>
              <a:ext uri="{FF2B5EF4-FFF2-40B4-BE49-F238E27FC236}">
                <a16:creationId xmlns:a16="http://schemas.microsoft.com/office/drawing/2014/main" id="{D9AC4EF7-0EC2-4633-BD04-737046CA1C4D}"/>
              </a:ext>
            </a:extLst>
          </p:cNvPr>
          <p:cNvSpPr>
            <a:spLocks noGrp="1"/>
          </p:cNvSpPr>
          <p:nvPr/>
        </p:nvSpPr>
        <p:spPr>
          <a:xfrm>
            <a:off x="609600" y="5953125"/>
            <a:ext cx="10972800" cy="295275"/>
          </a:xfrm>
          <a:prstGeom prst="rect">
            <a:avLst/>
          </a:prstGeom>
          <a:noFill/>
          <a:ln w="0">
            <a:noFill/>
          </a:ln>
        </p:spPr>
        <p:txBody>
          <a:bodyPr wrap="square" lIns="0" tIns="0" rIns="0" bIns="0" anchor="ctr">
            <a:noAutofit/>
          </a:bodyPr>
          <a:lstStyle/>
          <a:p>
            <a:pPr algn="l">
              <a:defRPr sz="1575" b="1">
                <a:solidFill>
                  <a:srgbClr val="087F80"/>
                </a:solidFill>
                <a:latin typeface="Microsoft YaHei"/>
                <a:ea typeface="Microsoft YaHei"/>
                <a:cs typeface="Microsoft YaHei"/>
              </a:defRPr>
            </a:pPr>
            <a:r>
              <a:rPr sz="1575" b="1">
                <a:solidFill>
                  <a:srgbClr val="087F80"/>
                </a:solidFill>
                <a:latin typeface="Microsoft YaHei"/>
                <a:ea typeface="Microsoft YaHei"/>
                <a:cs typeface="Microsoft YaHei"/>
              </a:rPr>
              <a:t>交付证据：需求与用例对应表、执行记录、缺陷复测记录、专项报告及业务签收。</a:t>
            </a:r>
          </a:p>
        </p:txBody>
      </p:sp>
      <p:sp>
        <p:nvSpPr>
          <p:cNvPr id="6" name="直接连接符 5">
            <a:extLst>
              <a:ext uri="{FF2B5EF4-FFF2-40B4-BE49-F238E27FC236}">
                <a16:creationId xmlns:a16="http://schemas.microsoft.com/office/drawing/2014/main" id="{DD6859E3-7B1F-4831-BC3D-C69B29114236}"/>
              </a:ext>
            </a:extLst>
          </p:cNvPr>
          <p:cNvSpPr>
            <a:spLocks noGrp="1"/>
          </p:cNvSpPr>
          <p:nvPr/>
        </p:nvSpPr>
        <p:spPr>
          <a:xfrm>
            <a:off x="609600" y="6324600"/>
            <a:ext cx="10972800" cy="95"/>
          </a:xfrm>
          <a:prstGeom prst="line">
            <a:avLst/>
          </a:prstGeom>
          <a:noFill/>
          <a:ln w="9525">
            <a:solidFill>
              <a:srgbClr val="D7E2E8"/>
            </a:solidFill>
          </a:ln>
        </p:spPr>
      </p:sp>
      <p:sp>
        <p:nvSpPr>
          <p:cNvPr id="7" name="test-text-92">
            <a:extLst>
              <a:ext uri="{FF2B5EF4-FFF2-40B4-BE49-F238E27FC236}">
                <a16:creationId xmlns:a16="http://schemas.microsoft.com/office/drawing/2014/main" id="{699F1E26-4FC9-49DF-B22D-2560779B7B02}"/>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V4.3</a:t>
            </a:r>
          </a:p>
        </p:txBody>
      </p:sp>
      <p:sp>
        <p:nvSpPr>
          <p:cNvPr id="8" name="test-text-93">
            <a:extLst>
              <a:ext uri="{FF2B5EF4-FFF2-40B4-BE49-F238E27FC236}">
                <a16:creationId xmlns:a16="http://schemas.microsoft.com/office/drawing/2014/main" id="{2D14F555-EC56-4C48-A11B-983DAE72D48B}"/>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20 / 24</a:t>
            </a:r>
          </a:p>
        </p:txBody>
      </p:sp>
    </p:spTree>
    <p:extLst>
      <p:ext uri="{BB962C8B-B14F-4D97-AF65-F5344CB8AC3E}">
        <p14:creationId xmlns:p14="http://schemas.microsoft.com/office/powerpoint/2010/main" val="20047652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 name="text-242">
            <a:extLst>
              <a:ext uri="{FF2B5EF4-FFF2-40B4-BE49-F238E27FC236}">
                <a16:creationId xmlns:a16="http://schemas.microsoft.com/office/drawing/2014/main" id="{61849F1A-ECBF-46A7-8ECE-BF9BF1BA0BAE}"/>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04  时间节点</a:t>
            </a:r>
          </a:p>
        </p:txBody>
      </p:sp>
      <p:sp>
        <p:nvSpPr>
          <p:cNvPr id="2" name="text-243">
            <a:extLst>
              <a:ext uri="{FF2B5EF4-FFF2-40B4-BE49-F238E27FC236}">
                <a16:creationId xmlns:a16="http://schemas.microsoft.com/office/drawing/2014/main" id="{D5DB2869-2D8B-4759-B95A-A6B3762F1D9D}"/>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MVP 时间规划：开发、测试与联调并行</a:t>
            </a:r>
          </a:p>
        </p:txBody>
      </p:sp>
      <p:sp>
        <p:nvSpPr>
          <p:cNvPr id="3" name="text-244">
            <a:extLst>
              <a:ext uri="{FF2B5EF4-FFF2-40B4-BE49-F238E27FC236}">
                <a16:creationId xmlns:a16="http://schemas.microsoft.com/office/drawing/2014/main" id="{24925718-AFA2-4494-AA17-4EC5FB47CF08}"/>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以 12/01 交付为目标，细分排期为建议，真实 P2 以 10/10 可接入为前提</a:t>
            </a:r>
          </a:p>
        </p:txBody>
      </p:sp>
      <p:sp>
        <p:nvSpPr>
          <p:cNvPr id="4" name="line-245">
            <a:extLst>
              <a:ext uri="{FF2B5EF4-FFF2-40B4-BE49-F238E27FC236}">
                <a16:creationId xmlns:a16="http://schemas.microsoft.com/office/drawing/2014/main" id="{A394EBA5-C46F-45A7-BF84-6C35EA8D1A66}"/>
              </a:ext>
            </a:extLst>
          </p:cNvPr>
          <p:cNvSpPr>
            <a:spLocks noGrp="1"/>
          </p:cNvSpPr>
          <p:nvPr/>
        </p:nvSpPr>
        <p:spPr>
          <a:xfrm>
            <a:off x="609600" y="6324600"/>
            <a:ext cx="10972800" cy="95"/>
          </a:xfrm>
          <a:prstGeom prst="line">
            <a:avLst/>
          </a:prstGeom>
          <a:noFill/>
          <a:ln w="9525">
            <a:solidFill>
              <a:srgbClr val="D7E2E8"/>
            </a:solidFill>
          </a:ln>
        </p:spPr>
      </p:sp>
      <p:sp>
        <p:nvSpPr>
          <p:cNvPr id="5" name="text-246">
            <a:extLst>
              <a:ext uri="{FF2B5EF4-FFF2-40B4-BE49-F238E27FC236}">
                <a16:creationId xmlns:a16="http://schemas.microsoft.com/office/drawing/2014/main" id="{FF408299-3701-43BA-8755-8399FFCCCEC9}"/>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V4.3</a:t>
            </a:r>
          </a:p>
        </p:txBody>
      </p:sp>
      <p:sp>
        <p:nvSpPr>
          <p:cNvPr id="6" name="text-247">
            <a:extLst>
              <a:ext uri="{FF2B5EF4-FFF2-40B4-BE49-F238E27FC236}">
                <a16:creationId xmlns:a16="http://schemas.microsoft.com/office/drawing/2014/main" id="{7FB6DF90-DD9C-4FD9-AAF3-2F0048A7ED2D}"/>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21 / 24</a:t>
            </a:r>
          </a:p>
        </p:txBody>
      </p:sp>
      <p:sp>
        <p:nvSpPr>
          <p:cNvPr id="7" name="text-248">
            <a:extLst>
              <a:ext uri="{FF2B5EF4-FFF2-40B4-BE49-F238E27FC236}">
                <a16:creationId xmlns:a16="http://schemas.microsoft.com/office/drawing/2014/main" id="{43F0E71B-2CF3-4CC3-8BC2-A8305EE737DB}"/>
              </a:ext>
            </a:extLst>
          </p:cNvPr>
          <p:cNvSpPr>
            <a:spLocks noGrp="1"/>
          </p:cNvSpPr>
          <p:nvPr/>
        </p:nvSpPr>
        <p:spPr>
          <a:xfrm>
            <a:off x="2524125" y="1838325"/>
            <a:ext cx="742950" cy="285750"/>
          </a:xfrm>
          <a:prstGeom prst="rect">
            <a:avLst/>
          </a:prstGeom>
          <a:noFill/>
          <a:ln w="0">
            <a:noFill/>
          </a:ln>
        </p:spPr>
        <p:txBody>
          <a:bodyPr wrap="square" lIns="0" tIns="0" rIns="0" bIns="0" anchor="ctr">
            <a:noAutofit/>
          </a:bodyPr>
          <a:lstStyle/>
          <a:p>
            <a:pPr algn="l">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9/30</a:t>
            </a:r>
          </a:p>
        </p:txBody>
      </p:sp>
      <p:sp>
        <p:nvSpPr>
          <p:cNvPr id="8" name="line-249">
            <a:extLst>
              <a:ext uri="{FF2B5EF4-FFF2-40B4-BE49-F238E27FC236}">
                <a16:creationId xmlns:a16="http://schemas.microsoft.com/office/drawing/2014/main" id="{8554E6A3-D24A-4ABB-94D1-DCF23DC946F7}"/>
              </a:ext>
            </a:extLst>
          </p:cNvPr>
          <p:cNvSpPr>
            <a:spLocks noGrp="1"/>
          </p:cNvSpPr>
          <p:nvPr/>
        </p:nvSpPr>
        <p:spPr>
          <a:xfrm>
            <a:off x="2524125" y="2152650"/>
            <a:ext cx="95" cy="3381375"/>
          </a:xfrm>
          <a:prstGeom prst="line">
            <a:avLst/>
          </a:prstGeom>
          <a:noFill/>
          <a:ln w="9525">
            <a:solidFill>
              <a:srgbClr val="D7E2E8"/>
            </a:solidFill>
          </a:ln>
        </p:spPr>
      </p:sp>
      <p:sp>
        <p:nvSpPr>
          <p:cNvPr id="9" name="text-250">
            <a:extLst>
              <a:ext uri="{FF2B5EF4-FFF2-40B4-BE49-F238E27FC236}">
                <a16:creationId xmlns:a16="http://schemas.microsoft.com/office/drawing/2014/main" id="{95C8265D-0359-40B3-BD8A-909CA9CB1F45}"/>
              </a:ext>
            </a:extLst>
          </p:cNvPr>
          <p:cNvSpPr>
            <a:spLocks noGrp="1"/>
          </p:cNvSpPr>
          <p:nvPr/>
        </p:nvSpPr>
        <p:spPr>
          <a:xfrm>
            <a:off x="3621465" y="1838325"/>
            <a:ext cx="742950" cy="285750"/>
          </a:xfrm>
          <a:prstGeom prst="rect">
            <a:avLst/>
          </a:prstGeom>
          <a:noFill/>
          <a:ln w="0">
            <a:noFill/>
          </a:ln>
        </p:spPr>
        <p:txBody>
          <a:bodyPr wrap="square" lIns="0" tIns="0" rIns="0" bIns="0" anchor="ctr">
            <a:noAutofit/>
          </a:bodyPr>
          <a:lstStyle/>
          <a:p>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10/10</a:t>
            </a:r>
          </a:p>
        </p:txBody>
      </p:sp>
      <p:sp>
        <p:nvSpPr>
          <p:cNvPr id="10" name="line-251">
            <a:extLst>
              <a:ext uri="{FF2B5EF4-FFF2-40B4-BE49-F238E27FC236}">
                <a16:creationId xmlns:a16="http://schemas.microsoft.com/office/drawing/2014/main" id="{53B6B507-D26F-42D0-9F5E-444C9CD71E5F}"/>
              </a:ext>
            </a:extLst>
          </p:cNvPr>
          <p:cNvSpPr>
            <a:spLocks noGrp="1"/>
          </p:cNvSpPr>
          <p:nvPr/>
        </p:nvSpPr>
        <p:spPr>
          <a:xfrm>
            <a:off x="3945315" y="2152650"/>
            <a:ext cx="95" cy="3381375"/>
          </a:xfrm>
          <a:prstGeom prst="line">
            <a:avLst/>
          </a:prstGeom>
          <a:noFill/>
          <a:ln w="9525">
            <a:solidFill>
              <a:srgbClr val="D7E2E8"/>
            </a:solidFill>
          </a:ln>
        </p:spPr>
      </p:sp>
      <p:sp>
        <p:nvSpPr>
          <p:cNvPr id="11" name="text-252">
            <a:extLst>
              <a:ext uri="{FF2B5EF4-FFF2-40B4-BE49-F238E27FC236}">
                <a16:creationId xmlns:a16="http://schemas.microsoft.com/office/drawing/2014/main" id="{327ED394-C7A5-4319-9333-82238AB8BBB6}"/>
              </a:ext>
            </a:extLst>
          </p:cNvPr>
          <p:cNvSpPr>
            <a:spLocks noGrp="1"/>
          </p:cNvSpPr>
          <p:nvPr/>
        </p:nvSpPr>
        <p:spPr>
          <a:xfrm>
            <a:off x="5611132" y="1838325"/>
            <a:ext cx="742950" cy="285750"/>
          </a:xfrm>
          <a:prstGeom prst="rect">
            <a:avLst/>
          </a:prstGeom>
          <a:noFill/>
          <a:ln w="0">
            <a:noFill/>
          </a:ln>
        </p:spPr>
        <p:txBody>
          <a:bodyPr wrap="square" lIns="0" tIns="0" rIns="0" bIns="0" anchor="ctr">
            <a:noAutofit/>
          </a:bodyPr>
          <a:lstStyle/>
          <a:p>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10/24</a:t>
            </a:r>
          </a:p>
        </p:txBody>
      </p:sp>
      <p:sp>
        <p:nvSpPr>
          <p:cNvPr id="12" name="line-253">
            <a:extLst>
              <a:ext uri="{FF2B5EF4-FFF2-40B4-BE49-F238E27FC236}">
                <a16:creationId xmlns:a16="http://schemas.microsoft.com/office/drawing/2014/main" id="{A1892164-D21A-474E-8FE4-99EC6DB6673F}"/>
              </a:ext>
            </a:extLst>
          </p:cNvPr>
          <p:cNvSpPr>
            <a:spLocks noGrp="1"/>
          </p:cNvSpPr>
          <p:nvPr/>
        </p:nvSpPr>
        <p:spPr>
          <a:xfrm>
            <a:off x="5934982" y="2152650"/>
            <a:ext cx="95" cy="3381375"/>
          </a:xfrm>
          <a:prstGeom prst="line">
            <a:avLst/>
          </a:prstGeom>
          <a:noFill/>
          <a:ln w="9525">
            <a:solidFill>
              <a:srgbClr val="D7E2E8"/>
            </a:solidFill>
          </a:ln>
        </p:spPr>
      </p:sp>
      <p:sp>
        <p:nvSpPr>
          <p:cNvPr id="13" name="text-254">
            <a:extLst>
              <a:ext uri="{FF2B5EF4-FFF2-40B4-BE49-F238E27FC236}">
                <a16:creationId xmlns:a16="http://schemas.microsoft.com/office/drawing/2014/main" id="{0D6F327F-7551-49E0-B6C6-1AE4280CE3A6}"/>
              </a:ext>
            </a:extLst>
          </p:cNvPr>
          <p:cNvSpPr>
            <a:spLocks noGrp="1"/>
          </p:cNvSpPr>
          <p:nvPr/>
        </p:nvSpPr>
        <p:spPr>
          <a:xfrm>
            <a:off x="7600799" y="1838325"/>
            <a:ext cx="742950" cy="285750"/>
          </a:xfrm>
          <a:prstGeom prst="rect">
            <a:avLst/>
          </a:prstGeom>
          <a:noFill/>
          <a:ln w="0">
            <a:noFill/>
          </a:ln>
        </p:spPr>
        <p:txBody>
          <a:bodyPr wrap="square" lIns="0" tIns="0" rIns="0" bIns="0" anchor="ctr">
            <a:noAutofit/>
          </a:bodyPr>
          <a:lstStyle/>
          <a:p>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11/07</a:t>
            </a:r>
          </a:p>
        </p:txBody>
      </p:sp>
      <p:sp>
        <p:nvSpPr>
          <p:cNvPr id="14" name="line-255">
            <a:extLst>
              <a:ext uri="{FF2B5EF4-FFF2-40B4-BE49-F238E27FC236}">
                <a16:creationId xmlns:a16="http://schemas.microsoft.com/office/drawing/2014/main" id="{53079FB3-CBE8-4EEA-B0B1-7428A8C69318}"/>
              </a:ext>
            </a:extLst>
          </p:cNvPr>
          <p:cNvSpPr>
            <a:spLocks noGrp="1"/>
          </p:cNvSpPr>
          <p:nvPr/>
        </p:nvSpPr>
        <p:spPr>
          <a:xfrm>
            <a:off x="7924649" y="2152650"/>
            <a:ext cx="95" cy="3381375"/>
          </a:xfrm>
          <a:prstGeom prst="line">
            <a:avLst/>
          </a:prstGeom>
          <a:noFill/>
          <a:ln w="9525">
            <a:solidFill>
              <a:srgbClr val="D7E2E8"/>
            </a:solidFill>
          </a:ln>
        </p:spPr>
      </p:sp>
      <p:sp>
        <p:nvSpPr>
          <p:cNvPr id="15" name="text-256">
            <a:extLst>
              <a:ext uri="{FF2B5EF4-FFF2-40B4-BE49-F238E27FC236}">
                <a16:creationId xmlns:a16="http://schemas.microsoft.com/office/drawing/2014/main" id="{D5D9175D-3BC9-46E0-993B-13F88FD16E48}"/>
              </a:ext>
            </a:extLst>
          </p:cNvPr>
          <p:cNvSpPr>
            <a:spLocks noGrp="1"/>
          </p:cNvSpPr>
          <p:nvPr/>
        </p:nvSpPr>
        <p:spPr>
          <a:xfrm>
            <a:off x="9590465" y="1838325"/>
            <a:ext cx="742950" cy="285750"/>
          </a:xfrm>
          <a:prstGeom prst="rect">
            <a:avLst/>
          </a:prstGeom>
          <a:noFill/>
          <a:ln w="0">
            <a:noFill/>
          </a:ln>
        </p:spPr>
        <p:txBody>
          <a:bodyPr wrap="square" lIns="0" tIns="0" rIns="0" bIns="0" anchor="ctr">
            <a:noAutofit/>
          </a:bodyPr>
          <a:lstStyle/>
          <a:p>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11/21</a:t>
            </a:r>
          </a:p>
        </p:txBody>
      </p:sp>
      <p:sp>
        <p:nvSpPr>
          <p:cNvPr id="16" name="line-257">
            <a:extLst>
              <a:ext uri="{FF2B5EF4-FFF2-40B4-BE49-F238E27FC236}">
                <a16:creationId xmlns:a16="http://schemas.microsoft.com/office/drawing/2014/main" id="{109059A6-508B-455B-8527-B1B894FB555C}"/>
              </a:ext>
            </a:extLst>
          </p:cNvPr>
          <p:cNvSpPr>
            <a:spLocks noGrp="1"/>
          </p:cNvSpPr>
          <p:nvPr/>
        </p:nvSpPr>
        <p:spPr>
          <a:xfrm>
            <a:off x="9914315" y="2152650"/>
            <a:ext cx="95" cy="3381375"/>
          </a:xfrm>
          <a:prstGeom prst="line">
            <a:avLst/>
          </a:prstGeom>
          <a:noFill/>
          <a:ln w="9525">
            <a:solidFill>
              <a:srgbClr val="D7E2E8"/>
            </a:solidFill>
          </a:ln>
        </p:spPr>
      </p:sp>
      <p:sp>
        <p:nvSpPr>
          <p:cNvPr id="17" name="text-258">
            <a:extLst>
              <a:ext uri="{FF2B5EF4-FFF2-40B4-BE49-F238E27FC236}">
                <a16:creationId xmlns:a16="http://schemas.microsoft.com/office/drawing/2014/main" id="{B3D44F23-95EF-42AA-98C6-742CA498A8D7}"/>
              </a:ext>
            </a:extLst>
          </p:cNvPr>
          <p:cNvSpPr>
            <a:spLocks noGrp="1"/>
          </p:cNvSpPr>
          <p:nvPr/>
        </p:nvSpPr>
        <p:spPr>
          <a:xfrm>
            <a:off x="11011656" y="1838325"/>
            <a:ext cx="742950" cy="285750"/>
          </a:xfrm>
          <a:prstGeom prst="rect">
            <a:avLst/>
          </a:prstGeom>
          <a:noFill/>
          <a:ln w="0">
            <a:noFill/>
          </a:ln>
        </p:spPr>
        <p:txBody>
          <a:bodyPr wrap="square" lIns="0" tIns="0" rIns="0" bIns="0" anchor="ctr">
            <a:noAutofit/>
          </a:bodyPr>
          <a:lstStyle/>
          <a:p>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12/01</a:t>
            </a:r>
          </a:p>
        </p:txBody>
      </p:sp>
      <p:sp>
        <p:nvSpPr>
          <p:cNvPr id="18" name="line-259">
            <a:extLst>
              <a:ext uri="{FF2B5EF4-FFF2-40B4-BE49-F238E27FC236}">
                <a16:creationId xmlns:a16="http://schemas.microsoft.com/office/drawing/2014/main" id="{6A74E576-7E21-440F-817F-A5F65BD4F935}"/>
              </a:ext>
            </a:extLst>
          </p:cNvPr>
          <p:cNvSpPr>
            <a:spLocks noGrp="1"/>
          </p:cNvSpPr>
          <p:nvPr/>
        </p:nvSpPr>
        <p:spPr>
          <a:xfrm>
            <a:off x="11335506" y="2152650"/>
            <a:ext cx="95" cy="3381375"/>
          </a:xfrm>
          <a:prstGeom prst="line">
            <a:avLst/>
          </a:prstGeom>
          <a:noFill/>
          <a:ln w="9525">
            <a:solidFill>
              <a:srgbClr val="D7E2E8"/>
            </a:solidFill>
          </a:ln>
        </p:spPr>
      </p:sp>
      <p:sp>
        <p:nvSpPr>
          <p:cNvPr id="19" name="text-260">
            <a:extLst>
              <a:ext uri="{FF2B5EF4-FFF2-40B4-BE49-F238E27FC236}">
                <a16:creationId xmlns:a16="http://schemas.microsoft.com/office/drawing/2014/main" id="{9FF7D67D-A20F-4FCC-9F32-D5C89827F381}"/>
              </a:ext>
            </a:extLst>
          </p:cNvPr>
          <p:cNvSpPr>
            <a:spLocks noGrp="1"/>
          </p:cNvSpPr>
          <p:nvPr/>
        </p:nvSpPr>
        <p:spPr>
          <a:xfrm>
            <a:off x="609600" y="2228850"/>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方案与接口</a:t>
            </a:r>
          </a:p>
        </p:txBody>
      </p:sp>
      <p:sp>
        <p:nvSpPr>
          <p:cNvPr id="20" name="line-261">
            <a:extLst>
              <a:ext uri="{FF2B5EF4-FFF2-40B4-BE49-F238E27FC236}">
                <a16:creationId xmlns:a16="http://schemas.microsoft.com/office/drawing/2014/main" id="{AD9D43E8-5B37-47CB-AB33-AF0FE186F107}"/>
              </a:ext>
            </a:extLst>
          </p:cNvPr>
          <p:cNvSpPr>
            <a:spLocks noGrp="1"/>
          </p:cNvSpPr>
          <p:nvPr/>
        </p:nvSpPr>
        <p:spPr>
          <a:xfrm>
            <a:off x="609600" y="2600325"/>
            <a:ext cx="10972800" cy="95"/>
          </a:xfrm>
          <a:prstGeom prst="line">
            <a:avLst/>
          </a:prstGeom>
          <a:noFill/>
          <a:ln w="5715">
            <a:solidFill>
              <a:srgbClr val="D7E2E8"/>
            </a:solidFill>
          </a:ln>
        </p:spPr>
      </p:sp>
      <p:sp>
        <p:nvSpPr>
          <p:cNvPr id="21" name="text-262">
            <a:extLst>
              <a:ext uri="{FF2B5EF4-FFF2-40B4-BE49-F238E27FC236}">
                <a16:creationId xmlns:a16="http://schemas.microsoft.com/office/drawing/2014/main" id="{5757908E-9D84-4136-8FEC-1DE2A697482A}"/>
              </a:ext>
            </a:extLst>
          </p:cNvPr>
          <p:cNvSpPr>
            <a:spLocks noGrp="1"/>
          </p:cNvSpPr>
          <p:nvPr/>
        </p:nvSpPr>
        <p:spPr>
          <a:xfrm>
            <a:off x="609600" y="2638425"/>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核心业务实现</a:t>
            </a:r>
          </a:p>
        </p:txBody>
      </p:sp>
      <p:sp>
        <p:nvSpPr>
          <p:cNvPr id="22" name="line-263">
            <a:extLst>
              <a:ext uri="{FF2B5EF4-FFF2-40B4-BE49-F238E27FC236}">
                <a16:creationId xmlns:a16="http://schemas.microsoft.com/office/drawing/2014/main" id="{6DBA37B9-3DE4-47E3-9FBF-23F4770C7CEC}"/>
              </a:ext>
            </a:extLst>
          </p:cNvPr>
          <p:cNvSpPr>
            <a:spLocks noGrp="1"/>
          </p:cNvSpPr>
          <p:nvPr/>
        </p:nvSpPr>
        <p:spPr>
          <a:xfrm>
            <a:off x="609600" y="3009900"/>
            <a:ext cx="10972800" cy="95"/>
          </a:xfrm>
          <a:prstGeom prst="line">
            <a:avLst/>
          </a:prstGeom>
          <a:noFill/>
          <a:ln w="5715">
            <a:solidFill>
              <a:srgbClr val="D7E2E8"/>
            </a:solidFill>
          </a:ln>
        </p:spPr>
      </p:sp>
      <p:sp>
        <p:nvSpPr>
          <p:cNvPr id="23" name="text-264">
            <a:extLst>
              <a:ext uri="{FF2B5EF4-FFF2-40B4-BE49-F238E27FC236}">
                <a16:creationId xmlns:a16="http://schemas.microsoft.com/office/drawing/2014/main" id="{916332C9-54A4-45EC-90FD-B543C9AF98CC}"/>
              </a:ext>
            </a:extLst>
          </p:cNvPr>
          <p:cNvSpPr>
            <a:spLocks noGrp="1"/>
          </p:cNvSpPr>
          <p:nvPr/>
        </p:nvSpPr>
        <p:spPr>
          <a:xfrm>
            <a:off x="609600" y="3048000"/>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用例设计与回归</a:t>
            </a:r>
          </a:p>
        </p:txBody>
      </p:sp>
      <p:sp>
        <p:nvSpPr>
          <p:cNvPr id="24" name="line-265">
            <a:extLst>
              <a:ext uri="{FF2B5EF4-FFF2-40B4-BE49-F238E27FC236}">
                <a16:creationId xmlns:a16="http://schemas.microsoft.com/office/drawing/2014/main" id="{BCDDE24A-EF1D-4E82-A154-733810DA5C26}"/>
              </a:ext>
            </a:extLst>
          </p:cNvPr>
          <p:cNvSpPr>
            <a:spLocks noGrp="1"/>
          </p:cNvSpPr>
          <p:nvPr/>
        </p:nvSpPr>
        <p:spPr>
          <a:xfrm>
            <a:off x="609600" y="3419475"/>
            <a:ext cx="10972800" cy="95"/>
          </a:xfrm>
          <a:prstGeom prst="line">
            <a:avLst/>
          </a:prstGeom>
          <a:noFill/>
          <a:ln w="5715">
            <a:solidFill>
              <a:srgbClr val="D7E2E8"/>
            </a:solidFill>
          </a:ln>
        </p:spPr>
      </p:sp>
      <p:sp>
        <p:nvSpPr>
          <p:cNvPr id="25" name="text-266">
            <a:extLst>
              <a:ext uri="{FF2B5EF4-FFF2-40B4-BE49-F238E27FC236}">
                <a16:creationId xmlns:a16="http://schemas.microsoft.com/office/drawing/2014/main" id="{8432148C-06C2-4FA2-97AB-AE55B4363F38}"/>
              </a:ext>
            </a:extLst>
          </p:cNvPr>
          <p:cNvSpPr>
            <a:spLocks noGrp="1"/>
          </p:cNvSpPr>
          <p:nvPr/>
        </p:nvSpPr>
        <p:spPr>
          <a:xfrm>
            <a:off x="609600" y="3457575"/>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P2 联调</a:t>
            </a:r>
          </a:p>
        </p:txBody>
      </p:sp>
      <p:sp>
        <p:nvSpPr>
          <p:cNvPr id="26" name="line-267">
            <a:extLst>
              <a:ext uri="{FF2B5EF4-FFF2-40B4-BE49-F238E27FC236}">
                <a16:creationId xmlns:a16="http://schemas.microsoft.com/office/drawing/2014/main" id="{1B3DA035-28F6-404A-B174-30F6AE81E440}"/>
              </a:ext>
            </a:extLst>
          </p:cNvPr>
          <p:cNvSpPr>
            <a:spLocks noGrp="1"/>
          </p:cNvSpPr>
          <p:nvPr/>
        </p:nvSpPr>
        <p:spPr>
          <a:xfrm>
            <a:off x="609600" y="3829050"/>
            <a:ext cx="10972800" cy="95"/>
          </a:xfrm>
          <a:prstGeom prst="line">
            <a:avLst/>
          </a:prstGeom>
          <a:noFill/>
          <a:ln w="5715">
            <a:solidFill>
              <a:srgbClr val="D7E2E8"/>
            </a:solidFill>
          </a:ln>
        </p:spPr>
      </p:sp>
      <p:sp>
        <p:nvSpPr>
          <p:cNvPr id="27" name="text-268">
            <a:extLst>
              <a:ext uri="{FF2B5EF4-FFF2-40B4-BE49-F238E27FC236}">
                <a16:creationId xmlns:a16="http://schemas.microsoft.com/office/drawing/2014/main" id="{320254B9-0B46-44AE-8911-E71B844CBD6A}"/>
              </a:ext>
            </a:extLst>
          </p:cNvPr>
          <p:cNvSpPr>
            <a:spLocks noGrp="1"/>
          </p:cNvSpPr>
          <p:nvPr/>
        </p:nvSpPr>
        <p:spPr>
          <a:xfrm>
            <a:off x="609600" y="3867150"/>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质量、性能与部署</a:t>
            </a:r>
          </a:p>
        </p:txBody>
      </p:sp>
      <p:sp>
        <p:nvSpPr>
          <p:cNvPr id="28" name="line-269">
            <a:extLst>
              <a:ext uri="{FF2B5EF4-FFF2-40B4-BE49-F238E27FC236}">
                <a16:creationId xmlns:a16="http://schemas.microsoft.com/office/drawing/2014/main" id="{58D61634-7F85-4B9F-91C0-8C3758732E6C}"/>
              </a:ext>
            </a:extLst>
          </p:cNvPr>
          <p:cNvSpPr>
            <a:spLocks noGrp="1"/>
          </p:cNvSpPr>
          <p:nvPr/>
        </p:nvSpPr>
        <p:spPr>
          <a:xfrm>
            <a:off x="609600" y="4238625"/>
            <a:ext cx="10972800" cy="95"/>
          </a:xfrm>
          <a:prstGeom prst="line">
            <a:avLst/>
          </a:prstGeom>
          <a:noFill/>
          <a:ln w="5715">
            <a:solidFill>
              <a:srgbClr val="D7E2E8"/>
            </a:solidFill>
          </a:ln>
        </p:spPr>
      </p:sp>
      <p:sp>
        <p:nvSpPr>
          <p:cNvPr id="29" name="text-270">
            <a:extLst>
              <a:ext uri="{FF2B5EF4-FFF2-40B4-BE49-F238E27FC236}">
                <a16:creationId xmlns:a16="http://schemas.microsoft.com/office/drawing/2014/main" id="{5E0DE77A-B637-4B1F-A3D3-184F12C5E76A}"/>
              </a:ext>
            </a:extLst>
          </p:cNvPr>
          <p:cNvSpPr>
            <a:spLocks noGrp="1"/>
          </p:cNvSpPr>
          <p:nvPr/>
        </p:nvSpPr>
        <p:spPr>
          <a:xfrm>
            <a:off x="609600" y="4276725"/>
            <a:ext cx="1809750" cy="323850"/>
          </a:xfrm>
          <a:prstGeom prst="rect">
            <a:avLst/>
          </a:prstGeom>
          <a:noFill/>
          <a:ln w="0">
            <a:noFill/>
          </a:ln>
        </p:spPr>
        <p:txBody>
          <a:bodyPr wrap="square" lIns="0" tIns="0" rIns="0" bIns="0" anchor="ctr">
            <a:noAutofit/>
          </a:bodyPr>
          <a:lstStyle/>
          <a:p>
            <a:pPr algn="l">
              <a:defRPr sz="1575" b="1">
                <a:solidFill>
                  <a:srgbClr val="163044"/>
                </a:solidFill>
                <a:latin typeface="Microsoft YaHei"/>
                <a:ea typeface="Microsoft YaHei"/>
                <a:cs typeface="Microsoft YaHei"/>
              </a:defRPr>
            </a:pPr>
            <a:r>
              <a:rPr sz="1575" b="1">
                <a:solidFill>
                  <a:srgbClr val="163044"/>
                </a:solidFill>
                <a:latin typeface="Microsoft YaHei"/>
                <a:ea typeface="Microsoft YaHei"/>
                <a:cs typeface="Microsoft YaHei"/>
              </a:rPr>
              <a:t>系统验收与修复</a:t>
            </a:r>
          </a:p>
        </p:txBody>
      </p:sp>
      <p:sp>
        <p:nvSpPr>
          <p:cNvPr id="30" name="line-271">
            <a:extLst>
              <a:ext uri="{FF2B5EF4-FFF2-40B4-BE49-F238E27FC236}">
                <a16:creationId xmlns:a16="http://schemas.microsoft.com/office/drawing/2014/main" id="{057E0D13-782F-4E5D-BFA0-FCA586E701BD}"/>
              </a:ext>
            </a:extLst>
          </p:cNvPr>
          <p:cNvSpPr>
            <a:spLocks noGrp="1"/>
          </p:cNvSpPr>
          <p:nvPr/>
        </p:nvSpPr>
        <p:spPr>
          <a:xfrm>
            <a:off x="609600" y="4648200"/>
            <a:ext cx="10972800" cy="95"/>
          </a:xfrm>
          <a:prstGeom prst="line">
            <a:avLst/>
          </a:prstGeom>
          <a:noFill/>
          <a:ln w="5715">
            <a:solidFill>
              <a:srgbClr val="D7E2E8"/>
            </a:solidFill>
          </a:ln>
        </p:spPr>
      </p:sp>
      <p:sp>
        <p:nvSpPr>
          <p:cNvPr id="31" name="text-272">
            <a:extLst>
              <a:ext uri="{FF2B5EF4-FFF2-40B4-BE49-F238E27FC236}">
                <a16:creationId xmlns:a16="http://schemas.microsoft.com/office/drawing/2014/main" id="{30120B9A-50C4-4C10-8BFD-2B41284A2FA1}"/>
              </a:ext>
            </a:extLst>
          </p:cNvPr>
          <p:cNvSpPr>
            <a:spLocks noGrp="1"/>
          </p:cNvSpPr>
          <p:nvPr/>
        </p:nvSpPr>
        <p:spPr>
          <a:xfrm>
            <a:off x="609600" y="4686300"/>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业务验收与交接</a:t>
            </a:r>
          </a:p>
        </p:txBody>
      </p:sp>
      <p:sp>
        <p:nvSpPr>
          <p:cNvPr id="32" name="line-273">
            <a:extLst>
              <a:ext uri="{FF2B5EF4-FFF2-40B4-BE49-F238E27FC236}">
                <a16:creationId xmlns:a16="http://schemas.microsoft.com/office/drawing/2014/main" id="{EDC58618-7975-4EDB-BFAC-A8CFFCAF0F68}"/>
              </a:ext>
            </a:extLst>
          </p:cNvPr>
          <p:cNvSpPr>
            <a:spLocks noGrp="1"/>
          </p:cNvSpPr>
          <p:nvPr/>
        </p:nvSpPr>
        <p:spPr>
          <a:xfrm>
            <a:off x="609600" y="5057775"/>
            <a:ext cx="10972800" cy="95"/>
          </a:xfrm>
          <a:prstGeom prst="line">
            <a:avLst/>
          </a:prstGeom>
          <a:noFill/>
          <a:ln w="5715">
            <a:solidFill>
              <a:srgbClr val="D7E2E8"/>
            </a:solidFill>
          </a:ln>
        </p:spPr>
      </p:sp>
      <p:sp>
        <p:nvSpPr>
          <p:cNvPr id="33" name="text-274">
            <a:extLst>
              <a:ext uri="{FF2B5EF4-FFF2-40B4-BE49-F238E27FC236}">
                <a16:creationId xmlns:a16="http://schemas.microsoft.com/office/drawing/2014/main" id="{0EE8E8CE-C6CA-42AB-A172-D6D0632259A0}"/>
              </a:ext>
            </a:extLst>
          </p:cNvPr>
          <p:cNvSpPr>
            <a:spLocks noGrp="1"/>
          </p:cNvSpPr>
          <p:nvPr/>
        </p:nvSpPr>
        <p:spPr>
          <a:xfrm>
            <a:off x="609600" y="5095875"/>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发布交付</a:t>
            </a:r>
          </a:p>
        </p:txBody>
      </p:sp>
      <p:sp>
        <p:nvSpPr>
          <p:cNvPr id="34" name="line-275">
            <a:extLst>
              <a:ext uri="{FF2B5EF4-FFF2-40B4-BE49-F238E27FC236}">
                <a16:creationId xmlns:a16="http://schemas.microsoft.com/office/drawing/2014/main" id="{FAC5D9F7-DDC2-4EF1-BC18-1192F5896825}"/>
              </a:ext>
            </a:extLst>
          </p:cNvPr>
          <p:cNvSpPr>
            <a:spLocks noGrp="1"/>
          </p:cNvSpPr>
          <p:nvPr/>
        </p:nvSpPr>
        <p:spPr>
          <a:xfrm>
            <a:off x="609600" y="5467350"/>
            <a:ext cx="10972800" cy="95"/>
          </a:xfrm>
          <a:prstGeom prst="line">
            <a:avLst/>
          </a:prstGeom>
          <a:noFill/>
          <a:ln w="5715">
            <a:solidFill>
              <a:srgbClr val="D7E2E8"/>
            </a:solidFill>
          </a:ln>
        </p:spPr>
      </p:sp>
      <p:sp>
        <p:nvSpPr>
          <p:cNvPr id="35" name="box-276">
            <a:extLst>
              <a:ext uri="{FF2B5EF4-FFF2-40B4-BE49-F238E27FC236}">
                <a16:creationId xmlns:a16="http://schemas.microsoft.com/office/drawing/2014/main" id="{B4D217C6-54BE-4C06-80A1-599E230579A0}"/>
              </a:ext>
            </a:extLst>
          </p:cNvPr>
          <p:cNvSpPr>
            <a:spLocks noGrp="1"/>
          </p:cNvSpPr>
          <p:nvPr/>
        </p:nvSpPr>
        <p:spPr>
          <a:xfrm>
            <a:off x="2524125" y="2257425"/>
            <a:ext cx="1402140" cy="295275"/>
          </a:xfrm>
          <a:prstGeom prst="rect">
            <a:avLst/>
          </a:prstGeom>
          <a:solidFill>
            <a:srgbClr val="087F80"/>
          </a:solidFill>
          <a:ln w="0">
            <a:noFill/>
          </a:ln>
        </p:spPr>
      </p:sp>
      <p:sp>
        <p:nvSpPr>
          <p:cNvPr id="36" name="text-277">
            <a:extLst>
              <a:ext uri="{FF2B5EF4-FFF2-40B4-BE49-F238E27FC236}">
                <a16:creationId xmlns:a16="http://schemas.microsoft.com/office/drawing/2014/main" id="{63948FC2-D3AF-4160-A646-4F59E8728FE2}"/>
              </a:ext>
            </a:extLst>
          </p:cNvPr>
          <p:cNvSpPr>
            <a:spLocks noGrp="1"/>
          </p:cNvSpPr>
          <p:nvPr/>
        </p:nvSpPr>
        <p:spPr>
          <a:xfrm>
            <a:off x="2562225" y="2257425"/>
            <a:ext cx="1325940" cy="295275"/>
          </a:xfrm>
          <a:prstGeom prst="rect">
            <a:avLst/>
          </a:prstGeom>
          <a:noFill/>
          <a:ln w="0">
            <a:noFill/>
          </a:ln>
        </p:spPr>
        <p:txBody>
          <a:bodyPr wrap="square" lIns="0" tIns="0" rIns="0" bIns="0" anchor="ctr">
            <a:noAutofit/>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基线</a:t>
            </a:r>
          </a:p>
        </p:txBody>
      </p:sp>
      <p:sp>
        <p:nvSpPr>
          <p:cNvPr id="37" name="box-278">
            <a:extLst>
              <a:ext uri="{FF2B5EF4-FFF2-40B4-BE49-F238E27FC236}">
                <a16:creationId xmlns:a16="http://schemas.microsoft.com/office/drawing/2014/main" id="{1A272E63-B098-4042-B268-EE65BF37638A}"/>
              </a:ext>
            </a:extLst>
          </p:cNvPr>
          <p:cNvSpPr>
            <a:spLocks noGrp="1"/>
          </p:cNvSpPr>
          <p:nvPr/>
        </p:nvSpPr>
        <p:spPr>
          <a:xfrm>
            <a:off x="3945315" y="2667000"/>
            <a:ext cx="3960283" cy="295275"/>
          </a:xfrm>
          <a:prstGeom prst="rect">
            <a:avLst/>
          </a:prstGeom>
          <a:solidFill>
            <a:srgbClr val="25699A"/>
          </a:solidFill>
          <a:ln w="0">
            <a:noFill/>
          </a:ln>
        </p:spPr>
      </p:sp>
      <p:sp>
        <p:nvSpPr>
          <p:cNvPr id="38" name="text-279">
            <a:extLst>
              <a:ext uri="{FF2B5EF4-FFF2-40B4-BE49-F238E27FC236}">
                <a16:creationId xmlns:a16="http://schemas.microsoft.com/office/drawing/2014/main" id="{DDF6E9BF-7E43-43AF-8254-4A586177F067}"/>
              </a:ext>
            </a:extLst>
          </p:cNvPr>
          <p:cNvSpPr>
            <a:spLocks noGrp="1"/>
          </p:cNvSpPr>
          <p:nvPr/>
        </p:nvSpPr>
        <p:spPr>
          <a:xfrm>
            <a:off x="3983415" y="2667000"/>
            <a:ext cx="3884083" cy="295275"/>
          </a:xfrm>
          <a:prstGeom prst="rect">
            <a:avLst/>
          </a:prstGeom>
          <a:noFill/>
          <a:ln w="0">
            <a:noFill/>
          </a:ln>
        </p:spPr>
        <p:txBody>
          <a:bodyPr wrap="square" lIns="0" tIns="0" rIns="0" bIns="0" anchor="ctr">
            <a:noAutofit/>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实现与业务补齐</a:t>
            </a:r>
          </a:p>
        </p:txBody>
      </p:sp>
      <p:sp>
        <p:nvSpPr>
          <p:cNvPr id="39" name="box-280">
            <a:extLst>
              <a:ext uri="{FF2B5EF4-FFF2-40B4-BE49-F238E27FC236}">
                <a16:creationId xmlns:a16="http://schemas.microsoft.com/office/drawing/2014/main" id="{B4464F48-B412-4B1C-B37C-668E71836D84}"/>
              </a:ext>
            </a:extLst>
          </p:cNvPr>
          <p:cNvSpPr>
            <a:spLocks noGrp="1"/>
          </p:cNvSpPr>
          <p:nvPr/>
        </p:nvSpPr>
        <p:spPr>
          <a:xfrm>
            <a:off x="2524125" y="3076575"/>
            <a:ext cx="1402140" cy="295275"/>
          </a:xfrm>
          <a:prstGeom prst="rect">
            <a:avLst/>
          </a:prstGeom>
          <a:solidFill>
            <a:srgbClr val="087F80"/>
          </a:solidFill>
          <a:ln w="0">
            <a:noFill/>
          </a:ln>
        </p:spPr>
      </p:sp>
      <p:sp>
        <p:nvSpPr>
          <p:cNvPr id="40" name="text-281">
            <a:extLst>
              <a:ext uri="{FF2B5EF4-FFF2-40B4-BE49-F238E27FC236}">
                <a16:creationId xmlns:a16="http://schemas.microsoft.com/office/drawing/2014/main" id="{5A607BCD-8919-4623-9BEE-6EE17CEF0A99}"/>
              </a:ext>
            </a:extLst>
          </p:cNvPr>
          <p:cNvSpPr>
            <a:spLocks noGrp="1"/>
          </p:cNvSpPr>
          <p:nvPr/>
        </p:nvSpPr>
        <p:spPr>
          <a:xfrm>
            <a:off x="2562225" y="3076575"/>
            <a:ext cx="1325940" cy="295275"/>
          </a:xfrm>
          <a:prstGeom prst="rect">
            <a:avLst/>
          </a:prstGeom>
          <a:noFill/>
          <a:ln w="0">
            <a:noFill/>
          </a:ln>
        </p:spPr>
        <p:txBody>
          <a:bodyPr wrap="square" lIns="0" tIns="0" rIns="0" bIns="0" anchor="ctr">
            <a:noAutofit/>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用例评审</a:t>
            </a:r>
          </a:p>
        </p:txBody>
      </p:sp>
      <p:sp>
        <p:nvSpPr>
          <p:cNvPr id="41" name="box-282">
            <a:extLst>
              <a:ext uri="{FF2B5EF4-FFF2-40B4-BE49-F238E27FC236}">
                <a16:creationId xmlns:a16="http://schemas.microsoft.com/office/drawing/2014/main" id="{2633FAA9-FFEA-49A7-BD86-E9B29F5EF96C}"/>
              </a:ext>
            </a:extLst>
          </p:cNvPr>
          <p:cNvSpPr>
            <a:spLocks noGrp="1"/>
          </p:cNvSpPr>
          <p:nvPr/>
        </p:nvSpPr>
        <p:spPr>
          <a:xfrm>
            <a:off x="3945315" y="3076575"/>
            <a:ext cx="6944783" cy="295275"/>
          </a:xfrm>
          <a:prstGeom prst="rect">
            <a:avLst/>
          </a:prstGeom>
          <a:solidFill>
            <a:srgbClr val="DCEBF4"/>
          </a:solidFill>
          <a:ln w="0">
            <a:noFill/>
          </a:ln>
        </p:spPr>
      </p:sp>
      <p:sp>
        <p:nvSpPr>
          <p:cNvPr id="42" name="text-283">
            <a:extLst>
              <a:ext uri="{FF2B5EF4-FFF2-40B4-BE49-F238E27FC236}">
                <a16:creationId xmlns:a16="http://schemas.microsoft.com/office/drawing/2014/main" id="{96A64B05-A7DA-463B-A6FF-65D6A10E12A5}"/>
              </a:ext>
            </a:extLst>
          </p:cNvPr>
          <p:cNvSpPr>
            <a:spLocks noGrp="1"/>
          </p:cNvSpPr>
          <p:nvPr/>
        </p:nvSpPr>
        <p:spPr>
          <a:xfrm>
            <a:off x="3983415" y="3076575"/>
            <a:ext cx="6868583" cy="295275"/>
          </a:xfrm>
          <a:prstGeom prst="rect">
            <a:avLst/>
          </a:prstGeom>
          <a:noFill/>
          <a:ln w="0">
            <a:noFill/>
          </a:ln>
        </p:spPr>
        <p:txBody>
          <a:bodyPr wrap="square" lIns="0" tIns="0" rIns="0" bIns="0" anchor="ctr">
            <a:noAutofit/>
          </a:bodyPr>
          <a:lstStyle/>
          <a:p>
            <a:pPr algn="ctr">
              <a:defRPr sz="1500" b="1">
                <a:solidFill>
                  <a:srgbClr val="163044"/>
                </a:solidFill>
                <a:latin typeface="Microsoft YaHei"/>
                <a:ea typeface="Microsoft YaHei"/>
                <a:cs typeface="Microsoft YaHei"/>
              </a:defRPr>
            </a:pPr>
            <a:r>
              <a:rPr sz="1500" b="1">
                <a:solidFill>
                  <a:srgbClr val="163044"/>
                </a:solidFill>
                <a:latin typeface="Microsoft YaHei"/>
                <a:ea typeface="Microsoft YaHei"/>
                <a:cs typeface="Microsoft YaHei"/>
              </a:rPr>
              <a:t>持续回归贯穿实现、修复和业务验收</a:t>
            </a:r>
          </a:p>
        </p:txBody>
      </p:sp>
      <p:sp>
        <p:nvSpPr>
          <p:cNvPr id="43" name="box-284">
            <a:extLst>
              <a:ext uri="{FF2B5EF4-FFF2-40B4-BE49-F238E27FC236}">
                <a16:creationId xmlns:a16="http://schemas.microsoft.com/office/drawing/2014/main" id="{D11E40F3-2320-48ED-BFBC-E14A1679C4FA}"/>
              </a:ext>
            </a:extLst>
          </p:cNvPr>
          <p:cNvSpPr>
            <a:spLocks noGrp="1"/>
          </p:cNvSpPr>
          <p:nvPr/>
        </p:nvSpPr>
        <p:spPr>
          <a:xfrm>
            <a:off x="2524125" y="3486150"/>
            <a:ext cx="1402140" cy="295275"/>
          </a:xfrm>
          <a:prstGeom prst="rect">
            <a:avLst/>
          </a:prstGeom>
          <a:solidFill>
            <a:srgbClr val="087F80"/>
          </a:solidFill>
          <a:ln w="0">
            <a:noFill/>
          </a:ln>
        </p:spPr>
      </p:sp>
      <p:sp>
        <p:nvSpPr>
          <p:cNvPr id="44" name="text-285">
            <a:extLst>
              <a:ext uri="{FF2B5EF4-FFF2-40B4-BE49-F238E27FC236}">
                <a16:creationId xmlns:a16="http://schemas.microsoft.com/office/drawing/2014/main" id="{54F7F428-1E03-437C-872B-BEB74C334B7F}"/>
              </a:ext>
            </a:extLst>
          </p:cNvPr>
          <p:cNvSpPr>
            <a:spLocks noGrp="1"/>
          </p:cNvSpPr>
          <p:nvPr/>
        </p:nvSpPr>
        <p:spPr>
          <a:xfrm>
            <a:off x="2562225" y="3486150"/>
            <a:ext cx="1325940" cy="295275"/>
          </a:xfrm>
          <a:prstGeom prst="rect">
            <a:avLst/>
          </a:prstGeom>
          <a:noFill/>
          <a:ln w="0">
            <a:noFill/>
          </a:ln>
        </p:spPr>
        <p:txBody>
          <a:bodyPr wrap="square" lIns="0" tIns="0" rIns="0" bIns="0" anchor="ctr">
            <a:noAutofit/>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模拟</a:t>
            </a:r>
          </a:p>
        </p:txBody>
      </p:sp>
      <p:sp>
        <p:nvSpPr>
          <p:cNvPr id="45" name="box-286">
            <a:extLst>
              <a:ext uri="{FF2B5EF4-FFF2-40B4-BE49-F238E27FC236}">
                <a16:creationId xmlns:a16="http://schemas.microsoft.com/office/drawing/2014/main" id="{C64C2FD8-7B5E-4F76-9D67-DB7F96709232}"/>
              </a:ext>
            </a:extLst>
          </p:cNvPr>
          <p:cNvSpPr>
            <a:spLocks noGrp="1"/>
          </p:cNvSpPr>
          <p:nvPr/>
        </p:nvSpPr>
        <p:spPr>
          <a:xfrm>
            <a:off x="3945315" y="3486150"/>
            <a:ext cx="3960283" cy="295275"/>
          </a:xfrm>
          <a:prstGeom prst="rect">
            <a:avLst/>
          </a:prstGeom>
          <a:solidFill>
            <a:srgbClr val="AC681E"/>
          </a:solidFill>
          <a:ln w="0">
            <a:noFill/>
          </a:ln>
        </p:spPr>
      </p:sp>
      <p:sp>
        <p:nvSpPr>
          <p:cNvPr id="46" name="text-287">
            <a:extLst>
              <a:ext uri="{FF2B5EF4-FFF2-40B4-BE49-F238E27FC236}">
                <a16:creationId xmlns:a16="http://schemas.microsoft.com/office/drawing/2014/main" id="{C9C116AE-3876-417C-989B-58CA46812B65}"/>
              </a:ext>
            </a:extLst>
          </p:cNvPr>
          <p:cNvSpPr>
            <a:spLocks noGrp="1"/>
          </p:cNvSpPr>
          <p:nvPr/>
        </p:nvSpPr>
        <p:spPr>
          <a:xfrm>
            <a:off x="3983415" y="3486150"/>
            <a:ext cx="3884083" cy="295275"/>
          </a:xfrm>
          <a:prstGeom prst="rect">
            <a:avLst/>
          </a:prstGeom>
          <a:noFill/>
          <a:ln w="0">
            <a:noFill/>
          </a:ln>
        </p:spPr>
        <p:txBody>
          <a:bodyPr wrap="square" lIns="0" tIns="0" rIns="0" bIns="0" anchor="ctr">
            <a:noAutofit/>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首条真实链路与完整联合回归</a:t>
            </a:r>
          </a:p>
        </p:txBody>
      </p:sp>
      <p:sp>
        <p:nvSpPr>
          <p:cNvPr id="47" name="box-288">
            <a:extLst>
              <a:ext uri="{FF2B5EF4-FFF2-40B4-BE49-F238E27FC236}">
                <a16:creationId xmlns:a16="http://schemas.microsoft.com/office/drawing/2014/main" id="{5B7E3354-B5F7-467C-A5E1-F02D73A28A98}"/>
              </a:ext>
            </a:extLst>
          </p:cNvPr>
          <p:cNvSpPr>
            <a:spLocks noGrp="1"/>
          </p:cNvSpPr>
          <p:nvPr/>
        </p:nvSpPr>
        <p:spPr>
          <a:xfrm>
            <a:off x="4229554" y="3895725"/>
            <a:ext cx="3676045" cy="295275"/>
          </a:xfrm>
          <a:prstGeom prst="rect">
            <a:avLst/>
          </a:prstGeom>
          <a:solidFill>
            <a:srgbClr val="25699A"/>
          </a:solidFill>
          <a:ln w="0">
            <a:noFill/>
          </a:ln>
        </p:spPr>
      </p:sp>
      <p:sp>
        <p:nvSpPr>
          <p:cNvPr id="48" name="text-289">
            <a:extLst>
              <a:ext uri="{FF2B5EF4-FFF2-40B4-BE49-F238E27FC236}">
                <a16:creationId xmlns:a16="http://schemas.microsoft.com/office/drawing/2014/main" id="{B3C3E654-0F17-49AC-89C6-4B4EF85BF238}"/>
              </a:ext>
            </a:extLst>
          </p:cNvPr>
          <p:cNvSpPr>
            <a:spLocks noGrp="1"/>
          </p:cNvSpPr>
          <p:nvPr/>
        </p:nvSpPr>
        <p:spPr>
          <a:xfrm>
            <a:off x="4267654" y="3895725"/>
            <a:ext cx="3599845" cy="295275"/>
          </a:xfrm>
          <a:prstGeom prst="rect">
            <a:avLst/>
          </a:prstGeom>
          <a:noFill/>
          <a:ln w="0">
            <a:noFill/>
          </a:ln>
        </p:spPr>
        <p:txBody>
          <a:bodyPr wrap="square" lIns="0" tIns="0" rIns="0" bIns="0" anchor="ctr">
            <a:noAutofit/>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质量、性能基线与部署恢复准备</a:t>
            </a:r>
          </a:p>
        </p:txBody>
      </p:sp>
      <p:sp>
        <p:nvSpPr>
          <p:cNvPr id="49" name="box-290">
            <a:extLst>
              <a:ext uri="{FF2B5EF4-FFF2-40B4-BE49-F238E27FC236}">
                <a16:creationId xmlns:a16="http://schemas.microsoft.com/office/drawing/2014/main" id="{26F24C17-0279-446B-B9F8-A85E0295354E}"/>
              </a:ext>
            </a:extLst>
          </p:cNvPr>
          <p:cNvSpPr>
            <a:spLocks noGrp="1"/>
          </p:cNvSpPr>
          <p:nvPr/>
        </p:nvSpPr>
        <p:spPr>
          <a:xfrm>
            <a:off x="7924649" y="4305300"/>
            <a:ext cx="975783" cy="295275"/>
          </a:xfrm>
          <a:prstGeom prst="rect">
            <a:avLst/>
          </a:prstGeom>
          <a:solidFill>
            <a:srgbClr val="25699A"/>
          </a:solidFill>
          <a:ln w="0">
            <a:noFill/>
          </a:ln>
        </p:spPr>
      </p:sp>
      <p:sp>
        <p:nvSpPr>
          <p:cNvPr id="50" name="text-291">
            <a:extLst>
              <a:ext uri="{FF2B5EF4-FFF2-40B4-BE49-F238E27FC236}">
                <a16:creationId xmlns:a16="http://schemas.microsoft.com/office/drawing/2014/main" id="{5D5780E2-2597-457A-9357-B96BC45E8278}"/>
              </a:ext>
            </a:extLst>
          </p:cNvPr>
          <p:cNvSpPr>
            <a:spLocks noGrp="1"/>
          </p:cNvSpPr>
          <p:nvPr/>
        </p:nvSpPr>
        <p:spPr>
          <a:xfrm>
            <a:off x="7962749" y="4305300"/>
            <a:ext cx="899583" cy="295275"/>
          </a:xfrm>
          <a:prstGeom prst="rect">
            <a:avLst/>
          </a:prstGeom>
          <a:noFill/>
          <a:ln w="0">
            <a:noFill/>
          </a:ln>
        </p:spPr>
        <p:txBody>
          <a:bodyPr wrap="square" lIns="0" tIns="0" rIns="0" bIns="0" anchor="ctr">
            <a:noAutofit/>
          </a:bodyPr>
          <a:lstStyle/>
          <a:p>
            <a:pPr algn="ctr">
              <a:defRPr sz="1313" b="1">
                <a:solidFill>
                  <a:srgbClr val="FFFFFF"/>
                </a:solidFill>
                <a:latin typeface="Microsoft YaHei"/>
                <a:ea typeface="Microsoft YaHei"/>
                <a:cs typeface="Microsoft YaHei"/>
              </a:defRPr>
            </a:pPr>
            <a:r>
              <a:rPr sz="1313" b="1">
                <a:solidFill>
                  <a:srgbClr val="FFFFFF"/>
                </a:solidFill>
                <a:latin typeface="Microsoft YaHei"/>
                <a:ea typeface="Microsoft YaHei"/>
                <a:cs typeface="Microsoft YaHei"/>
              </a:rPr>
              <a:t>首验 24h</a:t>
            </a:r>
          </a:p>
        </p:txBody>
      </p:sp>
      <p:sp>
        <p:nvSpPr>
          <p:cNvPr id="51" name="box-292">
            <a:extLst>
              <a:ext uri="{FF2B5EF4-FFF2-40B4-BE49-F238E27FC236}">
                <a16:creationId xmlns:a16="http://schemas.microsoft.com/office/drawing/2014/main" id="{4F77C4F9-927C-4096-BC02-F301C2C4A9CE}"/>
              </a:ext>
            </a:extLst>
          </p:cNvPr>
          <p:cNvSpPr>
            <a:spLocks noGrp="1"/>
          </p:cNvSpPr>
          <p:nvPr/>
        </p:nvSpPr>
        <p:spPr>
          <a:xfrm>
            <a:off x="8919482" y="4305300"/>
            <a:ext cx="975783" cy="295275"/>
          </a:xfrm>
          <a:prstGeom prst="rect">
            <a:avLst/>
          </a:prstGeom>
          <a:solidFill>
            <a:srgbClr val="087F80"/>
          </a:solidFill>
          <a:ln w="0">
            <a:noFill/>
          </a:ln>
        </p:spPr>
      </p:sp>
      <p:sp>
        <p:nvSpPr>
          <p:cNvPr id="52" name="text-293">
            <a:extLst>
              <a:ext uri="{FF2B5EF4-FFF2-40B4-BE49-F238E27FC236}">
                <a16:creationId xmlns:a16="http://schemas.microsoft.com/office/drawing/2014/main" id="{87C55024-1AA0-44B6-8D7B-BBA3646CE42B}"/>
              </a:ext>
            </a:extLst>
          </p:cNvPr>
          <p:cNvSpPr>
            <a:spLocks noGrp="1"/>
          </p:cNvSpPr>
          <p:nvPr/>
        </p:nvSpPr>
        <p:spPr>
          <a:xfrm>
            <a:off x="8957582" y="4305300"/>
            <a:ext cx="899583" cy="295275"/>
          </a:xfrm>
          <a:prstGeom prst="rect">
            <a:avLst/>
          </a:prstGeom>
          <a:noFill/>
          <a:ln w="0">
            <a:noFill/>
          </a:ln>
        </p:spPr>
        <p:txBody>
          <a:bodyPr wrap="square" lIns="0" tIns="0" rIns="0" bIns="0" anchor="ctr">
            <a:noAutofit/>
          </a:bodyPr>
          <a:lstStyle/>
          <a:p>
            <a:pPr algn="ctr">
              <a:defRPr sz="1313" b="1">
                <a:solidFill>
                  <a:srgbClr val="FFFFFF"/>
                </a:solidFill>
                <a:latin typeface="Microsoft YaHei"/>
                <a:ea typeface="Microsoft YaHei"/>
                <a:cs typeface="Microsoft YaHei"/>
              </a:defRPr>
            </a:pPr>
            <a:r>
              <a:rPr sz="1313" b="1">
                <a:solidFill>
                  <a:srgbClr val="FFFFFF"/>
                </a:solidFill>
                <a:latin typeface="Microsoft YaHei"/>
                <a:ea typeface="Microsoft YaHei"/>
                <a:cs typeface="Microsoft YaHei"/>
              </a:rPr>
              <a:t>修复复测</a:t>
            </a:r>
          </a:p>
        </p:txBody>
      </p:sp>
      <p:sp>
        <p:nvSpPr>
          <p:cNvPr id="53" name="box-294">
            <a:extLst>
              <a:ext uri="{FF2B5EF4-FFF2-40B4-BE49-F238E27FC236}">
                <a16:creationId xmlns:a16="http://schemas.microsoft.com/office/drawing/2014/main" id="{6C73BE0B-46B0-4E0E-B734-4EF107A7924A}"/>
              </a:ext>
            </a:extLst>
          </p:cNvPr>
          <p:cNvSpPr>
            <a:spLocks noGrp="1"/>
          </p:cNvSpPr>
          <p:nvPr/>
        </p:nvSpPr>
        <p:spPr>
          <a:xfrm>
            <a:off x="9914315" y="4714875"/>
            <a:ext cx="975783" cy="295275"/>
          </a:xfrm>
          <a:prstGeom prst="rect">
            <a:avLst/>
          </a:prstGeom>
          <a:solidFill>
            <a:srgbClr val="087F80"/>
          </a:solidFill>
          <a:ln w="0">
            <a:noFill/>
          </a:ln>
        </p:spPr>
      </p:sp>
      <p:sp>
        <p:nvSpPr>
          <p:cNvPr id="54" name="text-295">
            <a:extLst>
              <a:ext uri="{FF2B5EF4-FFF2-40B4-BE49-F238E27FC236}">
                <a16:creationId xmlns:a16="http://schemas.microsoft.com/office/drawing/2014/main" id="{88702563-CDEC-421C-8ECE-574EEA765E02}"/>
              </a:ext>
            </a:extLst>
          </p:cNvPr>
          <p:cNvSpPr>
            <a:spLocks noGrp="1"/>
          </p:cNvSpPr>
          <p:nvPr/>
        </p:nvSpPr>
        <p:spPr>
          <a:xfrm>
            <a:off x="9952415" y="4714875"/>
            <a:ext cx="899583" cy="295275"/>
          </a:xfrm>
          <a:prstGeom prst="rect">
            <a:avLst/>
          </a:prstGeom>
          <a:noFill/>
          <a:ln w="0">
            <a:noFill/>
          </a:ln>
        </p:spPr>
        <p:txBody>
          <a:bodyPr wrap="square" lIns="0" tIns="0" rIns="0" bIns="0" anchor="ctr">
            <a:noAutofit/>
          </a:bodyPr>
          <a:lstStyle/>
          <a:p>
            <a:pPr algn="ctr">
              <a:defRPr sz="1313" b="1">
                <a:solidFill>
                  <a:srgbClr val="FFFFFF"/>
                </a:solidFill>
                <a:latin typeface="Microsoft YaHei"/>
                <a:ea typeface="Microsoft YaHei"/>
                <a:cs typeface="Microsoft YaHei"/>
              </a:defRPr>
            </a:pPr>
            <a:r>
              <a:rPr sz="1313" b="1">
                <a:solidFill>
                  <a:srgbClr val="FFFFFF"/>
                </a:solidFill>
                <a:latin typeface="Microsoft YaHei"/>
                <a:ea typeface="Microsoft YaHei"/>
                <a:cs typeface="Microsoft YaHei"/>
              </a:rPr>
              <a:t>验收交接</a:t>
            </a:r>
          </a:p>
        </p:txBody>
      </p:sp>
      <p:sp>
        <p:nvSpPr>
          <p:cNvPr id="55" name="box-296">
            <a:extLst>
              <a:ext uri="{FF2B5EF4-FFF2-40B4-BE49-F238E27FC236}">
                <a16:creationId xmlns:a16="http://schemas.microsoft.com/office/drawing/2014/main" id="{B0DB34AE-C12D-4BE2-9474-A32576980B1E}"/>
              </a:ext>
            </a:extLst>
          </p:cNvPr>
          <p:cNvSpPr>
            <a:spLocks noGrp="1"/>
          </p:cNvSpPr>
          <p:nvPr/>
        </p:nvSpPr>
        <p:spPr>
          <a:xfrm>
            <a:off x="10909149" y="5124450"/>
            <a:ext cx="549426" cy="295275"/>
          </a:xfrm>
          <a:prstGeom prst="rect">
            <a:avLst/>
          </a:prstGeom>
          <a:solidFill>
            <a:srgbClr val="163044"/>
          </a:solidFill>
          <a:ln w="0">
            <a:noFill/>
          </a:ln>
        </p:spPr>
      </p:sp>
      <p:sp>
        <p:nvSpPr>
          <p:cNvPr id="56" name="text-297">
            <a:extLst>
              <a:ext uri="{FF2B5EF4-FFF2-40B4-BE49-F238E27FC236}">
                <a16:creationId xmlns:a16="http://schemas.microsoft.com/office/drawing/2014/main" id="{4F307E24-B578-444B-ADF4-D6ABE75E26B6}"/>
              </a:ext>
            </a:extLst>
          </p:cNvPr>
          <p:cNvSpPr>
            <a:spLocks noGrp="1"/>
          </p:cNvSpPr>
          <p:nvPr/>
        </p:nvSpPr>
        <p:spPr>
          <a:xfrm>
            <a:off x="10947249" y="5124450"/>
            <a:ext cx="473226" cy="295275"/>
          </a:xfrm>
          <a:prstGeom prst="rect">
            <a:avLst/>
          </a:prstGeom>
          <a:noFill/>
          <a:ln w="0">
            <a:noFill/>
          </a:ln>
        </p:spPr>
        <p:txBody>
          <a:bodyPr wrap="square" lIns="0" tIns="0" rIns="0" bIns="0" anchor="ctr">
            <a:noAutofit/>
          </a:bodyPr>
          <a:lstStyle/>
          <a:p>
            <a:pPr algn="ctr">
              <a:defRPr sz="1313" b="1">
                <a:solidFill>
                  <a:srgbClr val="FFFFFF"/>
                </a:solidFill>
                <a:latin typeface="Microsoft YaHei"/>
                <a:ea typeface="Microsoft YaHei"/>
                <a:cs typeface="Microsoft YaHei"/>
              </a:defRPr>
            </a:pPr>
            <a:r>
              <a:rPr sz="1313" b="1">
                <a:solidFill>
                  <a:srgbClr val="FFFFFF"/>
                </a:solidFill>
                <a:latin typeface="Microsoft YaHei"/>
                <a:ea typeface="Microsoft YaHei"/>
                <a:cs typeface="Microsoft YaHei"/>
              </a:rPr>
              <a:t>发布</a:t>
            </a:r>
          </a:p>
        </p:txBody>
      </p:sp>
      <p:sp>
        <p:nvSpPr>
          <p:cNvPr id="57" name="text-298">
            <a:extLst>
              <a:ext uri="{FF2B5EF4-FFF2-40B4-BE49-F238E27FC236}">
                <a16:creationId xmlns:a16="http://schemas.microsoft.com/office/drawing/2014/main" id="{12662E6E-B206-4A7A-8B7F-3F68AF5CB622}"/>
              </a:ext>
            </a:extLst>
          </p:cNvPr>
          <p:cNvSpPr>
            <a:spLocks noGrp="1"/>
          </p:cNvSpPr>
          <p:nvPr/>
        </p:nvSpPr>
        <p:spPr>
          <a:xfrm>
            <a:off x="609600" y="5695950"/>
            <a:ext cx="10972800" cy="333375"/>
          </a:xfrm>
          <a:prstGeom prst="rect">
            <a:avLst/>
          </a:prstGeom>
          <a:noFill/>
          <a:ln w="0">
            <a:noFill/>
          </a:ln>
        </p:spPr>
        <p:txBody>
          <a:bodyPr wrap="square" lIns="0" tIns="0" rIns="0" bIns="0" anchor="ctr">
            <a:noAutofit/>
          </a:bodyPr>
          <a:lstStyle/>
          <a:p>
            <a:pPr algn="l">
              <a:defRPr sz="1800" b="1">
                <a:solidFill>
                  <a:srgbClr val="087F80"/>
                </a:solidFill>
                <a:latin typeface="Microsoft YaHei"/>
                <a:ea typeface="Microsoft YaHei"/>
                <a:cs typeface="Microsoft YaHei"/>
              </a:defRPr>
            </a:pPr>
            <a:r>
              <a:rPr sz="1800" b="1">
                <a:solidFill>
                  <a:srgbClr val="087F80"/>
                </a:solidFill>
                <a:latin typeface="Microsoft YaHei"/>
                <a:ea typeface="Microsoft YaHei"/>
                <a:cs typeface="Microsoft YaHei"/>
              </a:rPr>
              <a:t>系统验收与修复 14 天   业务验收 7 天   发布缓冲 4 天</a:t>
            </a:r>
          </a:p>
        </p:txBody>
      </p:sp>
      <p:sp>
        <p:nvSpPr>
          <p:cNvPr id="58" name="text-299">
            <a:extLst>
              <a:ext uri="{FF2B5EF4-FFF2-40B4-BE49-F238E27FC236}">
                <a16:creationId xmlns:a16="http://schemas.microsoft.com/office/drawing/2014/main" id="{9794F5E3-3341-4FF6-9443-1048EC26E78A}"/>
              </a:ext>
            </a:extLst>
          </p:cNvPr>
          <p:cNvSpPr>
            <a:spLocks noGrp="1"/>
          </p:cNvSpPr>
          <p:nvPr/>
        </p:nvSpPr>
        <p:spPr>
          <a:xfrm>
            <a:off x="609600" y="6067425"/>
            <a:ext cx="10972800" cy="228600"/>
          </a:xfrm>
          <a:prstGeom prst="rect">
            <a:avLst/>
          </a:prstGeom>
          <a:noFill/>
          <a:ln w="0">
            <a:noFill/>
          </a:ln>
        </p:spPr>
        <p:txBody>
          <a:bodyPr wrap="square" lIns="0" tIns="0" rIns="0" bIns="0" anchor="ctr">
            <a:noAutofit/>
          </a:bodyPr>
          <a:lstStyle/>
          <a:p>
            <a:pPr algn="l">
              <a:defRPr sz="1313" b="0">
                <a:solidFill>
                  <a:srgbClr val="5B6D7A"/>
                </a:solidFill>
                <a:latin typeface="Microsoft YaHei"/>
                <a:ea typeface="Microsoft YaHei"/>
                <a:cs typeface="Microsoft YaHei"/>
              </a:defRPr>
            </a:pPr>
            <a:r>
              <a:rPr sz="1313" b="0">
                <a:solidFill>
                  <a:srgbClr val="5B6D7A"/>
                </a:solidFill>
                <a:latin typeface="Microsoft YaHei"/>
                <a:ea typeface="Microsoft YaHei"/>
                <a:cs typeface="Microsoft YaHei"/>
              </a:rPr>
              <a:t>日历窗口按实际出勤核算。P2 延迟时重排真实联调及交付预期，保留验收和修复时间。</a:t>
            </a:r>
          </a:p>
        </p:txBody>
      </p:sp>
      <p:sp>
        <p:nvSpPr>
          <p:cNvPr id="61" name="text-256">
            <a:extLst>
              <a:ext uri="{FF2B5EF4-FFF2-40B4-BE49-F238E27FC236}">
                <a16:creationId xmlns:a16="http://schemas.microsoft.com/office/drawing/2014/main" id="{86425432-BFDF-9866-6389-E875A8B5001A}"/>
              </a:ext>
            </a:extLst>
          </p:cNvPr>
          <p:cNvSpPr>
            <a:spLocks noGrp="1"/>
          </p:cNvSpPr>
          <p:nvPr/>
        </p:nvSpPr>
        <p:spPr>
          <a:xfrm>
            <a:off x="10402206" y="1838325"/>
            <a:ext cx="742950" cy="285750"/>
          </a:xfrm>
          <a:prstGeom prst="rect">
            <a:avLst/>
          </a:prstGeom>
          <a:noFill/>
          <a:ln w="0">
            <a:noFill/>
          </a:ln>
        </p:spPr>
        <p:txBody>
          <a:bodyPr wrap="square" lIns="0" tIns="0" rIns="0" bIns="0" anchor="ctr">
            <a:noAutofit/>
          </a:bodyPr>
          <a:lstStyle/>
          <a:p>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11/2</a:t>
            </a:r>
            <a:r>
              <a:rPr lang="en-US" sz="1500" b="0">
                <a:solidFill>
                  <a:srgbClr val="5B6D7A"/>
                </a:solidFill>
                <a:latin typeface="Microsoft YaHei"/>
                <a:ea typeface="Microsoft YaHei"/>
                <a:cs typeface="Microsoft YaHei"/>
              </a:rPr>
              <a:t>7</a:t>
            </a:r>
            <a:endParaRPr sz="1500" b="0">
              <a:solidFill>
                <a:srgbClr val="5B6D7A"/>
              </a:solidFill>
              <a:latin typeface="Microsoft YaHei"/>
              <a:ea typeface="Microsoft YaHei"/>
              <a:cs typeface="Microsoft YaHei"/>
            </a:endParaRPr>
          </a:p>
        </p:txBody>
      </p:sp>
      <p:sp>
        <p:nvSpPr>
          <p:cNvPr id="63" name="line-257">
            <a:extLst>
              <a:ext uri="{FF2B5EF4-FFF2-40B4-BE49-F238E27FC236}">
                <a16:creationId xmlns:a16="http://schemas.microsoft.com/office/drawing/2014/main" id="{D7E7E2CC-F8E4-FE92-7AAA-97B4A20DD7AE}"/>
              </a:ext>
            </a:extLst>
          </p:cNvPr>
          <p:cNvSpPr>
            <a:spLocks noGrp="1"/>
          </p:cNvSpPr>
          <p:nvPr/>
        </p:nvSpPr>
        <p:spPr>
          <a:xfrm>
            <a:off x="10888353" y="2165904"/>
            <a:ext cx="95" cy="3381375"/>
          </a:xfrm>
          <a:prstGeom prst="line">
            <a:avLst/>
          </a:prstGeom>
          <a:noFill/>
          <a:ln w="9525">
            <a:solidFill>
              <a:srgbClr val="D7E2E8"/>
            </a:solidFill>
          </a:ln>
        </p:spPr>
      </p:sp>
    </p:spTree>
    <p:extLst>
      <p:ext uri="{BB962C8B-B14F-4D97-AF65-F5344CB8AC3E}">
        <p14:creationId xmlns:p14="http://schemas.microsoft.com/office/powerpoint/2010/main" val="4002207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ext-300">
            <a:extLst>
              <a:ext uri="{FF2B5EF4-FFF2-40B4-BE49-F238E27FC236}">
                <a16:creationId xmlns:a16="http://schemas.microsoft.com/office/drawing/2014/main" id="{54F6F391-4FC3-4201-B0A0-923353111513}"/>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04  时间节点</a:t>
            </a:r>
          </a:p>
        </p:txBody>
      </p:sp>
      <p:sp>
        <p:nvSpPr>
          <p:cNvPr id="2" name="text-301">
            <a:extLst>
              <a:ext uri="{FF2B5EF4-FFF2-40B4-BE49-F238E27FC236}">
                <a16:creationId xmlns:a16="http://schemas.microsoft.com/office/drawing/2014/main" id="{471EF0D8-F3E7-4BA4-9EE5-51F5AD98C5C6}"/>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阶段节点：交付物和通过条件一起明确</a:t>
            </a:r>
          </a:p>
        </p:txBody>
      </p:sp>
      <p:sp>
        <p:nvSpPr>
          <p:cNvPr id="3" name="text-302">
            <a:extLst>
              <a:ext uri="{FF2B5EF4-FFF2-40B4-BE49-F238E27FC236}">
                <a16:creationId xmlns:a16="http://schemas.microsoft.com/office/drawing/2014/main" id="{18D87C5E-F6C6-4273-AAB2-5847EC0EEECA}"/>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每个节点都提交可检查的成果，支撑下一阶段继续推进</a:t>
            </a:r>
          </a:p>
        </p:txBody>
      </p:sp>
      <p:sp>
        <p:nvSpPr>
          <p:cNvPr id="4" name="line-303">
            <a:extLst>
              <a:ext uri="{FF2B5EF4-FFF2-40B4-BE49-F238E27FC236}">
                <a16:creationId xmlns:a16="http://schemas.microsoft.com/office/drawing/2014/main" id="{0A63EFC3-E479-49DB-B1A6-D46BBB6C5110}"/>
              </a:ext>
            </a:extLst>
          </p:cNvPr>
          <p:cNvSpPr>
            <a:spLocks noGrp="1"/>
          </p:cNvSpPr>
          <p:nvPr/>
        </p:nvSpPr>
        <p:spPr>
          <a:xfrm>
            <a:off x="609600" y="6324600"/>
            <a:ext cx="10972800" cy="95"/>
          </a:xfrm>
          <a:prstGeom prst="line">
            <a:avLst/>
          </a:prstGeom>
          <a:noFill/>
          <a:ln w="9525">
            <a:solidFill>
              <a:srgbClr val="D7E2E8"/>
            </a:solidFill>
          </a:ln>
        </p:spPr>
      </p:sp>
      <p:sp>
        <p:nvSpPr>
          <p:cNvPr id="5" name="text-304">
            <a:extLst>
              <a:ext uri="{FF2B5EF4-FFF2-40B4-BE49-F238E27FC236}">
                <a16:creationId xmlns:a16="http://schemas.microsoft.com/office/drawing/2014/main" id="{8428805A-1454-48C2-AC75-B427D74C7ACE}"/>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V4.3</a:t>
            </a:r>
          </a:p>
        </p:txBody>
      </p:sp>
      <p:sp>
        <p:nvSpPr>
          <p:cNvPr id="6" name="text-305">
            <a:extLst>
              <a:ext uri="{FF2B5EF4-FFF2-40B4-BE49-F238E27FC236}">
                <a16:creationId xmlns:a16="http://schemas.microsoft.com/office/drawing/2014/main" id="{58F3F12F-1C52-43C9-86E6-9131B1B9DD24}"/>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22 / 24</a:t>
            </a:r>
          </a:p>
        </p:txBody>
      </p:sp>
      <p:graphicFrame>
        <p:nvGraphicFramePr>
          <p:cNvPr id="14" name="表格 13"/>
          <p:cNvGraphicFramePr/>
          <p:nvPr/>
        </p:nvGraphicFramePr>
        <p:xfrm>
          <a:off x="609600" y="1952625"/>
          <a:ext cx="10972800" cy="3914775"/>
        </p:xfrm>
        <a:graphic>
          <a:graphicData uri="http://schemas.openxmlformats.org/drawingml/2006/table">
            <a:tbl>
              <a:tblPr/>
              <a:tblGrid>
                <a:gridCol w="2076450">
                  <a:extLst>
                    <a:ext uri="{9D8B030D-6E8A-4147-A177-3AD203B41FA5}">
                      <a16:colId xmlns:a16="http://schemas.microsoft.com/office/drawing/2014/main" val="20000"/>
                    </a:ext>
                  </a:extLst>
                </a:gridCol>
                <a:gridCol w="4610100">
                  <a:extLst>
                    <a:ext uri="{9D8B030D-6E8A-4147-A177-3AD203B41FA5}">
                      <a16:colId xmlns:a16="http://schemas.microsoft.com/office/drawing/2014/main" val="20001"/>
                    </a:ext>
                  </a:extLst>
                </a:gridCol>
                <a:gridCol w="4286250">
                  <a:extLst>
                    <a:ext uri="{9D8B030D-6E8A-4147-A177-3AD203B41FA5}">
                      <a16:colId xmlns:a16="http://schemas.microsoft.com/office/drawing/2014/main" val="20002"/>
                    </a:ext>
                  </a:extLst>
                </a:gridCol>
              </a:tblGrid>
              <a:tr h="438150">
                <a:tc>
                  <a:txBody>
                    <a:bodyPr/>
                    <a:lstStyle/>
                    <a:p>
                      <a:r>
                        <a:rPr sz="1800" b="1">
                          <a:solidFill>
                            <a:srgbClr val="FFFFFF"/>
                          </a:solidFill>
                          <a:latin typeface="Microsoft YaHei"/>
                          <a:ea typeface="Microsoft YaHei"/>
                          <a:cs typeface="Microsoft YaHei"/>
                        </a:rPr>
                        <a:t>节点</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要交付的结果</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进入下一阶段的条件</a:t>
                      </a:r>
                    </a:p>
                  </a:txBody>
                  <a:tcPr marL="114300" marR="114300" marT="47625" marB="47625" anchor="ctr">
                    <a:solidFill>
                      <a:srgbClr val="163044"/>
                    </a:solidFill>
                  </a:tcPr>
                </a:tc>
                <a:extLst>
                  <a:ext uri="{0D108BD9-81ED-4DB2-BD59-A6C34878D82A}">
                    <a16:rowId xmlns:a16="http://schemas.microsoft.com/office/drawing/2014/main" val="10000"/>
                  </a:ext>
                </a:extLst>
              </a:tr>
              <a:tr h="695325">
                <a:tc>
                  <a:txBody>
                    <a:bodyPr/>
                    <a:lstStyle/>
                    <a:p>
                      <a:r>
                        <a:rPr sz="1763" b="1">
                          <a:solidFill>
                            <a:srgbClr val="163044"/>
                          </a:solidFill>
                          <a:latin typeface="Microsoft YaHei"/>
                          <a:ea typeface="Microsoft YaHei"/>
                          <a:cs typeface="Microsoft YaHei"/>
                        </a:rPr>
                        <a:t>10/09</a:t>
                      </a:r>
                    </a:p>
                    <a:p>
                      <a:r>
                        <a:rPr sz="1763" b="1">
                          <a:solidFill>
                            <a:srgbClr val="163044"/>
                          </a:solidFill>
                          <a:latin typeface="Microsoft YaHei"/>
                          <a:ea typeface="Microsoft YaHei"/>
                          <a:cs typeface="Microsoft YaHei"/>
                        </a:rPr>
                        <a:t>设计与环境基线</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业务范围、流程、接口约定</a:t>
                      </a:r>
                    </a:p>
                    <a:p>
                      <a:r>
                        <a:rPr sz="1763" b="0">
                          <a:solidFill>
                            <a:srgbClr val="163044"/>
                          </a:solidFill>
                          <a:latin typeface="Microsoft YaHei"/>
                          <a:ea typeface="Microsoft YaHei"/>
                          <a:cs typeface="Microsoft YaHei"/>
                        </a:rPr>
                        <a:t>评审用例、样例数据和责任清单</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关键约定可执行</a:t>
                      </a:r>
                    </a:p>
                    <a:p>
                      <a:r>
                        <a:rPr sz="1763" b="0">
                          <a:solidFill>
                            <a:srgbClr val="163044"/>
                          </a:solidFill>
                          <a:latin typeface="Microsoft YaHei"/>
                          <a:ea typeface="Microsoft YaHei"/>
                          <a:cs typeface="Microsoft YaHei"/>
                        </a:rPr>
                        <a:t>真实依赖接入条件明确</a:t>
                      </a:r>
                    </a:p>
                  </a:txBody>
                  <a:tcPr marL="114300" marR="114300" marT="47625" marB="47625" anchor="ctr">
                    <a:solidFill>
                      <a:srgbClr val="FFFFFF"/>
                    </a:solidFill>
                  </a:tcPr>
                </a:tc>
                <a:extLst>
                  <a:ext uri="{0D108BD9-81ED-4DB2-BD59-A6C34878D82A}">
                    <a16:rowId xmlns:a16="http://schemas.microsoft.com/office/drawing/2014/main" val="10001"/>
                  </a:ext>
                </a:extLst>
              </a:tr>
              <a:tr h="695325">
                <a:tc>
                  <a:txBody>
                    <a:bodyPr/>
                    <a:lstStyle/>
                    <a:p>
                      <a:r>
                        <a:rPr sz="1763" b="1">
                          <a:solidFill>
                            <a:srgbClr val="163044"/>
                          </a:solidFill>
                          <a:latin typeface="Microsoft YaHei"/>
                          <a:ea typeface="Microsoft YaHei"/>
                          <a:cs typeface="Microsoft YaHei"/>
                        </a:rPr>
                        <a:t>10/23</a:t>
                      </a:r>
                    </a:p>
                    <a:p>
                      <a:r>
                        <a:rPr sz="1763" b="1">
                          <a:solidFill>
                            <a:srgbClr val="163044"/>
                          </a:solidFill>
                          <a:latin typeface="Microsoft YaHei"/>
                          <a:ea typeface="Microsoft YaHei"/>
                          <a:cs typeface="Microsoft YaHei"/>
                        </a:rPr>
                        <a:t>首轮真实链路</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保存、后台准备与召回的真实结果</a:t>
                      </a:r>
                    </a:p>
                    <a:p>
                      <a:r>
                        <a:rPr sz="1763" b="0">
                          <a:solidFill>
                            <a:srgbClr val="163044"/>
                          </a:solidFill>
                          <a:latin typeface="Microsoft YaHei"/>
                          <a:ea typeface="Microsoft YaHei"/>
                          <a:cs typeface="Microsoft YaHei"/>
                        </a:rPr>
                        <a:t>首轮问题清单及质量观察</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业务结果可复现</a:t>
                      </a:r>
                    </a:p>
                    <a:p>
                      <a:r>
                        <a:rPr sz="1763" b="0">
                          <a:solidFill>
                            <a:srgbClr val="163044"/>
                          </a:solidFill>
                          <a:latin typeface="Microsoft YaHei"/>
                          <a:ea typeface="Microsoft YaHei"/>
                          <a:cs typeface="Microsoft YaHei"/>
                        </a:rPr>
                        <a:t>问题有负责人和处理节点</a:t>
                      </a:r>
                    </a:p>
                  </a:txBody>
                  <a:tcPr marL="114300" marR="114300" marT="47625" marB="47625" anchor="ctr">
                    <a:solidFill>
                      <a:srgbClr val="F5F8FA"/>
                    </a:solidFill>
                  </a:tcPr>
                </a:tc>
                <a:extLst>
                  <a:ext uri="{0D108BD9-81ED-4DB2-BD59-A6C34878D82A}">
                    <a16:rowId xmlns:a16="http://schemas.microsoft.com/office/drawing/2014/main" val="10002"/>
                  </a:ext>
                </a:extLst>
              </a:tr>
              <a:tr h="695325">
                <a:tc>
                  <a:txBody>
                    <a:bodyPr/>
                    <a:lstStyle/>
                    <a:p>
                      <a:r>
                        <a:rPr sz="1763" b="1">
                          <a:solidFill>
                            <a:srgbClr val="163044"/>
                          </a:solidFill>
                          <a:latin typeface="Microsoft YaHei"/>
                          <a:ea typeface="Microsoft YaHei"/>
                          <a:cs typeface="Microsoft YaHei"/>
                        </a:rPr>
                        <a:t>11/06</a:t>
                      </a:r>
                    </a:p>
                    <a:p>
                      <a:r>
                        <a:rPr sz="1763" b="1">
                          <a:solidFill>
                            <a:srgbClr val="163044"/>
                          </a:solidFill>
                          <a:latin typeface="Microsoft YaHei"/>
                          <a:ea typeface="Microsoft YaHei"/>
                          <a:cs typeface="Microsoft YaHei"/>
                        </a:rPr>
                        <a:t>联合候选版本</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核心业务联合回归</a:t>
                      </a:r>
                    </a:p>
                    <a:p>
                      <a:r>
                        <a:rPr sz="1763" b="0">
                          <a:solidFill>
                            <a:srgbClr val="163044"/>
                          </a:solidFill>
                          <a:latin typeface="Microsoft YaHei"/>
                          <a:ea typeface="Microsoft YaHei"/>
                          <a:cs typeface="Microsoft YaHei"/>
                        </a:rPr>
                        <a:t>质量性能基线、部署恢复首演</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关键业务和依赖通过</a:t>
                      </a:r>
                    </a:p>
                    <a:p>
                      <a:r>
                        <a:rPr sz="1763" b="0">
                          <a:solidFill>
                            <a:srgbClr val="163044"/>
                          </a:solidFill>
                          <a:latin typeface="Microsoft YaHei"/>
                          <a:ea typeface="Microsoft YaHei"/>
                          <a:cs typeface="Microsoft YaHei"/>
                        </a:rPr>
                        <a:t>具备系统验收条件</a:t>
                      </a:r>
                    </a:p>
                  </a:txBody>
                  <a:tcPr marL="114300" marR="114300" marT="47625" marB="47625" anchor="ctr">
                    <a:solidFill>
                      <a:srgbClr val="FFFFFF"/>
                    </a:solidFill>
                  </a:tcPr>
                </a:tc>
                <a:extLst>
                  <a:ext uri="{0D108BD9-81ED-4DB2-BD59-A6C34878D82A}">
                    <a16:rowId xmlns:a16="http://schemas.microsoft.com/office/drawing/2014/main" val="10003"/>
                  </a:ext>
                </a:extLst>
              </a:tr>
              <a:tr h="695325">
                <a:tc>
                  <a:txBody>
                    <a:bodyPr/>
                    <a:lstStyle/>
                    <a:p>
                      <a:r>
                        <a:rPr sz="1763" b="1">
                          <a:solidFill>
                            <a:srgbClr val="163044"/>
                          </a:solidFill>
                          <a:latin typeface="Microsoft YaHei"/>
                          <a:ea typeface="Microsoft YaHei"/>
                          <a:cs typeface="Microsoft YaHei"/>
                        </a:rPr>
                        <a:t>11/20</a:t>
                      </a:r>
                    </a:p>
                    <a:p>
                      <a:r>
                        <a:rPr sz="1763" b="1">
                          <a:solidFill>
                            <a:srgbClr val="163044"/>
                          </a:solidFill>
                          <a:latin typeface="Microsoft YaHei"/>
                          <a:ea typeface="Microsoft YaHei"/>
                          <a:cs typeface="Microsoft YaHei"/>
                        </a:rPr>
                        <a:t>系统验收完成</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首验、修复与最终候选复测</a:t>
                      </a:r>
                    </a:p>
                    <a:p>
                      <a:r>
                        <a:rPr sz="1763" b="0">
                          <a:solidFill>
                            <a:srgbClr val="163044"/>
                          </a:solidFill>
                          <a:latin typeface="Microsoft YaHei"/>
                          <a:ea typeface="Microsoft YaHei"/>
                          <a:cs typeface="Microsoft YaHei"/>
                        </a:rPr>
                        <a:t>持续运行和恢复报告</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阻断问题关闭</a:t>
                      </a:r>
                    </a:p>
                    <a:p>
                      <a:r>
                        <a:rPr sz="1763" b="0">
                          <a:solidFill>
                            <a:srgbClr val="163044"/>
                          </a:solidFill>
                          <a:latin typeface="Microsoft YaHei"/>
                          <a:ea typeface="Microsoft YaHei"/>
                          <a:cs typeface="Microsoft YaHei"/>
                        </a:rPr>
                        <a:t>允许进入业务验收</a:t>
                      </a:r>
                    </a:p>
                  </a:txBody>
                  <a:tcPr marL="114300" marR="114300" marT="47625" marB="47625" anchor="ctr">
                    <a:solidFill>
                      <a:srgbClr val="F5F8FA"/>
                    </a:solidFill>
                  </a:tcPr>
                </a:tc>
                <a:extLst>
                  <a:ext uri="{0D108BD9-81ED-4DB2-BD59-A6C34878D82A}">
                    <a16:rowId xmlns:a16="http://schemas.microsoft.com/office/drawing/2014/main" val="10004"/>
                  </a:ext>
                </a:extLst>
              </a:tr>
              <a:tr h="695325">
                <a:tc>
                  <a:txBody>
                    <a:bodyPr/>
                    <a:lstStyle/>
                    <a:p>
                      <a:r>
                        <a:rPr sz="1763" b="1">
                          <a:solidFill>
                            <a:srgbClr val="163044"/>
                          </a:solidFill>
                          <a:latin typeface="Microsoft YaHei"/>
                          <a:ea typeface="Microsoft YaHei"/>
                          <a:cs typeface="Microsoft YaHei"/>
                        </a:rPr>
                        <a:t>11/27 签收</a:t>
                      </a:r>
                    </a:p>
                    <a:p>
                      <a:r>
                        <a:rPr sz="1763" b="1">
                          <a:solidFill>
                            <a:srgbClr val="163044"/>
                          </a:solidFill>
                          <a:latin typeface="Microsoft YaHei"/>
                          <a:ea typeface="Microsoft YaHei"/>
                          <a:cs typeface="Microsoft YaHei"/>
                        </a:rPr>
                        <a:t>12/01 交付</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业务验收记录、运行交接</a:t>
                      </a:r>
                    </a:p>
                    <a:p>
                      <a:r>
                        <a:rPr sz="1763" b="0">
                          <a:solidFill>
                            <a:srgbClr val="163044"/>
                          </a:solidFill>
                          <a:latin typeface="Microsoft YaHei"/>
                          <a:ea typeface="Microsoft YaHei"/>
                          <a:cs typeface="Microsoft YaHei"/>
                        </a:rPr>
                        <a:t>服务、配置、说明和发布包</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业务签收、运行接手</a:t>
                      </a:r>
                    </a:p>
                    <a:p>
                      <a:r>
                        <a:rPr sz="1763" b="0">
                          <a:solidFill>
                            <a:srgbClr val="163044"/>
                          </a:solidFill>
                          <a:latin typeface="Microsoft YaHei"/>
                          <a:ea typeface="Microsoft YaHei"/>
                          <a:cs typeface="Microsoft YaHei"/>
                        </a:rPr>
                        <a:t>前序条件满足后发布</a:t>
                      </a:r>
                    </a:p>
                  </a:txBody>
                  <a:tcPr marL="114300" marR="114300" marT="47625" marB="47625"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363660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ext-306">
            <a:extLst>
              <a:ext uri="{FF2B5EF4-FFF2-40B4-BE49-F238E27FC236}">
                <a16:creationId xmlns:a16="http://schemas.microsoft.com/office/drawing/2014/main" id="{63DEB9FD-3173-478C-A419-427B878F7DB0}"/>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04  时间节点</a:t>
            </a:r>
          </a:p>
        </p:txBody>
      </p:sp>
      <p:sp>
        <p:nvSpPr>
          <p:cNvPr id="2" name="text-307">
            <a:extLst>
              <a:ext uri="{FF2B5EF4-FFF2-40B4-BE49-F238E27FC236}">
                <a16:creationId xmlns:a16="http://schemas.microsoft.com/office/drawing/2014/main" id="{7333408C-65A8-4398-AAA5-BB55E46C78A1}"/>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协作分工：每类交付都有明确责任</a:t>
            </a:r>
          </a:p>
        </p:txBody>
      </p:sp>
      <p:sp>
        <p:nvSpPr>
          <p:cNvPr id="3" name="text-308">
            <a:extLst>
              <a:ext uri="{FF2B5EF4-FFF2-40B4-BE49-F238E27FC236}">
                <a16:creationId xmlns:a16="http://schemas.microsoft.com/office/drawing/2014/main" id="{B6747DAA-9555-4398-AF26-A8E7586C1F64}"/>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方案、实现、测试、外部依赖与运行接手分别负责</a:t>
            </a:r>
          </a:p>
        </p:txBody>
      </p:sp>
      <p:sp>
        <p:nvSpPr>
          <p:cNvPr id="4" name="line-309">
            <a:extLst>
              <a:ext uri="{FF2B5EF4-FFF2-40B4-BE49-F238E27FC236}">
                <a16:creationId xmlns:a16="http://schemas.microsoft.com/office/drawing/2014/main" id="{8DC7F83A-7157-4ADB-8F3E-D91341F663F8}"/>
              </a:ext>
            </a:extLst>
          </p:cNvPr>
          <p:cNvSpPr>
            <a:spLocks noGrp="1"/>
          </p:cNvSpPr>
          <p:nvPr/>
        </p:nvSpPr>
        <p:spPr>
          <a:xfrm>
            <a:off x="609600" y="6324600"/>
            <a:ext cx="10972800" cy="95"/>
          </a:xfrm>
          <a:prstGeom prst="line">
            <a:avLst/>
          </a:prstGeom>
          <a:noFill/>
          <a:ln w="9525">
            <a:solidFill>
              <a:srgbClr val="D7E2E8"/>
            </a:solidFill>
          </a:ln>
        </p:spPr>
      </p:sp>
      <p:sp>
        <p:nvSpPr>
          <p:cNvPr id="5" name="text-310">
            <a:extLst>
              <a:ext uri="{FF2B5EF4-FFF2-40B4-BE49-F238E27FC236}">
                <a16:creationId xmlns:a16="http://schemas.microsoft.com/office/drawing/2014/main" id="{8DC7F850-D251-4E34-AF87-DCD040C57EE4}"/>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V4.3</a:t>
            </a:r>
          </a:p>
        </p:txBody>
      </p:sp>
      <p:sp>
        <p:nvSpPr>
          <p:cNvPr id="6" name="text-311">
            <a:extLst>
              <a:ext uri="{FF2B5EF4-FFF2-40B4-BE49-F238E27FC236}">
                <a16:creationId xmlns:a16="http://schemas.microsoft.com/office/drawing/2014/main" id="{D3F7326C-CF18-42BD-9ADE-733318479B0D}"/>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23 / 24</a:t>
            </a:r>
          </a:p>
        </p:txBody>
      </p:sp>
      <p:graphicFrame>
        <p:nvGraphicFramePr>
          <p:cNvPr id="14" name="表格 13"/>
          <p:cNvGraphicFramePr/>
          <p:nvPr>
            <p:extLst>
              <p:ext uri="{D42A27DB-BD31-4B8C-83A1-F6EECF244321}">
                <p14:modId xmlns:p14="http://schemas.microsoft.com/office/powerpoint/2010/main" val="1994357638"/>
              </p:ext>
            </p:extLst>
          </p:nvPr>
        </p:nvGraphicFramePr>
        <p:xfrm>
          <a:off x="609600" y="1952625"/>
          <a:ext cx="10972800" cy="4057650"/>
        </p:xfrm>
        <a:graphic>
          <a:graphicData uri="http://schemas.openxmlformats.org/drawingml/2006/table">
            <a:tbl>
              <a:tblPr/>
              <a:tblGrid>
                <a:gridCol w="26670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3733800">
                  <a:extLst>
                    <a:ext uri="{9D8B030D-6E8A-4147-A177-3AD203B41FA5}">
                      <a16:colId xmlns:a16="http://schemas.microsoft.com/office/drawing/2014/main" val="20002"/>
                    </a:ext>
                  </a:extLst>
                </a:gridCol>
              </a:tblGrid>
              <a:tr h="438150">
                <a:tc>
                  <a:txBody>
                    <a:bodyPr/>
                    <a:lstStyle/>
                    <a:p>
                      <a:r>
                        <a:rPr sz="1800" b="1">
                          <a:solidFill>
                            <a:srgbClr val="FFFFFF"/>
                          </a:solidFill>
                          <a:latin typeface="Microsoft YaHei"/>
                          <a:ea typeface="Microsoft YaHei"/>
                          <a:cs typeface="Microsoft YaHei"/>
                        </a:rPr>
                        <a:t>责任角色</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负责的事情</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应交付的结果</a:t>
                      </a:r>
                    </a:p>
                  </a:txBody>
                  <a:tcPr marL="114300" marR="114300" marT="47625" marB="47625" anchor="ctr">
                    <a:solidFill>
                      <a:srgbClr val="163044"/>
                    </a:solidFill>
                  </a:tcPr>
                </a:tc>
                <a:extLst>
                  <a:ext uri="{0D108BD9-81ED-4DB2-BD59-A6C34878D82A}">
                    <a16:rowId xmlns:a16="http://schemas.microsoft.com/office/drawing/2014/main" val="10000"/>
                  </a:ext>
                </a:extLst>
              </a:tr>
              <a:tr h="723900">
                <a:tc>
                  <a:txBody>
                    <a:bodyPr/>
                    <a:lstStyle/>
                    <a:p>
                      <a:r>
                        <a:rPr sz="1763" b="1">
                          <a:solidFill>
                            <a:srgbClr val="163044"/>
                          </a:solidFill>
                          <a:latin typeface="Microsoft YaHei"/>
                          <a:ea typeface="Microsoft YaHei"/>
                          <a:cs typeface="Microsoft YaHei"/>
                        </a:rPr>
                        <a:t>总体负责人／陈凯</a:t>
                      </a:r>
                      <a:r>
                        <a:rPr lang="zh-CN" altLang="en-US" sz="1763" b="1">
                          <a:solidFill>
                            <a:srgbClr val="163044"/>
                          </a:solidFill>
                          <a:latin typeface="Microsoft YaHei"/>
                          <a:ea typeface="Microsoft YaHei"/>
                          <a:cs typeface="Microsoft YaHei"/>
                        </a:rPr>
                        <a:t>、王佩司</a:t>
                      </a:r>
                      <a:endParaRPr sz="1763" b="1">
                        <a:solidFill>
                          <a:srgbClr val="163044"/>
                        </a:solidFill>
                        <a:latin typeface="Microsoft YaHei"/>
                        <a:ea typeface="Microsoft YaHei"/>
                        <a:cs typeface="Microsoft YaHei"/>
                      </a:endParaRP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统一方案、范围、跨模块规则</a:t>
                      </a:r>
                    </a:p>
                    <a:p>
                      <a:r>
                        <a:rPr sz="1763" b="0">
                          <a:solidFill>
                            <a:srgbClr val="163044"/>
                          </a:solidFill>
                          <a:latin typeface="Microsoft YaHei"/>
                          <a:ea typeface="Microsoft YaHei"/>
                          <a:cs typeface="Microsoft YaHei"/>
                        </a:rPr>
                        <a:t>协调依赖，组织阶段验收</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设计与接口基线</a:t>
                      </a:r>
                    </a:p>
                    <a:p>
                      <a:r>
                        <a:rPr sz="1763" b="0">
                          <a:solidFill>
                            <a:srgbClr val="163044"/>
                          </a:solidFill>
                          <a:latin typeface="Microsoft YaHei"/>
                          <a:ea typeface="Microsoft YaHei"/>
                          <a:cs typeface="Microsoft YaHei"/>
                        </a:rPr>
                        <a:t>任务安排、验收和发布结论</a:t>
                      </a:r>
                    </a:p>
                  </a:txBody>
                  <a:tcPr marL="114300" marR="114300" marT="47625" marB="47625" anchor="ctr">
                    <a:solidFill>
                      <a:srgbClr val="FFFFFF"/>
                    </a:solidFill>
                  </a:tcPr>
                </a:tc>
                <a:extLst>
                  <a:ext uri="{0D108BD9-81ED-4DB2-BD59-A6C34878D82A}">
                    <a16:rowId xmlns:a16="http://schemas.microsoft.com/office/drawing/2014/main" val="10001"/>
                  </a:ext>
                </a:extLst>
              </a:tr>
              <a:tr h="723900">
                <a:tc>
                  <a:txBody>
                    <a:bodyPr/>
                    <a:lstStyle/>
                    <a:p>
                      <a:r>
                        <a:rPr sz="1763" b="1">
                          <a:solidFill>
                            <a:srgbClr val="163044"/>
                          </a:solidFill>
                          <a:latin typeface="Microsoft YaHei"/>
                          <a:ea typeface="Microsoft YaHei"/>
                          <a:cs typeface="Microsoft YaHei"/>
                        </a:rPr>
                        <a:t>流程开发负责人</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实现存储、召回、内部运行</a:t>
                      </a:r>
                    </a:p>
                    <a:p>
                      <a:r>
                        <a:rPr sz="1763" b="0">
                          <a:solidFill>
                            <a:srgbClr val="163044"/>
                          </a:solidFill>
                          <a:latin typeface="Microsoft YaHei"/>
                          <a:ea typeface="Microsoft YaHei"/>
                          <a:cs typeface="Microsoft YaHei"/>
                        </a:rPr>
                        <a:t>完成自身适配与问题修复</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可运行模块</a:t>
                      </a:r>
                    </a:p>
                    <a:p>
                      <a:r>
                        <a:rPr sz="1763" b="0">
                          <a:solidFill>
                            <a:srgbClr val="163044"/>
                          </a:solidFill>
                          <a:latin typeface="Microsoft YaHei"/>
                          <a:ea typeface="Microsoft YaHei"/>
                          <a:cs typeface="Microsoft YaHei"/>
                        </a:rPr>
                        <a:t>自测、配置和修复记录</a:t>
                      </a:r>
                    </a:p>
                  </a:txBody>
                  <a:tcPr marL="114300" marR="114300" marT="47625" marB="47625" anchor="ctr">
                    <a:solidFill>
                      <a:srgbClr val="F5F8FA"/>
                    </a:solidFill>
                  </a:tcPr>
                </a:tc>
                <a:extLst>
                  <a:ext uri="{0D108BD9-81ED-4DB2-BD59-A6C34878D82A}">
                    <a16:rowId xmlns:a16="http://schemas.microsoft.com/office/drawing/2014/main" val="10002"/>
                  </a:ext>
                </a:extLst>
              </a:tr>
              <a:tr h="723900">
                <a:tc>
                  <a:txBody>
                    <a:bodyPr/>
                    <a:lstStyle/>
                    <a:p>
                      <a:r>
                        <a:rPr sz="1763" b="1">
                          <a:solidFill>
                            <a:srgbClr val="163044"/>
                          </a:solidFill>
                          <a:latin typeface="Microsoft YaHei"/>
                          <a:ea typeface="Microsoft YaHei"/>
                          <a:cs typeface="Microsoft YaHei"/>
                        </a:rPr>
                        <a:t>测试与 P2 对接人员</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准备样例、环境与测试</a:t>
                      </a:r>
                    </a:p>
                    <a:p>
                      <a:r>
                        <a:rPr sz="1763" b="0">
                          <a:solidFill>
                            <a:srgbClr val="163044"/>
                          </a:solidFill>
                          <a:latin typeface="Microsoft YaHei"/>
                          <a:ea typeface="Microsoft YaHei"/>
                          <a:cs typeface="Microsoft YaHei"/>
                        </a:rPr>
                        <a:t>组织对应流程联调和复测</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测试与联调证据</a:t>
                      </a:r>
                    </a:p>
                    <a:p>
                      <a:r>
                        <a:rPr sz="1763" b="0">
                          <a:solidFill>
                            <a:srgbClr val="163044"/>
                          </a:solidFill>
                          <a:latin typeface="Microsoft YaHei"/>
                          <a:ea typeface="Microsoft YaHei"/>
                          <a:cs typeface="Microsoft YaHei"/>
                        </a:rPr>
                        <a:t>问题清单与关闭记录</a:t>
                      </a:r>
                    </a:p>
                  </a:txBody>
                  <a:tcPr marL="114300" marR="114300" marT="47625" marB="47625" anchor="ctr">
                    <a:solidFill>
                      <a:srgbClr val="FFFFFF"/>
                    </a:solidFill>
                  </a:tcPr>
                </a:tc>
                <a:extLst>
                  <a:ext uri="{0D108BD9-81ED-4DB2-BD59-A6C34878D82A}">
                    <a16:rowId xmlns:a16="http://schemas.microsoft.com/office/drawing/2014/main" val="10003"/>
                  </a:ext>
                </a:extLst>
              </a:tr>
              <a:tr h="723900">
                <a:tc>
                  <a:txBody>
                    <a:bodyPr/>
                    <a:lstStyle/>
                    <a:p>
                      <a:r>
                        <a:rPr sz="1763" b="1">
                          <a:solidFill>
                            <a:srgbClr val="163044"/>
                          </a:solidFill>
                          <a:latin typeface="Microsoft YaHei"/>
                          <a:ea typeface="Microsoft YaHei"/>
                          <a:cs typeface="Microsoft YaHei"/>
                        </a:rPr>
                        <a:t>P2 等外部提供方</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提供服务、权限和真实环境</a:t>
                      </a:r>
                    </a:p>
                    <a:p>
                      <a:r>
                        <a:rPr sz="1763" b="0">
                          <a:solidFill>
                            <a:srgbClr val="163044"/>
                          </a:solidFill>
                          <a:latin typeface="Microsoft YaHei"/>
                          <a:ea typeface="Microsoft YaHei"/>
                          <a:cs typeface="Microsoft YaHei"/>
                        </a:rPr>
                        <a:t>修复外部实现问题</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约定能力可用</a:t>
                      </a:r>
                    </a:p>
                    <a:p>
                      <a:r>
                        <a:rPr sz="1763" b="0">
                          <a:solidFill>
                            <a:srgbClr val="163044"/>
                          </a:solidFill>
                          <a:latin typeface="Microsoft YaHei"/>
                          <a:ea typeface="Microsoft YaHei"/>
                          <a:cs typeface="Microsoft YaHei"/>
                        </a:rPr>
                        <a:t>接口说明及外部验证配合</a:t>
                      </a:r>
                    </a:p>
                  </a:txBody>
                  <a:tcPr marL="114300" marR="114300" marT="47625" marB="47625" anchor="ctr">
                    <a:solidFill>
                      <a:srgbClr val="F5F8FA"/>
                    </a:solidFill>
                  </a:tcPr>
                </a:tc>
                <a:extLst>
                  <a:ext uri="{0D108BD9-81ED-4DB2-BD59-A6C34878D82A}">
                    <a16:rowId xmlns:a16="http://schemas.microsoft.com/office/drawing/2014/main" val="10004"/>
                  </a:ext>
                </a:extLst>
              </a:tr>
              <a:tr h="723900">
                <a:tc>
                  <a:txBody>
                    <a:bodyPr/>
                    <a:lstStyle/>
                    <a:p>
                      <a:r>
                        <a:rPr sz="1763" b="1">
                          <a:solidFill>
                            <a:srgbClr val="163044"/>
                          </a:solidFill>
                          <a:latin typeface="Microsoft YaHei"/>
                          <a:ea typeface="Microsoft YaHei"/>
                          <a:cs typeface="Microsoft YaHei"/>
                        </a:rPr>
                        <a:t>业务与运行接手方</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验证真实业务，接收运行职责</a:t>
                      </a:r>
                    </a:p>
                    <a:p>
                      <a:r>
                        <a:rPr sz="1763" b="0">
                          <a:solidFill>
                            <a:srgbClr val="163044"/>
                          </a:solidFill>
                          <a:latin typeface="Microsoft YaHei"/>
                          <a:ea typeface="Microsoft YaHei"/>
                          <a:cs typeface="Microsoft YaHei"/>
                        </a:rPr>
                        <a:t>参与恢复与上线演练</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业务签收</a:t>
                      </a:r>
                    </a:p>
                    <a:p>
                      <a:r>
                        <a:rPr sz="1763" b="0">
                          <a:solidFill>
                            <a:srgbClr val="163044"/>
                          </a:solidFill>
                          <a:latin typeface="Microsoft YaHei"/>
                          <a:ea typeface="Microsoft YaHei"/>
                          <a:cs typeface="Microsoft YaHei"/>
                        </a:rPr>
                        <a:t>运行接手与支持安排</a:t>
                      </a:r>
                    </a:p>
                  </a:txBody>
                  <a:tcPr marL="114300" marR="114300" marT="47625" marB="47625"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10307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4" name="直接箭头连接符 23"/>
          <p:cNvCxnSpPr>
            <a:stCxn id="11" idx="3"/>
            <a:endCxn id="13" idx="1"/>
          </p:cNvCxnSpPr>
          <p:nvPr/>
        </p:nvCxnSpPr>
        <p:spPr>
          <a:xfrm>
            <a:off x="8763000" y="2533650"/>
            <a:ext cx="304800" cy="0"/>
          </a:xfrm>
          <a:prstGeom prst="straightConnector1">
            <a:avLst/>
          </a:prstGeom>
          <a:ln w="19050">
            <a:solidFill>
              <a:srgbClr val="25699A"/>
            </a:solidFill>
            <a:tailEnd type="arrow" w="med" len="med"/>
          </a:ln>
        </p:spPr>
      </p:cxnSp>
      <p:cxnSp>
        <p:nvCxnSpPr>
          <p:cNvPr id="25" name="直接箭头连接符 24"/>
          <p:cNvCxnSpPr>
            <a:stCxn id="9" idx="3"/>
            <a:endCxn id="11" idx="1"/>
          </p:cNvCxnSpPr>
          <p:nvPr/>
        </p:nvCxnSpPr>
        <p:spPr>
          <a:xfrm>
            <a:off x="5943600" y="2533650"/>
            <a:ext cx="304800" cy="0"/>
          </a:xfrm>
          <a:prstGeom prst="straightConnector1">
            <a:avLst/>
          </a:prstGeom>
          <a:ln w="19050">
            <a:solidFill>
              <a:srgbClr val="25699A"/>
            </a:solidFill>
            <a:tailEnd type="arrow" w="med" len="med"/>
          </a:ln>
        </p:spPr>
      </p:cxnSp>
      <p:cxnSp>
        <p:nvCxnSpPr>
          <p:cNvPr id="26" name="直接箭头连接符 25"/>
          <p:cNvCxnSpPr>
            <a:stCxn id="7" idx="3"/>
            <a:endCxn id="9" idx="1"/>
          </p:cNvCxnSpPr>
          <p:nvPr/>
        </p:nvCxnSpPr>
        <p:spPr>
          <a:xfrm>
            <a:off x="3124200" y="2533650"/>
            <a:ext cx="304800" cy="0"/>
          </a:xfrm>
          <a:prstGeom prst="straightConnector1">
            <a:avLst/>
          </a:prstGeom>
          <a:ln w="19050">
            <a:solidFill>
              <a:srgbClr val="25699A"/>
            </a:solidFill>
            <a:tailEnd type="arrow" w="med" len="med"/>
          </a:ln>
        </p:spPr>
      </p:cxnSp>
      <p:sp>
        <p:nvSpPr>
          <p:cNvPr id="27" name="text-312">
            <a:extLst>
              <a:ext uri="{FF2B5EF4-FFF2-40B4-BE49-F238E27FC236}">
                <a16:creationId xmlns:a16="http://schemas.microsoft.com/office/drawing/2014/main" id="{B71F7F14-9A74-4D3D-BAB5-4BFE1EDBC79A}"/>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04  时间节点</a:t>
            </a:r>
          </a:p>
        </p:txBody>
      </p:sp>
      <p:sp>
        <p:nvSpPr>
          <p:cNvPr id="2" name="text-313">
            <a:extLst>
              <a:ext uri="{FF2B5EF4-FFF2-40B4-BE49-F238E27FC236}">
                <a16:creationId xmlns:a16="http://schemas.microsoft.com/office/drawing/2014/main" id="{4BF8867D-C269-4B89-B45B-7960ACCD324A}"/>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最终交付：能运行、能验证、能接手</a:t>
            </a:r>
          </a:p>
        </p:txBody>
      </p:sp>
      <p:sp>
        <p:nvSpPr>
          <p:cNvPr id="3" name="text-314">
            <a:extLst>
              <a:ext uri="{FF2B5EF4-FFF2-40B4-BE49-F238E27FC236}">
                <a16:creationId xmlns:a16="http://schemas.microsoft.com/office/drawing/2014/main" id="{9810196D-4FEA-406D-8082-078DAEFE4EEA}"/>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完成约定环境中的 MVP，并交接持续使用所需的能力与材料</a:t>
            </a:r>
          </a:p>
        </p:txBody>
      </p:sp>
      <p:sp>
        <p:nvSpPr>
          <p:cNvPr id="4" name="line-315">
            <a:extLst>
              <a:ext uri="{FF2B5EF4-FFF2-40B4-BE49-F238E27FC236}">
                <a16:creationId xmlns:a16="http://schemas.microsoft.com/office/drawing/2014/main" id="{774ED031-5528-4ED9-96E1-8D406608AE17}"/>
              </a:ext>
            </a:extLst>
          </p:cNvPr>
          <p:cNvSpPr>
            <a:spLocks noGrp="1"/>
          </p:cNvSpPr>
          <p:nvPr/>
        </p:nvSpPr>
        <p:spPr>
          <a:xfrm>
            <a:off x="609600" y="6324600"/>
            <a:ext cx="10972800" cy="95"/>
          </a:xfrm>
          <a:prstGeom prst="line">
            <a:avLst/>
          </a:prstGeom>
          <a:noFill/>
          <a:ln w="9525">
            <a:solidFill>
              <a:srgbClr val="D7E2E8"/>
            </a:solidFill>
          </a:ln>
        </p:spPr>
      </p:sp>
      <p:sp>
        <p:nvSpPr>
          <p:cNvPr id="5" name="text-316">
            <a:extLst>
              <a:ext uri="{FF2B5EF4-FFF2-40B4-BE49-F238E27FC236}">
                <a16:creationId xmlns:a16="http://schemas.microsoft.com/office/drawing/2014/main" id="{C2DE65A7-0E34-4ACD-9C7A-DD10BE5CDBE4}"/>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V4.3</a:t>
            </a:r>
          </a:p>
        </p:txBody>
      </p:sp>
      <p:sp>
        <p:nvSpPr>
          <p:cNvPr id="6" name="text-317">
            <a:extLst>
              <a:ext uri="{FF2B5EF4-FFF2-40B4-BE49-F238E27FC236}">
                <a16:creationId xmlns:a16="http://schemas.microsoft.com/office/drawing/2014/main" id="{56178A50-FDD0-4862-8F50-C34C2AAEDB84}"/>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24 / 24</a:t>
            </a:r>
          </a:p>
        </p:txBody>
      </p:sp>
      <p:sp>
        <p:nvSpPr>
          <p:cNvPr id="7" name="box-318">
            <a:extLst>
              <a:ext uri="{FF2B5EF4-FFF2-40B4-BE49-F238E27FC236}">
                <a16:creationId xmlns:a16="http://schemas.microsoft.com/office/drawing/2014/main" id="{A30BCA7B-7796-415F-ADE5-AF088CE73CD7}"/>
              </a:ext>
            </a:extLst>
          </p:cNvPr>
          <p:cNvSpPr>
            <a:spLocks noGrp="1"/>
          </p:cNvSpPr>
          <p:nvPr/>
        </p:nvSpPr>
        <p:spPr>
          <a:xfrm>
            <a:off x="6096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固定交付版本</a:t>
            </a:r>
          </a:p>
        </p:txBody>
      </p:sp>
      <p:sp>
        <p:nvSpPr>
          <p:cNvPr id="8" name="text-319">
            <a:extLst>
              <a:ext uri="{FF2B5EF4-FFF2-40B4-BE49-F238E27FC236}">
                <a16:creationId xmlns:a16="http://schemas.microsoft.com/office/drawing/2014/main" id="{051D174D-A7D9-4124-8E90-709CDC6DDBED}"/>
              </a:ext>
            </a:extLst>
          </p:cNvPr>
          <p:cNvSpPr>
            <a:spLocks noGrp="1"/>
          </p:cNvSpPr>
          <p:nvPr/>
        </p:nvSpPr>
        <p:spPr>
          <a:xfrm>
            <a:off x="6286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服务、配置</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模型与依赖</a:t>
            </a:r>
          </a:p>
        </p:txBody>
      </p:sp>
      <p:sp>
        <p:nvSpPr>
          <p:cNvPr id="9" name="box-320">
            <a:extLst>
              <a:ext uri="{FF2B5EF4-FFF2-40B4-BE49-F238E27FC236}">
                <a16:creationId xmlns:a16="http://schemas.microsoft.com/office/drawing/2014/main" id="{7325F17A-D3DC-46E1-8261-F415628E1AE5}"/>
              </a:ext>
            </a:extLst>
          </p:cNvPr>
          <p:cNvSpPr>
            <a:spLocks noGrp="1"/>
          </p:cNvSpPr>
          <p:nvPr/>
        </p:nvSpPr>
        <p:spPr>
          <a:xfrm>
            <a:off x="34290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上线前演练</a:t>
            </a:r>
          </a:p>
        </p:txBody>
      </p:sp>
      <p:sp>
        <p:nvSpPr>
          <p:cNvPr id="10" name="text-321">
            <a:extLst>
              <a:ext uri="{FF2B5EF4-FFF2-40B4-BE49-F238E27FC236}">
                <a16:creationId xmlns:a16="http://schemas.microsoft.com/office/drawing/2014/main" id="{FF52B4E5-1B40-4A54-89C5-3C70DEFBFA46}"/>
              </a:ext>
            </a:extLst>
          </p:cNvPr>
          <p:cNvSpPr>
            <a:spLocks noGrp="1"/>
          </p:cNvSpPr>
          <p:nvPr/>
        </p:nvSpPr>
        <p:spPr>
          <a:xfrm>
            <a:off x="34480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备份恢复</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部署、探测与回滚</a:t>
            </a:r>
          </a:p>
        </p:txBody>
      </p:sp>
      <p:sp>
        <p:nvSpPr>
          <p:cNvPr id="11" name="box-322">
            <a:extLst>
              <a:ext uri="{FF2B5EF4-FFF2-40B4-BE49-F238E27FC236}">
                <a16:creationId xmlns:a16="http://schemas.microsoft.com/office/drawing/2014/main" id="{9585C9E0-A609-4C48-8BA9-EE33E5706244}"/>
              </a:ext>
            </a:extLst>
          </p:cNvPr>
          <p:cNvSpPr>
            <a:spLocks noGrp="1"/>
          </p:cNvSpPr>
          <p:nvPr/>
        </p:nvSpPr>
        <p:spPr>
          <a:xfrm>
            <a:off x="62484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验证关键业务</a:t>
            </a:r>
          </a:p>
        </p:txBody>
      </p:sp>
      <p:sp>
        <p:nvSpPr>
          <p:cNvPr id="12" name="text-323">
            <a:extLst>
              <a:ext uri="{FF2B5EF4-FFF2-40B4-BE49-F238E27FC236}">
                <a16:creationId xmlns:a16="http://schemas.microsoft.com/office/drawing/2014/main" id="{3B5BC066-395E-4424-AD4B-936AB8256FA8}"/>
              </a:ext>
            </a:extLst>
          </p:cNvPr>
          <p:cNvSpPr>
            <a:spLocks noGrp="1"/>
          </p:cNvSpPr>
          <p:nvPr/>
        </p:nvSpPr>
        <p:spPr>
          <a:xfrm>
            <a:off x="62674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保存、召回</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更正、删除和隔离</a:t>
            </a:r>
          </a:p>
        </p:txBody>
      </p:sp>
      <p:sp>
        <p:nvSpPr>
          <p:cNvPr id="13" name="box-324">
            <a:extLst>
              <a:ext uri="{FF2B5EF4-FFF2-40B4-BE49-F238E27FC236}">
                <a16:creationId xmlns:a16="http://schemas.microsoft.com/office/drawing/2014/main" id="{7018D102-8E5C-472F-AF02-77A09305C2A3}"/>
              </a:ext>
            </a:extLst>
          </p:cNvPr>
          <p:cNvSpPr>
            <a:spLocks noGrp="1"/>
          </p:cNvSpPr>
          <p:nvPr/>
        </p:nvSpPr>
        <p:spPr>
          <a:xfrm>
            <a:off x="90678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运行接手</a:t>
            </a:r>
          </a:p>
        </p:txBody>
      </p:sp>
      <p:sp>
        <p:nvSpPr>
          <p:cNvPr id="14" name="text-325">
            <a:extLst>
              <a:ext uri="{FF2B5EF4-FFF2-40B4-BE49-F238E27FC236}">
                <a16:creationId xmlns:a16="http://schemas.microsoft.com/office/drawing/2014/main" id="{AE27D04C-DBA0-4B2A-AC3C-58B1DA59A3D3}"/>
              </a:ext>
            </a:extLst>
          </p:cNvPr>
          <p:cNvSpPr>
            <a:spLocks noGrp="1"/>
          </p:cNvSpPr>
          <p:nvPr/>
        </p:nvSpPr>
        <p:spPr>
          <a:xfrm>
            <a:off x="90868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监测、恢复</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支持联系人与手册</a:t>
            </a:r>
          </a:p>
        </p:txBody>
      </p:sp>
      <p:sp>
        <p:nvSpPr>
          <p:cNvPr id="18" name="line-326">
            <a:extLst>
              <a:ext uri="{FF2B5EF4-FFF2-40B4-BE49-F238E27FC236}">
                <a16:creationId xmlns:a16="http://schemas.microsoft.com/office/drawing/2014/main" id="{DCE0A405-BEF4-401B-A72C-CC1C2ACDCD82}"/>
              </a:ext>
            </a:extLst>
          </p:cNvPr>
          <p:cNvSpPr>
            <a:spLocks noGrp="1"/>
          </p:cNvSpPr>
          <p:nvPr/>
        </p:nvSpPr>
        <p:spPr>
          <a:xfrm>
            <a:off x="609600" y="4219575"/>
            <a:ext cx="10972800" cy="95"/>
          </a:xfrm>
          <a:prstGeom prst="line">
            <a:avLst/>
          </a:prstGeom>
          <a:noFill/>
          <a:ln w="9525">
            <a:solidFill>
              <a:srgbClr val="D7E2E8"/>
            </a:solidFill>
          </a:ln>
        </p:spPr>
      </p:sp>
      <p:sp>
        <p:nvSpPr>
          <p:cNvPr id="19" name="text-327">
            <a:extLst>
              <a:ext uri="{FF2B5EF4-FFF2-40B4-BE49-F238E27FC236}">
                <a16:creationId xmlns:a16="http://schemas.microsoft.com/office/drawing/2014/main" id="{1FCEDA4A-7D5D-4422-8DD0-6BCAF6AD70CA}"/>
              </a:ext>
            </a:extLst>
          </p:cNvPr>
          <p:cNvSpPr>
            <a:spLocks noGrp="1"/>
          </p:cNvSpPr>
          <p:nvPr/>
        </p:nvSpPr>
        <p:spPr>
          <a:xfrm>
            <a:off x="609600" y="4448175"/>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交付包</a:t>
            </a:r>
          </a:p>
        </p:txBody>
      </p:sp>
      <p:sp>
        <p:nvSpPr>
          <p:cNvPr id="20" name="text-328">
            <a:extLst>
              <a:ext uri="{FF2B5EF4-FFF2-40B4-BE49-F238E27FC236}">
                <a16:creationId xmlns:a16="http://schemas.microsoft.com/office/drawing/2014/main" id="{287B3754-AE4A-4DC4-B6CC-A1BACB7E094F}"/>
              </a:ext>
            </a:extLst>
          </p:cNvPr>
          <p:cNvSpPr>
            <a:spLocks noGrp="1"/>
          </p:cNvSpPr>
          <p:nvPr/>
        </p:nvSpPr>
        <p:spPr>
          <a:xfrm>
            <a:off x="2971800" y="4448175"/>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运行服务、接入说明、测试记录、部署恢复手册和签收记录</a:t>
            </a:r>
          </a:p>
        </p:txBody>
      </p:sp>
      <p:sp>
        <p:nvSpPr>
          <p:cNvPr id="21" name="text-329">
            <a:extLst>
              <a:ext uri="{FF2B5EF4-FFF2-40B4-BE49-F238E27FC236}">
                <a16:creationId xmlns:a16="http://schemas.microsoft.com/office/drawing/2014/main" id="{C8A5B09A-68D9-48A8-8EBF-90C3C8A1886C}"/>
              </a:ext>
            </a:extLst>
          </p:cNvPr>
          <p:cNvSpPr>
            <a:spLocks noGrp="1"/>
          </p:cNvSpPr>
          <p:nvPr/>
        </p:nvSpPr>
        <p:spPr>
          <a:xfrm>
            <a:off x="609600" y="5067300"/>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发布异常时</a:t>
            </a:r>
          </a:p>
        </p:txBody>
      </p:sp>
      <p:sp>
        <p:nvSpPr>
          <p:cNvPr id="22" name="text-330">
            <a:extLst>
              <a:ext uri="{FF2B5EF4-FFF2-40B4-BE49-F238E27FC236}">
                <a16:creationId xmlns:a16="http://schemas.microsoft.com/office/drawing/2014/main" id="{D0CB9B43-E596-4AE0-9F8E-BDD0CCD1F06D}"/>
              </a:ext>
            </a:extLst>
          </p:cNvPr>
          <p:cNvSpPr>
            <a:spLocks noGrp="1"/>
          </p:cNvSpPr>
          <p:nvPr/>
        </p:nvSpPr>
        <p:spPr>
          <a:xfrm>
            <a:off x="2971800" y="5067300"/>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暂停切换，回退已验证版本，按演练方案恢复数据与任务</a:t>
            </a:r>
          </a:p>
        </p:txBody>
      </p:sp>
      <p:sp>
        <p:nvSpPr>
          <p:cNvPr id="23" name="text-331">
            <a:extLst>
              <a:ext uri="{FF2B5EF4-FFF2-40B4-BE49-F238E27FC236}">
                <a16:creationId xmlns:a16="http://schemas.microsoft.com/office/drawing/2014/main" id="{1DEAF93E-D5D4-4054-995A-24D34B0A8154}"/>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目标是让甲方能够使用这套服务，并有证据判断它满足约定业务。</a:t>
            </a:r>
          </a:p>
        </p:txBody>
      </p:sp>
    </p:spTree>
    <p:extLst>
      <p:ext uri="{BB962C8B-B14F-4D97-AF65-F5344CB8AC3E}">
        <p14:creationId xmlns:p14="http://schemas.microsoft.com/office/powerpoint/2010/main" val="60703927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4507</Words>
  <Application>Microsoft Office PowerPoint</Application>
  <DocSecurity>0</DocSecurity>
  <PresentationFormat>宽屏</PresentationFormat>
  <Paragraphs>826</Paragraphs>
  <Slides>24</Slides>
  <Notes>24</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24</vt:i4>
      </vt:variant>
    </vt:vector>
  </HeadingPairs>
  <TitlesOfParts>
    <vt:vector size="27" baseType="lpstr">
      <vt:lpstr>Microsoft YaHei</vt:lpstr>
      <vt:lpstr>Aptos</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sdnk c</cp:lastModifiedBy>
  <cp:revision>4</cp:revision>
  <dcterms:created xsi:type="dcterms:W3CDTF">2026-09-29T09:29:51Z</dcterms:created>
  <dcterms:modified xsi:type="dcterms:W3CDTF">2026-09-30T00:59:12Z</dcterms:modified>
</cp:coreProperties>
</file>