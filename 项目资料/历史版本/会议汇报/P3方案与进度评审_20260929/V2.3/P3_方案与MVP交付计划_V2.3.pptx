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03d4151fe49b9" /><Relationship Type="http://schemas.openxmlformats.org/officeDocument/2006/relationships/extended-properties" Target="/docProps/app.xml" Id="Rdc3021da86624476" /><Relationship Type="http://schemas.openxmlformats.org/officeDocument/2006/relationships/officeDocument" Target="/ppt/presentation.xml" Id="Redcc4003b664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4a7368bf5437f"/>
  </p:sldMasterIdLst>
  <p:notesMasterIdLst>
    <p:notesMasterId xmlns:r="http://schemas.openxmlformats.org/officeDocument/2006/relationships" r:id="R70c9be346b9541a4"/>
  </p:notesMasterIdLst>
  <p:sldIdLst>
    <p:sldId xmlns:r="http://schemas.openxmlformats.org/officeDocument/2006/relationships" id="256" r:id="R2b7b84e1f2fb46fc"/>
    <p:sldId xmlns:r="http://schemas.openxmlformats.org/officeDocument/2006/relationships" id="257" r:id="R3dcbf2d2ffa1494d"/>
    <p:sldId xmlns:r="http://schemas.openxmlformats.org/officeDocument/2006/relationships" id="258" r:id="R8d2f3968557e46f2"/>
    <p:sldId xmlns:r="http://schemas.openxmlformats.org/officeDocument/2006/relationships" id="259" r:id="R978794d5e2624bbc"/>
    <p:sldId xmlns:r="http://schemas.openxmlformats.org/officeDocument/2006/relationships" id="260" r:id="Re19cde90590a4b10"/>
    <p:sldId xmlns:r="http://schemas.openxmlformats.org/officeDocument/2006/relationships" id="261" r:id="Rfa8ee494cb464480"/>
    <p:sldId xmlns:r="http://schemas.openxmlformats.org/officeDocument/2006/relationships" id="262" r:id="R3e896dcf71464f9d"/>
    <p:sldId xmlns:r="http://schemas.openxmlformats.org/officeDocument/2006/relationships" id="263" r:id="R76f13563f6f34262"/>
    <p:sldId xmlns:r="http://schemas.openxmlformats.org/officeDocument/2006/relationships" id="264" r:id="Ra391751fa1cd4ff8"/>
    <p:sldId xmlns:r="http://schemas.openxmlformats.org/officeDocument/2006/relationships" id="265" r:id="Rd39ff103346b485e"/>
    <p:sldId xmlns:r="http://schemas.openxmlformats.org/officeDocument/2006/relationships" id="266" r:id="Re2ac4f5ce3ce4b89"/>
    <p:sldId xmlns:r="http://schemas.openxmlformats.org/officeDocument/2006/relationships" id="267" r:id="R70169439e9d74f4a"/>
    <p:sldId xmlns:r="http://schemas.openxmlformats.org/officeDocument/2006/relationships" id="268" r:id="R45dbf31a5a25494f"/>
    <p:sldId xmlns:r="http://schemas.openxmlformats.org/officeDocument/2006/relationships" id="270" r:id="R4eb59da5d6ff46e4"/>
    <p:sldId xmlns:r="http://schemas.openxmlformats.org/officeDocument/2006/relationships" id="271" r:id="R725deabd50e74b05"/>
    <p:sldId xmlns:r="http://schemas.openxmlformats.org/officeDocument/2006/relationships" id="272" r:id="R79281d9774e24201"/>
    <p:sldId xmlns:r="http://schemas.openxmlformats.org/officeDocument/2006/relationships" id="273" r:id="Re66d08bfc0904e3a"/>
    <p:sldId xmlns:r="http://schemas.openxmlformats.org/officeDocument/2006/relationships" id="274" r:id="R672cf06741ad4af1"/>
    <p:sldId xmlns:r="http://schemas.openxmlformats.org/officeDocument/2006/relationships" id="275" r:id="R171418c67de64852"/>
    <p:sldId xmlns:r="http://schemas.openxmlformats.org/officeDocument/2006/relationships" id="276" r:id="Rdfa62446a6da4f0d"/>
    <p:sldId xmlns:r="http://schemas.openxmlformats.org/officeDocument/2006/relationships" id="277" r:id="R8aadea8f503e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6e8ce3a697e4165"/><Relationship Type="http://schemas.openxmlformats.org/officeDocument/2006/relationships/slideMaster" Target="/ppt/slideMasters/slideMaster1.xml" Id="R61e4a7368bf5437f"/><Relationship Type="http://schemas.openxmlformats.org/officeDocument/2006/relationships/notesMaster" Target="/ppt/notesMasters/notesMaster1.xml" Id="R70c9be346b9541a4"/><Relationship Type="http://schemas.openxmlformats.org/officeDocument/2006/relationships/presProps" Target="/ppt/presProps.xml" Id="R560d9310201b4f94"/><Relationship Type="http://schemas.openxmlformats.org/officeDocument/2006/relationships/tableStyles" Target="/ppt/tableStyles.xml" Id="R5843fb42557a449c"/><Relationship Type="http://schemas.openxmlformats.org/officeDocument/2006/relationships/slide" Target="/ppt/slides/slide1.xml" Id="R2b7b84e1f2fb46fc"/><Relationship Type="http://schemas.openxmlformats.org/officeDocument/2006/relationships/slide" Target="/ppt/slides/slide2.xml" Id="R3dcbf2d2ffa1494d"/><Relationship Type="http://schemas.openxmlformats.org/officeDocument/2006/relationships/slide" Target="/ppt/slides/slide3.xml" Id="R8d2f3968557e46f2"/><Relationship Type="http://schemas.openxmlformats.org/officeDocument/2006/relationships/slide" Target="/ppt/slides/slide4.xml" Id="R978794d5e2624bbc"/><Relationship Type="http://schemas.openxmlformats.org/officeDocument/2006/relationships/slide" Target="/ppt/slides/slide5.xml" Id="Re19cde90590a4b10"/><Relationship Type="http://schemas.openxmlformats.org/officeDocument/2006/relationships/slide" Target="/ppt/slides/slide6.xml" Id="Rfa8ee494cb464480"/><Relationship Type="http://schemas.openxmlformats.org/officeDocument/2006/relationships/slide" Target="/ppt/slides/slide7.xml" Id="R3e896dcf71464f9d"/><Relationship Type="http://schemas.openxmlformats.org/officeDocument/2006/relationships/slide" Target="/ppt/slides/slide8.xml" Id="R76f13563f6f34262"/><Relationship Type="http://schemas.openxmlformats.org/officeDocument/2006/relationships/slide" Target="/ppt/slides/slide9.xml" Id="Ra391751fa1cd4ff8"/><Relationship Type="http://schemas.openxmlformats.org/officeDocument/2006/relationships/slide" Target="/ppt/slides/slide10.xml" Id="Rd39ff103346b485e"/><Relationship Type="http://schemas.openxmlformats.org/officeDocument/2006/relationships/slide" Target="/ppt/slides/slide11.xml" Id="Re2ac4f5ce3ce4b89"/><Relationship Type="http://schemas.openxmlformats.org/officeDocument/2006/relationships/slide" Target="/ppt/slides/slide12.xml" Id="R70169439e9d74f4a"/><Relationship Type="http://schemas.openxmlformats.org/officeDocument/2006/relationships/slide" Target="/ppt/slides/slide13.xml" Id="R45dbf31a5a25494f"/><Relationship Type="http://schemas.openxmlformats.org/officeDocument/2006/relationships/slide" Target="/ppt/slides/slide15.xml" Id="R4eb59da5d6ff46e4"/><Relationship Type="http://schemas.openxmlformats.org/officeDocument/2006/relationships/slide" Target="/ppt/slides/slide16.xml" Id="R725deabd50e74b05"/><Relationship Type="http://schemas.openxmlformats.org/officeDocument/2006/relationships/slide" Target="/ppt/slides/slide17.xml" Id="R79281d9774e24201"/><Relationship Type="http://schemas.openxmlformats.org/officeDocument/2006/relationships/slide" Target="/ppt/slides/slide18.xml" Id="Re66d08bfc0904e3a"/><Relationship Type="http://schemas.openxmlformats.org/officeDocument/2006/relationships/slide" Target="/ppt/slides/slide19.xml" Id="R672cf06741ad4af1"/><Relationship Type="http://schemas.openxmlformats.org/officeDocument/2006/relationships/slide" Target="/ppt/slides/slide20.xml" Id="R171418c67de64852"/><Relationship Type="http://schemas.openxmlformats.org/officeDocument/2006/relationships/slide" Target="/ppt/slides/slide21.xml" Id="Rdfa62446a6da4f0d"/><Relationship Type="http://schemas.openxmlformats.org/officeDocument/2006/relationships/slide" Target="/ppt/slides/slide22.xml" Id="R8aadea8f503e43fd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4820b7d5a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4f5108fe460d" /><Relationship Type="http://schemas.openxmlformats.org/officeDocument/2006/relationships/notesMaster" Target="/ppt/notesMasters/notesMaster1.xml" Id="Ra7580e5be650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b9d6e77e54b97" /><Relationship Type="http://schemas.openxmlformats.org/officeDocument/2006/relationships/notesMaster" Target="/ppt/notesMasters/notesMaster1.xml" Id="R77b1ddd03cb7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50f85f2674779" /><Relationship Type="http://schemas.openxmlformats.org/officeDocument/2006/relationships/notesMaster" Target="/ppt/notesMasters/notesMaster1.xml" Id="Rff15ee77d4fc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9d28bcf5748ac" /><Relationship Type="http://schemas.openxmlformats.org/officeDocument/2006/relationships/notesMaster" Target="/ppt/notesMasters/notesMaster1.xml" Id="R911873c03d16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9ea6f864342d0" /><Relationship Type="http://schemas.openxmlformats.org/officeDocument/2006/relationships/notesMaster" Target="/ppt/notesMasters/notesMaster1.xml" Id="Rbebfa2cad1a0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d71ac46234345" /><Relationship Type="http://schemas.openxmlformats.org/officeDocument/2006/relationships/notesMaster" Target="/ppt/notesMasters/notesMaster1.xml" Id="Rd19dd2739bdc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98e45155f475e" /><Relationship Type="http://schemas.openxmlformats.org/officeDocument/2006/relationships/notesMaster" Target="/ppt/notesMasters/notesMaster1.xml" Id="Re915460e2990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f4bc70b2f4f00" /><Relationship Type="http://schemas.openxmlformats.org/officeDocument/2006/relationships/notesMaster" Target="/ppt/notesMasters/notesMaster1.xml" Id="Rd8b7d66f055f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21e3a9f4c74907" /><Relationship Type="http://schemas.openxmlformats.org/officeDocument/2006/relationships/notesMaster" Target="/ppt/notesMasters/notesMaster1.xml" Id="R9dadf0e39029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f090697134398" /><Relationship Type="http://schemas.openxmlformats.org/officeDocument/2006/relationships/notesMaster" Target="/ppt/notesMasters/notesMaster1.xml" Id="Rb3e5101a814c4c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b2d6800a34e8f" /><Relationship Type="http://schemas.openxmlformats.org/officeDocument/2006/relationships/notesMaster" Target="/ppt/notesMasters/notesMaster1.xml" Id="R36756ac9b2ac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bc7bf73da4a12" /><Relationship Type="http://schemas.openxmlformats.org/officeDocument/2006/relationships/notesMaster" Target="/ppt/notesMasters/notesMaster1.xml" Id="R8b9a9f4ce61e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357124e164560" /><Relationship Type="http://schemas.openxmlformats.org/officeDocument/2006/relationships/notesMaster" Target="/ppt/notesMasters/notesMaster1.xml" Id="R2ba56c13dc8247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d83989072f4b58" /><Relationship Type="http://schemas.openxmlformats.org/officeDocument/2006/relationships/notesMaster" Target="/ppt/notesMasters/notesMaster1.xml" Id="R9da41d15d66242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c411b3c8f6444b" /><Relationship Type="http://schemas.openxmlformats.org/officeDocument/2006/relationships/notesMaster" Target="/ppt/notesMasters/notesMaster1.xml" Id="R10fed5ca9ab6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fefa5ad30b4a81" /><Relationship Type="http://schemas.openxmlformats.org/officeDocument/2006/relationships/notesMaster" Target="/ppt/notesMasters/notesMaster1.xml" Id="R21a1c5c9b9464f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0a4f6dd16c4f62" /><Relationship Type="http://schemas.openxmlformats.org/officeDocument/2006/relationships/notesMaster" Target="/ppt/notesMasters/notesMaster1.xml" Id="Rafc61ca9bca3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939c516990407e" /><Relationship Type="http://schemas.openxmlformats.org/officeDocument/2006/relationships/notesMaster" Target="/ppt/notesMasters/notesMaster1.xml" Id="R3994f26856e1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897d90d7674115" /><Relationship Type="http://schemas.openxmlformats.org/officeDocument/2006/relationships/notesMaster" Target="/ppt/notesMasters/notesMaster1.xml" Id="Ra554cd1f3d5a47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8453967e474e4c" /><Relationship Type="http://schemas.openxmlformats.org/officeDocument/2006/relationships/notesMaster" Target="/ppt/notesMasters/notesMaster1.xml" Id="R95a39661833942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6a99ece7c64999" /><Relationship Type="http://schemas.openxmlformats.org/officeDocument/2006/relationships/notesMaster" Target="/ppt/notesMasters/notesMaster1.xml" Id="R4744fbc48848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　P3 方案与 MVP 交付计划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主旨：讲清当前系统怎样工作，以及到 12 月 1 日交付什么。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　目录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主旨：四个部分分别回答流程、方案、现状和交付。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讲述：第一部分用四页讲框架和三条流程。第二部分讲事实与索引、语义计算、可靠运行和技术选择。第三部分展示统一服务和各模块实现状态。第四部分从完整 MVP 的范围开始，展开日期、工作包、指标、人员依赖和最终交付物。主讲控制在约 27 分钟，完整原图和测试明细放在答疑附件。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　P3 整体流程框架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主旨：对外保存和召回记忆，内部持续维护访问准备。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　Remember：保存、加工与长期就绪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主旨：已保存、当前任务可用、长期检索就绪，是三个不同结果。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　Recall：把有效记忆组织成上下文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主旨：块检索负责找到线索，正文核验和组包负责交付可用材料。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　Operate：持续判断、执行与核对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主旨：调度要确认真实效果，再把新状态用于下一轮判断。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cache: E:/projects/codex/aether/AgentJYS-main/src/aether_agent_memory/operate/basic/body_cache.py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　总体方案与模块协作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主旨：Remember 管事实，Recall 管交付，Operate 管访问准备。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　记忆与数据方案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主旨：原文、事实版本和检索索引分开维护。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　语义检索与上下文方案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主旨：模型提供候选，业务规则控制正式记忆和最终交付。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 保存、后台处理与结果校验</a:t>
            </a:r>
          </a:p>
          <a:p xmlns:a="http://schemas.openxmlformats.org/drawingml/2006/main">
            <a:r>
              <a:t>主旨：检查身份、保存记录、恢复任务，交付前复核结果。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讲同一条记忆从保存到后续使用的四项处理。第一，识别调用者并检查访问权限，没有权限就拒绝。第二，记忆记录和后续任务一起保存，任一写入失败就撤销本次记录，避免只存了记忆却丢了任务。这里指同一数据库事务内的记录，不包含外部正文写入和模型计算。第三，后台领取任务并保存进度，中断后按持久状态恢复。任务重新分配后，旧执行者不能提交结果。第四，加工提交和召回返回前，再检查当前身份、权限及内容版本，排除已更正、已删除或已撤权的旧结果。例如预算从 20 万改为 15 万，旧值即使命中索引，也不能作为当前内容返回。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E:/projects/codex/aether/AgentJYS-main/src/aether_agent_memory/runtime/foundation/storage.py</a:t>
            </a:r>
          </a:p>
          <a:p xmlns:a="http://schemas.openxmlformats.org/drawingml/2006/main">
            <a:r>
              <a:t>E:/projects/codex/aether/AgentJYS-main/src/aether_agent_memory/runtime/foundation/tasks.py</a:t>
            </a:r>
          </a:p>
          <a:p xmlns:a="http://schemas.openxmlformats.org/drawingml/2006/main">
            <a:r>
              <a:t>E:/projects/codex/aether/AgentJYS-main/src/aether_agent_memory/runtime/foundation/identity.py</a:t>
            </a:r>
          </a:p>
          <a:p xmlns:a="http://schemas.openxmlformats.org/drawingml/2006/main">
            <a:r>
              <a:t>E:/projects/codex/aether/AgentJYS-main/src/aether_agent_memory/remember/basic/pipeline.py</a:t>
            </a:r>
          </a:p>
          <a:p xmlns:a="http://schemas.openxmlformats.org/drawingml/2006/main">
            <a:r>
              <a:t>E:/projects/codex/aether/AgentJYS-main/src/aether_agent_memory/remember/basic/boundary.py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口径：本页为现有实现的简明说明，不新增测试或产品验收结论。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 核心技术决策与选择理由</a:t>
            </a:r>
          </a:p>
          <a:p xmlns:a="http://schemas.openxmlformats.org/drawingml/2006/main">
            <a:r>
              <a:t>主旨：说明 Remember 记忆加工与 Recall 召回处理，以及任务、编码的技术取舍。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讲述：第一行指 P3 内部的两条处理链。Remember 负责提取、审核和维护记忆；Recall 负责检索、检查权限与版本，再组装上下文。先做哪一步、何时调用模型、什么条件下保存或返回结果，都由 P3 代码控制。LangMem 和 LlamaIndex 提供机制参考，代价是自己维护流程和模型适配。第二项用 SQLite 保存任务状态，便于重启后恢复，但租约、重试仍需自己维护。第三项用 BGE 本地编码，减少远程依赖，同时承担本地算力和模型升级成本。模型质量与吞吐按统一样本实测。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E:/projects/codex/aether/AgentJYS-main/src/aether_agent_memory/runtime/flows/application.py</a:t>
            </a:r>
          </a:p>
          <a:p xmlns:a="http://schemas.openxmlformats.org/drawingml/2006/main">
            <a:r>
              <a:t>E:/projects/codex/aether/AgentJYS-main/src/aether_agent_memory/remember/model_provider.py</a:t>
            </a:r>
          </a:p>
          <a:p xmlns:a="http://schemas.openxmlformats.org/drawingml/2006/main">
            <a:r>
              <a:t>E:/projects/codex/aether/AgentJYS-main/src/aether_agent_memory/runtime/foundation/storage.py</a:t>
            </a:r>
          </a:p>
          <a:p xmlns:a="http://schemas.openxmlformats.org/drawingml/2006/main">
            <a:r>
              <a:t>E:/projects/codex/aether/AgentJYS-main/src/aether_agent_memory/runtime/foundation/tasks.py</a:t>
            </a:r>
          </a:p>
          <a:p xmlns:a="http://schemas.openxmlformats.org/drawingml/2006/main">
            <a:r>
              <a:t>E:/projects/codex/aether/AgentJYS-main/src/aether_agent_memory/recall/embedding/backends.py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口径：本页为现有实现的简明说明，不新增测试或产品验收结论。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　当前已形成统一运行的本地服务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主旨：统一入口已经装配保存、召回和持续后台任务。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讲述：现在看实际代码。9 月 28 日当前提交为 c2e8c24，统一服务由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 9 月 28 日监测报告已记录真实本地 Web 接线，中文多轮对话报告也记录跨会话记忆和明确纠错验证。对话场景使用词法检索与原文加工，不能用于宣称真实模型质量通过。本次引用这些已有记录，没有重新执行用例。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http: E:/projects/codex/aether/AgentJYS-main/src/aether_agent_memory/runtime/flows/http.py</a:t>
            </a:r>
          </a:p>
          <a:p xmlns:a="http://schemas.openxmlformats.org/drawingml/2006/main">
            <a:r>
              <a:t>config: E:/projects/codex/aether/AgentJYS-main/src/aether_agent_memory/runtime/flows/config.py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monitorReport: E:/projects/codex/aether/交付成果/测试与验收/P3_真实监测Web改造与验收_20260928.md</a:t>
            </a:r>
          </a:p>
          <a:p xmlns:a="http://schemas.openxmlformats.org/drawingml/2006/main">
            <a:r>
              <a:t>dialogueReport: E:/projects/codex/aether/交付成果/测试与验收/P3_中文多轮对话验证说明_20260928.md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　各模块已实现什么，还需要验证什么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主旨：实现与本地整合已有证据，真实环境和产品效果仍需逐项验收。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　完整 MVP 的交付范围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主旨：交付可接入、可持续运行、能够通过连续业务验收的记忆服务。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　到 12 月 1 日的整体交付安排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主旨：真实链路在十月贯通，十一月留出系统验收、修复复测和业务签收。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讲述：原排期到 11 月 15 日才开始正式联合验证，系统验收只留 11 月 23 至 27 日共 5 个日历日，随后马上 UAT，缺少一轮完整修复复测。本次保留 12 月 1 日目标，提出重新分配窗口的排期。9 月 30 至 10 月 9 日只收敛最小接口基线，复用已有契约，不重做全套接口。10 月 10 日开始真实依赖接入，10 月 16 日检查第一条保存、长期化、召回链路，10 月 23 日形成首轮结果。10 月 24 日到 11 月 6 日完成全部正常、边界和故障联合回归。11 月 7 至 20 日留两周系统验收，前一周首验，后一周修复和复测。11 月 21 至 27 日做业务 UAT 与交接，11 月 28 日至 12 月 1 日只处理交付核对和发布缓冲。质量和性能从十月就建立基线，不能到正式验收时第一次测。此为修订建议，调整了 PRD 原定 11 月 15 日正式集成节点。日历窗口包含周末与国庆，不能等同人员工日。关键前提是人员、P2、模型和环境能够在十月提供真实链路；延期需要重排关键路径，不能挤掉验收。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　功能与模型工作包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主旨：按业务结果补齐 P0，并用真实模型验证内容质量。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 排期改为 10 月 10 至 23 日补齐首轮，10 月 24 日至 11 月 6 日随真实链路完成联合回归，之后仅修复验收缺陷。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　真实依赖与联合集成工作包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主旨：每个外部依赖都落实提供方、接口版本、环境和验证证据。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或首批应用要跑完整业务场景。最小接口基线在 10 月 9 日前形成，10 月 10 日接入真实环境，10 月 16 日检查首条真实链路，10 月 23 日完成首轮。10 月 24 日至 11 月 6 日覆盖全部正常和故障场景。接口确认、功能补齐和真实验证按链路并行，不等待所有接口一起完成。P3 适配由对应开发负责，P2 服务缺口由 P2 提供方负责，对接和证据由现有三名测试人员跟进。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　MVP 质量、性能与长稳验收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主旨：PRD 的数值目标保留，先固定测量条件，再提交真实结果。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 10 月 12 日起准备标注和测量条件，10 月 23 日前出首轮结果，11 月 6 日前形成联合基线。11 月 7 至 13 日执行系统首验，11 月 14 至 20 日修复和复测。若修复影响长期稳定性，最终候选重新连续运行至少 24 小时，保留最终版本的证据。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　部署、业务验收与运行交接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主旨：验收以真实候选版本完成业务，并由接入和运行人员实际接手。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的连续场景执行，包括跨会话记忆、更正删除、故障恢复、冲突和预算、租户隔离、后台动作以及运行交接。全部必验场景通过、阻断缺陷关闭后，由业务方签收；测试通过不自动等于签收。部署准备从 10 月 12 日启动，11 月 6 日前出首轮演练结果，11 月 20 日前在系统候选复演。11 月 21 至 24 日执行 UAT，11 月 25 至 27 日修复复测和运行交接。11 月 28 日至 12 月 1 日用于发布核对与交付缓冲。候选的重大变更必须重跑受影响验收，日期不能替代通过标准。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　责任分工与关键依赖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主旨：沿用现有 7 人分工，把未落实的岗位和外部日期明确列出来。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　MVP 最终交付物与完成标准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主旨：服务、资料与验收记录对应同一版本，并满足全部交付条件。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最终交付五类成果：可运行服务与配置、应用接入说明、测试和质量性能及 24 小时长稳报告、部署恢复回滚监测说明，以及业务签收和运行交接记录。判断交付完成看四项：全部 P0 业务和真实联合链路通过，质量性能及长稳达标，阻断缺陷修复并复验，业务签收且运行人员完成接手。所有结果对应同一发布版本，修改了候选版本就核查受影响报告是否需要重跑。12 月 1 日的交付包同时包含服务、使用资料和验收证据。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bd30475d4e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6dae6523f48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5c286269747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67b3f0c3848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df4b436ea48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55262c4ad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07861fc894dd0" /><Relationship Type="http://schemas.openxmlformats.org/officeDocument/2006/relationships/slideLayout" Target="/ppt/slideLayouts/slideLayout1.xml" Id="R1879840befbd4035" /><Relationship Type="http://schemas.openxmlformats.org/officeDocument/2006/relationships/slideLayout" Target="/ppt/slideLayouts/slideLayout2.xml" Id="Rbaf4f906bebe484d" /><Relationship Type="http://schemas.openxmlformats.org/officeDocument/2006/relationships/slideLayout" Target="/ppt/slideLayouts/slideLayout3.xml" Id="R023a4ca180224bd3" /><Relationship Type="http://schemas.openxmlformats.org/officeDocument/2006/relationships/slideLayout" Target="/ppt/slideLayouts/slideLayout4.xml" Id="R2055e56f13fa4025" /><Relationship Type="http://schemas.openxmlformats.org/officeDocument/2006/relationships/slideLayout" Target="/ppt/slideLayouts/slideLayout5.xml" Id="Rb91f9a94f43049c9" /><Relationship Type="http://schemas.openxmlformats.org/officeDocument/2006/relationships/slideLayout" Target="/ppt/slideLayouts/slideLayout6.xml" Id="Rfdf3011b0b854a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840befbd4035"/>
    <p:sldLayoutId xmlns:r="http://schemas.openxmlformats.org/officeDocument/2006/relationships" id="2147483650" r:id="Rbaf4f906bebe484d"/>
    <p:sldLayoutId xmlns:r="http://schemas.openxmlformats.org/officeDocument/2006/relationships" id="2147483651" r:id="R023a4ca180224bd3"/>
    <p:sldLayoutId xmlns:r="http://schemas.openxmlformats.org/officeDocument/2006/relationships" id="2147483652" r:id="R2055e56f13fa4025"/>
    <p:sldLayoutId xmlns:r="http://schemas.openxmlformats.org/officeDocument/2006/relationships" id="2147483653" r:id="Rb91f9a94f43049c9"/>
    <p:sldLayoutId xmlns:r="http://schemas.openxmlformats.org/officeDocument/2006/relationships" id="2147483654" r:id="Rfdf3011b0b854a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f619c7061420e" /><Relationship Type="http://schemas.openxmlformats.org/officeDocument/2006/relationships/notesSlide" Target="/ppt/notesSlides/notesSlide1.xml" Id="R276ef76f5133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70e3238814b8f" /><Relationship Type="http://schemas.openxmlformats.org/officeDocument/2006/relationships/notesSlide" Target="/ppt/notesSlides/notesSlide2.xml" Id="Rf3b459cfcc52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90910924d4070" /><Relationship Type="http://schemas.openxmlformats.org/officeDocument/2006/relationships/notesSlide" Target="/ppt/notesSlides/notesSlide3.xml" Id="R346bfdfd6902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aa8eb8034ffe" /><Relationship Type="http://schemas.openxmlformats.org/officeDocument/2006/relationships/notesSlide" Target="/ppt/notesSlides/notesSlide4.xml" Id="Re28d643a4fea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1b1ca13a44450" /><Relationship Type="http://schemas.openxmlformats.org/officeDocument/2006/relationships/notesSlide" Target="/ppt/notesSlides/notesSlide5.xml" Id="R7175413c2d32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0f4fa1d5f416e" /><Relationship Type="http://schemas.openxmlformats.org/officeDocument/2006/relationships/notesSlide" Target="/ppt/notesSlides/notesSlide6.xml" Id="R63985fb1564a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3714771d14962" /><Relationship Type="http://schemas.openxmlformats.org/officeDocument/2006/relationships/notesSlide" Target="/ppt/notesSlides/notesSlide7.xml" Id="Rc9b9da1a28974a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5463dda2d41ca" /><Relationship Type="http://schemas.openxmlformats.org/officeDocument/2006/relationships/notesSlide" Target="/ppt/notesSlides/notesSlide8.xml" Id="Rfdfc4fcc13e84b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2216a61564ed7" /><Relationship Type="http://schemas.openxmlformats.org/officeDocument/2006/relationships/notesSlide" Target="/ppt/notesSlides/notesSlide9.xml" Id="R86e77b780aff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e97e4e1904c16" /><Relationship Type="http://schemas.openxmlformats.org/officeDocument/2006/relationships/notesSlide" Target="/ppt/notesSlides/notesSlide10.xml" Id="Rbec5cdd88d4c47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446a1df4c4367" /><Relationship Type="http://schemas.openxmlformats.org/officeDocument/2006/relationships/notesSlide" Target="/ppt/notesSlides/notesSlide11.xml" Id="R70163a5a830a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5e4750b50465c" /><Relationship Type="http://schemas.openxmlformats.org/officeDocument/2006/relationships/notesSlide" Target="/ppt/notesSlides/notesSlide12.xml" Id="R9d1f5ae30203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45255e4044aa" /><Relationship Type="http://schemas.openxmlformats.org/officeDocument/2006/relationships/notesSlide" Target="/ppt/notesSlides/notesSlide13.xml" Id="R4a71ab908ed549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30e7a4dc1449d" /><Relationship Type="http://schemas.openxmlformats.org/officeDocument/2006/relationships/notesSlide" Target="/ppt/notesSlides/notesSlide15.xml" Id="Rd59d6c2fc83740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a6d4039994c93" /><Relationship Type="http://schemas.openxmlformats.org/officeDocument/2006/relationships/notesSlide" Target="/ppt/notesSlides/notesSlide16.xml" Id="R51b3d7217b6f4b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0d7535a174a56" /><Relationship Type="http://schemas.openxmlformats.org/officeDocument/2006/relationships/notesSlide" Target="/ppt/notesSlides/notesSlide17.xml" Id="Rd0cec7f49b4d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aafa5469c41ea" /><Relationship Type="http://schemas.openxmlformats.org/officeDocument/2006/relationships/notesSlide" Target="/ppt/notesSlides/notesSlide18.xml" Id="Rc1dfc476f0f847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98000f6e840ed" /><Relationship Type="http://schemas.openxmlformats.org/officeDocument/2006/relationships/notesSlide" Target="/ppt/notesSlides/notesSlide19.xml" Id="Rad84a5921ae74f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90afa8c73483f" /><Relationship Type="http://schemas.openxmlformats.org/officeDocument/2006/relationships/notesSlide" Target="/ppt/notesSlides/notesSlide20.xml" Id="R1c94eac28a054f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55817aac4d89" /><Relationship Type="http://schemas.openxmlformats.org/officeDocument/2006/relationships/notesSlide" Target="/ppt/notesSlides/notesSlide21.xml" Id="R75779f2dde664f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a01a0ac584fa2" /><Relationship Type="http://schemas.openxmlformats.org/officeDocument/2006/relationships/notesSlide" Target="/ppt/notesSlides/notesSlide22.xml" Id="Rc58f8e2204fa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6">
            <a:extLst xmlns:a="http://schemas.openxmlformats.org/drawingml/2006/main"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3D6A4BA8-7118-4A8A-896B-87DFFC0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主讲约 27 分钟，另留讨论，完整流程分图和测试明细见答疑附件</a:t>
            </a:r>
          </a:p>
        </p:txBody>
      </p:sp>
      <p:sp>
        <p:nvSpPr>
          <p:cNvPr id="4" name="route-9">
            <a:extLst xmlns:a="http://schemas.openxmlformats.org/drawingml/2006/main"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 xmlns:a="http://schemas.openxmlformats.org/drawingml/2006/main"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数据、检索、可靠运行与技术取舍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860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 xmlns:a="http://schemas.openxmlformats.org/drawingml/2006/main"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48075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 xmlns:a="http://schemas.openxmlformats.org/drawingml/2006/main"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290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12—13</a:t>
            </a:r>
          </a:p>
        </p:txBody>
      </p:sp>
      <p:sp>
        <p:nvSpPr>
          <p:cNvPr id="21" name="route-26">
            <a:extLst xmlns:a="http://schemas.openxmlformats.org/drawingml/2006/main"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 xmlns:a="http://schemas.openxmlformats.org/drawingml/2006/main"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 xmlns:a="http://schemas.openxmlformats.org/drawingml/2006/main"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720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14—21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31">
            <a:extLst xmlns:a="http://schemas.openxmlformats.org/drawingml/2006/main"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 xmlns:a="http://schemas.openxmlformats.org/drawingml/2006/main"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7" name="node-37">
            <a:extLst xmlns:a="http://schemas.openxmlformats.org/drawingml/2006/main"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24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 xmlns:a="http://schemas.openxmlformats.org/drawingml/2006/main"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 xmlns:a="http://schemas.openxmlformats.org/drawingml/2006/main"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 xmlns:a="http://schemas.openxmlformats.org/drawingml/2006/main"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1047750" cy="95"/>
          </a:xfrm>
          <a:custGeom xmlns:a="http://schemas.openxmlformats.org/drawingml/2006/main"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 xmlns:a="http://schemas.openxmlformats.org/drawingml/2006/main"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 xmlns:a="http://schemas.openxmlformats.org/drawingml/2006/main"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9900"/>
            <a:ext cx="8067675" cy="419100"/>
          </a:xfrm>
          <a:custGeom xmlns:a="http://schemas.openxmlformats.org/drawingml/2006/main"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 xmlns:a="http://schemas.openxmlformats.org/drawingml/2006/main"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9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242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 xmlns:a="http://schemas.openxmlformats.org/drawingml/2006/main"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9555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 xmlns:a="http://schemas.openxmlformats.org/drawingml/2006/main"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95450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 xmlns:a="http://schemas.openxmlformats.org/drawingml/2006/main"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 xmlns:a="http://schemas.openxmlformats.org/drawingml/2006/main"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 xmlns:a="http://schemas.openxmlformats.org/drawingml/2006/main"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 xmlns:a="http://schemas.openxmlformats.org/drawingml/2006/main"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 xmlns:a="http://schemas.openxmlformats.org/drawingml/2006/main"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 xmlns:a="http://schemas.openxmlformats.org/drawingml/2006/main"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 xmlns:a="http://schemas.openxmlformats.org/drawingml/2006/main"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 xmlns:a="http://schemas.openxmlformats.org/drawingml/2006/main"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 xmlns:a="http://schemas.openxmlformats.org/drawingml/2006/main"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8">
            <a:extLst xmlns:a="http://schemas.openxmlformats.org/drawingml/2006/main"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 xmlns:a="http://schemas.openxmlformats.org/drawingml/2006/main"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7" name="node-64">
            <a:extLst xmlns:a="http://schemas.openxmlformats.org/drawingml/2006/main"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 xmlns:a="http://schemas.openxmlformats.org/drawingml/2006/main"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 xmlns:a="http://schemas.openxmlformats.org/drawingml/2006/main"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7652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 xmlns:a="http://schemas.openxmlformats.org/drawingml/2006/main"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38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1623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 xmlns:a="http://schemas.openxmlformats.org/drawingml/2006/main"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 xmlns:a="http://schemas.openxmlformats.org/drawingml/2006/main"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 xmlns:a="http://schemas.openxmlformats.org/drawingml/2006/main"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48125"/>
            <a:ext cx="32099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 xmlns:a="http://schemas.openxmlformats.org/drawingml/2006/main"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43275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 xmlns:a="http://schemas.openxmlformats.org/drawingml/2006/main"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719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 xmlns:a="http://schemas.openxmlformats.org/drawingml/2006/main"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 xmlns:a="http://schemas.openxmlformats.org/drawingml/2006/main"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 xmlns:a="http://schemas.openxmlformats.org/drawingml/2006/main"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 xmlns:a="http://schemas.openxmlformats.org/drawingml/2006/main"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 xmlns:a="http://schemas.openxmlformats.org/drawingml/2006/main"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 xmlns:a="http://schemas.openxmlformats.org/drawingml/2006/main"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0">
            <a:extLst xmlns:a="http://schemas.openxmlformats.org/drawingml/2006/main"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 xmlns:a="http://schemas.openxmlformats.org/drawingml/2006/main"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 xmlns:a="http://schemas.openxmlformats.org/drawingml/2006/main"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7" name="node-86">
            <a:extLst xmlns:a="http://schemas.openxmlformats.org/drawingml/2006/main"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 xmlns:a="http://schemas.openxmlformats.org/drawingml/2006/main"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 xmlns:a="http://schemas.openxmlformats.org/drawingml/2006/main"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 xmlns:a="http://schemas.openxmlformats.org/drawingml/2006/main"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 xmlns:a="http://schemas.openxmlformats.org/drawingml/2006/main"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 xmlns:a="http://schemas.openxmlformats.org/drawingml/2006/main"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 xmlns:a="http://schemas.openxmlformats.org/drawingml/2006/main"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 xmlns:a="http://schemas.openxmlformats.org/drawingml/2006/main"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 xmlns:a="http://schemas.openxmlformats.org/drawingml/2006/main"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 xmlns:a="http://schemas.openxmlformats.org/drawingml/2006/main"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 xmlns:a="http://schemas.openxmlformats.org/drawingml/2006/main"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 xmlns:a="http://schemas.openxmlformats.org/drawingml/2006/main"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 xmlns:a="http://schemas.openxmlformats.org/drawingml/2006/main"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 xmlns:a="http://schemas.openxmlformats.org/drawingml/2006/main"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71950"/>
            <a:ext cx="25146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 xmlns:a="http://schemas.openxmlformats.org/drawingml/2006/main"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00425"/>
            <a:ext cx="285750" cy="771525"/>
          </a:xfrm>
          <a:custGeom xmlns:a="http://schemas.openxmlformats.org/drawingml/2006/main"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 xmlns:a="http://schemas.openxmlformats.org/drawingml/2006/main"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 xmlns:a="http://schemas.openxmlformats.org/drawingml/2006/main"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71950"/>
            <a:ext cx="31337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 xmlns:a="http://schemas.openxmlformats.org/drawingml/2006/main"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538" y="3400425"/>
            <a:ext cx="1033463" cy="771525"/>
          </a:xfrm>
          <a:custGeom xmlns:a="http://schemas.openxmlformats.org/drawingml/2006/main"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 xmlns:a="http://schemas.openxmlformats.org/drawingml/2006/main"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 xmlns:a="http://schemas.openxmlformats.org/drawingml/2006/main"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0425"/>
            <a:ext cx="4714875" cy="1262063"/>
          </a:xfrm>
          <a:custGeom xmlns:a="http://schemas.openxmlformats.org/drawingml/2006/main"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 xmlns:a="http://schemas.openxmlformats.org/drawingml/2006/main"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0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1017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 xmlns:a="http://schemas.openxmlformats.org/drawingml/2006/main"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990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 xmlns:a="http://schemas.openxmlformats.org/drawingml/2006/main"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0">
            <a:extLst xmlns:a="http://schemas.openxmlformats.org/drawingml/2006/main"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 xmlns:a="http://schemas.openxmlformats.org/drawingml/2006/main"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 xmlns:a="http://schemas.openxmlformats.org/drawingml/2006/main"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7" name="node-116">
            <a:extLst xmlns:a="http://schemas.openxmlformats.org/drawingml/2006/main"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 xmlns:a="http://schemas.openxmlformats.org/drawingml/2006/main"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 xmlns:a="http://schemas.openxmlformats.org/drawingml/2006/main"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 xmlns:a="http://schemas.openxmlformats.org/drawingml/2006/main"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 xmlns:a="http://schemas.openxmlformats.org/drawingml/2006/main"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 xmlns:a="http://schemas.openxmlformats.org/drawingml/2006/main"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 xmlns:a="http://schemas.openxmlformats.org/drawingml/2006/main"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 xmlns:a="http://schemas.openxmlformats.org/drawingml/2006/main"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 xmlns:a="http://schemas.openxmlformats.org/drawingml/2006/main"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 xmlns:a="http://schemas.openxmlformats.org/drawingml/2006/main"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 xmlns:a="http://schemas.openxmlformats.org/drawingml/2006/main"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 xmlns:a="http://schemas.openxmlformats.org/drawingml/2006/main"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862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 xmlns:a="http://schemas.openxmlformats.org/drawingml/2006/main"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 xmlns:a="http://schemas.openxmlformats.org/drawingml/2006/main"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 xmlns:a="http://schemas.openxmlformats.org/drawingml/2006/main"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 xmlns:a="http://schemas.openxmlformats.org/drawingml/2006/main"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 xmlns:a="http://schemas.openxmlformats.org/drawingml/2006/main"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09550" cy="2000250"/>
          </a:xfrm>
          <a:custGeom xmlns:a="http://schemas.openxmlformats.org/drawingml/2006/main"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 xmlns:a="http://schemas.openxmlformats.org/drawingml/2006/main"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 xmlns:a="http://schemas.openxmlformats.org/drawingml/2006/main"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 xmlns:a="http://schemas.openxmlformats.org/drawingml/2006/main"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 xmlns:a="http://schemas.openxmlformats.org/drawingml/2006/main"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 xmlns:a="http://schemas.openxmlformats.org/drawingml/2006/main"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  <p:sp>
        <p:nvSpPr>
          <p:cNvPr id="7" name="node-142">
            <a:extLst xmlns:a="http://schemas.openxmlformats.org/drawingml/2006/main"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 xmlns:a="http://schemas.openxmlformats.org/drawingml/2006/main"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 xmlns:a="http://schemas.openxmlformats.org/drawingml/2006/main"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 xmlns:a="http://schemas.openxmlformats.org/drawingml/2006/main"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 xmlns:a="http://schemas.openxmlformats.org/drawingml/2006/main"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3867150" cy="533400"/>
          </a:xfrm>
          <a:custGeom xmlns:a="http://schemas.openxmlformats.org/drawingml/2006/main"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 xmlns:a="http://schemas.openxmlformats.org/drawingml/2006/main"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 xmlns:a="http://schemas.openxmlformats.org/drawingml/2006/main"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95" cy="314325"/>
          </a:xfrm>
          <a:custGeom xmlns:a="http://schemas.openxmlformats.org/drawingml/2006/main"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 xmlns:a="http://schemas.openxmlformats.org/drawingml/2006/main"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 xmlns:a="http://schemas.openxmlformats.org/drawingml/2006/main"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 xmlns:a="http://schemas.openxmlformats.org/drawingml/2006/main"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 xmlns:a="http://schemas.openxmlformats.org/drawingml/2006/main"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 xmlns:a="http://schemas.openxmlformats.org/drawingml/2006/main"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 xmlns:a="http://schemas.openxmlformats.org/drawingml/2006/main"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7734300" cy="180975"/>
          </a:xfrm>
          <a:custGeom xmlns:a="http://schemas.openxmlformats.org/drawingml/2006/main"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 xmlns:a="http://schemas.openxmlformats.org/drawingml/2006/main"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910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 xmlns:a="http://schemas.openxmlformats.org/drawingml/2006/main"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3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 xmlns:a="http://schemas.openxmlformats.org/drawingml/2006/main"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 xmlns:a="http://schemas.openxmlformats.org/drawingml/2006/main"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 xmlns:a="http://schemas.openxmlformats.org/drawingml/2006/main"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 xmlns:a="http://schemas.openxmlformats.org/drawingml/2006/main"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333875"/>
                <a:gridCol w="4295775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6">
            <a:extLst xmlns:a="http://schemas.openxmlformats.org/drawingml/2006/main"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 xmlns:a="http://schemas.openxmlformats.org/drawingml/2006/main"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 xmlns:a="http://schemas.openxmlformats.org/drawingml/2006/main"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 xmlns:a="http://schemas.openxmlformats.org/drawingml/2006/main"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266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 xmlns:a="http://schemas.openxmlformats.org/drawingml/2006/main"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76425"/>
            <a:ext cx="276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 xmlns:a="http://schemas.openxmlformats.org/drawingml/2006/main"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76425"/>
            <a:ext cx="32004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 xmlns:a="http://schemas.openxmlformats.org/drawingml/2006/main"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 xmlns:a="http://schemas.openxmlformats.org/drawingml/2006/main"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 xmlns:a="http://schemas.openxmlformats.org/drawingml/2006/main"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 xmlns:a="http://schemas.openxmlformats.org/drawingml/2006/main"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 xmlns:a="http://schemas.openxmlformats.org/drawingml/2006/main"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 xmlns:a="http://schemas.openxmlformats.org/drawingml/2006/main"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 xmlns:a="http://schemas.openxmlformats.org/drawingml/2006/main"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876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 xmlns:a="http://schemas.openxmlformats.org/drawingml/2006/main"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 xmlns:a="http://schemas.openxmlformats.org/drawingml/2006/main"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 xmlns:a="http://schemas.openxmlformats.org/drawingml/2006/main"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 xmlns:a="http://schemas.openxmlformats.org/drawingml/2006/main"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 xmlns:a="http://schemas.openxmlformats.org/drawingml/2006/main"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390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 xmlns:a="http://schemas.openxmlformats.org/drawingml/2006/main"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14875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 xmlns:a="http://schemas.openxmlformats.org/drawingml/2006/main"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 xmlns:a="http://schemas.openxmlformats.org/drawingml/2006/main"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保存、后台处理与结果校验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同一条记忆贯穿保存、后台加工和后续召回</a:t>
            </a:r>
          </a:p>
        </p:txBody>
      </p:sp>
      <p:sp>
        <p:nvSpPr>
          <p:cNvPr id="4" name="route-194">
            <a:extLst xmlns:a="http://schemas.openxmlformats.org/drawingml/2006/main"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 xmlns:a="http://schemas.openxmlformats.org/drawingml/2006/main"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预算从 20 万改为 15 万后，旧值即使命中索引，也不能作为当前结果返回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4657725"/>
                <a:gridCol w="4467225"/>
              </a:tblGrid>
              <a:tr h="4572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系统做什么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异常时怎么处理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身份检查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识别调用者，检查访问权限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只处理获准范围内的记忆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身份无效或没有权限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直接拒绝请求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保存记录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记忆记录和后续任务一起保存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成功后返回保存结果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任何一项写入失败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本次记录一起撤销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后台处理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后台领取任务并记录进度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中断后按已存状态恢复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任务重新分配后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旧执行者不能提交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结果复核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提交和返回前再查权限、版本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只交付当前有效的内容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内容更正、删除或授权撤销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旧结果不再返回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934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6">
            <a:extLst xmlns:a="http://schemas.openxmlformats.org/drawingml/2006/main"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 xmlns:a="http://schemas.openxmlformats.org/drawingml/2006/main"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核心技术决策与选择理由</a:t>
            </a:r>
          </a:p>
        </p:txBody>
      </p:sp>
      <p:sp>
        <p:nvSpPr>
          <p:cNvPr id="3" name="text-208">
            <a:extLst xmlns:a="http://schemas.openxmlformats.org/drawingml/2006/main"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Remember 负责记忆加工，Recall 负责召回处理</a:t>
            </a:r>
          </a:p>
        </p:txBody>
      </p:sp>
      <p:sp>
        <p:nvSpPr>
          <p:cNvPr id="4" name="route-209">
            <a:extLst xmlns:a="http://schemas.openxmlformats.org/drawingml/2006/main"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 xmlns:a="http://schemas.openxmlformats.org/drawingml/2006/main"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 xmlns:a="http://schemas.openxmlformats.org/drawingml/2006/main"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需重评：多副本或复杂长流程，或模型质量与吞吐未达标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571750"/>
                <a:gridCol w="2066925"/>
                <a:gridCol w="2924175"/>
                <a:gridCol w="2028825"/>
              </a:tblGrid>
              <a:tr h="51435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当前选择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备选路径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为什么这样选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记忆加工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与召回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自行控制处理步骤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模型按需调用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LlamaIndex 全栈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自行检查内容与权限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决定哪些记忆可以返回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自行维护流程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和模型适配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持久任务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+ 任务状态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同事务登记后续待办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内存后台任务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工作流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持久化避免重启丢待办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减少独立运行服务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自行维护租约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中文模型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FastEmbed / ONNX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其他编码模型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远程模型服务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固定中文编码基线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减少查询的远程依赖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本地算力与运维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换模型重建投影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003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 xmlns:a="http://schemas.openxmlformats.org/drawingml/2006/main"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c2e8c24，另有工作区监测等修改</a:t>
            </a:r>
          </a:p>
        </p:txBody>
      </p:sp>
      <p:sp>
        <p:nvSpPr>
          <p:cNvPr id="4" name="route-216">
            <a:extLst xmlns:a="http://schemas.openxmlformats.org/drawingml/2006/main"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 xmlns:a="http://schemas.openxmlformats.org/drawingml/2006/main"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 xmlns:a="http://schemas.openxmlformats.org/drawingml/2006/main"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sp>
        <p:nvSpPr>
          <p:cNvPr id="7" name="text-219">
            <a:extLst xmlns:a="http://schemas.openxmlformats.org/drawingml/2006/main"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 xmlns:a="http://schemas.openxmlformats.org/drawingml/2006/main"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 xmlns:a="http://schemas.openxmlformats.org/drawingml/2006/main"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 xmlns:a="http://schemas.openxmlformats.org/drawingml/2006/main"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 xmlns:a="http://schemas.openxmlformats.org/drawingml/2006/main"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 xmlns:a="http://schemas.openxmlformats.org/drawingml/2006/main"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 xmlns:a="http://schemas.openxmlformats.org/drawingml/2006/main"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 xmlns:a="http://schemas.openxmlformats.org/drawingml/2006/main"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 xmlns:a="http://schemas.openxmlformats.org/drawingml/2006/main"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 xmlns:a="http://schemas.openxmlformats.org/drawingml/2006/main"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8058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 xmlns:a="http://schemas.openxmlformats.org/drawingml/2006/main"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 xmlns:a="http://schemas.openxmlformats.org/drawingml/2006/main"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 xmlns:a="http://schemas.openxmlformats.org/drawingml/2006/main"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 xmlns:a="http://schemas.openxmlformats.org/drawingml/2006/main"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 xmlns:a="http://schemas.openxmlformats.org/drawingml/2006/main"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638675"/>
                <a:gridCol w="447675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38">
            <a:extLst xmlns:a="http://schemas.openxmlformats.org/drawingml/2006/main"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 xmlns:a="http://schemas.openxmlformats.org/drawingml/2006/main"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 xmlns:a="http://schemas.openxmlformats.org/drawingml/2006/main"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 xmlns:a="http://schemas.openxmlformats.org/drawingml/2006/main"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 xmlns:a="http://schemas.openxmlformats.org/drawingml/2006/main"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 xmlns:a="http://schemas.openxmlformats.org/drawingml/2006/main"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267700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真实租户及权限验证；任务可跟进，故障可定位和恢复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58">
            <a:extLst xmlns:a="http://schemas.openxmlformats.org/drawingml/2006/main"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9">
            <a:extLst xmlns:a="http://schemas.openxmlformats.org/drawingml/2006/main"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 xmlns:a="http://schemas.openxmlformats.org/drawingml/2006/main"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 xmlns:a="http://schemas.openxmlformats.org/drawingml/2006/main"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修订建议：十月贯通真实链路，11 月预留系统验收、修复复测和业务签收</a:t>
            </a:r>
          </a:p>
        </p:txBody>
      </p:sp>
      <p:sp>
        <p:nvSpPr>
          <p:cNvPr id="4" name="route-262">
            <a:extLst xmlns:a="http://schemas.openxmlformats.org/drawingml/2006/main"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 xmlns:a="http://schemas.openxmlformats.org/drawingml/2006/main"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 xmlns:a="http://schemas.openxmlformats.org/drawingml/2006/main"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686050"/>
                <a:gridCol w="6143625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修订日期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最小接口基线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复用现有契约，固定样本与真实环境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10/10—10/23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补齐与真实首链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保存到召回实跑，模型与部署同步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10/24—11/06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完整联合回归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更正、删除、调度、隔离与故障通过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11/07—11/20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系统验收与修复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质量、性能、24h 首验及修复后复测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11/21—11/27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 与交接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应用场景签收，部署恢复演练及接手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发布缓冲与交付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版本核对、发布检查和完整交付包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系统验收 14 天，UAT 7 天，发布缓冲 4 天（均为日历窗口）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66">
            <a:extLst xmlns:a="http://schemas.openxmlformats.org/drawingml/2006/main"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 xmlns:a="http://schemas.openxmlformats.org/drawingml/2006/main"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10/10—10/23 完成首轮补齐，10/24—11/06 随真实链路完成联合回归</a:t>
            </a:r>
          </a:p>
        </p:txBody>
      </p:sp>
      <p:sp>
        <p:nvSpPr>
          <p:cNvPr id="4" name="route-269">
            <a:extLst xmlns:a="http://schemas.openxmlformats.org/drawingml/2006/main"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 xmlns:a="http://schemas.openxmlformats.org/drawingml/2006/main"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5362575"/>
                <a:gridCol w="33528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3">
            <a:extLst xmlns:a="http://schemas.openxmlformats.org/drawingml/2006/main"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 xmlns:a="http://schemas.openxmlformats.org/drawingml/2006/main"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 xmlns:a="http://schemas.openxmlformats.org/drawingml/2006/main"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 接入真实依赖，10/16 检查首链，10/24—11/06 完整联合回归</a:t>
            </a:r>
          </a:p>
        </p:txBody>
      </p:sp>
      <p:sp>
        <p:nvSpPr>
          <p:cNvPr id="4" name="route-276">
            <a:extLst xmlns:a="http://schemas.openxmlformats.org/drawingml/2006/main"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5381625"/>
                <a:gridCol w="32766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身份与模型提供方待落实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9">
            <a:extLst xmlns:a="http://schemas.openxmlformats.org/drawingml/2006/main"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真实环境须支撑十月首链，缺失依赖应重排关键路径，保留验收窗口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80">
            <a:extLst xmlns:a="http://schemas.openxmlformats.org/drawingml/2006/main"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 xmlns:a="http://schemas.openxmlformats.org/drawingml/2006/main"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11/07—11/13 首验，11/14—11/20 修复复测，最终候选重跑受影响项目</a:t>
            </a:r>
          </a:p>
        </p:txBody>
      </p:sp>
      <p:sp>
        <p:nvSpPr>
          <p:cNvPr id="4" name="route-283">
            <a:extLst xmlns:a="http://schemas.openxmlformats.org/drawingml/2006/main"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533775"/>
                <a:gridCol w="4819650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基础调度规则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 100%，错误降层 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固定规则、负载和资源条件；另核对生效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10/12 起准备测量，11/06 前形成联合基线，最终候选连续运行至少 24h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 xmlns:a="http://schemas.openxmlformats.org/drawingml/2006/main"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 xmlns:a="http://schemas.openxmlformats.org/drawingml/2006/main"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11/20 前完成候选演练，11/21—11/27 业务 UAT，11/28—12/01 交付缓冲</a:t>
            </a:r>
          </a:p>
        </p:txBody>
      </p:sp>
      <p:sp>
        <p:nvSpPr>
          <p:cNvPr id="4" name="route-290">
            <a:extLst xmlns:a="http://schemas.openxmlformats.org/drawingml/2006/main"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28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 xmlns:a="http://schemas.openxmlformats.org/drawingml/2006/main"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 xmlns:a="http://schemas.openxmlformats.org/drawingml/2006/main"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 xmlns:a="http://schemas.openxmlformats.org/drawingml/2006/main"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14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UAT：11/21—24 执行，11/25—27 修复复测与交接，通过后进入发布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2">
            <a:extLst xmlns:a="http://schemas.openxmlformats.org/drawingml/2006/main"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 xmlns:a="http://schemas.openxmlformats.org/drawingml/2006/main"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 xmlns:a="http://schemas.openxmlformats.org/drawingml/2006/main"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 xmlns:a="http://schemas.openxmlformats.org/drawingml/2006/main"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 xmlns:a="http://schemas.openxmlformats.org/drawingml/2006/main"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14675"/>
                <a:gridCol w="3276600"/>
                <a:gridCol w="4581525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负责人待指定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9">
            <a:extLst xmlns:a="http://schemas.openxmlformats.org/drawingml/2006/main"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 xmlns:a="http://schemas.openxmlformats.org/drawingml/2006/main"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最终交付物与完成标准</a:t>
            </a:r>
          </a:p>
        </p:txBody>
      </p:sp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 xmlns:a="http://schemas.openxmlformats.org/drawingml/2006/main"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 xmlns:a="http://schemas.openxmlformats.org/drawingml/2006/main"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4673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 xmlns:a="http://schemas.openxmlformats.org/drawingml/2006/main"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90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7625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业务与真实联合链路全部通过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质量、性能及 24h 长稳达标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阻断缺陷修复并完成复验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业务签收，运行人员完成接手</a:t>
            </a:r>
          </a:p>
        </p:txBody>
      </p:sp>
      <p:sp>
        <p:nvSpPr>
          <p:cNvPr id="11" name="text-319">
            <a:extLst xmlns:a="http://schemas.openxmlformats.org/drawingml/2006/main"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12 月 1 日交付：同一发布版本的可运行服务、使用资料与验收证据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21</ap:Slides>
  <ap:Notes>21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2026-09-28T04:50:07.9710000Z</dcterms:created>
  <dcterms:modified xsi:type="dcterms:W3CDTF">2026-09-28T04:50:07.9710000Z</dcterms:modified>
</coreProperties>
</file>