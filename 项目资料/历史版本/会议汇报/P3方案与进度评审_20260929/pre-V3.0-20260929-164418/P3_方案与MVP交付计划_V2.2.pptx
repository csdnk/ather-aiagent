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 页　P3 方案与 MVP 交付计划</a:t>
            </a:r>
          </a:p>
          <a:p>
            <a:r>
              <a:t>建议 0.5 分钟</a:t>
            </a:r>
          </a:p>
          <a:p>
            <a:r>
              <a:t>主旨：讲清当前系统怎样工作，以及到 12 月 1 日交付什么。</a:t>
            </a:r>
          </a:p>
          <a:p>
            <a:endParaRPr/>
          </a:p>
          <a:p>
            <a:r>
              <a:t>讲述：今天按照四个部分讲：先看我们的流程框架，再讲具体设计和选择理由，然后用代码和已保存的验证记录说明现在做到了哪里，最后讲到 12 月 1 日 MVP 的完整交付安排。请大家围绕每个阶段能交付什么业务结果来评价。需求和方案以当前材料为依据，排期中的新增细分安排是本次建议，尚未作为团队承诺。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report: E:/projects/codex/aether/交付成果/测试与验收/P3_统一运行整合与验收_20260926.md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 页　目录</a:t>
            </a:r>
          </a:p>
          <a:p>
            <a:r>
              <a:t>建议 0.5 分钟</a:t>
            </a:r>
          </a:p>
          <a:p>
            <a:r>
              <a:t>主旨：四个部分分别回答流程、方案、现状和交付。</a:t>
            </a:r>
          </a:p>
          <a:p>
            <a:endParaRPr/>
          </a:p>
          <a:p>
            <a:r>
              <a:t>讲述：第一部分用四页讲框架和三条流程。第二部分讲事实与索引、语义计算、可靠运行和技术选择。第三部分展示统一服务和各模块实现状态。第四部分从完整 MVP 的范围开始，展开日期、工作包、指标、人员依赖和最终交付物。主讲控制在约 27 分钟，完整原图和测试明细放在答疑附件。</a:t>
            </a:r>
          </a:p>
          <a:p>
            <a:endParaRPr/>
          </a:p>
          <a:p>
            <a:r>
              <a:t>来源：</a:t>
            </a:r>
          </a:p>
          <a:p>
            <a:endParaRPr/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 页　P3 整体流程框架</a:t>
            </a:r>
          </a:p>
          <a:p>
            <a:r>
              <a:t>建议 1.5 分钟</a:t>
            </a:r>
          </a:p>
          <a:p>
            <a:r>
              <a:t>主旨：对外保存和召回记忆，内部持续维护访问准备。</a:t>
            </a:r>
          </a:p>
          <a:p>
            <a:endParaRPr/>
          </a:p>
          <a:p>
            <a:r>
              <a:t>讲述：先看两条业务路径。应用把对话、任务状态或文档交给 Remember，它维护来源、正文和当前有效版本。应用需要继续任务时，再向 Recall 提问，Recall 取回当前有效、有权限、可核对来源的上下文。最终回答仍由应用或 Agent 生成。两条业务持续产生事件，交给内部 Operate 判断访问热度、规划动作并核对执行结果。它持续运行，不需要应用在每次召回后再调用一次。这里沿用原图 P3.1 的关系，公共底座负责身份、任务、事件和恢复，P2 等底层依赖负责真实存储与执行。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flow: E:/projects/codex/aether/交付成果/架构设计/P3全景流程_Excalidraw/P3_整体架构与完整流程.excalidraw</a:t>
            </a:r>
          </a:p>
          <a:p>
            <a:r>
              <a:t>adr: E:/projects/codex/aether/交付成果/ADR版本/ADR-P2P3-001_总体架构决策.md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 页　Remember：保存、加工与长期就绪</a:t>
            </a:r>
          </a:p>
          <a:p>
            <a:r>
              <a:t>建议 1.5 分钟</a:t>
            </a:r>
          </a:p>
          <a:p>
            <a:r>
              <a:t>主旨：已保存、当前任务可用、长期检索就绪，是三个不同结果。</a:t>
            </a:r>
          </a:p>
          <a:p>
            <a:endParaRPr/>
          </a:p>
          <a:p>
            <a:r>
              <a:t>讲述：按原图 B.1、B.3、B.4 到 B.6 看这条路径。第一步确认身份、来源和请求，可靠保存原文与记忆记录。适用的当前任务记忆可以先供下一轮使用。长期部分由持久后台任务继续加工，形成事件或稳定事实，完成分块、编码、索引写入和完整性核验后，才发布长期就绪。比如预算 20 万保存后，当前任务可使用；后续会话需要等对应长期内容就绪。更正为 15 万时，Remember 更新有效版本。删除时先阻断读取和旧结果交付，再跟踪异步清理。保存成功不能解释为所有长期加工已完成。</a:t>
            </a:r>
          </a:p>
          <a:p>
            <a:endParaRPr/>
          </a:p>
          <a:p>
            <a:r>
              <a:t>来源：</a:t>
            </a:r>
          </a:p>
          <a:p>
            <a:r>
              <a:t>flow: E:/projects/codex/aether/交付成果/架构设计/P3全景流程_Excalidraw/P3_整体架构与完整流程.excalidraw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local: E:/projects/codex/aether/AgentJYS-main/src/aether_agent_memory/remember/local.py</a:t>
            </a:r>
          </a:p>
          <a:p>
            <a:r>
              <a:t>report: E:/projects/codex/aether/交付成果/测试与验收/P3_统一运行整合与验收_20260926.md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5 页　Recall：把有效记忆组织成上下文</a:t>
            </a:r>
          </a:p>
          <a:p>
            <a:r>
              <a:t>建议 1.5 分钟</a:t>
            </a:r>
          </a:p>
          <a:p>
            <a:r>
              <a:t>主旨：块检索负责找到线索，正文核验和组包负责交付可用材料。</a:t>
            </a:r>
          </a:p>
          <a:p>
            <a:endParaRPr/>
          </a:p>
          <a:p>
            <a:r>
              <a:t>讲述：这页保留原图 A.1 的主路径和 Working 分支。调用方可以选择当前、长期或两者，也可以让系统自动选路。只查当前记忆时直接读有效正文。包含长期时，先编码问题并取得块命中，再按记忆 ID 聚合、核验资格、分批读完整正文。之后补齐必要冲突关系，排序、核算整个上下文预算，并在提交前再次核验。向量命中里的旧预算不能直接交给用户。PRD 还要求部分来源失败时，若存在独立完整可信材料，可以说明缺失后降级交付。原图某些详细失败分支与这一要求尚有差异，方案定版时需要同步。</a:t>
            </a:r>
          </a:p>
          <a:p>
            <a:endParaRPr/>
          </a:p>
          <a:p>
            <a:r>
              <a:t>来源：</a:t>
            </a:r>
          </a:p>
          <a:p>
            <a:r>
              <a:t>flow: E:/projects/codex/aether/交付成果/架构设计/P3全景流程_Excalidraw/P3_整体架构与完整流程.excalidraw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flowcheck: E:/projects/codex/aether/交付成果/架构设计/P3_流程图与PRD_V1.3一致性检查_20260921.md</a:t>
            </a:r>
          </a:p>
          <a:p>
            <a:r>
              <a:t>local: E:/projects/codex/aether/AgentJYS-main/src/aether_agent_memory/remember/local.py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6 页　Operate：持续判断、执行与核对</a:t>
            </a:r>
          </a:p>
          <a:p>
            <a:r>
              <a:t>建议 1.5 分钟</a:t>
            </a:r>
          </a:p>
          <a:p>
            <a:r>
              <a:t>主旨：调度要确认真实效果，再把新状态用于下一轮判断。</a:t>
            </a:r>
          </a:p>
          <a:p>
            <a:endParaRPr/>
          </a:p>
          <a:p>
            <a:r>
              <a:t>讲述：沿原图 C.1 至 C.3 看：存储变化和实际读取形成调度依据，重复事件不能重复计热。同一记忆按序处理，先比较目标和实际状态，再核对当前权限、版本、容量和已有动作。需要调整时，保存动作编号再执行。执行后查询原动作，核对目标内容是否真的可读，最后向 Remember 交接有效地址。如果执行成功但回执丢了，状态仍然未知，应继续查询原动作，避免重复搬运。当前代码已经让准备过的本地缓存进入 Recall 的真实读取路径；生产物理分层仍要和 P2 按约定路径联调。普通升降层按相邻层执行，预测预热属于后续阶段。</a:t>
            </a:r>
          </a:p>
          <a:p>
            <a:endParaRPr/>
          </a:p>
          <a:p>
            <a:r>
              <a:t>来源：</a:t>
            </a:r>
          </a:p>
          <a:p>
            <a:r>
              <a:t>flow: E:/projects/codex/aether/交付成果/架构设计/P3全景流程_Excalidraw/P3_整体架构与完整流程.excalidraw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operate: E:/projects/codex/aether/AgentJYS-main/src/aether_agent_memory/operate/basic/continuous.py</a:t>
            </a:r>
          </a:p>
          <a:p>
            <a:r>
              <a:t>cache: E:/projects/codex/aether/AgentJYS-main/src/aether_agent_memory/operate/basic/body_cache.py</a:t>
            </a:r>
          </a:p>
          <a:p>
            <a:r>
              <a:t>scope: E:/projects/codex/aether/交付成果/甲方整改答复/冷热分层范围决策单.md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7 页　总体方案与模块协作</a:t>
            </a:r>
          </a:p>
          <a:p>
            <a:r>
              <a:t>建议 1.5 分钟</a:t>
            </a:r>
          </a:p>
          <a:p>
            <a:r>
              <a:t>主旨：Remember 管事实，Recall 管交付，Operate 管访问准备。</a:t>
            </a:r>
          </a:p>
          <a:p>
            <a:endParaRPr/>
          </a:p>
          <a:p>
            <a:r>
              <a:t>讲述：这张图讲责任分配。接入层把身份、范围和请求规则统一起来。Remember 维护事实与使用资格，Recall 向 Remember 取得资格、完整正文和关系，再交付上下文。Operate 根据事件进行调度，动作生效后的地址仍需要 Remember 按当前版本确认。共享编码和向量机制由 A 侧维护，B 调用它构建索引，但不会进入整条 Recall 流程。三条流程共享 RF 的事务、任务、事件和诊断机制。当前以单进程模块化服务装配，P2 提供方对自己的真实存储、检索和执行负责。主 ADR 仍待联合评审，这页是当前方案，不是评审签字。</a:t>
            </a:r>
          </a:p>
          <a:p>
            <a:endParaRPr/>
          </a:p>
          <a:p>
            <a:r>
              <a:t>来源：</a:t>
            </a:r>
          </a:p>
          <a:p>
            <a:r>
              <a:t>adr: E:/projects/codex/aether/交付成果/ADR版本/ADR-P2P3-001_总体架构决策.md</a:t>
            </a:r>
          </a:p>
          <a:p>
            <a:r>
              <a:t>app: E:/projects/codex/aether/AgentJYS-main/src/aether_agent_memory/runtime/flows/application.py</a:t>
            </a:r>
          </a:p>
          <a:p>
            <a:r>
              <a:t>local: E:/projects/codex/aether/AgentJYS-main/src/aether_agent_memory/remember/local.py</a:t>
            </a:r>
          </a:p>
          <a:p>
            <a:r>
              <a:t>roles: E:/projects/codex/aether/交付成果/开发协作/13_项目任务分工表_20260923.md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8 页　记忆与数据方案</a:t>
            </a:r>
          </a:p>
          <a:p>
            <a:r>
              <a:t>建议 1 分钟</a:t>
            </a:r>
          </a:p>
          <a:p>
            <a:r>
              <a:t>主旨：原文、事实版本和检索索引分开维护。</a:t>
            </a:r>
          </a:p>
          <a:p>
            <a:endParaRPr/>
          </a:p>
          <a:p>
            <a:r>
              <a:t>讲述：这里把业务类型和数据位置分开。Working 是当前目标、约束和进度；Episodic 是有时间和来源的经历；Semantic 是经证据确认的事实或偏好。它们都不等于热、温、冷层。原文保存来源，记忆记录保存当前版本、状态和正文引用，索引只帮助定位候选。预算更正后，旧索引可能尚未清掉，但资格校验会排除旧版本。压缩产物还必须绑定来源、版本和质量结论，不能因为变短就自动变成可使用事实。这样做增加了引用和一致性维护，但可以控制更正、删除和异步加工之间的竞争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adr: E:/projects/codex/aether/交付成果/ADR版本/ADR-P2P3-001_总体架构决策.md</a:t>
            </a:r>
          </a:p>
          <a:p>
            <a:r>
              <a:t>local: E:/projects/codex/aether/AgentJYS-main/src/aether_agent_memory/remember/local.py</a:t>
            </a:r>
          </a:p>
          <a:p>
            <a:r>
              <a:t>boundary: E:/projects/codex/aether/AgentJYS-main/src/aether_agent_memory/remember/basic/boundary.py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9 页　语义检索与上下文方案</a:t>
            </a:r>
          </a:p>
          <a:p>
            <a:r>
              <a:t>建议 1.5 分钟</a:t>
            </a:r>
          </a:p>
          <a:p>
            <a:r>
              <a:t>主旨：模型提供候选，业务规则控制正式记忆和最终交付。</a:t>
            </a:r>
          </a:p>
          <a:p>
            <a:endParaRPr/>
          </a:p>
          <a:p>
            <a:r>
              <a:t>讲述：模型在两个位置提供能力。写入侧对原文抽取、比较和压缩，输出候选，再由 Remember 审核证据与版本后提交。查询侧使用与建库兼容的 BGE 模型空间编码问题，取得块命中。多个块命中同一记忆，只占一个主候选名额。Recall 再读取完整正文与关系，按整条记忆或完整冲突组计算预算。模型和向量分数都不能代替授权、当前版本或完整性判断。压缩质量和冲突判断目前仍需要真实模型评测，尤其要覆盖数值、否定、条件和多来源冲突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flow: E:/projects/codex/aether/交付成果/架构设计/P3全景流程_Excalidraw/P3_整体架构与完整流程.excalidraw</a:t>
            </a:r>
          </a:p>
          <a:p>
            <a:r>
              <a:t>local: E:/projects/codex/aether/AgentJYS-main/src/aether_agent_memory/remember/local.py</a:t>
            </a:r>
          </a:p>
          <a:p>
            <a:r>
              <a:t>model: E:/projects/codex/aether/AgentJYS-main/src/aether_agent_memory/remember/model_provider.py</a:t>
            </a:r>
          </a:p>
          <a:p>
            <a:r>
              <a:t>flowcheck: E:/projects/codex/aether/交付成果/架构设计/P3_流程图与PRD_V1.3一致性检查_20260921.md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10 页　保存到后台提交的具体实现</a:t>
            </a:r>
          </a:p>
          <a:p>
            <a:r>
              <a:t>建议 1.5 分钟</a:t>
            </a:r>
          </a:p>
          <a:p>
            <a:r>
              <a:t>主旨：同事务保存待办，租约控制执行，提交前复核当前身份与记忆资格。</a:t>
            </a:r>
          </a:p>
          <a:p>
            <a:endParaRPr/>
          </a:p>
          <a:p>
            <a:r>
              <a:t>讲述：以预算 20 万保存并进入后台加工为例。第一步，凭证解析出所属租户、用户和 Agent。请求的范围只能在身份范围内缩小，不能通过参数切换到其他租户。第二步，记忆记录、RF 后台任务和 Outbox 待办使用同一个 SQLite 事务。这里说的是持久记录，外部正文和模型计算不放进这笔事务。事务失败一起回滚，成功后可按同一个任务编号继续。第三步，执行器领取任务时登记执行者、租约令牌和到期时间，心跳持续续租。进程中断后，租约到期可重新领取原任务，并按已保存进度恢复。旧执行者即使回来了，也必须通过当前租约令牌和到期检查才能提交。第四步，任务完成前重新检查发起人的身份版本、当前权限和必需输出；Remember 另外检查记忆的版本、删除和有效期。预算已经从 20 万改为 15 万，或者共享授权已经撤销，旧候选就不能再次交付。RF 负责任务和身份，Remember 负责事实资格。当前身份来自受控配置，外部身份系统的撤权传播还需要真实联调。</a:t>
            </a:r>
          </a:p>
          <a:p>
            <a:endParaRPr/>
          </a:p>
          <a:p>
            <a:r>
              <a:t>来源：</a:t>
            </a:r>
          </a:p>
          <a:p>
            <a:r>
              <a:t>storage: E:/projects/codex/aether/AgentJYS-main/src/aether_agent_memory/runtime/foundation/storage.py</a:t>
            </a:r>
          </a:p>
          <a:p>
            <a:r>
              <a:t>tasks: E:/projects/codex/aether/AgentJYS-main/src/aether_agent_memory/runtime/foundation/tasks.py</a:t>
            </a:r>
          </a:p>
          <a:p>
            <a:r>
              <a:t>identity: E:/projects/codex/aether/AgentJYS-main/src/aether_agent_memory/runtime/foundation/identity.py</a:t>
            </a:r>
          </a:p>
          <a:p>
            <a:r>
              <a:t>pipeline: E:/projects/codex/aether/AgentJYS-main/src/aether_agent_memory/remember/basic/pipeline.py</a:t>
            </a:r>
          </a:p>
          <a:p>
            <a:r>
              <a:t>boundary: E:/projects/codex/aether/AgentJYS-main/src/aether_agent_memory/remember/basic/boundary.py</a:t>
            </a:r>
          </a:p>
          <a:p>
            <a:r>
              <a:t>tests: E:/projects/codex/aether/AgentJYS-main/tests/integration/test_continuous_service.py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11 页 核心技术决策与选择理由</a:t>
            </a:r>
          </a:p>
          <a:p>
            <a:r>
              <a:t>建议 1 分钟</a:t>
            </a:r>
          </a:p>
          <a:p>
            <a:r>
              <a:t>主旨：说明流程编排、任务持久化与语义编码的具体取舍。</a:t>
            </a:r>
          </a:p>
          <a:p>
            <a:endParaRPr/>
          </a:p>
          <a:p>
            <a:r>
              <a:t>讲述：这页讲三项具体取舍。第一，业务流程由 P3 自己编排，模型通过适配器提出候选，P3 检查事实版本、授权和上下文预算。我们参考 LangMem 的提取机制、LlamaIndex 的检索分层，而没有让整套框架接管事实存储和最终交付。代价是自己维护编排和适配。第二，后台任务目前使用 SQLite 持久状态和事务待办。相较只放在内存里，进程重启后仍有待办可恢复；相较立即接入 Temporal，当前 MVP 可以少维护一套独立工作流服务。代价是自行实现租约、重试和恢复。外部 P2 动作不包含在 SQLite 事务里，仍需按原动作查询和核验。第三，语义编码采用 BGE 中文模型，走 FastEmbed 和 ONNX 本地推理，固定 Query 与 Passage 的模型空间，并减少查询时对远程编码服务的依赖。代价是承担本地算力、模型运维和更换模型后的投影重建。其他模型或远程模型服务是可评估的替代路径，当前材料没有同条件横向评测证明 BGE 最优。模型质量和吞吐须按统一样本与部署条件实测，多副本或更复杂长流程出现时重新评估存储和任务方案。</a:t>
            </a:r>
          </a:p>
          <a:p>
            <a:endParaRPr/>
          </a:p>
          <a:p>
            <a:r>
              <a:t>来源：</a:t>
            </a:r>
          </a:p>
          <a:p>
            <a:r>
              <a:t>E:/projects/codex/aether/交付成果/ADR版本/ADR-P2P3-001_总体架构决策.md</a:t>
            </a:r>
          </a:p>
          <a:p>
            <a:r>
              <a:t>E:/projects/codex/aether/AgentJYS-main/src/aether_agent_memory/runtime/flows/application.py</a:t>
            </a:r>
          </a:p>
          <a:p>
            <a:r>
              <a:t>E:/projects/codex/aether/AgentJYS-main/src/aether_agent_memory/remember/model_provider.py</a:t>
            </a:r>
          </a:p>
          <a:p>
            <a:r>
              <a:t>E:/projects/codex/aether/AgentJYS-main/src/aether_agent_memory/runtime/foundation/storage.py</a:t>
            </a:r>
          </a:p>
          <a:p>
            <a:r>
              <a:t>E:/projects/codex/aether/AgentJYS-main/src/aether_agent_memory/runtime/foundation/tasks.py</a:t>
            </a:r>
          </a:p>
          <a:p>
            <a:r>
              <a:t>E:/projects/codex/aether/AgentJYS-main/src/aether_agent_memory/recall/embedding/backends.py</a:t>
            </a:r>
          </a:p>
          <a:p>
            <a:endParaRPr/>
          </a:p>
          <a:p>
            <a:r>
              <a:t>口径：当前选择按源码核对，理由依据 ADR 的业务约束。备选为设计比较，不表示完成过同条件性能对照。真实模型质量、依赖联调和产品验收状态见当前成果及计划部分。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12 页　当前已形成统一运行的本地服务</a:t>
            </a:r>
          </a:p>
          <a:p>
            <a:r>
              <a:t>建议 1 分钟</a:t>
            </a:r>
          </a:p>
          <a:p>
            <a:r>
              <a:t>主旨：统一入口已经装配保存、召回和持续后台任务。</a:t>
            </a:r>
          </a:p>
          <a:p>
            <a:endParaRPr/>
          </a:p>
          <a:p>
            <a:r>
              <a:t>讲述：现在看实际代码。9 月 28 日当前提交为 c2e8c24，统一服务由 application.py 创建运行时和持续执行器，Remember 的装配把真实 B 资格、正文、最终复核接口接给 Recall。后台任务和定时调度由 Supervisor 持续推动，服务重启按持久状态恢复。当前可复现的工程形态是单进程、SQLite 和本地文件缓存，BGE 有真实加载记录。工作区还有新增监测代码等未提交修改，所以交付基线需要同时记录提交和工作区差异。生产配置要求真实模型和 P2，但配置校验不等于这些服务已联调。 9 月 28 日监测报告已记录真实本地 Web 接线，中文多轮对话报告也记录跨会话记忆和明确纠错验证。对话场景使用词法检索与原文加工，不能用于宣称真实模型质量通过。本次引用这些已有记录，没有重新执行用例。</a:t>
            </a:r>
          </a:p>
          <a:p>
            <a:endParaRPr/>
          </a:p>
          <a:p>
            <a:r>
              <a:t>来源：</a:t>
            </a:r>
          </a:p>
          <a:p>
            <a:r>
              <a:t>app: E:/projects/codex/aether/AgentJYS-main/src/aether_agent_memory/runtime/flows/application.py</a:t>
            </a:r>
          </a:p>
          <a:p>
            <a:r>
              <a:t>local: E:/projects/codex/aether/AgentJYS-main/src/aether_agent_memory/remember/local.py</a:t>
            </a:r>
          </a:p>
          <a:p>
            <a:r>
              <a:t>http: E:/projects/codex/aether/AgentJYS-main/src/aether_agent_memory/runtime/flows/http.py</a:t>
            </a:r>
          </a:p>
          <a:p>
            <a:r>
              <a:t>config: E:/projects/codex/aether/AgentJYS-main/src/aether_agent_memory/runtime/flows/config.py</a:t>
            </a:r>
          </a:p>
          <a:p>
            <a:r>
              <a:t>report: E:/projects/codex/aether/交付成果/测试与验收/P3_统一运行整合与验收_20260926.md</a:t>
            </a:r>
          </a:p>
          <a:p>
            <a:r>
              <a:t>run: E:/projects/codex/aether/交付成果/部署运行/P3_统一服务运行指南_20260926.md</a:t>
            </a:r>
          </a:p>
          <a:p>
            <a:r>
              <a:t>monitorReport: E:/projects/codex/aether/交付成果/测试与验收/P3_真实监测Web改造与验收_20260928.md</a:t>
            </a:r>
          </a:p>
          <a:p>
            <a:r>
              <a:t>dialogueReport: E:/projects/codex/aether/交付成果/测试与验收/P3_中文多轮对话验证说明_20260928.md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13 页　各模块已实现什么，还需要验证什么</a:t>
            </a:r>
          </a:p>
          <a:p>
            <a:r>
              <a:t>建议 1.5 分钟</a:t>
            </a:r>
          </a:p>
          <a:p>
            <a:r>
              <a:t>主旨：实现与本地整合已有证据，真实环境和产品效果仍需逐项验收。</a:t>
            </a:r>
          </a:p>
          <a:p>
            <a:endParaRPr/>
          </a:p>
          <a:p>
            <a:r>
              <a:t>讲述：Remember 已接入保存、文档原件、后台加工、版本更正、删除和长期索引。Recall 已接入来源选择、多块聚合、精确正文、预算与历史结果重取。Operate 已具备持续计热、定时衰减、容量等待、动作持久化和真实本地缓存读回。公共底座支持租户、共享撤权、重启恢复和日志追踪。右侧是每部分剩余的验收工作：模型效果、真实 P2 和 Milvus、生产执行、外部身份以及长稳运行。这里不使用总体完成百分比，因为不同层级的完成不能相互替代。</a:t>
            </a:r>
          </a:p>
          <a:p>
            <a:endParaRPr/>
          </a:p>
          <a:p>
            <a:r>
              <a:t>来源：</a:t>
            </a:r>
          </a:p>
          <a:p>
            <a:r>
              <a:t>report: E:/projects/codex/aether/交付成果/测试与验收/P3_统一运行整合与验收_20260926.md</a:t>
            </a:r>
          </a:p>
          <a:p>
            <a:r>
              <a:t>app: E:/projects/codex/aether/AgentJYS-main/src/aether_agent_memory/runtime/flows/application.py</a:t>
            </a:r>
          </a:p>
          <a:p>
            <a:r>
              <a:t>local: E:/projects/codex/aether/AgentJYS-main/src/aether_agent_memory/remember/local.py</a:t>
            </a:r>
          </a:p>
          <a:p>
            <a:r>
              <a:t>operate: E:/projects/codex/aether/AgentJYS-main/src/aether_agent_memory/operate/basic/continuous.py</a:t>
            </a:r>
          </a:p>
          <a:p>
            <a:r>
              <a:t>identity: E:/projects/codex/aether/AgentJYS-main/src/aether_agent_memory/runtime/foundation/identity.py</a:t>
            </a:r>
          </a:p>
          <a:p>
            <a:r>
              <a:t>tests: E:/projects/codex/aether/AgentJYS-main/tests/integration/test_continuous_service.py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14 页　完整 MVP 的交付范围</a:t>
            </a:r>
          </a:p>
          <a:p>
            <a:r>
              <a:t>建议 1.5 分钟</a:t>
            </a:r>
          </a:p>
          <a:p>
            <a:r>
              <a:t>主旨：交付可接入、可持续运行、能够通过连续业务验收的记忆服务。</a:t>
            </a:r>
          </a:p>
          <a:p>
            <a:endParaRPr/>
          </a:p>
          <a:p>
            <a:r>
              <a:t>讲述：MVP 的终点是应用能够在约定环境独立接入，完成保存、当前使用、长期记忆、跨会话召回、更正和删除。内部基础调度必须有真实执行和结果确认，多租户隔离与故障恢复贯穿全过程。除了功能，还需要模型质量、性能和不少于 24 小时稳定运行的证据，并交付版本一致的代码、配置、使用和运维材料。FR01 至 FR15 以及 FR17、FR18 属于 P0。预测预热 FR16 在下一阶段，Final 的 72 小时和正式纳管也与本次 MVP 分开。生产分层的具体目标路径仍待联合确认，但在没有批准变更前，不能自行削减 PRD 的实际执行要求。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uat: E:/projects/codex/aether/交付成果/测试与验收/UAT计划与记录.md</a:t>
            </a:r>
          </a:p>
          <a:p>
            <a:r>
              <a:t>scope: E:/projects/codex/aether/交付成果/甲方整改答复/冷热分层范围决策单.md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15 页　到 12 月 1 日的整体交付安排</a:t>
            </a:r>
          </a:p>
          <a:p>
            <a:r>
              <a:t>建议 1.5 分钟</a:t>
            </a:r>
          </a:p>
          <a:p>
            <a:r>
              <a:t>主旨：真实链路在十月贯通，十一月留出系统验收、修复复测和业务签收。</a:t>
            </a:r>
          </a:p>
          <a:p>
            <a:endParaRPr/>
          </a:p>
          <a:p>
            <a:r>
              <a:t>讲述：原排期到 11 月 15 日才开始正式联合验证，系统验收只留 11 月 23 至 27 日共 5 个日历日，随后马上 UAT，缺少一轮完整修复复测。本次保留 12 月 1 日目标，提出重新分配窗口的排期。9 月 30 至 10 月 9 日只收敛最小接口基线，复用已有契约，不重做全套接口。10 月 10 日开始真实依赖接入，10 月 16 日检查第一条保存、长期化、召回链路，10 月 23 日形成首轮结果。10 月 24 日到 11 月 6 日完成全部正常、边界和故障联合回归。11 月 7 至 20 日留两周系统验收，前一周首验，后一周修复和复测。11 月 21 至 27 日做业务 UAT 与交接，11 月 28 日至 12 月 1 日只处理交付核对和发布缓冲。质量和性能从十月就建立基线，不能到正式验收时第一次测。此为修订建议，调整了 PRD 原定 11 月 15 日正式集成节点。日历窗口包含周末与国庆，不能等同人员工日。关键前提是人员、P2、模型和环境能够在十月提供真实链路；延期需要重排关键路径，不能挤掉验收。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gate: E:/projects/codex/aether/交付成果/里程碑与交付/Gate与两周计划.md</a:t>
            </a:r>
          </a:p>
          <a:p>
            <a:r>
              <a:t>roles: E:/projects/codex/aether/交付成果/开发协作/13_项目任务分工表_20260923.md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16 页　功能与模型工作包</a:t>
            </a:r>
          </a:p>
          <a:p>
            <a:r>
              <a:t>建议 1 分钟</a:t>
            </a:r>
          </a:p>
          <a:p>
            <a:r>
              <a:t>主旨：按业务结果补齐 P0，并用真实模型验证内容质量。</a:t>
            </a:r>
          </a:p>
          <a:p>
            <a:endParaRPr/>
          </a:p>
          <a:p>
            <a:r>
              <a:t>讲述：功能工作分到现有三条流程。B 负责原文到正式记忆、压缩、冲突更正和生命周期，A 负责来源选择、记忆级聚合、完整正文及预算交付，C 负责轨迹驱动的真实调整、未知结果恢复和地址交接。对应测试人员同时准备样例、环境和故障用例。第一轮重点不是继续堆接口，而是用同一套预算、长文、冲突和删除数据贯穿所有模块。原图中合并来源降级、冲突组缺失和压缩表示使用的差异，也要在这一步和 PRD、代码一起收敛。 排期改为 10 月 10 至 23 日补齐首轮，10 月 24 日至 11 月 6 日随真实链路完成联合回归，之后仅修复验收缺陷。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roles: E:/projects/codex/aether/交付成果/开发协作/13_项目任务分工表_20260923.md</a:t>
            </a:r>
          </a:p>
          <a:p>
            <a:r>
              <a:t>report: E:/projects/codex/aether/交付成果/测试与验收/P3_统一运行整合与验收_20260926.md</a:t>
            </a:r>
          </a:p>
          <a:p>
            <a:r>
              <a:t>flowcheck: E:/projects/codex/aether/交付成果/架构设计/P3_流程图与PRD_V1.3一致性检查_20260921.md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17 页　真实依赖与联合集成工作包</a:t>
            </a:r>
          </a:p>
          <a:p>
            <a:r>
              <a:t>建议 1 分钟</a:t>
            </a:r>
          </a:p>
          <a:p>
            <a:r>
              <a:t>主旨：每个外部依赖都落实提供方、接口版本、环境和验证证据。</a:t>
            </a:r>
          </a:p>
          <a:p>
            <a:endParaRPr/>
          </a:p>
          <a:p>
            <a:r>
              <a:t>讲述：真实集成不是只把配置地址换掉。A 的检索和 B 的写入要使用同一模型空间、版本和索引批次。正文保存及读取要能确认精确版本。C 的执行要能查询原动作、核对真实目标和读取证据。身份接入需要确认租户映射、撤权传播窗口和配置责任。P4 或首批应用要跑完整业务场景。最小接口基线在 10 月 9 日前形成，10 月 10 日接入真实环境，10 月 16 日检查首条真实链路，10 月 23 日完成首轮。10 月 24 日至 11 月 6 日覆盖全部正常和故障场景。接口确认、功能补齐和真实验证按链路并行，不等待所有接口一起完成。P3 适配由对应开发负责，P2 服务缺口由 P2 提供方负责，对接和证据由现有三名测试人员跟进。</a:t>
            </a:r>
          </a:p>
          <a:p>
            <a:endParaRPr/>
          </a:p>
          <a:p>
            <a:r>
              <a:t>来源：</a:t>
            </a:r>
          </a:p>
          <a:p>
            <a:r>
              <a:t>roles: E:/projects/codex/aether/交付成果/开发协作/13_项目任务分工表_20260923.md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scope: E:/projects/codex/aether/交付成果/甲方整改答复/冷热分层范围决策单.md</a:t>
            </a:r>
          </a:p>
          <a:p>
            <a:r>
              <a:t>uat: E:/projects/codex/aether/交付成果/测试与验收/UAT计划与记录.md</a:t>
            </a:r>
          </a:p>
          <a:p>
            <a:r>
              <a:t>report: E:/projects/codex/aether/交付成果/测试与验收/P3_统一运行整合与验收_20260926.md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18 页　MVP 质量、性能与长稳验收</a:t>
            </a:r>
          </a:p>
          <a:p>
            <a:r>
              <a:t>建议 1.5 分钟</a:t>
            </a:r>
          </a:p>
          <a:p>
            <a:r>
              <a:t>主旨：PRD 的数值目标保留，先固定测量条件，再提交真实结果。</a:t>
            </a:r>
          </a:p>
          <a:p>
            <a:endParaRPr/>
          </a:p>
          <a:p>
            <a:r>
              <a:t>讲述：这里把验收标准写具体。当前记忆核心读写 P99 小于 10 毫秒，测量从 P3 接收有效请求到返回业务结果，不能拿完整上下文延迟与它混用。语义计算每秒不少于 2000 条有效内容，不能把缓存命中算成计算。压缩至少五倍，按实际保存字节比较，同时保留关键事实、数字、否定与条件。基础调度规则正确率 100%，错误降层为零，实际执行另行核对。MVP 连续运行至少 24 小时，观察错误、积压、资源影响和未完成操作。硬件、输入长度、并发、规模和样本标注要提前固定。这些是目标，当前报告未把它们判为通过。 10 月 12 日起准备标注和测量条件，10 月 23 日前出首轮结果，11 月 6 日前形成联合基线。11 月 7 至 13 日执行系统首验，11 月 14 至 20 日修复和复测。若修复影响长期稳定性，最终候选重新连续运行至少 24 小时，保留最终版本的证据。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uat: E:/projects/codex/aether/交付成果/测试与验收/UAT计划与记录.md</a:t>
            </a:r>
          </a:p>
          <a:p>
            <a:r>
              <a:t>report: E:/projects/codex/aether/交付成果/测试与验收/P3_统一运行整合与验收_20260926.md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19 页　部署、业务验收与运行交接</a:t>
            </a:r>
          </a:p>
          <a:p>
            <a:r>
              <a:t>建议 1 分钟</a:t>
            </a:r>
          </a:p>
          <a:p>
            <a:r>
              <a:t>主旨：验收以真实候选版本完成业务，并由接入和运行人员实际接手。</a:t>
            </a:r>
          </a:p>
          <a:p>
            <a:endParaRPr/>
          </a:p>
          <a:p>
            <a:r>
              <a:t>讲述：部署包需要固定代码、依赖、模型、身份配置和数据目录，完成构建、启动、健康检查、备份恢复和回滚演练。数据库备份不能替代正文、索引和配置的整体恢复。业务验收按现有 UAT 的连续场景执行，包括跨会话记忆、更正删除、故障恢复、冲突和预算、租户隔离、后台动作以及运行交接。全部必验场景通过、阻断缺陷关闭后，由业务方签收；测试通过不自动等于签收。部署准备从 10 月 12 日启动，11 月 6 日前出首轮演练结果，11 月 20 日前在系统候选复演。11 月 21 至 24 日执行 UAT，11 月 25 至 27 日修复复测和运行交接。11 月 28 日至 12 月 1 日用于发布核对与交付缓冲。候选的重大变更必须重跑受影响验收，日期不能替代通过标准。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uat: E:/projects/codex/aether/交付成果/测试与验收/UAT计划与记录.md</a:t>
            </a:r>
          </a:p>
          <a:p>
            <a:r>
              <a:t>run: E:/projects/codex/aether/交付成果/部署运行/P3_统一服务运行指南_20260926.md</a:t>
            </a:r>
          </a:p>
          <a:p>
            <a:r>
              <a:t>roles: E:/projects/codex/aether/交付成果/开发协作/13_项目任务分工表_20260923.md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20 页　责任分工与关键依赖</a:t>
            </a:r>
          </a:p>
          <a:p>
            <a:r>
              <a:t>建议 1 分钟</a:t>
            </a:r>
          </a:p>
          <a:p>
            <a:r>
              <a:t>主旨：沿用现有 7 人分工，把未落实的岗位和外部日期明确列出来。</a:t>
            </a:r>
          </a:p>
          <a:p>
            <a:endParaRPr/>
          </a:p>
          <a:p>
            <a:r>
              <a:t>讲述：目前分工由陈凯负责总体架构和 RF 规则，A 开发负责人待确定，B 是杨鹏通，C 是沈佳隆。肖宇、赵旭东、谭旭梁分别负责 A、B、C 测试、环境和 P2 对接。P3 内部接口由相关开发协作，陈凯协调；RF 编码任务要逐项指定实现人，不能默认由架构负责人或测试承担全部编码。外部需要 P2 各能力联系人、身份与部署环境负责人，以及应用验收代表。9 月底到第一阶段应落实这些责任和可用时间，才能确认后续承诺。</a:t>
            </a:r>
          </a:p>
          <a:p>
            <a:endParaRPr/>
          </a:p>
          <a:p>
            <a:r>
              <a:t>来源：</a:t>
            </a:r>
          </a:p>
          <a:p>
            <a:r>
              <a:t>roles: E:/projects/codex/aether/交付成果/开发协作/13_项目任务分工表_20260923.md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21 页　MVP 最终交付物与完成标准</a:t>
            </a:r>
          </a:p>
          <a:p>
            <a:r>
              <a:t>建议 1 分钟</a:t>
            </a:r>
          </a:p>
          <a:p>
            <a:r>
              <a:t>主旨：服务、资料与验收记录对应同一版本，并满足全部交付条件。</a:t>
            </a:r>
          </a:p>
          <a:p>
            <a:endParaRPr/>
          </a:p>
          <a:p>
            <a:r>
              <a:t>讲述：MVP 最终交付五类成果：可运行服务与配置、应用接入说明、测试和质量性能及 24 小时长稳报告、部署恢复回滚监测说明，以及业务签收和运行交接记录。判断交付完成看四项：全部 P0 业务和真实联合链路通过，质量性能及长稳达标，阻断缺陷修复并复验，业务签收且运行人员完成接手。所有结果对应同一发布版本，修改了候选版本就核查受影响报告是否需要重跑。12 月 1 日的交付包同时包含服务、使用资料和验收证据。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uat: E:/projects/codex/aether/交付成果/测试与验收/UAT计划与记录.md</a:t>
            </a:r>
          </a:p>
          <a:p>
            <a:r>
              <a:t>gate: E:/projects/codex/aether/交付成果/里程碑与交付/Gate与两周计划.md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17860B1-B8D2-4E2D-88F3-CA27D4483603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2451969-1248-401D-88B9-BE177D1D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A84D3CA-AE83-4A77-A657-880CAE03F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4431BBC3-4523-4773-9683-DDCABC5BC817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EFBEB65F-5853-46FB-9857-3C5604D5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1EEF1324-B555-4CDE-812D-853103620B5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0D986C0-A233-491F-A089-E68C618D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44CF4BE0-83AB-4342-9414-4C0C653CD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FBE16352-E0D0-4592-A8A3-3568967C527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E116F11-BABE-446D-8E59-49B9A3D1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DBAEB161-7DD0-47E4-B4D4-05413BB47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62E58049-B99B-40D2-A720-7FEFC752F04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EB38ED56-58A4-4F4E-87D0-ED20F4AC5C8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C45E51A-524F-4507-AF30-FCCFA7273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D80092E8-C16F-4DB9-BDED-334974F68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">
            <a:extLst>
              <a:ext uri="{FF2B5EF4-FFF2-40B4-BE49-F238E27FC236}">
                <a16:creationId xmlns:a16="http://schemas.microsoft.com/office/drawing/2014/main" id="{48E45ED2-CE29-4A1C-BA66-F205564CB3EF}"/>
              </a:ext>
            </a:extLst>
          </p:cNvPr>
          <p:cNvSpPr>
            <a:spLocks noGrp="1"/>
          </p:cNvSpPr>
          <p:nvPr/>
        </p:nvSpPr>
        <p:spPr>
          <a:xfrm>
            <a:off x="723900" y="6477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rPr>
              <a:t>AetherBrain P3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84029695-3AF9-4AB0-ADC0-68E0B8411F0E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1066800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 方案与</a:t>
            </a:r>
          </a:p>
          <a:p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E976B5CD-45F9-483B-86D7-6862EA14B68D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rPr>
              <a:t>流程框架  /  具体方案  /  当前成果  /  完整计划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8B616582-C445-4E5A-AE14-B7DD842C615B}"/>
              </a:ext>
            </a:extLst>
          </p:cNvPr>
          <p:cNvSpPr>
            <a:spLocks noGrp="1"/>
          </p:cNvSpPr>
          <p:nvPr/>
        </p:nvSpPr>
        <p:spPr>
          <a:xfrm>
            <a:off x="762000" y="60198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2026 年 9 月 29 日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874CCCA7-E45E-4B95-AEDC-34F6EA3097CB}"/>
              </a:ext>
            </a:extLst>
          </p:cNvPr>
          <p:cNvSpPr>
            <a:spLocks noGrp="1"/>
          </p:cNvSpPr>
          <p:nvPr/>
        </p:nvSpPr>
        <p:spPr>
          <a:xfrm>
            <a:off x="6477000" y="60198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MVP 目标：2026 年 12 月 1 日</a:t>
            </a:r>
          </a:p>
        </p:txBody>
      </p:sp>
    </p:spTree>
    <p:extLst>
      <p:ext uri="{BB962C8B-B14F-4D97-AF65-F5344CB8AC3E}">
        <p14:creationId xmlns:p14="http://schemas.microsoft.com/office/powerpoint/2010/main" val="25127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6">
            <a:extLst>
              <a:ext uri="{FF2B5EF4-FFF2-40B4-BE49-F238E27FC236}">
                <a16:creationId xmlns:a16="http://schemas.microsoft.com/office/drawing/2014/main" id="{38FD4E08-451A-4CC7-B172-5441EF740363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P3 项目评审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E52FC70D-0EDB-4563-A52E-F3C333B7178C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route-9">
            <a:extLst>
              <a:ext uri="{FF2B5EF4-FFF2-40B4-BE49-F238E27FC236}">
                <a16:creationId xmlns:a16="http://schemas.microsoft.com/office/drawing/2014/main" id="{556B0F10-BE9A-4D83-822F-EC520BAC5174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0">
            <a:extLst>
              <a:ext uri="{FF2B5EF4-FFF2-40B4-BE49-F238E27FC236}">
                <a16:creationId xmlns:a16="http://schemas.microsoft.com/office/drawing/2014/main" id="{18E47C53-77B4-4EDC-BDD1-0FDC2C0D71C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">
            <a:extLst>
              <a:ext uri="{FF2B5EF4-FFF2-40B4-BE49-F238E27FC236}">
                <a16:creationId xmlns:a16="http://schemas.microsoft.com/office/drawing/2014/main" id="{77837D0F-5892-4766-B0EC-11B8F39A19F4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  <p:sp>
        <p:nvSpPr>
          <p:cNvPr id="7" name="text-12">
            <a:extLst>
              <a:ext uri="{FF2B5EF4-FFF2-40B4-BE49-F238E27FC236}">
                <a16:creationId xmlns:a16="http://schemas.microsoft.com/office/drawing/2014/main" id="{BEC7A540-9C4D-4669-8783-F5EC803AFFAE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742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-13">
            <a:extLst>
              <a:ext uri="{FF2B5EF4-FFF2-40B4-BE49-F238E27FC236}">
                <a16:creationId xmlns:a16="http://schemas.microsoft.com/office/drawing/2014/main" id="{2E1CADA6-DFDF-4B84-AC32-932AB0E189ED}"/>
              </a:ext>
            </a:extLst>
          </p:cNvPr>
          <p:cNvSpPr>
            <a:spLocks noGrp="1"/>
          </p:cNvSpPr>
          <p:nvPr/>
        </p:nvSpPr>
        <p:spPr>
          <a:xfrm>
            <a:off x="1581150" y="1943100"/>
            <a:ext cx="2628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流程框架</a:t>
            </a:r>
          </a:p>
        </p:txBody>
      </p:sp>
      <p:sp>
        <p:nvSpPr>
          <p:cNvPr id="9" name="text-14">
            <a:extLst>
              <a:ext uri="{FF2B5EF4-FFF2-40B4-BE49-F238E27FC236}">
                <a16:creationId xmlns:a16="http://schemas.microsoft.com/office/drawing/2014/main" id="{AB8F412A-AB70-4EAA-9DE7-26CBB754F600}"/>
              </a:ext>
            </a:extLst>
          </p:cNvPr>
          <p:cNvSpPr>
            <a:spLocks noGrp="1"/>
          </p:cNvSpPr>
          <p:nvPr/>
        </p:nvSpPr>
        <p:spPr>
          <a:xfrm>
            <a:off x="4324350" y="1943100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系统怎样工作，三条流程怎样配合</a:t>
            </a:r>
          </a:p>
        </p:txBody>
      </p:sp>
      <p:sp>
        <p:nvSpPr>
          <p:cNvPr id="10" name="text-15">
            <a:extLst>
              <a:ext uri="{FF2B5EF4-FFF2-40B4-BE49-F238E27FC236}">
                <a16:creationId xmlns:a16="http://schemas.microsoft.com/office/drawing/2014/main" id="{1E0688FB-D56D-455A-943D-BC3BB6FF3847}"/>
              </a:ext>
            </a:extLst>
          </p:cNvPr>
          <p:cNvSpPr>
            <a:spLocks noGrp="1"/>
          </p:cNvSpPr>
          <p:nvPr/>
        </p:nvSpPr>
        <p:spPr>
          <a:xfrm>
            <a:off x="10325100" y="194310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03—06</a:t>
            </a:r>
          </a:p>
        </p:txBody>
      </p:sp>
      <p:sp>
        <p:nvSpPr>
          <p:cNvPr id="11" name="route-16">
            <a:extLst>
              <a:ext uri="{FF2B5EF4-FFF2-40B4-BE49-F238E27FC236}">
                <a16:creationId xmlns:a16="http://schemas.microsoft.com/office/drawing/2014/main" id="{BA54B64F-A116-4228-909E-BE4655502BEE}"/>
              </a:ext>
            </a:extLst>
          </p:cNvPr>
          <p:cNvSpPr>
            <a:spLocks noGrp="1"/>
          </p:cNvSpPr>
          <p:nvPr/>
        </p:nvSpPr>
        <p:spPr>
          <a:xfrm>
            <a:off x="1581150" y="2705100"/>
            <a:ext cx="10001250" cy="95"/>
          </a:xfrm>
          <a:custGeom>
            <a:avLst/>
            <a:gdLst/>
            <a:ahLst/>
            <a:cxnLst/>
            <a:rect l="0" t="0" r="0" b="0"/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12" name="text-17">
            <a:extLst>
              <a:ext uri="{FF2B5EF4-FFF2-40B4-BE49-F238E27FC236}">
                <a16:creationId xmlns:a16="http://schemas.microsoft.com/office/drawing/2014/main" id="{3200C5B5-0FEF-421A-8FBF-BE883810E3B9}"/>
              </a:ext>
            </a:extLst>
          </p:cNvPr>
          <p:cNvSpPr>
            <a:spLocks noGrp="1"/>
          </p:cNvSpPr>
          <p:nvPr/>
        </p:nvSpPr>
        <p:spPr>
          <a:xfrm>
            <a:off x="609600" y="2886075"/>
            <a:ext cx="742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18">
            <a:extLst>
              <a:ext uri="{FF2B5EF4-FFF2-40B4-BE49-F238E27FC236}">
                <a16:creationId xmlns:a16="http://schemas.microsoft.com/office/drawing/2014/main" id="{E8F82D95-F1C3-4F77-AE3B-3E581C7DF3FA}"/>
              </a:ext>
            </a:extLst>
          </p:cNvPr>
          <p:cNvSpPr>
            <a:spLocks noGrp="1"/>
          </p:cNvSpPr>
          <p:nvPr/>
        </p:nvSpPr>
        <p:spPr>
          <a:xfrm>
            <a:off x="1581150" y="2886075"/>
            <a:ext cx="2628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具体方案</a:t>
            </a:r>
          </a:p>
        </p:txBody>
      </p:sp>
      <p:sp>
        <p:nvSpPr>
          <p:cNvPr id="14" name="text-19">
            <a:extLst>
              <a:ext uri="{FF2B5EF4-FFF2-40B4-BE49-F238E27FC236}">
                <a16:creationId xmlns:a16="http://schemas.microsoft.com/office/drawing/2014/main" id="{99F8002F-8286-4FE8-8A8C-9F23881C4EBB}"/>
              </a:ext>
            </a:extLst>
          </p:cNvPr>
          <p:cNvSpPr>
            <a:spLocks noGrp="1"/>
          </p:cNvSpPr>
          <p:nvPr/>
        </p:nvSpPr>
        <p:spPr>
          <a:xfrm>
            <a:off x="4324350" y="2886075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数据、检索、可靠运行与技术取舍</a:t>
            </a:r>
          </a:p>
        </p:txBody>
      </p:sp>
      <p:sp>
        <p:nvSpPr>
          <p:cNvPr id="15" name="text-20">
            <a:extLst>
              <a:ext uri="{FF2B5EF4-FFF2-40B4-BE49-F238E27FC236}">
                <a16:creationId xmlns:a16="http://schemas.microsoft.com/office/drawing/2014/main" id="{524FCCF3-74BC-4CB8-93F4-AE3F4786E4F8}"/>
              </a:ext>
            </a:extLst>
          </p:cNvPr>
          <p:cNvSpPr>
            <a:spLocks noGrp="1"/>
          </p:cNvSpPr>
          <p:nvPr/>
        </p:nvSpPr>
        <p:spPr>
          <a:xfrm>
            <a:off x="10325100" y="2886075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07—11</a:t>
            </a:r>
          </a:p>
        </p:txBody>
      </p:sp>
      <p:sp>
        <p:nvSpPr>
          <p:cNvPr id="16" name="route-21">
            <a:extLst>
              <a:ext uri="{FF2B5EF4-FFF2-40B4-BE49-F238E27FC236}">
                <a16:creationId xmlns:a16="http://schemas.microsoft.com/office/drawing/2014/main" id="{61858BFD-85B9-4ED5-BBE1-E575A10E61BD}"/>
              </a:ext>
            </a:extLst>
          </p:cNvPr>
          <p:cNvSpPr>
            <a:spLocks noGrp="1"/>
          </p:cNvSpPr>
          <p:nvPr/>
        </p:nvSpPr>
        <p:spPr>
          <a:xfrm>
            <a:off x="1581150" y="3648075"/>
            <a:ext cx="10001250" cy="95"/>
          </a:xfrm>
          <a:custGeom>
            <a:avLst/>
            <a:gdLst/>
            <a:ahLst/>
            <a:cxnLst/>
            <a:rect l="0" t="0" r="0" b="0"/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17" name="text-22">
            <a:extLst>
              <a:ext uri="{FF2B5EF4-FFF2-40B4-BE49-F238E27FC236}">
                <a16:creationId xmlns:a16="http://schemas.microsoft.com/office/drawing/2014/main" id="{8F3A4A41-14AF-4B92-AFD6-9FBA28FC8A9C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742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-23">
            <a:extLst>
              <a:ext uri="{FF2B5EF4-FFF2-40B4-BE49-F238E27FC236}">
                <a16:creationId xmlns:a16="http://schemas.microsoft.com/office/drawing/2014/main" id="{24D3D1E8-DF6D-42E5-9F69-DC253E4AE8B9}"/>
              </a:ext>
            </a:extLst>
          </p:cNvPr>
          <p:cNvSpPr>
            <a:spLocks noGrp="1"/>
          </p:cNvSpPr>
          <p:nvPr/>
        </p:nvSpPr>
        <p:spPr>
          <a:xfrm>
            <a:off x="1581150" y="3829050"/>
            <a:ext cx="2628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19" name="text-24">
            <a:extLst>
              <a:ext uri="{FF2B5EF4-FFF2-40B4-BE49-F238E27FC236}">
                <a16:creationId xmlns:a16="http://schemas.microsoft.com/office/drawing/2014/main" id="{B7A16D4B-9FBF-4FB6-A9CB-83DEB6360E7F}"/>
              </a:ext>
            </a:extLst>
          </p:cNvPr>
          <p:cNvSpPr>
            <a:spLocks noGrp="1"/>
          </p:cNvSpPr>
          <p:nvPr/>
        </p:nvSpPr>
        <p:spPr>
          <a:xfrm>
            <a:off x="4324350" y="3829050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已经实现什么，已经验证到哪一层</a:t>
            </a:r>
          </a:p>
        </p:txBody>
      </p:sp>
      <p:sp>
        <p:nvSpPr>
          <p:cNvPr id="20" name="text-25">
            <a:extLst>
              <a:ext uri="{FF2B5EF4-FFF2-40B4-BE49-F238E27FC236}">
                <a16:creationId xmlns:a16="http://schemas.microsoft.com/office/drawing/2014/main" id="{72B0C74F-FDDC-4C66-A448-AFFE6558BFC0}"/>
              </a:ext>
            </a:extLst>
          </p:cNvPr>
          <p:cNvSpPr>
            <a:spLocks noGrp="1"/>
          </p:cNvSpPr>
          <p:nvPr/>
        </p:nvSpPr>
        <p:spPr>
          <a:xfrm>
            <a:off x="10325100" y="38290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12—13</a:t>
            </a:r>
          </a:p>
        </p:txBody>
      </p:sp>
      <p:sp>
        <p:nvSpPr>
          <p:cNvPr id="21" name="route-26">
            <a:extLst>
              <a:ext uri="{FF2B5EF4-FFF2-40B4-BE49-F238E27FC236}">
                <a16:creationId xmlns:a16="http://schemas.microsoft.com/office/drawing/2014/main" id="{9490C3B2-047B-4312-8E12-EF937E4832CC}"/>
              </a:ext>
            </a:extLst>
          </p:cNvPr>
          <p:cNvSpPr>
            <a:spLocks noGrp="1"/>
          </p:cNvSpPr>
          <p:nvPr/>
        </p:nvSpPr>
        <p:spPr>
          <a:xfrm>
            <a:off x="1581150" y="4591050"/>
            <a:ext cx="10001250" cy="95"/>
          </a:xfrm>
          <a:custGeom>
            <a:avLst/>
            <a:gdLst/>
            <a:ahLst/>
            <a:cxnLst/>
            <a:rect l="0" t="0" r="0" b="0"/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22" name="text-27">
            <a:extLst>
              <a:ext uri="{FF2B5EF4-FFF2-40B4-BE49-F238E27FC236}">
                <a16:creationId xmlns:a16="http://schemas.microsoft.com/office/drawing/2014/main" id="{CE1B449A-A715-450D-8433-70ED37992A38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742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-28">
            <a:extLst>
              <a:ext uri="{FF2B5EF4-FFF2-40B4-BE49-F238E27FC236}">
                <a16:creationId xmlns:a16="http://schemas.microsoft.com/office/drawing/2014/main" id="{CC9CA751-2C92-4FBB-B0F5-D706702D770A}"/>
              </a:ext>
            </a:extLst>
          </p:cNvPr>
          <p:cNvSpPr>
            <a:spLocks noGrp="1"/>
          </p:cNvSpPr>
          <p:nvPr/>
        </p:nvSpPr>
        <p:spPr>
          <a:xfrm>
            <a:off x="1581150" y="4772025"/>
            <a:ext cx="2628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24" name="text-29">
            <a:extLst>
              <a:ext uri="{FF2B5EF4-FFF2-40B4-BE49-F238E27FC236}">
                <a16:creationId xmlns:a16="http://schemas.microsoft.com/office/drawing/2014/main" id="{342C7A47-C89C-4829-BE6E-1F589C035144}"/>
              </a:ext>
            </a:extLst>
          </p:cNvPr>
          <p:cNvSpPr>
            <a:spLocks noGrp="1"/>
          </p:cNvSpPr>
          <p:nvPr/>
        </p:nvSpPr>
        <p:spPr>
          <a:xfrm>
            <a:off x="4324350" y="4772025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范围、日期、工作包、责任与完成标准</a:t>
            </a:r>
          </a:p>
        </p:txBody>
      </p:sp>
      <p:sp>
        <p:nvSpPr>
          <p:cNvPr id="25" name="text-30">
            <a:extLst>
              <a:ext uri="{FF2B5EF4-FFF2-40B4-BE49-F238E27FC236}">
                <a16:creationId xmlns:a16="http://schemas.microsoft.com/office/drawing/2014/main" id="{8FD44B49-C2B7-417A-8DF0-A910197E6351}"/>
              </a:ext>
            </a:extLst>
          </p:cNvPr>
          <p:cNvSpPr>
            <a:spLocks noGrp="1"/>
          </p:cNvSpPr>
          <p:nvPr/>
        </p:nvSpPr>
        <p:spPr>
          <a:xfrm>
            <a:off x="10325100" y="4772025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14—21</a:t>
            </a:r>
          </a:p>
        </p:txBody>
      </p:sp>
    </p:spTree>
    <p:extLst>
      <p:ext uri="{BB962C8B-B14F-4D97-AF65-F5344CB8AC3E}">
        <p14:creationId xmlns:p14="http://schemas.microsoft.com/office/powerpoint/2010/main" val="89815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31">
            <a:extLst>
              <a:ext uri="{FF2B5EF4-FFF2-40B4-BE49-F238E27FC236}">
                <a16:creationId xmlns:a16="http://schemas.microsoft.com/office/drawing/2014/main" id="{A544B985-481C-4226-BF54-D9ACB4CEDF62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32">
            <a:extLst>
              <a:ext uri="{FF2B5EF4-FFF2-40B4-BE49-F238E27FC236}">
                <a16:creationId xmlns:a16="http://schemas.microsoft.com/office/drawing/2014/main" id="{D0F13C7B-9545-4F53-BB30-6F18B8A9C049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P3 整体流程框架</a:t>
            </a:r>
          </a:p>
        </p:txBody>
      </p:sp>
      <p:sp>
        <p:nvSpPr>
          <p:cNvPr id="3" name="text-33">
            <a:extLst>
              <a:ext uri="{FF2B5EF4-FFF2-40B4-BE49-F238E27FC236}">
                <a16:creationId xmlns:a16="http://schemas.microsoft.com/office/drawing/2014/main" id="{0672F08F-6183-4F81-AB77-EE6AF0CBE98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原图 P3.1 的业务关系；应用决定调用时机，P3 交付记忆和处理状态</a:t>
            </a:r>
          </a:p>
        </p:txBody>
      </p:sp>
      <p:sp>
        <p:nvSpPr>
          <p:cNvPr id="4" name="route-34">
            <a:extLst>
              <a:ext uri="{FF2B5EF4-FFF2-40B4-BE49-F238E27FC236}">
                <a16:creationId xmlns:a16="http://schemas.microsoft.com/office/drawing/2014/main" id="{DFB79459-D731-4A90-8B0C-FAF6338DE364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35">
            <a:extLst>
              <a:ext uri="{FF2B5EF4-FFF2-40B4-BE49-F238E27FC236}">
                <a16:creationId xmlns:a16="http://schemas.microsoft.com/office/drawing/2014/main" id="{58D0524D-7834-4D88-BEFA-F578095E3AB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6">
            <a:extLst>
              <a:ext uri="{FF2B5EF4-FFF2-40B4-BE49-F238E27FC236}">
                <a16:creationId xmlns:a16="http://schemas.microsoft.com/office/drawing/2014/main" id="{705A4218-8D9C-4A8D-ADDC-78C32600B0C5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7" name="node-37">
            <a:extLst>
              <a:ext uri="{FF2B5EF4-FFF2-40B4-BE49-F238E27FC236}">
                <a16:creationId xmlns:a16="http://schemas.microsoft.com/office/drawing/2014/main" id="{F167A2D2-342D-45E6-B5E1-02E738C0276F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2524125" cy="10287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 / Agent / P4</a:t>
            </a:r>
          </a:p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带身份与范围调用</a:t>
            </a:r>
          </a:p>
        </p:txBody>
      </p:sp>
      <p:sp>
        <p:nvSpPr>
          <p:cNvPr id="8" name="node-38">
            <a:extLst>
              <a:ext uri="{FF2B5EF4-FFF2-40B4-BE49-F238E27FC236}">
                <a16:creationId xmlns:a16="http://schemas.microsoft.com/office/drawing/2014/main" id="{6C59264D-6D3C-4EEA-8324-895C03900689}"/>
              </a:ext>
            </a:extLst>
          </p:cNvPr>
          <p:cNvSpPr>
            <a:spLocks noGrp="1"/>
          </p:cNvSpPr>
          <p:nvPr/>
        </p:nvSpPr>
        <p:spPr>
          <a:xfrm>
            <a:off x="4181475" y="1981200"/>
            <a:ext cx="3295650" cy="10287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存储记忆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来源、版本、生命周期</a:t>
            </a:r>
          </a:p>
        </p:txBody>
      </p:sp>
      <p:sp>
        <p:nvSpPr>
          <p:cNvPr id="9" name="node-39">
            <a:extLst>
              <a:ext uri="{FF2B5EF4-FFF2-40B4-BE49-F238E27FC236}">
                <a16:creationId xmlns:a16="http://schemas.microsoft.com/office/drawing/2014/main" id="{5936CC05-776D-460D-8D6C-CB1E04558AC0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3295650" cy="10287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 召回记忆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核验、组包、交付上下文</a:t>
            </a:r>
          </a:p>
        </p:txBody>
      </p:sp>
      <p:sp>
        <p:nvSpPr>
          <p:cNvPr id="10" name="route-40">
            <a:extLst>
              <a:ext uri="{FF2B5EF4-FFF2-40B4-BE49-F238E27FC236}">
                <a16:creationId xmlns:a16="http://schemas.microsoft.com/office/drawing/2014/main" id="{4136D32E-ACAA-4FCD-9E59-EE48B5B7F664}"/>
              </a:ext>
            </a:extLst>
          </p:cNvPr>
          <p:cNvSpPr>
            <a:spLocks noGrp="1"/>
          </p:cNvSpPr>
          <p:nvPr/>
        </p:nvSpPr>
        <p:spPr>
          <a:xfrm>
            <a:off x="3133725" y="2495550"/>
            <a:ext cx="1047750" cy="95"/>
          </a:xfrm>
          <a:custGeom>
            <a:avLst/>
            <a:gdLst/>
            <a:ahLst/>
            <a:cxnLst/>
            <a:rect l="0" t="0" r="0" b="0"/>
            <a:pathLst>
              <a:path w="1047750" h="9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1" name="route-41">
            <a:extLst>
              <a:ext uri="{FF2B5EF4-FFF2-40B4-BE49-F238E27FC236}">
                <a16:creationId xmlns:a16="http://schemas.microsoft.com/office/drawing/2014/main" id="{98612AD4-2936-46E0-B8FD-F21AFFBC7C1D}"/>
              </a:ext>
            </a:extLst>
          </p:cNvPr>
          <p:cNvSpPr>
            <a:spLocks noGrp="1"/>
          </p:cNvSpPr>
          <p:nvPr/>
        </p:nvSpPr>
        <p:spPr>
          <a:xfrm>
            <a:off x="4105275" y="24574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2" name="route-42">
            <a:extLst>
              <a:ext uri="{FF2B5EF4-FFF2-40B4-BE49-F238E27FC236}">
                <a16:creationId xmlns:a16="http://schemas.microsoft.com/office/drawing/2014/main" id="{256B3127-8318-4B27-A923-BEE05597110B}"/>
              </a:ext>
            </a:extLst>
          </p:cNvPr>
          <p:cNvSpPr>
            <a:spLocks noGrp="1"/>
          </p:cNvSpPr>
          <p:nvPr/>
        </p:nvSpPr>
        <p:spPr>
          <a:xfrm>
            <a:off x="1866900" y="3009900"/>
            <a:ext cx="8067675" cy="419100"/>
          </a:xfrm>
          <a:custGeom>
            <a:avLst/>
            <a:gdLst/>
            <a:ahLst/>
            <a:cxnLst/>
            <a:rect l="0" t="0" r="0" b="0"/>
            <a:pathLst>
              <a:path w="8067675" h="419100">
                <a:moveTo>
                  <a:pt x="0" y="0"/>
                </a:moveTo>
                <a:lnTo>
                  <a:pt x="0" y="419100"/>
                </a:lnTo>
                <a:lnTo>
                  <a:pt x="8067675" y="419100"/>
                </a:lnTo>
                <a:lnTo>
                  <a:pt x="806767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43">
            <a:extLst>
              <a:ext uri="{FF2B5EF4-FFF2-40B4-BE49-F238E27FC236}">
                <a16:creationId xmlns:a16="http://schemas.microsoft.com/office/drawing/2014/main" id="{A0F3D2B9-26A8-4DE0-96CD-A6B54A80DC14}"/>
              </a:ext>
            </a:extLst>
          </p:cNvPr>
          <p:cNvSpPr>
            <a:spLocks noGrp="1"/>
          </p:cNvSpPr>
          <p:nvPr/>
        </p:nvSpPr>
        <p:spPr>
          <a:xfrm>
            <a:off x="9896475" y="30099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text-44">
            <a:extLst>
              <a:ext uri="{FF2B5EF4-FFF2-40B4-BE49-F238E27FC236}">
                <a16:creationId xmlns:a16="http://schemas.microsoft.com/office/drawing/2014/main" id="{CBADEC87-9884-4861-941C-C348BCCEFE1A}"/>
              </a:ext>
            </a:extLst>
          </p:cNvPr>
          <p:cNvSpPr>
            <a:spLocks noGrp="1"/>
          </p:cNvSpPr>
          <p:nvPr/>
        </p:nvSpPr>
        <p:spPr>
          <a:xfrm>
            <a:off x="2276475" y="3124200"/>
            <a:ext cx="1476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发起召回</a:t>
            </a:r>
          </a:p>
        </p:txBody>
      </p:sp>
      <p:sp>
        <p:nvSpPr>
          <p:cNvPr id="15" name="route-45">
            <a:extLst>
              <a:ext uri="{FF2B5EF4-FFF2-40B4-BE49-F238E27FC236}">
                <a16:creationId xmlns:a16="http://schemas.microsoft.com/office/drawing/2014/main" id="{9101D799-B8B6-470C-A63D-9FECE8061E10}"/>
              </a:ext>
            </a:extLst>
          </p:cNvPr>
          <p:cNvSpPr>
            <a:spLocks noGrp="1"/>
          </p:cNvSpPr>
          <p:nvPr/>
        </p:nvSpPr>
        <p:spPr>
          <a:xfrm>
            <a:off x="7477125" y="2495550"/>
            <a:ext cx="809625" cy="95"/>
          </a:xfrm>
          <a:custGeom>
            <a:avLst/>
            <a:gdLst/>
            <a:ahLst/>
            <a:cxnLst/>
            <a:rect l="0" t="0" r="0" b="0"/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46">
            <a:extLst>
              <a:ext uri="{FF2B5EF4-FFF2-40B4-BE49-F238E27FC236}">
                <a16:creationId xmlns:a16="http://schemas.microsoft.com/office/drawing/2014/main" id="{626483F6-2469-4228-B977-AAA6E7E23E0B}"/>
              </a:ext>
            </a:extLst>
          </p:cNvPr>
          <p:cNvSpPr>
            <a:spLocks noGrp="1"/>
          </p:cNvSpPr>
          <p:nvPr/>
        </p:nvSpPr>
        <p:spPr>
          <a:xfrm>
            <a:off x="8210550" y="24574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text-47">
            <a:extLst>
              <a:ext uri="{FF2B5EF4-FFF2-40B4-BE49-F238E27FC236}">
                <a16:creationId xmlns:a16="http://schemas.microsoft.com/office/drawing/2014/main" id="{5BE75AE0-9F27-485B-92B0-632FFB7300CD}"/>
              </a:ext>
            </a:extLst>
          </p:cNvPr>
          <p:cNvSpPr>
            <a:spLocks noGrp="1"/>
          </p:cNvSpPr>
          <p:nvPr/>
        </p:nvSpPr>
        <p:spPr>
          <a:xfrm>
            <a:off x="7410450" y="2171700"/>
            <a:ext cx="942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资格 / 正文</a:t>
            </a:r>
          </a:p>
        </p:txBody>
      </p:sp>
      <p:sp>
        <p:nvSpPr>
          <p:cNvPr id="18" name="node-48">
            <a:extLst>
              <a:ext uri="{FF2B5EF4-FFF2-40B4-BE49-F238E27FC236}">
                <a16:creationId xmlns:a16="http://schemas.microsoft.com/office/drawing/2014/main" id="{CF5AA2DB-F056-4DDF-BC8B-C6A29031AE18}"/>
              </a:ext>
            </a:extLst>
          </p:cNvPr>
          <p:cNvSpPr>
            <a:spLocks noGrp="1"/>
          </p:cNvSpPr>
          <p:nvPr/>
        </p:nvSpPr>
        <p:spPr>
          <a:xfrm>
            <a:off x="4181475" y="4038600"/>
            <a:ext cx="3295650" cy="10668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存储变化与实际读取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通过 RF 可靠交接</a:t>
            </a:r>
          </a:p>
        </p:txBody>
      </p:sp>
      <p:sp>
        <p:nvSpPr>
          <p:cNvPr id="19" name="node-49">
            <a:extLst>
              <a:ext uri="{FF2B5EF4-FFF2-40B4-BE49-F238E27FC236}">
                <a16:creationId xmlns:a16="http://schemas.microsoft.com/office/drawing/2014/main" id="{96376587-6A5F-45BD-9456-3A00C342CFAA}"/>
              </a:ext>
            </a:extLst>
          </p:cNvPr>
          <p:cNvSpPr>
            <a:spLocks noGrp="1"/>
          </p:cNvSpPr>
          <p:nvPr/>
        </p:nvSpPr>
        <p:spPr>
          <a:xfrm>
            <a:off x="8286750" y="4038600"/>
            <a:ext cx="3295650" cy="10668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 内部运行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判断、执行、核对结果</a:t>
            </a:r>
          </a:p>
        </p:txBody>
      </p:sp>
      <p:sp>
        <p:nvSpPr>
          <p:cNvPr id="20" name="route-50">
            <a:extLst>
              <a:ext uri="{FF2B5EF4-FFF2-40B4-BE49-F238E27FC236}">
                <a16:creationId xmlns:a16="http://schemas.microsoft.com/office/drawing/2014/main" id="{1450E9B3-BD97-4544-8EA8-25DF894CAFCA}"/>
              </a:ext>
            </a:extLst>
          </p:cNvPr>
          <p:cNvSpPr>
            <a:spLocks noGrp="1"/>
          </p:cNvSpPr>
          <p:nvPr/>
        </p:nvSpPr>
        <p:spPr>
          <a:xfrm>
            <a:off x="5829300" y="3009900"/>
            <a:ext cx="95" cy="1028700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1" name="route-51">
            <a:extLst>
              <a:ext uri="{FF2B5EF4-FFF2-40B4-BE49-F238E27FC236}">
                <a16:creationId xmlns:a16="http://schemas.microsoft.com/office/drawing/2014/main" id="{EFC25144-CC0D-4A1B-9115-9896BD47ACCE}"/>
              </a:ext>
            </a:extLst>
          </p:cNvPr>
          <p:cNvSpPr>
            <a:spLocks noGrp="1"/>
          </p:cNvSpPr>
          <p:nvPr/>
        </p:nvSpPr>
        <p:spPr>
          <a:xfrm>
            <a:off x="5791200" y="39624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2" name="route-52">
            <a:extLst>
              <a:ext uri="{FF2B5EF4-FFF2-40B4-BE49-F238E27FC236}">
                <a16:creationId xmlns:a16="http://schemas.microsoft.com/office/drawing/2014/main" id="{F7A5CA18-8973-4E4B-B209-F53F855F6C2A}"/>
              </a:ext>
            </a:extLst>
          </p:cNvPr>
          <p:cNvSpPr>
            <a:spLocks noGrp="1"/>
          </p:cNvSpPr>
          <p:nvPr/>
        </p:nvSpPr>
        <p:spPr>
          <a:xfrm>
            <a:off x="9934575" y="3009900"/>
            <a:ext cx="95" cy="1028700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3" name="route-53">
            <a:extLst>
              <a:ext uri="{FF2B5EF4-FFF2-40B4-BE49-F238E27FC236}">
                <a16:creationId xmlns:a16="http://schemas.microsoft.com/office/drawing/2014/main" id="{ECD2C041-7230-4E09-927B-0175580EDF13}"/>
              </a:ext>
            </a:extLst>
          </p:cNvPr>
          <p:cNvSpPr>
            <a:spLocks noGrp="1"/>
          </p:cNvSpPr>
          <p:nvPr/>
        </p:nvSpPr>
        <p:spPr>
          <a:xfrm>
            <a:off x="9896475" y="39624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4" name="route-54">
            <a:extLst>
              <a:ext uri="{FF2B5EF4-FFF2-40B4-BE49-F238E27FC236}">
                <a16:creationId xmlns:a16="http://schemas.microsoft.com/office/drawing/2014/main" id="{1764E62F-168A-486F-A1D1-58A63F90C355}"/>
              </a:ext>
            </a:extLst>
          </p:cNvPr>
          <p:cNvSpPr>
            <a:spLocks noGrp="1"/>
          </p:cNvSpPr>
          <p:nvPr/>
        </p:nvSpPr>
        <p:spPr>
          <a:xfrm>
            <a:off x="7477125" y="4572000"/>
            <a:ext cx="809625" cy="95"/>
          </a:xfrm>
          <a:custGeom>
            <a:avLst/>
            <a:gdLst/>
            <a:ahLst/>
            <a:cxnLst/>
            <a:rect l="0" t="0" r="0" b="0"/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5" name="route-55">
            <a:extLst>
              <a:ext uri="{FF2B5EF4-FFF2-40B4-BE49-F238E27FC236}">
                <a16:creationId xmlns:a16="http://schemas.microsoft.com/office/drawing/2014/main" id="{BC2DAA26-9D4F-4FC2-BFEA-C8D0859C7C48}"/>
              </a:ext>
            </a:extLst>
          </p:cNvPr>
          <p:cNvSpPr>
            <a:spLocks noGrp="1"/>
          </p:cNvSpPr>
          <p:nvPr/>
        </p:nvSpPr>
        <p:spPr>
          <a:xfrm>
            <a:off x="8210550" y="45339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6" name="text-56">
            <a:extLst>
              <a:ext uri="{FF2B5EF4-FFF2-40B4-BE49-F238E27FC236}">
                <a16:creationId xmlns:a16="http://schemas.microsoft.com/office/drawing/2014/main" id="{AFE7A0CE-BCF0-44A3-8353-A56C2A33AD72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28384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P2 等底层依赖</a:t>
            </a:r>
          </a:p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提供存取和执行能力</a:t>
            </a:r>
          </a:p>
        </p:txBody>
      </p:sp>
      <p:sp>
        <p:nvSpPr>
          <p:cNvPr id="27" name="text-57">
            <a:extLst>
              <a:ext uri="{FF2B5EF4-FFF2-40B4-BE49-F238E27FC236}">
                <a16:creationId xmlns:a16="http://schemas.microsoft.com/office/drawing/2014/main" id="{8114BC10-2C0B-4132-99D0-5477BA5852D4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同一场景贯穿：预算 20 万保存，后续更正为 15 万，再跨会话使用</a:t>
            </a:r>
          </a:p>
        </p:txBody>
      </p:sp>
    </p:spTree>
    <p:extLst>
      <p:ext uri="{BB962C8B-B14F-4D97-AF65-F5344CB8AC3E}">
        <p14:creationId xmlns:p14="http://schemas.microsoft.com/office/powerpoint/2010/main" val="29437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58">
            <a:extLst>
              <a:ext uri="{FF2B5EF4-FFF2-40B4-BE49-F238E27FC236}">
                <a16:creationId xmlns:a16="http://schemas.microsoft.com/office/drawing/2014/main" id="{7CC11C76-BC79-43C0-99D1-7A8625C785A8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59">
            <a:extLst>
              <a:ext uri="{FF2B5EF4-FFF2-40B4-BE49-F238E27FC236}">
                <a16:creationId xmlns:a16="http://schemas.microsoft.com/office/drawing/2014/main" id="{F91E5CD3-F400-40A4-B7BE-2FDBD751264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Remember：保存、加工与长期就绪</a:t>
            </a:r>
          </a:p>
        </p:txBody>
      </p:sp>
      <p:sp>
        <p:nvSpPr>
          <p:cNvPr id="3" name="text-60">
            <a:extLst>
              <a:ext uri="{FF2B5EF4-FFF2-40B4-BE49-F238E27FC236}">
                <a16:creationId xmlns:a16="http://schemas.microsoft.com/office/drawing/2014/main" id="{1D602063-6883-4473-B23A-89920B783601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B.1 / B.3 / B.4 / B.5 / B.6 / B.7，按主路径展开</a:t>
            </a:r>
          </a:p>
        </p:txBody>
      </p:sp>
      <p:sp>
        <p:nvSpPr>
          <p:cNvPr id="4" name="route-61">
            <a:extLst>
              <a:ext uri="{FF2B5EF4-FFF2-40B4-BE49-F238E27FC236}">
                <a16:creationId xmlns:a16="http://schemas.microsoft.com/office/drawing/2014/main" id="{C6ABBCF2-063B-4C73-8A0D-D0EF07F9035D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62">
            <a:extLst>
              <a:ext uri="{FF2B5EF4-FFF2-40B4-BE49-F238E27FC236}">
                <a16:creationId xmlns:a16="http://schemas.microsoft.com/office/drawing/2014/main" id="{32DCCF94-5EDE-41C8-A6BE-8E34A81F7AD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63">
            <a:extLst>
              <a:ext uri="{FF2B5EF4-FFF2-40B4-BE49-F238E27FC236}">
                <a16:creationId xmlns:a16="http://schemas.microsoft.com/office/drawing/2014/main" id="{529C4EF5-9359-48F6-8DEB-C9CAF9EAA5B6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sp>
        <p:nvSpPr>
          <p:cNvPr id="7" name="node-64">
            <a:extLst>
              <a:ext uri="{FF2B5EF4-FFF2-40B4-BE49-F238E27FC236}">
                <a16:creationId xmlns:a16="http://schemas.microsoft.com/office/drawing/2014/main" id="{FABF4E71-FF2A-408C-81E8-E2093351C71C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3371850" cy="13335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B.1 接入与保存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身份、来源、请求去重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原文与记忆记录可靠保存</a:t>
            </a:r>
          </a:p>
        </p:txBody>
      </p:sp>
      <p:sp>
        <p:nvSpPr>
          <p:cNvPr id="8" name="node-65">
            <a:extLst>
              <a:ext uri="{FF2B5EF4-FFF2-40B4-BE49-F238E27FC236}">
                <a16:creationId xmlns:a16="http://schemas.microsoft.com/office/drawing/2014/main" id="{57DFB037-92ED-4957-BC79-57848D880EED}"/>
              </a:ext>
            </a:extLst>
          </p:cNvPr>
          <p:cNvSpPr>
            <a:spLocks noGrp="1"/>
          </p:cNvSpPr>
          <p:nvPr/>
        </p:nvSpPr>
        <p:spPr>
          <a:xfrm>
            <a:off x="4486275" y="2009775"/>
            <a:ext cx="3371850" cy="13335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B.3 当前任务可用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写入适用 Working 内容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返回实际可用状态</a:t>
            </a:r>
          </a:p>
        </p:txBody>
      </p:sp>
      <p:sp>
        <p:nvSpPr>
          <p:cNvPr id="9" name="route-66">
            <a:extLst>
              <a:ext uri="{FF2B5EF4-FFF2-40B4-BE49-F238E27FC236}">
                <a16:creationId xmlns:a16="http://schemas.microsoft.com/office/drawing/2014/main" id="{77AB54FF-9268-44A8-A124-97EA4B74A1FA}"/>
              </a:ext>
            </a:extLst>
          </p:cNvPr>
          <p:cNvSpPr>
            <a:spLocks noGrp="1"/>
          </p:cNvSpPr>
          <p:nvPr/>
        </p:nvSpPr>
        <p:spPr>
          <a:xfrm>
            <a:off x="3981450" y="2676525"/>
            <a:ext cx="504825" cy="95"/>
          </a:xfrm>
          <a:custGeom>
            <a:avLst/>
            <a:gdLst/>
            <a:ahLst/>
            <a:cxnLst/>
            <a:rect l="0" t="0" r="0" b="0"/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0" name="route-67">
            <a:extLst>
              <a:ext uri="{FF2B5EF4-FFF2-40B4-BE49-F238E27FC236}">
                <a16:creationId xmlns:a16="http://schemas.microsoft.com/office/drawing/2014/main" id="{1F463D54-F073-4A4F-BAE2-CF688063F4E7}"/>
              </a:ext>
            </a:extLst>
          </p:cNvPr>
          <p:cNvSpPr>
            <a:spLocks noGrp="1"/>
          </p:cNvSpPr>
          <p:nvPr/>
        </p:nvSpPr>
        <p:spPr>
          <a:xfrm>
            <a:off x="4410075" y="26384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1" name="text-68">
            <a:extLst>
              <a:ext uri="{FF2B5EF4-FFF2-40B4-BE49-F238E27FC236}">
                <a16:creationId xmlns:a16="http://schemas.microsoft.com/office/drawing/2014/main" id="{4CDB923B-FAF1-4DFE-A5CB-E3EE90E88D72}"/>
              </a:ext>
            </a:extLst>
          </p:cNvPr>
          <p:cNvSpPr>
            <a:spLocks noGrp="1"/>
          </p:cNvSpPr>
          <p:nvPr/>
        </p:nvSpPr>
        <p:spPr>
          <a:xfrm>
            <a:off x="8324850" y="2095500"/>
            <a:ext cx="31623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先供当前任务使用</a:t>
            </a:r>
          </a:p>
        </p:txBody>
      </p:sp>
      <p:sp>
        <p:nvSpPr>
          <p:cNvPr id="12" name="node-69">
            <a:extLst>
              <a:ext uri="{FF2B5EF4-FFF2-40B4-BE49-F238E27FC236}">
                <a16:creationId xmlns:a16="http://schemas.microsoft.com/office/drawing/2014/main" id="{8FFD8874-7CF3-4CE8-A39B-94D0DC780BC6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3371850" cy="13335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B.4 持久后台加工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固定来源与版本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分段、压缩、摘要</a:t>
            </a:r>
          </a:p>
        </p:txBody>
      </p:sp>
      <p:sp>
        <p:nvSpPr>
          <p:cNvPr id="13" name="node-70">
            <a:extLst>
              <a:ext uri="{FF2B5EF4-FFF2-40B4-BE49-F238E27FC236}">
                <a16:creationId xmlns:a16="http://schemas.microsoft.com/office/drawing/2014/main" id="{B6B7E061-C930-4BBD-AF38-0EF9974F7D34}"/>
              </a:ext>
            </a:extLst>
          </p:cNvPr>
          <p:cNvSpPr>
            <a:spLocks noGrp="1"/>
          </p:cNvSpPr>
          <p:nvPr/>
        </p:nvSpPr>
        <p:spPr>
          <a:xfrm>
            <a:off x="4486275" y="4048125"/>
            <a:ext cx="3371850" cy="13335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B.5 形成正式记忆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模型提出候选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审核证据、冲突与版本</a:t>
            </a:r>
          </a:p>
        </p:txBody>
      </p:sp>
      <p:sp>
        <p:nvSpPr>
          <p:cNvPr id="14" name="node-71">
            <a:extLst>
              <a:ext uri="{FF2B5EF4-FFF2-40B4-BE49-F238E27FC236}">
                <a16:creationId xmlns:a16="http://schemas.microsoft.com/office/drawing/2014/main" id="{59255368-A5B4-449C-BE69-C89E0D2E06F9}"/>
              </a:ext>
            </a:extLst>
          </p:cNvPr>
          <p:cNvSpPr>
            <a:spLocks noGrp="1"/>
          </p:cNvSpPr>
          <p:nvPr/>
        </p:nvSpPr>
        <p:spPr>
          <a:xfrm>
            <a:off x="8372475" y="4048125"/>
            <a:ext cx="3209925" cy="13335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B.6 长期检索就绪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分块编码、写入索引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全部预期块核验后发布</a:t>
            </a:r>
          </a:p>
        </p:txBody>
      </p:sp>
      <p:sp>
        <p:nvSpPr>
          <p:cNvPr id="15" name="route-72">
            <a:extLst>
              <a:ext uri="{FF2B5EF4-FFF2-40B4-BE49-F238E27FC236}">
                <a16:creationId xmlns:a16="http://schemas.microsoft.com/office/drawing/2014/main" id="{0B48ABBC-2357-4A04-B09E-CBA23EED67DC}"/>
              </a:ext>
            </a:extLst>
          </p:cNvPr>
          <p:cNvSpPr>
            <a:spLocks noGrp="1"/>
          </p:cNvSpPr>
          <p:nvPr/>
        </p:nvSpPr>
        <p:spPr>
          <a:xfrm>
            <a:off x="2295525" y="3343275"/>
            <a:ext cx="95" cy="704850"/>
          </a:xfrm>
          <a:custGeom>
            <a:avLst/>
            <a:gdLst/>
            <a:ahLst/>
            <a:cxnLst/>
            <a:rect l="0" t="0" r="0" b="0"/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73">
            <a:extLst>
              <a:ext uri="{FF2B5EF4-FFF2-40B4-BE49-F238E27FC236}">
                <a16:creationId xmlns:a16="http://schemas.microsoft.com/office/drawing/2014/main" id="{41BBA65D-5F9B-4B85-A70D-E3A36E8F6A14}"/>
              </a:ext>
            </a:extLst>
          </p:cNvPr>
          <p:cNvSpPr>
            <a:spLocks noGrp="1"/>
          </p:cNvSpPr>
          <p:nvPr/>
        </p:nvSpPr>
        <p:spPr>
          <a:xfrm>
            <a:off x="2257425" y="39719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route-74">
            <a:extLst>
              <a:ext uri="{FF2B5EF4-FFF2-40B4-BE49-F238E27FC236}">
                <a16:creationId xmlns:a16="http://schemas.microsoft.com/office/drawing/2014/main" id="{C6A120EA-FE7F-41C4-A9B7-7AB0E1ACF523}"/>
              </a:ext>
            </a:extLst>
          </p:cNvPr>
          <p:cNvSpPr>
            <a:spLocks noGrp="1"/>
          </p:cNvSpPr>
          <p:nvPr/>
        </p:nvSpPr>
        <p:spPr>
          <a:xfrm>
            <a:off x="3981450" y="4714875"/>
            <a:ext cx="504825" cy="95"/>
          </a:xfrm>
          <a:custGeom>
            <a:avLst/>
            <a:gdLst/>
            <a:ahLst/>
            <a:cxnLst/>
            <a:rect l="0" t="0" r="0" b="0"/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8" name="route-75">
            <a:extLst>
              <a:ext uri="{FF2B5EF4-FFF2-40B4-BE49-F238E27FC236}">
                <a16:creationId xmlns:a16="http://schemas.microsoft.com/office/drawing/2014/main" id="{604F4CF7-934F-4D2F-9E5B-5B930A13CF96}"/>
              </a:ext>
            </a:extLst>
          </p:cNvPr>
          <p:cNvSpPr>
            <a:spLocks noGrp="1"/>
          </p:cNvSpPr>
          <p:nvPr/>
        </p:nvSpPr>
        <p:spPr>
          <a:xfrm>
            <a:off x="4410075" y="46767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9" name="route-76">
            <a:extLst>
              <a:ext uri="{FF2B5EF4-FFF2-40B4-BE49-F238E27FC236}">
                <a16:creationId xmlns:a16="http://schemas.microsoft.com/office/drawing/2014/main" id="{971329B4-C882-49DE-BBA5-1B691D81DFAE}"/>
              </a:ext>
            </a:extLst>
          </p:cNvPr>
          <p:cNvSpPr>
            <a:spLocks noGrp="1"/>
          </p:cNvSpPr>
          <p:nvPr/>
        </p:nvSpPr>
        <p:spPr>
          <a:xfrm>
            <a:off x="7858125" y="4714875"/>
            <a:ext cx="514350" cy="95"/>
          </a:xfrm>
          <a:custGeom>
            <a:avLst/>
            <a:gdLst/>
            <a:ahLst/>
            <a:cxnLst/>
            <a:rect l="0" t="0" r="0" b="0"/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0" name="route-77">
            <a:extLst>
              <a:ext uri="{FF2B5EF4-FFF2-40B4-BE49-F238E27FC236}">
                <a16:creationId xmlns:a16="http://schemas.microsoft.com/office/drawing/2014/main" id="{723AE279-1729-48CC-8229-0C45B985A44C}"/>
              </a:ext>
            </a:extLst>
          </p:cNvPr>
          <p:cNvSpPr>
            <a:spLocks noGrp="1"/>
          </p:cNvSpPr>
          <p:nvPr/>
        </p:nvSpPr>
        <p:spPr>
          <a:xfrm>
            <a:off x="8296275" y="46767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1" name="text-78">
            <a:extLst>
              <a:ext uri="{FF2B5EF4-FFF2-40B4-BE49-F238E27FC236}">
                <a16:creationId xmlns:a16="http://schemas.microsoft.com/office/drawing/2014/main" id="{577F2B3C-4C11-4586-9056-C2F49164BDB4}"/>
              </a:ext>
            </a:extLst>
          </p:cNvPr>
          <p:cNvSpPr>
            <a:spLocks noGrp="1"/>
          </p:cNvSpPr>
          <p:nvPr/>
        </p:nvSpPr>
        <p:spPr>
          <a:xfrm>
            <a:off x="4486275" y="3495675"/>
            <a:ext cx="7096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B.7 更正 / 删除：更新有效资格，阻断旧版本，再跟踪清理</a:t>
            </a:r>
          </a:p>
        </p:txBody>
      </p:sp>
      <p:sp>
        <p:nvSpPr>
          <p:cNvPr id="22" name="text-79">
            <a:extLst>
              <a:ext uri="{FF2B5EF4-FFF2-40B4-BE49-F238E27FC236}">
                <a16:creationId xmlns:a16="http://schemas.microsoft.com/office/drawing/2014/main" id="{5AD90FBD-70EF-42EF-A91A-444D6B10B8F6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“已保存”“当前可用”“长期就绪”分别报告，后台失败保留已确认事实</a:t>
            </a:r>
          </a:p>
        </p:txBody>
      </p:sp>
    </p:spTree>
    <p:extLst>
      <p:ext uri="{BB962C8B-B14F-4D97-AF65-F5344CB8AC3E}">
        <p14:creationId xmlns:p14="http://schemas.microsoft.com/office/powerpoint/2010/main" val="680446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80">
            <a:extLst>
              <a:ext uri="{FF2B5EF4-FFF2-40B4-BE49-F238E27FC236}">
                <a16:creationId xmlns:a16="http://schemas.microsoft.com/office/drawing/2014/main" id="{4B141769-8BBD-4CD6-A08A-A93AC03302B5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81">
            <a:extLst>
              <a:ext uri="{FF2B5EF4-FFF2-40B4-BE49-F238E27FC236}">
                <a16:creationId xmlns:a16="http://schemas.microsoft.com/office/drawing/2014/main" id="{9FC364CA-4BDC-4D62-9FB8-2E5B1ECCDBA3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Recall：把有效记忆组织成上下文</a:t>
            </a:r>
          </a:p>
        </p:txBody>
      </p:sp>
      <p:sp>
        <p:nvSpPr>
          <p:cNvPr id="3" name="text-82">
            <a:extLst>
              <a:ext uri="{FF2B5EF4-FFF2-40B4-BE49-F238E27FC236}">
                <a16:creationId xmlns:a16="http://schemas.microsoft.com/office/drawing/2014/main" id="{E50C8D02-EC1A-415B-851B-C646818C2C5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A.1 主流程，保留仅 Working 的独立读取路径</a:t>
            </a:r>
          </a:p>
        </p:txBody>
      </p:sp>
      <p:sp>
        <p:nvSpPr>
          <p:cNvPr id="4" name="route-83">
            <a:extLst>
              <a:ext uri="{FF2B5EF4-FFF2-40B4-BE49-F238E27FC236}">
                <a16:creationId xmlns:a16="http://schemas.microsoft.com/office/drawing/2014/main" id="{21809C2A-4EDF-42CF-8669-456A3F8E42ED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84">
            <a:extLst>
              <a:ext uri="{FF2B5EF4-FFF2-40B4-BE49-F238E27FC236}">
                <a16:creationId xmlns:a16="http://schemas.microsoft.com/office/drawing/2014/main" id="{34FE844F-299F-47C5-A8AE-9917A287637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85">
            <a:extLst>
              <a:ext uri="{FF2B5EF4-FFF2-40B4-BE49-F238E27FC236}">
                <a16:creationId xmlns:a16="http://schemas.microsoft.com/office/drawing/2014/main" id="{653DFFCD-AE4B-489D-AA0B-CFD2330692A0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7" name="node-86">
            <a:extLst>
              <a:ext uri="{FF2B5EF4-FFF2-40B4-BE49-F238E27FC236}">
                <a16:creationId xmlns:a16="http://schemas.microsoft.com/office/drawing/2014/main" id="{969C98A3-417C-4FAA-A1EF-9E56F0EC74B6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接收问题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范围与预算</a:t>
            </a:r>
          </a:p>
        </p:txBody>
      </p:sp>
      <p:sp>
        <p:nvSpPr>
          <p:cNvPr id="8" name="node-87">
            <a:extLst>
              <a:ext uri="{FF2B5EF4-FFF2-40B4-BE49-F238E27FC236}">
                <a16:creationId xmlns:a16="http://schemas.microsoft.com/office/drawing/2014/main" id="{F3E11DCF-5423-45A5-845C-05CDDD08B71A}"/>
              </a:ext>
            </a:extLst>
          </p:cNvPr>
          <p:cNvSpPr>
            <a:spLocks noGrp="1"/>
          </p:cNvSpPr>
          <p:nvPr/>
        </p:nvSpPr>
        <p:spPr>
          <a:xfrm>
            <a:off x="2867025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选择来源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 / 长期 / 两者</a:t>
            </a:r>
          </a:p>
        </p:txBody>
      </p:sp>
      <p:sp>
        <p:nvSpPr>
          <p:cNvPr id="9" name="node-88">
            <a:extLst>
              <a:ext uri="{FF2B5EF4-FFF2-40B4-BE49-F238E27FC236}">
                <a16:creationId xmlns:a16="http://schemas.microsoft.com/office/drawing/2014/main" id="{5C347C0A-AC59-47C6-AD18-3CA4C0D123B8}"/>
              </a:ext>
            </a:extLst>
          </p:cNvPr>
          <p:cNvSpPr>
            <a:spLocks noGrp="1"/>
          </p:cNvSpPr>
          <p:nvPr/>
        </p:nvSpPr>
        <p:spPr>
          <a:xfrm>
            <a:off x="5124450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A.1a / A.1c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编码、块检索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聚合记忆候选</a:t>
            </a:r>
          </a:p>
        </p:txBody>
      </p:sp>
      <p:sp>
        <p:nvSpPr>
          <p:cNvPr id="10" name="node-89">
            <a:extLst>
              <a:ext uri="{FF2B5EF4-FFF2-40B4-BE49-F238E27FC236}">
                <a16:creationId xmlns:a16="http://schemas.microsoft.com/office/drawing/2014/main" id="{FF1E7EC8-DDB6-4576-802B-28ED1A2A3B5C}"/>
              </a:ext>
            </a:extLst>
          </p:cNvPr>
          <p:cNvSpPr>
            <a:spLocks noGrp="1"/>
          </p:cNvSpPr>
          <p:nvPr/>
        </p:nvSpPr>
        <p:spPr>
          <a:xfrm>
            <a:off x="7381875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A.1b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核验资格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读取完整正文</a:t>
            </a:r>
          </a:p>
        </p:txBody>
      </p:sp>
      <p:sp>
        <p:nvSpPr>
          <p:cNvPr id="11" name="node-90">
            <a:extLst>
              <a:ext uri="{FF2B5EF4-FFF2-40B4-BE49-F238E27FC236}">
                <a16:creationId xmlns:a16="http://schemas.microsoft.com/office/drawing/2014/main" id="{AFA3763B-820A-4AFE-AAF7-3C3299AFF9AF}"/>
              </a:ext>
            </a:extLst>
          </p:cNvPr>
          <p:cNvSpPr>
            <a:spLocks noGrp="1"/>
          </p:cNvSpPr>
          <p:nvPr/>
        </p:nvSpPr>
        <p:spPr>
          <a:xfrm>
            <a:off x="9639300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A.1d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关系与排序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整包预算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最终核验</a:t>
            </a:r>
          </a:p>
        </p:txBody>
      </p:sp>
      <p:sp>
        <p:nvSpPr>
          <p:cNvPr id="12" name="route-91">
            <a:extLst>
              <a:ext uri="{FF2B5EF4-FFF2-40B4-BE49-F238E27FC236}">
                <a16:creationId xmlns:a16="http://schemas.microsoft.com/office/drawing/2014/main" id="{B57317B0-5995-40C9-88D7-3F2EE92188B9}"/>
              </a:ext>
            </a:extLst>
          </p:cNvPr>
          <p:cNvSpPr>
            <a:spLocks noGrp="1"/>
          </p:cNvSpPr>
          <p:nvPr/>
        </p:nvSpPr>
        <p:spPr>
          <a:xfrm>
            <a:off x="2552700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92">
            <a:extLst>
              <a:ext uri="{FF2B5EF4-FFF2-40B4-BE49-F238E27FC236}">
                <a16:creationId xmlns:a16="http://schemas.microsoft.com/office/drawing/2014/main" id="{FB47B9CC-77CA-4B33-B592-6B4A16673159}"/>
              </a:ext>
            </a:extLst>
          </p:cNvPr>
          <p:cNvSpPr>
            <a:spLocks noGrp="1"/>
          </p:cNvSpPr>
          <p:nvPr/>
        </p:nvSpPr>
        <p:spPr>
          <a:xfrm>
            <a:off x="2790825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route-93">
            <a:extLst>
              <a:ext uri="{FF2B5EF4-FFF2-40B4-BE49-F238E27FC236}">
                <a16:creationId xmlns:a16="http://schemas.microsoft.com/office/drawing/2014/main" id="{EA659334-1033-4E35-89D3-9438CD4FFBD4}"/>
              </a:ext>
            </a:extLst>
          </p:cNvPr>
          <p:cNvSpPr>
            <a:spLocks noGrp="1"/>
          </p:cNvSpPr>
          <p:nvPr/>
        </p:nvSpPr>
        <p:spPr>
          <a:xfrm>
            <a:off x="4810125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5" name="route-94">
            <a:extLst>
              <a:ext uri="{FF2B5EF4-FFF2-40B4-BE49-F238E27FC236}">
                <a16:creationId xmlns:a16="http://schemas.microsoft.com/office/drawing/2014/main" id="{2AEC1E56-8D6A-4267-B3F7-177B82EBEDA3}"/>
              </a:ext>
            </a:extLst>
          </p:cNvPr>
          <p:cNvSpPr>
            <a:spLocks noGrp="1"/>
          </p:cNvSpPr>
          <p:nvPr/>
        </p:nvSpPr>
        <p:spPr>
          <a:xfrm>
            <a:off x="5048250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95">
            <a:extLst>
              <a:ext uri="{FF2B5EF4-FFF2-40B4-BE49-F238E27FC236}">
                <a16:creationId xmlns:a16="http://schemas.microsoft.com/office/drawing/2014/main" id="{81442609-05E9-48B8-816C-E5C94E593BC6}"/>
              </a:ext>
            </a:extLst>
          </p:cNvPr>
          <p:cNvSpPr>
            <a:spLocks noGrp="1"/>
          </p:cNvSpPr>
          <p:nvPr/>
        </p:nvSpPr>
        <p:spPr>
          <a:xfrm>
            <a:off x="7067550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route-96">
            <a:extLst>
              <a:ext uri="{FF2B5EF4-FFF2-40B4-BE49-F238E27FC236}">
                <a16:creationId xmlns:a16="http://schemas.microsoft.com/office/drawing/2014/main" id="{7B9B30A7-44A2-4CE5-B564-25B88A0A1E06}"/>
              </a:ext>
            </a:extLst>
          </p:cNvPr>
          <p:cNvSpPr>
            <a:spLocks noGrp="1"/>
          </p:cNvSpPr>
          <p:nvPr/>
        </p:nvSpPr>
        <p:spPr>
          <a:xfrm>
            <a:off x="7305675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8" name="route-97">
            <a:extLst>
              <a:ext uri="{FF2B5EF4-FFF2-40B4-BE49-F238E27FC236}">
                <a16:creationId xmlns:a16="http://schemas.microsoft.com/office/drawing/2014/main" id="{1A9CE652-C3ED-4C65-AD01-F6B241A44A78}"/>
              </a:ext>
            </a:extLst>
          </p:cNvPr>
          <p:cNvSpPr>
            <a:spLocks noGrp="1"/>
          </p:cNvSpPr>
          <p:nvPr/>
        </p:nvSpPr>
        <p:spPr>
          <a:xfrm>
            <a:off x="9324975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9" name="route-98">
            <a:extLst>
              <a:ext uri="{FF2B5EF4-FFF2-40B4-BE49-F238E27FC236}">
                <a16:creationId xmlns:a16="http://schemas.microsoft.com/office/drawing/2014/main" id="{B9E22559-4FC6-4E27-8AAF-C148E4BB7D3C}"/>
              </a:ext>
            </a:extLst>
          </p:cNvPr>
          <p:cNvSpPr>
            <a:spLocks noGrp="1"/>
          </p:cNvSpPr>
          <p:nvPr/>
        </p:nvSpPr>
        <p:spPr>
          <a:xfrm>
            <a:off x="9563100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0" name="node-99">
            <a:extLst>
              <a:ext uri="{FF2B5EF4-FFF2-40B4-BE49-F238E27FC236}">
                <a16:creationId xmlns:a16="http://schemas.microsoft.com/office/drawing/2014/main" id="{AB145FD0-A65F-45D5-B7D8-7DAD91A2E2F9}"/>
              </a:ext>
            </a:extLst>
          </p:cNvPr>
          <p:cNvSpPr>
            <a:spLocks noGrp="1"/>
          </p:cNvSpPr>
          <p:nvPr/>
        </p:nvSpPr>
        <p:spPr>
          <a:xfrm>
            <a:off x="2867025" y="4171950"/>
            <a:ext cx="2514600" cy="981075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仅 Working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直接读取有效正文</a:t>
            </a:r>
          </a:p>
        </p:txBody>
      </p:sp>
      <p:sp>
        <p:nvSpPr>
          <p:cNvPr id="21" name="route-100">
            <a:extLst>
              <a:ext uri="{FF2B5EF4-FFF2-40B4-BE49-F238E27FC236}">
                <a16:creationId xmlns:a16="http://schemas.microsoft.com/office/drawing/2014/main" id="{CCB2040A-9088-4CFF-B425-4892F2029E62}"/>
              </a:ext>
            </a:extLst>
          </p:cNvPr>
          <p:cNvSpPr>
            <a:spLocks noGrp="1"/>
          </p:cNvSpPr>
          <p:nvPr/>
        </p:nvSpPr>
        <p:spPr>
          <a:xfrm>
            <a:off x="3838575" y="3400425"/>
            <a:ext cx="285750" cy="771525"/>
          </a:xfrm>
          <a:custGeom>
            <a:avLst/>
            <a:gdLst/>
            <a:ahLst/>
            <a:cxnLst/>
            <a:rect l="0" t="0" r="0" b="0"/>
            <a:pathLst>
              <a:path w="285750" h="771525">
                <a:moveTo>
                  <a:pt x="0" y="0"/>
                </a:moveTo>
                <a:lnTo>
                  <a:pt x="0" y="381000"/>
                </a:lnTo>
                <a:lnTo>
                  <a:pt x="285750" y="381000"/>
                </a:lnTo>
                <a:lnTo>
                  <a:pt x="285750" y="771525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2" name="route-101">
            <a:extLst>
              <a:ext uri="{FF2B5EF4-FFF2-40B4-BE49-F238E27FC236}">
                <a16:creationId xmlns:a16="http://schemas.microsoft.com/office/drawing/2014/main" id="{45398A8A-8F7E-4630-A707-F25F1C1D0A64}"/>
              </a:ext>
            </a:extLst>
          </p:cNvPr>
          <p:cNvSpPr>
            <a:spLocks noGrp="1"/>
          </p:cNvSpPr>
          <p:nvPr/>
        </p:nvSpPr>
        <p:spPr>
          <a:xfrm>
            <a:off x="4086225" y="40957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3" name="node-102">
            <a:extLst>
              <a:ext uri="{FF2B5EF4-FFF2-40B4-BE49-F238E27FC236}">
                <a16:creationId xmlns:a16="http://schemas.microsoft.com/office/drawing/2014/main" id="{8181A90E-5B16-421E-8FAA-02FB79D191EF}"/>
              </a:ext>
            </a:extLst>
          </p:cNvPr>
          <p:cNvSpPr>
            <a:spLocks noGrp="1"/>
          </p:cNvSpPr>
          <p:nvPr/>
        </p:nvSpPr>
        <p:spPr>
          <a:xfrm>
            <a:off x="8448675" y="4171950"/>
            <a:ext cx="3133725" cy="981075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条件提交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上下文、来源与原请求</a:t>
            </a:r>
          </a:p>
        </p:txBody>
      </p:sp>
      <p:sp>
        <p:nvSpPr>
          <p:cNvPr id="24" name="route-103">
            <a:extLst>
              <a:ext uri="{FF2B5EF4-FFF2-40B4-BE49-F238E27FC236}">
                <a16:creationId xmlns:a16="http://schemas.microsoft.com/office/drawing/2014/main" id="{ACA7FB6A-22CD-48AD-A21A-9CABB8DC7405}"/>
              </a:ext>
            </a:extLst>
          </p:cNvPr>
          <p:cNvSpPr>
            <a:spLocks noGrp="1"/>
          </p:cNvSpPr>
          <p:nvPr/>
        </p:nvSpPr>
        <p:spPr>
          <a:xfrm>
            <a:off x="10015538" y="3400425"/>
            <a:ext cx="1033463" cy="771525"/>
          </a:xfrm>
          <a:custGeom>
            <a:avLst/>
            <a:gdLst/>
            <a:ahLst/>
            <a:cxnLst/>
            <a:rect l="0" t="0" r="0" b="0"/>
            <a:pathLst>
              <a:path w="1033463" h="771525">
                <a:moveTo>
                  <a:pt x="1033463" y="0"/>
                </a:moveTo>
                <a:lnTo>
                  <a:pt x="1033463" y="504825"/>
                </a:lnTo>
                <a:lnTo>
                  <a:pt x="0" y="504825"/>
                </a:lnTo>
                <a:lnTo>
                  <a:pt x="0" y="771525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5" name="route-104">
            <a:extLst>
              <a:ext uri="{FF2B5EF4-FFF2-40B4-BE49-F238E27FC236}">
                <a16:creationId xmlns:a16="http://schemas.microsoft.com/office/drawing/2014/main" id="{A33F4CF8-8ACD-48C9-850A-9CCD4AB1AABA}"/>
              </a:ext>
            </a:extLst>
          </p:cNvPr>
          <p:cNvSpPr>
            <a:spLocks noGrp="1"/>
          </p:cNvSpPr>
          <p:nvPr/>
        </p:nvSpPr>
        <p:spPr>
          <a:xfrm>
            <a:off x="9977438" y="40957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6" name="route-105">
            <a:extLst>
              <a:ext uri="{FF2B5EF4-FFF2-40B4-BE49-F238E27FC236}">
                <a16:creationId xmlns:a16="http://schemas.microsoft.com/office/drawing/2014/main" id="{E364B665-94D5-4A83-8CFD-02A0697C7291}"/>
              </a:ext>
            </a:extLst>
          </p:cNvPr>
          <p:cNvSpPr>
            <a:spLocks noGrp="1"/>
          </p:cNvSpPr>
          <p:nvPr/>
        </p:nvSpPr>
        <p:spPr>
          <a:xfrm>
            <a:off x="5381625" y="3400425"/>
            <a:ext cx="4714875" cy="1262063"/>
          </a:xfrm>
          <a:custGeom>
            <a:avLst/>
            <a:gdLst/>
            <a:ahLst/>
            <a:cxnLst/>
            <a:rect l="0" t="0" r="0" b="0"/>
            <a:pathLst>
              <a:path w="4714875" h="1262063">
                <a:moveTo>
                  <a:pt x="0" y="1262063"/>
                </a:moveTo>
                <a:lnTo>
                  <a:pt x="1238250" y="1262063"/>
                </a:lnTo>
                <a:lnTo>
                  <a:pt x="1238250" y="333375"/>
                </a:lnTo>
                <a:lnTo>
                  <a:pt x="4714875" y="333375"/>
                </a:lnTo>
                <a:lnTo>
                  <a:pt x="4714875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7" name="route-106">
            <a:extLst>
              <a:ext uri="{FF2B5EF4-FFF2-40B4-BE49-F238E27FC236}">
                <a16:creationId xmlns:a16="http://schemas.microsoft.com/office/drawing/2014/main" id="{8A9AA7D9-A12C-4550-8522-692ECC722C9C}"/>
              </a:ext>
            </a:extLst>
          </p:cNvPr>
          <p:cNvSpPr>
            <a:spLocks noGrp="1"/>
          </p:cNvSpPr>
          <p:nvPr/>
        </p:nvSpPr>
        <p:spPr>
          <a:xfrm>
            <a:off x="10058400" y="34004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8" name="text-107">
            <a:extLst>
              <a:ext uri="{FF2B5EF4-FFF2-40B4-BE49-F238E27FC236}">
                <a16:creationId xmlns:a16="http://schemas.microsoft.com/office/drawing/2014/main" id="{2A3DD460-2093-4EA6-9E89-E6F2D3B529FB}"/>
              </a:ext>
            </a:extLst>
          </p:cNvPr>
          <p:cNvSpPr>
            <a:spLocks noGrp="1"/>
          </p:cNvSpPr>
          <p:nvPr/>
        </p:nvSpPr>
        <p:spPr>
          <a:xfrm>
            <a:off x="5724525" y="5210175"/>
            <a:ext cx="5810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跳过长期检索，仍核验与组包</a:t>
            </a:r>
          </a:p>
        </p:txBody>
      </p:sp>
      <p:sp>
        <p:nvSpPr>
          <p:cNvPr id="29" name="text-108">
            <a:extLst>
              <a:ext uri="{FF2B5EF4-FFF2-40B4-BE49-F238E27FC236}">
                <a16:creationId xmlns:a16="http://schemas.microsoft.com/office/drawing/2014/main" id="{B1F2F063-6D7D-41DB-8461-63FA9889C837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990725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完整 / 正常空</a:t>
            </a:r>
          </a:p>
          <a:p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降级可用 / 不可用</a:t>
            </a:r>
          </a:p>
        </p:txBody>
      </p:sp>
      <p:sp>
        <p:nvSpPr>
          <p:cNvPr id="30" name="text-109">
            <a:extLst>
              <a:ext uri="{FF2B5EF4-FFF2-40B4-BE49-F238E27FC236}">
                <a16:creationId xmlns:a16="http://schemas.microsoft.com/office/drawing/2014/main" id="{DAE347EF-7791-4603-AB00-AFE032C07DDF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有独立可信材料时可说明缺失后降级；权限或有效性无法确认时阻断</a:t>
            </a:r>
          </a:p>
        </p:txBody>
      </p:sp>
    </p:spTree>
    <p:extLst>
      <p:ext uri="{BB962C8B-B14F-4D97-AF65-F5344CB8AC3E}">
        <p14:creationId xmlns:p14="http://schemas.microsoft.com/office/powerpoint/2010/main" val="188303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110">
            <a:extLst>
              <a:ext uri="{FF2B5EF4-FFF2-40B4-BE49-F238E27FC236}">
                <a16:creationId xmlns:a16="http://schemas.microsoft.com/office/drawing/2014/main" id="{61EBB016-FAF7-445B-AA13-D95190B4B31E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111">
            <a:extLst>
              <a:ext uri="{FF2B5EF4-FFF2-40B4-BE49-F238E27FC236}">
                <a16:creationId xmlns:a16="http://schemas.microsoft.com/office/drawing/2014/main" id="{E4B29707-4D6B-442B-9713-A1BA59FB1F98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Operate：持续判断、执行与核对</a:t>
            </a:r>
          </a:p>
        </p:txBody>
      </p:sp>
      <p:sp>
        <p:nvSpPr>
          <p:cNvPr id="3" name="text-112">
            <a:extLst>
              <a:ext uri="{FF2B5EF4-FFF2-40B4-BE49-F238E27FC236}">
                <a16:creationId xmlns:a16="http://schemas.microsoft.com/office/drawing/2014/main" id="{299B0805-9FEF-40A2-B894-80A428F2118D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C.1—C.3；存储、读取和周期检查共同触发</a:t>
            </a:r>
          </a:p>
        </p:txBody>
      </p:sp>
      <p:sp>
        <p:nvSpPr>
          <p:cNvPr id="4" name="route-113">
            <a:extLst>
              <a:ext uri="{FF2B5EF4-FFF2-40B4-BE49-F238E27FC236}">
                <a16:creationId xmlns:a16="http://schemas.microsoft.com/office/drawing/2014/main" id="{1BF48130-3F3B-4890-92E2-79EE35B797ED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14">
            <a:extLst>
              <a:ext uri="{FF2B5EF4-FFF2-40B4-BE49-F238E27FC236}">
                <a16:creationId xmlns:a16="http://schemas.microsoft.com/office/drawing/2014/main" id="{3EBEF510-78D1-48E0-9FC7-09819049DC6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5">
            <a:extLst>
              <a:ext uri="{FF2B5EF4-FFF2-40B4-BE49-F238E27FC236}">
                <a16:creationId xmlns:a16="http://schemas.microsoft.com/office/drawing/2014/main" id="{8257438F-2B01-4E70-AA2F-872BCDEBF05D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sp>
        <p:nvSpPr>
          <p:cNvPr id="7" name="node-116">
            <a:extLst>
              <a:ext uri="{FF2B5EF4-FFF2-40B4-BE49-F238E27FC236}">
                <a16:creationId xmlns:a16="http://schemas.microsoft.com/office/drawing/2014/main" id="{5C330C83-7AB2-4D68-8C22-7CE30D71CEF7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3200400" cy="13144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C.1 聚合与准入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事件去重、更新热度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同一记忆按序处理</a:t>
            </a:r>
          </a:p>
        </p:txBody>
      </p:sp>
      <p:sp>
        <p:nvSpPr>
          <p:cNvPr id="8" name="node-117">
            <a:extLst>
              <a:ext uri="{FF2B5EF4-FFF2-40B4-BE49-F238E27FC236}">
                <a16:creationId xmlns:a16="http://schemas.microsoft.com/office/drawing/2014/main" id="{920D905A-6A4F-413C-9847-CC36F17C95AF}"/>
              </a:ext>
            </a:extLst>
          </p:cNvPr>
          <p:cNvSpPr>
            <a:spLocks noGrp="1"/>
          </p:cNvSpPr>
          <p:nvPr/>
        </p:nvSpPr>
        <p:spPr>
          <a:xfrm>
            <a:off x="4495800" y="2047875"/>
            <a:ext cx="3200400" cy="13144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目标与资源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查实际状态、资格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核对容量和已有动作</a:t>
            </a:r>
          </a:p>
        </p:txBody>
      </p:sp>
      <p:sp>
        <p:nvSpPr>
          <p:cNvPr id="9" name="node-118">
            <a:extLst>
              <a:ext uri="{FF2B5EF4-FFF2-40B4-BE49-F238E27FC236}">
                <a16:creationId xmlns:a16="http://schemas.microsoft.com/office/drawing/2014/main" id="{A20934EF-E870-43F6-B504-36BF8AAD3B62}"/>
              </a:ext>
            </a:extLst>
          </p:cNvPr>
          <p:cNvSpPr>
            <a:spLocks noGrp="1"/>
          </p:cNvSpPr>
          <p:nvPr/>
        </p:nvSpPr>
        <p:spPr>
          <a:xfrm>
            <a:off x="8382000" y="2047875"/>
            <a:ext cx="3200400" cy="13144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保存动作并执行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固定原 action_id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执行约定的真实调整</a:t>
            </a:r>
          </a:p>
        </p:txBody>
      </p:sp>
      <p:sp>
        <p:nvSpPr>
          <p:cNvPr id="10" name="route-119">
            <a:extLst>
              <a:ext uri="{FF2B5EF4-FFF2-40B4-BE49-F238E27FC236}">
                <a16:creationId xmlns:a16="http://schemas.microsoft.com/office/drawing/2014/main" id="{16DB02EF-C3C3-4CD8-9531-EAB34752D7F8}"/>
              </a:ext>
            </a:extLst>
          </p:cNvPr>
          <p:cNvSpPr>
            <a:spLocks noGrp="1"/>
          </p:cNvSpPr>
          <p:nvPr/>
        </p:nvSpPr>
        <p:spPr>
          <a:xfrm>
            <a:off x="3810000" y="270510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1" name="route-120">
            <a:extLst>
              <a:ext uri="{FF2B5EF4-FFF2-40B4-BE49-F238E27FC236}">
                <a16:creationId xmlns:a16="http://schemas.microsoft.com/office/drawing/2014/main" id="{4DB86C49-E9E0-4B8F-B7A3-B54BC0330C40}"/>
              </a:ext>
            </a:extLst>
          </p:cNvPr>
          <p:cNvSpPr>
            <a:spLocks noGrp="1"/>
          </p:cNvSpPr>
          <p:nvPr/>
        </p:nvSpPr>
        <p:spPr>
          <a:xfrm>
            <a:off x="4419600" y="26670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2" name="route-121">
            <a:extLst>
              <a:ext uri="{FF2B5EF4-FFF2-40B4-BE49-F238E27FC236}">
                <a16:creationId xmlns:a16="http://schemas.microsoft.com/office/drawing/2014/main" id="{AC6857B9-A558-4CDA-BAB5-21C9AC06ED01}"/>
              </a:ext>
            </a:extLst>
          </p:cNvPr>
          <p:cNvSpPr>
            <a:spLocks noGrp="1"/>
          </p:cNvSpPr>
          <p:nvPr/>
        </p:nvSpPr>
        <p:spPr>
          <a:xfrm>
            <a:off x="7696200" y="270510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3" name="route-122">
            <a:extLst>
              <a:ext uri="{FF2B5EF4-FFF2-40B4-BE49-F238E27FC236}">
                <a16:creationId xmlns:a16="http://schemas.microsoft.com/office/drawing/2014/main" id="{C8654D49-EC8D-4CF8-90B8-DF9CEE327356}"/>
              </a:ext>
            </a:extLst>
          </p:cNvPr>
          <p:cNvSpPr>
            <a:spLocks noGrp="1"/>
          </p:cNvSpPr>
          <p:nvPr/>
        </p:nvSpPr>
        <p:spPr>
          <a:xfrm>
            <a:off x="8305800" y="26670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4" name="node-123">
            <a:extLst>
              <a:ext uri="{FF2B5EF4-FFF2-40B4-BE49-F238E27FC236}">
                <a16:creationId xmlns:a16="http://schemas.microsoft.com/office/drawing/2014/main" id="{30C1A880-9CE9-495C-A835-47852A6571DF}"/>
              </a:ext>
            </a:extLst>
          </p:cNvPr>
          <p:cNvSpPr>
            <a:spLocks noGrp="1"/>
          </p:cNvSpPr>
          <p:nvPr/>
        </p:nvSpPr>
        <p:spPr>
          <a:xfrm>
            <a:off x="8382000" y="4162425"/>
            <a:ext cx="3200400" cy="10858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查询与读回核验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确认目标版本和真实效果</a:t>
            </a:r>
          </a:p>
        </p:txBody>
      </p:sp>
      <p:sp>
        <p:nvSpPr>
          <p:cNvPr id="15" name="node-124">
            <a:extLst>
              <a:ext uri="{FF2B5EF4-FFF2-40B4-BE49-F238E27FC236}">
                <a16:creationId xmlns:a16="http://schemas.microsoft.com/office/drawing/2014/main" id="{661CD099-589C-4035-9807-84C0D1FEA5BE}"/>
              </a:ext>
            </a:extLst>
          </p:cNvPr>
          <p:cNvSpPr>
            <a:spLocks noGrp="1"/>
          </p:cNvSpPr>
          <p:nvPr/>
        </p:nvSpPr>
        <p:spPr>
          <a:xfrm>
            <a:off x="4495800" y="4162425"/>
            <a:ext cx="3200400" cy="10858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向 Remember 交接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条件更新地址后完成本轮</a:t>
            </a:r>
          </a:p>
        </p:txBody>
      </p:sp>
      <p:sp>
        <p:nvSpPr>
          <p:cNvPr id="16" name="node-125">
            <a:extLst>
              <a:ext uri="{FF2B5EF4-FFF2-40B4-BE49-F238E27FC236}">
                <a16:creationId xmlns:a16="http://schemas.microsoft.com/office/drawing/2014/main" id="{F574470D-C988-44FE-A14A-F990C06353FC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3200400" cy="10858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下一轮判断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按最新状态继续</a:t>
            </a:r>
          </a:p>
        </p:txBody>
      </p:sp>
      <p:sp>
        <p:nvSpPr>
          <p:cNvPr id="17" name="route-126">
            <a:extLst>
              <a:ext uri="{FF2B5EF4-FFF2-40B4-BE49-F238E27FC236}">
                <a16:creationId xmlns:a16="http://schemas.microsoft.com/office/drawing/2014/main" id="{DA3EE334-9508-4B9A-809F-F4DBD16D6EE6}"/>
              </a:ext>
            </a:extLst>
          </p:cNvPr>
          <p:cNvSpPr>
            <a:spLocks noGrp="1"/>
          </p:cNvSpPr>
          <p:nvPr/>
        </p:nvSpPr>
        <p:spPr>
          <a:xfrm>
            <a:off x="9982200" y="3362325"/>
            <a:ext cx="95" cy="800100"/>
          </a:xfrm>
          <a:custGeom>
            <a:avLst/>
            <a:gdLst/>
            <a:ahLst/>
            <a:cxnLst/>
            <a:rect l="0" t="0" r="0" b="0"/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8" name="route-127">
            <a:extLst>
              <a:ext uri="{FF2B5EF4-FFF2-40B4-BE49-F238E27FC236}">
                <a16:creationId xmlns:a16="http://schemas.microsoft.com/office/drawing/2014/main" id="{BA672A7C-659A-4C5A-A71E-CF5BD5921FF2}"/>
              </a:ext>
            </a:extLst>
          </p:cNvPr>
          <p:cNvSpPr>
            <a:spLocks noGrp="1"/>
          </p:cNvSpPr>
          <p:nvPr/>
        </p:nvSpPr>
        <p:spPr>
          <a:xfrm>
            <a:off x="9944100" y="40862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9" name="route-128">
            <a:extLst>
              <a:ext uri="{FF2B5EF4-FFF2-40B4-BE49-F238E27FC236}">
                <a16:creationId xmlns:a16="http://schemas.microsoft.com/office/drawing/2014/main" id="{B3DC70DA-51BF-4314-98FE-E82D52E89162}"/>
              </a:ext>
            </a:extLst>
          </p:cNvPr>
          <p:cNvSpPr>
            <a:spLocks noGrp="1"/>
          </p:cNvSpPr>
          <p:nvPr/>
        </p:nvSpPr>
        <p:spPr>
          <a:xfrm>
            <a:off x="7696200" y="470535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0" name="route-129">
            <a:extLst>
              <a:ext uri="{FF2B5EF4-FFF2-40B4-BE49-F238E27FC236}">
                <a16:creationId xmlns:a16="http://schemas.microsoft.com/office/drawing/2014/main" id="{346A6DA8-3EBA-40E2-A822-2BBA286C2AEF}"/>
              </a:ext>
            </a:extLst>
          </p:cNvPr>
          <p:cNvSpPr>
            <a:spLocks noGrp="1"/>
          </p:cNvSpPr>
          <p:nvPr/>
        </p:nvSpPr>
        <p:spPr>
          <a:xfrm>
            <a:off x="7696200" y="46672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1" name="route-130">
            <a:extLst>
              <a:ext uri="{FF2B5EF4-FFF2-40B4-BE49-F238E27FC236}">
                <a16:creationId xmlns:a16="http://schemas.microsoft.com/office/drawing/2014/main" id="{F59DC284-FDD9-4568-BEA5-9874866E30ED}"/>
              </a:ext>
            </a:extLst>
          </p:cNvPr>
          <p:cNvSpPr>
            <a:spLocks noGrp="1"/>
          </p:cNvSpPr>
          <p:nvPr/>
        </p:nvSpPr>
        <p:spPr>
          <a:xfrm>
            <a:off x="3810000" y="470535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2" name="route-131">
            <a:extLst>
              <a:ext uri="{FF2B5EF4-FFF2-40B4-BE49-F238E27FC236}">
                <a16:creationId xmlns:a16="http://schemas.microsoft.com/office/drawing/2014/main" id="{8B536E7E-C338-4C94-9384-717CD9A59C0B}"/>
              </a:ext>
            </a:extLst>
          </p:cNvPr>
          <p:cNvSpPr>
            <a:spLocks noGrp="1"/>
          </p:cNvSpPr>
          <p:nvPr/>
        </p:nvSpPr>
        <p:spPr>
          <a:xfrm>
            <a:off x="3810000" y="46672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3" name="route-132">
            <a:extLst>
              <a:ext uri="{FF2B5EF4-FFF2-40B4-BE49-F238E27FC236}">
                <a16:creationId xmlns:a16="http://schemas.microsoft.com/office/drawing/2014/main" id="{3912CF5E-8817-4A1D-AEAA-A4C27CE47449}"/>
              </a:ext>
            </a:extLst>
          </p:cNvPr>
          <p:cNvSpPr>
            <a:spLocks noGrp="1"/>
          </p:cNvSpPr>
          <p:nvPr/>
        </p:nvSpPr>
        <p:spPr>
          <a:xfrm>
            <a:off x="400050" y="2705100"/>
            <a:ext cx="209550" cy="2000250"/>
          </a:xfrm>
          <a:custGeom>
            <a:avLst/>
            <a:gdLst/>
            <a:ahLst/>
            <a:cxnLst/>
            <a:rect l="0" t="0" r="0" b="0"/>
            <a:pathLst>
              <a:path w="209550" h="2000250">
                <a:moveTo>
                  <a:pt x="209550" y="2000250"/>
                </a:moveTo>
                <a:lnTo>
                  <a:pt x="0" y="2000250"/>
                </a:ln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4" name="route-133">
            <a:extLst>
              <a:ext uri="{FF2B5EF4-FFF2-40B4-BE49-F238E27FC236}">
                <a16:creationId xmlns:a16="http://schemas.microsoft.com/office/drawing/2014/main" id="{6A217D77-D342-4000-A520-6AF2A1D6A90E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5" name="text-134">
            <a:extLst>
              <a:ext uri="{FF2B5EF4-FFF2-40B4-BE49-F238E27FC236}">
                <a16:creationId xmlns:a16="http://schemas.microsoft.com/office/drawing/2014/main" id="{E1C77E52-91C9-4B6F-B920-2959BD5D0481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回执丢失或结果未知：保留原动作，继续查询；不盲目重复执行</a:t>
            </a:r>
          </a:p>
        </p:txBody>
      </p:sp>
      <p:sp>
        <p:nvSpPr>
          <p:cNvPr id="26" name="text-135">
            <a:extLst>
              <a:ext uri="{FF2B5EF4-FFF2-40B4-BE49-F238E27FC236}">
                <a16:creationId xmlns:a16="http://schemas.microsoft.com/office/drawing/2014/main" id="{3B37703D-67DC-4145-9428-4F87CAB8403C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已验证本地缓存执行；P2 生产物理调整仍需约定目标并提供真实证据</a:t>
            </a:r>
          </a:p>
        </p:txBody>
      </p:sp>
    </p:spTree>
    <p:extLst>
      <p:ext uri="{BB962C8B-B14F-4D97-AF65-F5344CB8AC3E}">
        <p14:creationId xmlns:p14="http://schemas.microsoft.com/office/powerpoint/2010/main" val="655053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-136">
            <a:extLst>
              <a:ext uri="{FF2B5EF4-FFF2-40B4-BE49-F238E27FC236}">
                <a16:creationId xmlns:a16="http://schemas.microsoft.com/office/drawing/2014/main" id="{8AF72E9B-952F-4E4A-A518-D7EDF1DA49B5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37">
            <a:extLst>
              <a:ext uri="{FF2B5EF4-FFF2-40B4-BE49-F238E27FC236}">
                <a16:creationId xmlns:a16="http://schemas.microsoft.com/office/drawing/2014/main" id="{868A6E1B-12F3-4741-994C-8F26B007D08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总体方案与模块协作</a:t>
            </a:r>
          </a:p>
        </p:txBody>
      </p:sp>
      <p:sp>
        <p:nvSpPr>
          <p:cNvPr id="3" name="text-138">
            <a:extLst>
              <a:ext uri="{FF2B5EF4-FFF2-40B4-BE49-F238E27FC236}">
                <a16:creationId xmlns:a16="http://schemas.microsoft.com/office/drawing/2014/main" id="{2E4651E9-ED9F-4DA2-B2FD-FBF5FD90E87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逻辑模块共享可靠底座，当前采用单进程模块化装配</a:t>
            </a:r>
          </a:p>
        </p:txBody>
      </p:sp>
      <p:sp>
        <p:nvSpPr>
          <p:cNvPr id="4" name="route-139">
            <a:extLst>
              <a:ext uri="{FF2B5EF4-FFF2-40B4-BE49-F238E27FC236}">
                <a16:creationId xmlns:a16="http://schemas.microsoft.com/office/drawing/2014/main" id="{8EB61B4F-F033-4111-9EFA-6353D4A34337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40">
            <a:extLst>
              <a:ext uri="{FF2B5EF4-FFF2-40B4-BE49-F238E27FC236}">
                <a16:creationId xmlns:a16="http://schemas.microsoft.com/office/drawing/2014/main" id="{2815DFC1-C70F-470D-93D0-D7CA61610AC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41">
            <a:extLst>
              <a:ext uri="{FF2B5EF4-FFF2-40B4-BE49-F238E27FC236}">
                <a16:creationId xmlns:a16="http://schemas.microsoft.com/office/drawing/2014/main" id="{B5ADB9E8-F4F9-43B5-8D12-57C56574A38F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  <p:sp>
        <p:nvSpPr>
          <p:cNvPr id="7" name="node-142">
            <a:extLst>
              <a:ext uri="{FF2B5EF4-FFF2-40B4-BE49-F238E27FC236}">
                <a16:creationId xmlns:a16="http://schemas.microsoft.com/office/drawing/2014/main" id="{F8E95767-60E9-4311-8BD7-47CA0B463612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6191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统一接入：可信身份、租户范围、请求标识、状态查询</a:t>
            </a:r>
          </a:p>
        </p:txBody>
      </p:sp>
      <p:sp>
        <p:nvSpPr>
          <p:cNvPr id="8" name="node-143">
            <a:extLst>
              <a:ext uri="{FF2B5EF4-FFF2-40B4-BE49-F238E27FC236}">
                <a16:creationId xmlns:a16="http://schemas.microsoft.com/office/drawing/2014/main" id="{201B83C1-934F-485E-83E6-8E56918D778F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3238500" cy="128587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Remember（B）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维护事实与使用资格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提供正文、关系和复核</a:t>
            </a:r>
          </a:p>
        </p:txBody>
      </p:sp>
      <p:sp>
        <p:nvSpPr>
          <p:cNvPr id="9" name="node-144">
            <a:extLst>
              <a:ext uri="{FF2B5EF4-FFF2-40B4-BE49-F238E27FC236}">
                <a16:creationId xmlns:a16="http://schemas.microsoft.com/office/drawing/2014/main" id="{F2B01A44-370D-453D-B587-335270D5437A}"/>
              </a:ext>
            </a:extLst>
          </p:cNvPr>
          <p:cNvSpPr>
            <a:spLocks noGrp="1"/>
          </p:cNvSpPr>
          <p:nvPr/>
        </p:nvSpPr>
        <p:spPr>
          <a:xfrm>
            <a:off x="4476750" y="3038475"/>
            <a:ext cx="3238500" cy="128587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Recall（A）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选择有效候选并组包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维护共享编码 / 向量机制</a:t>
            </a:r>
          </a:p>
        </p:txBody>
      </p:sp>
      <p:sp>
        <p:nvSpPr>
          <p:cNvPr id="10" name="node-145">
            <a:extLst>
              <a:ext uri="{FF2B5EF4-FFF2-40B4-BE49-F238E27FC236}">
                <a16:creationId xmlns:a16="http://schemas.microsoft.com/office/drawing/2014/main" id="{7F3BCD63-04B5-4FEE-AC26-FE26BCA6725A}"/>
              </a:ext>
            </a:extLst>
          </p:cNvPr>
          <p:cNvSpPr>
            <a:spLocks noGrp="1"/>
          </p:cNvSpPr>
          <p:nvPr/>
        </p:nvSpPr>
        <p:spPr>
          <a:xfrm>
            <a:off x="8343900" y="3038475"/>
            <a:ext cx="3238500" cy="1285875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Operate（C）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调度访问准备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核对动作、向 B 交接</a:t>
            </a:r>
          </a:p>
        </p:txBody>
      </p:sp>
      <p:sp>
        <p:nvSpPr>
          <p:cNvPr id="11" name="route-146">
            <a:extLst>
              <a:ext uri="{FF2B5EF4-FFF2-40B4-BE49-F238E27FC236}">
                <a16:creationId xmlns:a16="http://schemas.microsoft.com/office/drawing/2014/main" id="{8193A37C-DE1A-4F7A-BBFA-22F3D10E4109}"/>
              </a:ext>
            </a:extLst>
          </p:cNvPr>
          <p:cNvSpPr>
            <a:spLocks noGrp="1"/>
          </p:cNvSpPr>
          <p:nvPr/>
        </p:nvSpPr>
        <p:spPr>
          <a:xfrm>
            <a:off x="2228850" y="2505075"/>
            <a:ext cx="3867150" cy="533400"/>
          </a:xfrm>
          <a:custGeom>
            <a:avLst/>
            <a:gdLst/>
            <a:ahLst/>
            <a:cxnLst/>
            <a:rect l="0" t="0" r="0" b="0"/>
            <a:pathLst>
              <a:path w="3867150" h="533400">
                <a:moveTo>
                  <a:pt x="3867150" y="0"/>
                </a:moveTo>
                <a:lnTo>
                  <a:pt x="3867150" y="219075"/>
                </a:lnTo>
                <a:lnTo>
                  <a:pt x="0" y="219075"/>
                </a:lnTo>
                <a:lnTo>
                  <a:pt x="0" y="5334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2" name="route-147">
            <a:extLst>
              <a:ext uri="{FF2B5EF4-FFF2-40B4-BE49-F238E27FC236}">
                <a16:creationId xmlns:a16="http://schemas.microsoft.com/office/drawing/2014/main" id="{4947DA11-B48A-4E8E-8F6E-852ACD3CCDF0}"/>
              </a:ext>
            </a:extLst>
          </p:cNvPr>
          <p:cNvSpPr>
            <a:spLocks noGrp="1"/>
          </p:cNvSpPr>
          <p:nvPr/>
        </p:nvSpPr>
        <p:spPr>
          <a:xfrm>
            <a:off x="2190750" y="29622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148">
            <a:extLst>
              <a:ext uri="{FF2B5EF4-FFF2-40B4-BE49-F238E27FC236}">
                <a16:creationId xmlns:a16="http://schemas.microsoft.com/office/drawing/2014/main" id="{E9D628E5-2DEC-4120-9476-203D0B1BF012}"/>
              </a:ext>
            </a:extLst>
          </p:cNvPr>
          <p:cNvSpPr>
            <a:spLocks noGrp="1"/>
          </p:cNvSpPr>
          <p:nvPr/>
        </p:nvSpPr>
        <p:spPr>
          <a:xfrm>
            <a:off x="6096000" y="2724150"/>
            <a:ext cx="95" cy="314325"/>
          </a:xfrm>
          <a:custGeom>
            <a:avLst/>
            <a:gdLst/>
            <a:ahLst/>
            <a:cxnLst/>
            <a:rect l="0" t="0" r="0" b="0"/>
            <a:pathLst>
              <a:path w="9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route-149">
            <a:extLst>
              <a:ext uri="{FF2B5EF4-FFF2-40B4-BE49-F238E27FC236}">
                <a16:creationId xmlns:a16="http://schemas.microsoft.com/office/drawing/2014/main" id="{EDBA99D0-8B44-4DBA-9B8B-164BA02771D0}"/>
              </a:ext>
            </a:extLst>
          </p:cNvPr>
          <p:cNvSpPr>
            <a:spLocks noGrp="1"/>
          </p:cNvSpPr>
          <p:nvPr/>
        </p:nvSpPr>
        <p:spPr>
          <a:xfrm>
            <a:off x="6057900" y="29622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5" name="route-150">
            <a:extLst>
              <a:ext uri="{FF2B5EF4-FFF2-40B4-BE49-F238E27FC236}">
                <a16:creationId xmlns:a16="http://schemas.microsoft.com/office/drawing/2014/main" id="{7C3EBC99-CF23-4301-A694-872D99113FEB}"/>
              </a:ext>
            </a:extLst>
          </p:cNvPr>
          <p:cNvSpPr>
            <a:spLocks noGrp="1"/>
          </p:cNvSpPr>
          <p:nvPr/>
        </p:nvSpPr>
        <p:spPr>
          <a:xfrm>
            <a:off x="3848100" y="3681413"/>
            <a:ext cx="628650" cy="95"/>
          </a:xfrm>
          <a:custGeom>
            <a:avLst/>
            <a:gdLst/>
            <a:ahLst/>
            <a:cxnLst/>
            <a:rect l="0" t="0" r="0" b="0"/>
            <a:pathLst>
              <a:path w="628650" h="95">
                <a:moveTo>
                  <a:pt x="6286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151">
            <a:extLst>
              <a:ext uri="{FF2B5EF4-FFF2-40B4-BE49-F238E27FC236}">
                <a16:creationId xmlns:a16="http://schemas.microsoft.com/office/drawing/2014/main" id="{A09386E5-8AF6-4A2D-BC29-EB2896C23B27}"/>
              </a:ext>
            </a:extLst>
          </p:cNvPr>
          <p:cNvSpPr>
            <a:spLocks noGrp="1"/>
          </p:cNvSpPr>
          <p:nvPr/>
        </p:nvSpPr>
        <p:spPr>
          <a:xfrm>
            <a:off x="3848100" y="364331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route-152">
            <a:extLst>
              <a:ext uri="{FF2B5EF4-FFF2-40B4-BE49-F238E27FC236}">
                <a16:creationId xmlns:a16="http://schemas.microsoft.com/office/drawing/2014/main" id="{E3DC30D6-61CD-48E0-97B8-E2508F465603}"/>
              </a:ext>
            </a:extLst>
          </p:cNvPr>
          <p:cNvSpPr>
            <a:spLocks noGrp="1"/>
          </p:cNvSpPr>
          <p:nvPr/>
        </p:nvSpPr>
        <p:spPr>
          <a:xfrm>
            <a:off x="7715250" y="3681413"/>
            <a:ext cx="628650" cy="95"/>
          </a:xfrm>
          <a:custGeom>
            <a:avLst/>
            <a:gdLst/>
            <a:ahLst/>
            <a:cxnLst/>
            <a:rect l="0" t="0" r="0" b="0"/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18" name="route-153">
            <a:extLst>
              <a:ext uri="{FF2B5EF4-FFF2-40B4-BE49-F238E27FC236}">
                <a16:creationId xmlns:a16="http://schemas.microsoft.com/office/drawing/2014/main" id="{A76C00D2-468C-4861-ABB7-412C8D27A90D}"/>
              </a:ext>
            </a:extLst>
          </p:cNvPr>
          <p:cNvSpPr>
            <a:spLocks noGrp="1"/>
          </p:cNvSpPr>
          <p:nvPr/>
        </p:nvSpPr>
        <p:spPr>
          <a:xfrm>
            <a:off x="8267700" y="364331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9" name="route-154">
            <a:extLst>
              <a:ext uri="{FF2B5EF4-FFF2-40B4-BE49-F238E27FC236}">
                <a16:creationId xmlns:a16="http://schemas.microsoft.com/office/drawing/2014/main" id="{19D142C7-9EEA-460F-9E21-8E3C32C0E777}"/>
              </a:ext>
            </a:extLst>
          </p:cNvPr>
          <p:cNvSpPr>
            <a:spLocks noGrp="1"/>
          </p:cNvSpPr>
          <p:nvPr/>
        </p:nvSpPr>
        <p:spPr>
          <a:xfrm>
            <a:off x="2228850" y="4324350"/>
            <a:ext cx="7734300" cy="180975"/>
          </a:xfrm>
          <a:custGeom>
            <a:avLst/>
            <a:gdLst/>
            <a:ahLst/>
            <a:cxnLst/>
            <a:rect l="0" t="0" r="0" b="0"/>
            <a:pathLst>
              <a:path w="7734300" h="180975">
                <a:moveTo>
                  <a:pt x="0" y="0"/>
                </a:moveTo>
                <a:lnTo>
                  <a:pt x="0" y="180975"/>
                </a:lnTo>
                <a:lnTo>
                  <a:pt x="7734300" y="180975"/>
                </a:lnTo>
                <a:lnTo>
                  <a:pt x="77343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0" name="route-155">
            <a:extLst>
              <a:ext uri="{FF2B5EF4-FFF2-40B4-BE49-F238E27FC236}">
                <a16:creationId xmlns:a16="http://schemas.microsoft.com/office/drawing/2014/main" id="{F172AD85-1F6B-4516-9B86-955DC4C2E934}"/>
              </a:ext>
            </a:extLst>
          </p:cNvPr>
          <p:cNvSpPr>
            <a:spLocks noGrp="1"/>
          </p:cNvSpPr>
          <p:nvPr/>
        </p:nvSpPr>
        <p:spPr>
          <a:xfrm>
            <a:off x="9925050" y="43243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1" name="text-156">
            <a:extLst>
              <a:ext uri="{FF2B5EF4-FFF2-40B4-BE49-F238E27FC236}">
                <a16:creationId xmlns:a16="http://schemas.microsoft.com/office/drawing/2014/main" id="{61B83D95-D626-45AC-9EF9-39BE2263FD02}"/>
              </a:ext>
            </a:extLst>
          </p:cNvPr>
          <p:cNvSpPr>
            <a:spLocks noGrp="1"/>
          </p:cNvSpPr>
          <p:nvPr/>
        </p:nvSpPr>
        <p:spPr>
          <a:xfrm>
            <a:off x="5238750" y="4391025"/>
            <a:ext cx="1714500" cy="238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存储变更事件</a:t>
            </a:r>
          </a:p>
        </p:txBody>
      </p:sp>
      <p:sp>
        <p:nvSpPr>
          <p:cNvPr id="22" name="node-157">
            <a:extLst>
              <a:ext uri="{FF2B5EF4-FFF2-40B4-BE49-F238E27FC236}">
                <a16:creationId xmlns:a16="http://schemas.microsoft.com/office/drawing/2014/main" id="{63EAE9DD-754B-4919-869F-4B66B9803A82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10972800" cy="561975"/>
          </a:xfrm>
          <a:prstGeom prst="rect">
            <a:avLst/>
          </a:prstGeom>
          <a:solidFill>
            <a:srgbClr val="E4EFF3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公共底座：事务、持久任务、可靠事件、授权、日志和恢复</a:t>
            </a:r>
          </a:p>
        </p:txBody>
      </p:sp>
      <p:sp>
        <p:nvSpPr>
          <p:cNvPr id="23" name="node-158">
            <a:extLst>
              <a:ext uri="{FF2B5EF4-FFF2-40B4-BE49-F238E27FC236}">
                <a16:creationId xmlns:a16="http://schemas.microsoft.com/office/drawing/2014/main" id="{44DCA816-609C-46B5-8DE5-0EBADC7683D2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972800" cy="561975"/>
          </a:xfrm>
          <a:prstGeom prst="rect">
            <a:avLst/>
          </a:prstGeom>
          <a:solidFill>
            <a:srgbClr val="FFFFFF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P2 / 约定提供方：对象、向量、关系、执行及可核对的结果</a:t>
            </a:r>
          </a:p>
        </p:txBody>
      </p:sp>
    </p:spTree>
    <p:extLst>
      <p:ext uri="{BB962C8B-B14F-4D97-AF65-F5344CB8AC3E}">
        <p14:creationId xmlns:p14="http://schemas.microsoft.com/office/powerpoint/2010/main" val="119595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59">
            <a:extLst>
              <a:ext uri="{FF2B5EF4-FFF2-40B4-BE49-F238E27FC236}">
                <a16:creationId xmlns:a16="http://schemas.microsoft.com/office/drawing/2014/main" id="{EDBAA14F-30BD-4F48-AE31-02F2E075E836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0">
            <a:extLst>
              <a:ext uri="{FF2B5EF4-FFF2-40B4-BE49-F238E27FC236}">
                <a16:creationId xmlns:a16="http://schemas.microsoft.com/office/drawing/2014/main" id="{4C21020A-9F86-4E69-9A33-5CBF1404D3C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记忆与数据方案</a:t>
            </a:r>
          </a:p>
        </p:txBody>
      </p:sp>
      <p:sp>
        <p:nvSpPr>
          <p:cNvPr id="3" name="text-161">
            <a:extLst>
              <a:ext uri="{FF2B5EF4-FFF2-40B4-BE49-F238E27FC236}">
                <a16:creationId xmlns:a16="http://schemas.microsoft.com/office/drawing/2014/main" id="{1B5AEB0B-5386-4721-B2C9-9F88B85CC006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记忆业务类型与访问层级是两个维度；热、温、冷不改变事实含义</a:t>
            </a:r>
          </a:p>
        </p:txBody>
      </p:sp>
      <p:sp>
        <p:nvSpPr>
          <p:cNvPr id="4" name="route-162">
            <a:extLst>
              <a:ext uri="{FF2B5EF4-FFF2-40B4-BE49-F238E27FC236}">
                <a16:creationId xmlns:a16="http://schemas.microsoft.com/office/drawing/2014/main" id="{9CDCF0AC-E763-4F6E-9449-CC6560DD5FFB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63">
            <a:extLst>
              <a:ext uri="{FF2B5EF4-FFF2-40B4-BE49-F238E27FC236}">
                <a16:creationId xmlns:a16="http://schemas.microsoft.com/office/drawing/2014/main" id="{7E7327F4-F124-4A75-98E3-1AFB1E4D159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64">
            <a:extLst>
              <a:ext uri="{FF2B5EF4-FFF2-40B4-BE49-F238E27FC236}">
                <a16:creationId xmlns:a16="http://schemas.microsoft.com/office/drawing/2014/main" id="{4801ACD7-8527-4C6F-A822-935A4F71DFC4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98695406"/>
              </p:ext>
            </p:extLst>
          </p:nvPr>
        </p:nvGraphicFramePr>
        <p:xfrm>
          <a:off x="609600" y="1962150"/>
          <a:ext cx="10972800" cy="3676650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预算案例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原文与来源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原件、来源版本、权限和位置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“预算 20 万”的会议原文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记忆记录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业务类型、当前版本、状态、正文引用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更正后，当前有效预算为 15 万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加工产物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 / 摘要、来源及质量结论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合格压缩保留数值、否定和条件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向量索引与缓存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检索位置 / 可选访问副本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旧命中和旧副本服从当前资格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-165">
            <a:extLst>
              <a:ext uri="{FF2B5EF4-FFF2-40B4-BE49-F238E27FC236}">
                <a16:creationId xmlns:a16="http://schemas.microsoft.com/office/drawing/2014/main" id="{3BDF0BE9-FC57-48D6-AAC7-66824ECC9F65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Working 当前任务　Episodic 事件经历　Semantic 稳定事实</a:t>
            </a:r>
          </a:p>
        </p:txBody>
      </p:sp>
    </p:spTree>
    <p:extLst>
      <p:ext uri="{BB962C8B-B14F-4D97-AF65-F5344CB8AC3E}">
        <p14:creationId xmlns:p14="http://schemas.microsoft.com/office/powerpoint/2010/main" val="556976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166">
            <a:extLst>
              <a:ext uri="{FF2B5EF4-FFF2-40B4-BE49-F238E27FC236}">
                <a16:creationId xmlns:a16="http://schemas.microsoft.com/office/drawing/2014/main" id="{881FE081-9DF6-4081-92CF-37B926B7D7B5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7">
            <a:extLst>
              <a:ext uri="{FF2B5EF4-FFF2-40B4-BE49-F238E27FC236}">
                <a16:creationId xmlns:a16="http://schemas.microsoft.com/office/drawing/2014/main" id="{8536F3D4-2279-4B77-8856-985A5D76553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语义检索与上下文方案</a:t>
            </a:r>
          </a:p>
        </p:txBody>
      </p:sp>
      <p:sp>
        <p:nvSpPr>
          <p:cNvPr id="3" name="text-168">
            <a:extLst>
              <a:ext uri="{FF2B5EF4-FFF2-40B4-BE49-F238E27FC236}">
                <a16:creationId xmlns:a16="http://schemas.microsoft.com/office/drawing/2014/main" id="{8EC967A3-B2F1-4E0A-973D-00CA1E5BC1CA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写入侧形成候选事实，查询侧找到线索；正式使用由业务规则控制</a:t>
            </a:r>
          </a:p>
        </p:txBody>
      </p:sp>
      <p:sp>
        <p:nvSpPr>
          <p:cNvPr id="4" name="route-169">
            <a:extLst>
              <a:ext uri="{FF2B5EF4-FFF2-40B4-BE49-F238E27FC236}">
                <a16:creationId xmlns:a16="http://schemas.microsoft.com/office/drawing/2014/main" id="{77B7FBBE-DC70-4FDD-8C88-F28C09045B51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70">
            <a:extLst>
              <a:ext uri="{FF2B5EF4-FFF2-40B4-BE49-F238E27FC236}">
                <a16:creationId xmlns:a16="http://schemas.microsoft.com/office/drawing/2014/main" id="{E2AA7754-4035-44AD-8A79-CBA3563467D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71">
            <a:extLst>
              <a:ext uri="{FF2B5EF4-FFF2-40B4-BE49-F238E27FC236}">
                <a16:creationId xmlns:a16="http://schemas.microsoft.com/office/drawing/2014/main" id="{8AE97228-5094-4FFC-999D-3EE50CBFAA31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  <p:sp>
        <p:nvSpPr>
          <p:cNvPr id="7" name="text-172">
            <a:extLst>
              <a:ext uri="{FF2B5EF4-FFF2-40B4-BE49-F238E27FC236}">
                <a16:creationId xmlns:a16="http://schemas.microsoft.com/office/drawing/2014/main" id="{62C3F76D-5DD1-41B9-9B44-310FE0894B7E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写入侧</a:t>
            </a:r>
          </a:p>
        </p:txBody>
      </p:sp>
      <p:sp>
        <p:nvSpPr>
          <p:cNvPr id="8" name="node-173">
            <a:extLst>
              <a:ext uri="{FF2B5EF4-FFF2-40B4-BE49-F238E27FC236}">
                <a16:creationId xmlns:a16="http://schemas.microsoft.com/office/drawing/2014/main" id="{5757E71F-5E2E-4C23-84F5-9EFCDE7598A3}"/>
              </a:ext>
            </a:extLst>
          </p:cNvPr>
          <p:cNvSpPr>
            <a:spLocks noGrp="1"/>
          </p:cNvSpPr>
          <p:nvPr/>
        </p:nvSpPr>
        <p:spPr>
          <a:xfrm>
            <a:off x="2286000" y="1876425"/>
            <a:ext cx="2266950" cy="82867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原文与旧记忆</a:t>
            </a:r>
          </a:p>
        </p:txBody>
      </p:sp>
      <p:sp>
        <p:nvSpPr>
          <p:cNvPr id="9" name="node-174">
            <a:extLst>
              <a:ext uri="{FF2B5EF4-FFF2-40B4-BE49-F238E27FC236}">
                <a16:creationId xmlns:a16="http://schemas.microsoft.com/office/drawing/2014/main" id="{8DA122E5-1883-485F-BF2B-24C502209800}"/>
              </a:ext>
            </a:extLst>
          </p:cNvPr>
          <p:cNvSpPr>
            <a:spLocks noGrp="1"/>
          </p:cNvSpPr>
          <p:nvPr/>
        </p:nvSpPr>
        <p:spPr>
          <a:xfrm>
            <a:off x="5086350" y="1876425"/>
            <a:ext cx="2762250" cy="82867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抽取 / 比较 / 压缩</a:t>
            </a:r>
          </a:p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模型给出建议</a:t>
            </a:r>
          </a:p>
        </p:txBody>
      </p:sp>
      <p:sp>
        <p:nvSpPr>
          <p:cNvPr id="10" name="node-175">
            <a:extLst>
              <a:ext uri="{FF2B5EF4-FFF2-40B4-BE49-F238E27FC236}">
                <a16:creationId xmlns:a16="http://schemas.microsoft.com/office/drawing/2014/main" id="{C97BEBBB-0AE8-4CC8-8E93-2D3DAE430DAF}"/>
              </a:ext>
            </a:extLst>
          </p:cNvPr>
          <p:cNvSpPr>
            <a:spLocks noGrp="1"/>
          </p:cNvSpPr>
          <p:nvPr/>
        </p:nvSpPr>
        <p:spPr>
          <a:xfrm>
            <a:off x="8382000" y="1876425"/>
            <a:ext cx="3200400" cy="828675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审核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证据、版本与质量</a:t>
            </a:r>
          </a:p>
        </p:txBody>
      </p:sp>
      <p:sp>
        <p:nvSpPr>
          <p:cNvPr id="11" name="route-176">
            <a:extLst>
              <a:ext uri="{FF2B5EF4-FFF2-40B4-BE49-F238E27FC236}">
                <a16:creationId xmlns:a16="http://schemas.microsoft.com/office/drawing/2014/main" id="{449DF67C-72A5-4559-B9F2-7CBD423E6FA2}"/>
              </a:ext>
            </a:extLst>
          </p:cNvPr>
          <p:cNvSpPr>
            <a:spLocks noGrp="1"/>
          </p:cNvSpPr>
          <p:nvPr/>
        </p:nvSpPr>
        <p:spPr>
          <a:xfrm>
            <a:off x="4552950" y="2290763"/>
            <a:ext cx="533400" cy="95"/>
          </a:xfrm>
          <a:custGeom>
            <a:avLst/>
            <a:gdLst/>
            <a:ahLst/>
            <a:cxnLst/>
            <a:rect l="0" t="0" r="0" b="0"/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2" name="route-177">
            <a:extLst>
              <a:ext uri="{FF2B5EF4-FFF2-40B4-BE49-F238E27FC236}">
                <a16:creationId xmlns:a16="http://schemas.microsoft.com/office/drawing/2014/main" id="{15BFECE3-7576-4E16-9A11-5BE775065497}"/>
              </a:ext>
            </a:extLst>
          </p:cNvPr>
          <p:cNvSpPr>
            <a:spLocks noGrp="1"/>
          </p:cNvSpPr>
          <p:nvPr/>
        </p:nvSpPr>
        <p:spPr>
          <a:xfrm>
            <a:off x="5010150" y="22526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178">
            <a:extLst>
              <a:ext uri="{FF2B5EF4-FFF2-40B4-BE49-F238E27FC236}">
                <a16:creationId xmlns:a16="http://schemas.microsoft.com/office/drawing/2014/main" id="{F23DCA5A-467C-4DEA-AF1E-B9560F1D8A41}"/>
              </a:ext>
            </a:extLst>
          </p:cNvPr>
          <p:cNvSpPr>
            <a:spLocks noGrp="1"/>
          </p:cNvSpPr>
          <p:nvPr/>
        </p:nvSpPr>
        <p:spPr>
          <a:xfrm>
            <a:off x="7848600" y="2290763"/>
            <a:ext cx="533400" cy="95"/>
          </a:xfrm>
          <a:custGeom>
            <a:avLst/>
            <a:gdLst/>
            <a:ahLst/>
            <a:cxnLst/>
            <a:rect l="0" t="0" r="0" b="0"/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route-179">
            <a:extLst>
              <a:ext uri="{FF2B5EF4-FFF2-40B4-BE49-F238E27FC236}">
                <a16:creationId xmlns:a16="http://schemas.microsoft.com/office/drawing/2014/main" id="{A30370CB-E9F7-4080-AA96-B84B57DBA4F0}"/>
              </a:ext>
            </a:extLst>
          </p:cNvPr>
          <p:cNvSpPr>
            <a:spLocks noGrp="1"/>
          </p:cNvSpPr>
          <p:nvPr/>
        </p:nvSpPr>
        <p:spPr>
          <a:xfrm>
            <a:off x="8305800" y="22526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5" name="text-180">
            <a:extLst>
              <a:ext uri="{FF2B5EF4-FFF2-40B4-BE49-F238E27FC236}">
                <a16:creationId xmlns:a16="http://schemas.microsoft.com/office/drawing/2014/main" id="{E6945B39-FDE5-4509-B224-B99060FA2039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查询侧</a:t>
            </a:r>
          </a:p>
        </p:txBody>
      </p:sp>
      <p:sp>
        <p:nvSpPr>
          <p:cNvPr id="16" name="node-181">
            <a:extLst>
              <a:ext uri="{FF2B5EF4-FFF2-40B4-BE49-F238E27FC236}">
                <a16:creationId xmlns:a16="http://schemas.microsoft.com/office/drawing/2014/main" id="{8C23A575-9BCB-4372-8481-D56B614F2BAC}"/>
              </a:ext>
            </a:extLst>
          </p:cNvPr>
          <p:cNvSpPr>
            <a:spLocks noGrp="1"/>
          </p:cNvSpPr>
          <p:nvPr/>
        </p:nvSpPr>
        <p:spPr>
          <a:xfrm>
            <a:off x="2286000" y="3286125"/>
            <a:ext cx="2667000" cy="10001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问题编码</a:t>
            </a:r>
          </a:p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兼容 BGE 模型空间</a:t>
            </a:r>
          </a:p>
        </p:txBody>
      </p:sp>
      <p:sp>
        <p:nvSpPr>
          <p:cNvPr id="17" name="node-182">
            <a:extLst>
              <a:ext uri="{FF2B5EF4-FFF2-40B4-BE49-F238E27FC236}">
                <a16:creationId xmlns:a16="http://schemas.microsoft.com/office/drawing/2014/main" id="{07D35C95-7CDE-401B-BB28-7EE8D424640E}"/>
              </a:ext>
            </a:extLst>
          </p:cNvPr>
          <p:cNvSpPr>
            <a:spLocks noGrp="1"/>
          </p:cNvSpPr>
          <p:nvPr/>
        </p:nvSpPr>
        <p:spPr>
          <a:xfrm>
            <a:off x="5495925" y="3286125"/>
            <a:ext cx="2667000" cy="10001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块检索与记忆聚合</a:t>
            </a:r>
          </a:p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一个记忆只占一位</a:t>
            </a:r>
          </a:p>
        </p:txBody>
      </p:sp>
      <p:sp>
        <p:nvSpPr>
          <p:cNvPr id="18" name="node-183">
            <a:extLst>
              <a:ext uri="{FF2B5EF4-FFF2-40B4-BE49-F238E27FC236}">
                <a16:creationId xmlns:a16="http://schemas.microsoft.com/office/drawing/2014/main" id="{A866AC59-501B-4A43-AE34-0B289D61234E}"/>
              </a:ext>
            </a:extLst>
          </p:cNvPr>
          <p:cNvSpPr>
            <a:spLocks noGrp="1"/>
          </p:cNvSpPr>
          <p:nvPr/>
        </p:nvSpPr>
        <p:spPr>
          <a:xfrm>
            <a:off x="8705850" y="3286125"/>
            <a:ext cx="2876550" cy="10001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完整正文与冲突组</a:t>
            </a:r>
          </a:p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排序、预算、最终复核</a:t>
            </a:r>
          </a:p>
        </p:txBody>
      </p:sp>
      <p:sp>
        <p:nvSpPr>
          <p:cNvPr id="19" name="route-184">
            <a:extLst>
              <a:ext uri="{FF2B5EF4-FFF2-40B4-BE49-F238E27FC236}">
                <a16:creationId xmlns:a16="http://schemas.microsoft.com/office/drawing/2014/main" id="{BEBC1E86-8D15-4087-B9A1-6574C22C916D}"/>
              </a:ext>
            </a:extLst>
          </p:cNvPr>
          <p:cNvSpPr>
            <a:spLocks noGrp="1"/>
          </p:cNvSpPr>
          <p:nvPr/>
        </p:nvSpPr>
        <p:spPr>
          <a:xfrm>
            <a:off x="4953000" y="3786188"/>
            <a:ext cx="542925" cy="95"/>
          </a:xfrm>
          <a:custGeom>
            <a:avLst/>
            <a:gdLst/>
            <a:ahLst/>
            <a:cxnLst/>
            <a:rect l="0" t="0" r="0" b="0"/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0" name="route-185">
            <a:extLst>
              <a:ext uri="{FF2B5EF4-FFF2-40B4-BE49-F238E27FC236}">
                <a16:creationId xmlns:a16="http://schemas.microsoft.com/office/drawing/2014/main" id="{76D2E7EC-E104-4C5F-BD93-173D97B51A04}"/>
              </a:ext>
            </a:extLst>
          </p:cNvPr>
          <p:cNvSpPr>
            <a:spLocks noGrp="1"/>
          </p:cNvSpPr>
          <p:nvPr/>
        </p:nvSpPr>
        <p:spPr>
          <a:xfrm>
            <a:off x="5419725" y="3748088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1" name="route-186">
            <a:extLst>
              <a:ext uri="{FF2B5EF4-FFF2-40B4-BE49-F238E27FC236}">
                <a16:creationId xmlns:a16="http://schemas.microsoft.com/office/drawing/2014/main" id="{1DDF7380-9B87-4212-857F-D4A263494853}"/>
              </a:ext>
            </a:extLst>
          </p:cNvPr>
          <p:cNvSpPr>
            <a:spLocks noGrp="1"/>
          </p:cNvSpPr>
          <p:nvPr/>
        </p:nvSpPr>
        <p:spPr>
          <a:xfrm>
            <a:off x="8162925" y="3786188"/>
            <a:ext cx="542925" cy="95"/>
          </a:xfrm>
          <a:custGeom>
            <a:avLst/>
            <a:gdLst/>
            <a:ahLst/>
            <a:cxnLst/>
            <a:rect l="0" t="0" r="0" b="0"/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2" name="route-187">
            <a:extLst>
              <a:ext uri="{FF2B5EF4-FFF2-40B4-BE49-F238E27FC236}">
                <a16:creationId xmlns:a16="http://schemas.microsoft.com/office/drawing/2014/main" id="{BEE27861-D1D2-449D-8C24-67BEDF898B91}"/>
              </a:ext>
            </a:extLst>
          </p:cNvPr>
          <p:cNvSpPr>
            <a:spLocks noGrp="1"/>
          </p:cNvSpPr>
          <p:nvPr/>
        </p:nvSpPr>
        <p:spPr>
          <a:xfrm>
            <a:off x="8629650" y="3748088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3" name="text-188">
            <a:extLst>
              <a:ext uri="{FF2B5EF4-FFF2-40B4-BE49-F238E27FC236}">
                <a16:creationId xmlns:a16="http://schemas.microsoft.com/office/drawing/2014/main" id="{FBE452E2-5A7E-4E7A-A37D-A5C3E998144F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23907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模型与向量分数</a:t>
            </a:r>
          </a:p>
        </p:txBody>
      </p:sp>
      <p:sp>
        <p:nvSpPr>
          <p:cNvPr id="24" name="text-189">
            <a:extLst>
              <a:ext uri="{FF2B5EF4-FFF2-40B4-BE49-F238E27FC236}">
                <a16:creationId xmlns:a16="http://schemas.microsoft.com/office/drawing/2014/main" id="{F4735F27-C3CC-4EE0-B678-3ADBA658AF80}"/>
              </a:ext>
            </a:extLst>
          </p:cNvPr>
          <p:cNvSpPr>
            <a:spLocks noGrp="1"/>
          </p:cNvSpPr>
          <p:nvPr/>
        </p:nvSpPr>
        <p:spPr>
          <a:xfrm>
            <a:off x="3200400" y="4714875"/>
            <a:ext cx="8382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提供抽取和相关性线索；不能代替授权、有效版本或完整性核验</a:t>
            </a:r>
          </a:p>
        </p:txBody>
      </p:sp>
      <p:sp>
        <p:nvSpPr>
          <p:cNvPr id="25" name="text-190">
            <a:extLst>
              <a:ext uri="{FF2B5EF4-FFF2-40B4-BE49-F238E27FC236}">
                <a16:creationId xmlns:a16="http://schemas.microsoft.com/office/drawing/2014/main" id="{B45AC6EE-69C0-48FE-9C24-EB8F235CD7F7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真实模型评测要覆盖数值更正、否定、条件、多来源冲突和长文压缩</a:t>
            </a:r>
          </a:p>
        </p:txBody>
      </p:sp>
    </p:spTree>
    <p:extLst>
      <p:ext uri="{BB962C8B-B14F-4D97-AF65-F5344CB8AC3E}">
        <p14:creationId xmlns:p14="http://schemas.microsoft.com/office/powerpoint/2010/main" val="388985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191">
            <a:extLst>
              <a:ext uri="{FF2B5EF4-FFF2-40B4-BE49-F238E27FC236}">
                <a16:creationId xmlns:a16="http://schemas.microsoft.com/office/drawing/2014/main" id="{7E2608F9-047F-439E-9C35-37CA9CA1F30A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92">
            <a:extLst>
              <a:ext uri="{FF2B5EF4-FFF2-40B4-BE49-F238E27FC236}">
                <a16:creationId xmlns:a16="http://schemas.microsoft.com/office/drawing/2014/main" id="{FFA24472-B756-4A37-98C8-582E41ED15A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保存到后台提交的具体实现</a:t>
            </a:r>
          </a:p>
        </p:txBody>
      </p:sp>
      <p:sp>
        <p:nvSpPr>
          <p:cNvPr id="3" name="text-193">
            <a:extLst>
              <a:ext uri="{FF2B5EF4-FFF2-40B4-BE49-F238E27FC236}">
                <a16:creationId xmlns:a16="http://schemas.microsoft.com/office/drawing/2014/main" id="{545B004E-5F6D-4A95-A5EC-97AC26947A59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以“预算 20 万”的后台加工为例，逐步说明数据、任务和权限怎样受控</a:t>
            </a:r>
          </a:p>
        </p:txBody>
      </p:sp>
      <p:sp>
        <p:nvSpPr>
          <p:cNvPr id="4" name="route-194">
            <a:extLst>
              <a:ext uri="{FF2B5EF4-FFF2-40B4-BE49-F238E27FC236}">
                <a16:creationId xmlns:a16="http://schemas.microsoft.com/office/drawing/2014/main" id="{3569D675-E39D-4D2A-8803-0346B8F607E5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95">
            <a:extLst>
              <a:ext uri="{FF2B5EF4-FFF2-40B4-BE49-F238E27FC236}">
                <a16:creationId xmlns:a16="http://schemas.microsoft.com/office/drawing/2014/main" id="{87BDFF2F-78E4-41AF-975E-BB131233252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96">
            <a:extLst>
              <a:ext uri="{FF2B5EF4-FFF2-40B4-BE49-F238E27FC236}">
                <a16:creationId xmlns:a16="http://schemas.microsoft.com/office/drawing/2014/main" id="{89D9E208-244C-4E69-9177-E1D1F3F8C4EE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15" name="text-205">
            <a:extLst>
              <a:ext uri="{FF2B5EF4-FFF2-40B4-BE49-F238E27FC236}">
                <a16:creationId xmlns:a16="http://schemas.microsoft.com/office/drawing/2014/main" id="{1A974461-22FD-403C-9D0B-BBAE96B64ED0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RF 控制任务和身份，Remember 核对事实版本、删除与有效期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609600" y="1924050"/>
          <a:ext cx="10972800" cy="3543300"/>
        </p:xfrm>
        <a:graphic>
          <a:graphicData uri="http://schemas.openxmlformats.org/drawingml/2006/table">
            <a:tbl>
              <a:tblPr/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代码实际做什么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失败或状态变化时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绑定身份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凭证确定租户、用户和 Agent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请求范围只能缩小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租户不符或无授权就拒绝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任务记录发起人的身份版本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提交待办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SQLite 事务写记忆记录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任务和 Outbox 待办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事务失败一起回滚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成功后按原 task_id 继续加工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领取执行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租约记录执行者、令牌和到期时间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心跳续租，处理进度持久保存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租约到期后可接管原任务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旧执行者不能提交结果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提交与交付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复核租约和当前身份权限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 再核对版本和使用资格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万已更正为 15 万或已撤权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旧候选不能再次交付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93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06">
            <a:extLst>
              <a:ext uri="{FF2B5EF4-FFF2-40B4-BE49-F238E27FC236}">
                <a16:creationId xmlns:a16="http://schemas.microsoft.com/office/drawing/2014/main" id="{4442CD40-80E0-4D2F-AFD4-4BB77EB90333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207">
            <a:extLst>
              <a:ext uri="{FF2B5EF4-FFF2-40B4-BE49-F238E27FC236}">
                <a16:creationId xmlns:a16="http://schemas.microsoft.com/office/drawing/2014/main" id="{D753408E-924C-4213-A19D-7737BD2BEDA6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核心技术决策与选择理由</a:t>
            </a:r>
          </a:p>
        </p:txBody>
      </p:sp>
      <p:sp>
        <p:nvSpPr>
          <p:cNvPr id="3" name="text-208">
            <a:extLst>
              <a:ext uri="{FF2B5EF4-FFF2-40B4-BE49-F238E27FC236}">
                <a16:creationId xmlns:a16="http://schemas.microsoft.com/office/drawing/2014/main" id="{C0D45484-8D3F-43C6-AF64-3D8E84A731BE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三项影响业务正确性和交付成本的选择，备选路径用于解释取舍</a:t>
            </a:r>
          </a:p>
        </p:txBody>
      </p:sp>
      <p:sp>
        <p:nvSpPr>
          <p:cNvPr id="4" name="route-209">
            <a:extLst>
              <a:ext uri="{FF2B5EF4-FFF2-40B4-BE49-F238E27FC236}">
                <a16:creationId xmlns:a16="http://schemas.microsoft.com/office/drawing/2014/main" id="{9DBBAF30-0C44-4A85-9C27-4B02F363E43B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10">
            <a:extLst>
              <a:ext uri="{FF2B5EF4-FFF2-40B4-BE49-F238E27FC236}">
                <a16:creationId xmlns:a16="http://schemas.microsoft.com/office/drawing/2014/main" id="{3F5E9979-EB86-4738-918F-194C3FA81E4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1">
            <a:extLst>
              <a:ext uri="{FF2B5EF4-FFF2-40B4-BE49-F238E27FC236}">
                <a16:creationId xmlns:a16="http://schemas.microsoft.com/office/drawing/2014/main" id="{34CADF61-42E0-4956-A488-F87DBA676FBB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  <p:sp>
        <p:nvSpPr>
          <p:cNvPr id="8" name="text-212">
            <a:extLst>
              <a:ext uri="{FF2B5EF4-FFF2-40B4-BE49-F238E27FC236}">
                <a16:creationId xmlns:a16="http://schemas.microsoft.com/office/drawing/2014/main" id="{CFAF0498-DA99-442E-8C56-BA56F11CCDE5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需重评：多副本或复杂长流程，或模型质量与吞吐未达标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971675"/>
          <a:ext cx="10972800" cy="3600450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决策点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当前选择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备选路径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为什么这样选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流程编排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自有业务流水线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模型经适配器调用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LangMem 或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LlamaIndex 全栈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自管事实版本、权限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以及最终上下文预算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自行维护流程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和模型适配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持久任务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+ 任务状态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同事务登记后续待办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内存后台任务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Temporal 工作流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持久化避免重启丢待办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减少独立运行服务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自行维护租约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重试和恢复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语义编码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 中文模型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FastEmbed / ONNX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其他编码模型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远程模型服务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固定中文编码基线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减少查询的远程依赖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本地算力与运维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换模型重建投影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003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-213">
            <a:extLst>
              <a:ext uri="{FF2B5EF4-FFF2-40B4-BE49-F238E27FC236}">
                <a16:creationId xmlns:a16="http://schemas.microsoft.com/office/drawing/2014/main" id="{7CFD1015-8E46-49BB-96E9-34785769323A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14">
            <a:extLst>
              <a:ext uri="{FF2B5EF4-FFF2-40B4-BE49-F238E27FC236}">
                <a16:creationId xmlns:a16="http://schemas.microsoft.com/office/drawing/2014/main" id="{4CBE0BC5-236C-4A39-837B-5ED4AB7E53F0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当前已形成统一运行的本地服务</a:t>
            </a:r>
          </a:p>
        </p:txBody>
      </p:sp>
      <p:sp>
        <p:nvSpPr>
          <p:cNvPr id="3" name="text-215">
            <a:extLst>
              <a:ext uri="{FF2B5EF4-FFF2-40B4-BE49-F238E27FC236}">
                <a16:creationId xmlns:a16="http://schemas.microsoft.com/office/drawing/2014/main" id="{2686F442-120B-40D2-B45F-D9285E21F72A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代码核对截至 2026.09.28：HEAD c2e8c24，另有工作区监测等修改</a:t>
            </a:r>
          </a:p>
        </p:txBody>
      </p:sp>
      <p:sp>
        <p:nvSpPr>
          <p:cNvPr id="4" name="route-216">
            <a:extLst>
              <a:ext uri="{FF2B5EF4-FFF2-40B4-BE49-F238E27FC236}">
                <a16:creationId xmlns:a16="http://schemas.microsoft.com/office/drawing/2014/main" id="{B63D78E9-0F17-450C-B57C-C0CBFFB73C5E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17">
            <a:extLst>
              <a:ext uri="{FF2B5EF4-FFF2-40B4-BE49-F238E27FC236}">
                <a16:creationId xmlns:a16="http://schemas.microsoft.com/office/drawing/2014/main" id="{79C1A00A-B839-446F-9283-38DE56522BA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8">
            <a:extLst>
              <a:ext uri="{FF2B5EF4-FFF2-40B4-BE49-F238E27FC236}">
                <a16:creationId xmlns:a16="http://schemas.microsoft.com/office/drawing/2014/main" id="{B0B97641-257B-4B55-929C-3F9612D16943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  <p:sp>
        <p:nvSpPr>
          <p:cNvPr id="7" name="text-219">
            <a:extLst>
              <a:ext uri="{FF2B5EF4-FFF2-40B4-BE49-F238E27FC236}">
                <a16:creationId xmlns:a16="http://schemas.microsoft.com/office/drawing/2014/main" id="{451BCF32-24EA-47B2-83C0-8B2CF78F2CE0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一个配置，一套服务入口</a:t>
            </a:r>
          </a:p>
        </p:txBody>
      </p:sp>
      <p:sp>
        <p:nvSpPr>
          <p:cNvPr id="8" name="node-220">
            <a:extLst>
              <a:ext uri="{FF2B5EF4-FFF2-40B4-BE49-F238E27FC236}">
                <a16:creationId xmlns:a16="http://schemas.microsoft.com/office/drawing/2014/main" id="{D9919326-0FE9-4A08-8DB3-86C7CCC44701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3238500" cy="123825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HTTP 接入</a:t>
            </a:r>
          </a:p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 / 召回 / 查询</a:t>
            </a:r>
          </a:p>
        </p:txBody>
      </p:sp>
      <p:sp>
        <p:nvSpPr>
          <p:cNvPr id="9" name="node-221">
            <a:extLst>
              <a:ext uri="{FF2B5EF4-FFF2-40B4-BE49-F238E27FC236}">
                <a16:creationId xmlns:a16="http://schemas.microsoft.com/office/drawing/2014/main" id="{08DFA104-AF3E-4F76-891B-9659E41CE106}"/>
              </a:ext>
            </a:extLst>
          </p:cNvPr>
          <p:cNvSpPr>
            <a:spLocks noGrp="1"/>
          </p:cNvSpPr>
          <p:nvPr/>
        </p:nvSpPr>
        <p:spPr>
          <a:xfrm>
            <a:off x="4476750" y="2962275"/>
            <a:ext cx="3238500" cy="123825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统一运行时</a:t>
            </a:r>
          </a:p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+ Recall</a:t>
            </a:r>
          </a:p>
        </p:txBody>
      </p:sp>
      <p:sp>
        <p:nvSpPr>
          <p:cNvPr id="10" name="node-222">
            <a:extLst>
              <a:ext uri="{FF2B5EF4-FFF2-40B4-BE49-F238E27FC236}">
                <a16:creationId xmlns:a16="http://schemas.microsoft.com/office/drawing/2014/main" id="{AC0BC6EA-EDA9-45FC-8665-B029624420A5}"/>
              </a:ext>
            </a:extLst>
          </p:cNvPr>
          <p:cNvSpPr>
            <a:spLocks noGrp="1"/>
          </p:cNvSpPr>
          <p:nvPr/>
        </p:nvSpPr>
        <p:spPr>
          <a:xfrm>
            <a:off x="8343900" y="2962275"/>
            <a:ext cx="3238500" cy="12382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持续后台执行</a:t>
            </a:r>
          </a:p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任务 + Operate</a:t>
            </a:r>
          </a:p>
        </p:txBody>
      </p:sp>
      <p:sp>
        <p:nvSpPr>
          <p:cNvPr id="11" name="route-223">
            <a:extLst>
              <a:ext uri="{FF2B5EF4-FFF2-40B4-BE49-F238E27FC236}">
                <a16:creationId xmlns:a16="http://schemas.microsoft.com/office/drawing/2014/main" id="{3FD00D70-D307-41E4-A1CA-A46A055B6D29}"/>
              </a:ext>
            </a:extLst>
          </p:cNvPr>
          <p:cNvSpPr>
            <a:spLocks noGrp="1"/>
          </p:cNvSpPr>
          <p:nvPr/>
        </p:nvSpPr>
        <p:spPr>
          <a:xfrm>
            <a:off x="3848100" y="3581400"/>
            <a:ext cx="628650" cy="95"/>
          </a:xfrm>
          <a:custGeom>
            <a:avLst/>
            <a:gdLst/>
            <a:ahLst/>
            <a:cxnLst/>
            <a:rect l="0" t="0" r="0" b="0"/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2" name="route-224">
            <a:extLst>
              <a:ext uri="{FF2B5EF4-FFF2-40B4-BE49-F238E27FC236}">
                <a16:creationId xmlns:a16="http://schemas.microsoft.com/office/drawing/2014/main" id="{A4EEC833-F47E-4998-AA59-B671AE76655D}"/>
              </a:ext>
            </a:extLst>
          </p:cNvPr>
          <p:cNvSpPr>
            <a:spLocks noGrp="1"/>
          </p:cNvSpPr>
          <p:nvPr/>
        </p:nvSpPr>
        <p:spPr>
          <a:xfrm>
            <a:off x="4400550" y="35433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225">
            <a:extLst>
              <a:ext uri="{FF2B5EF4-FFF2-40B4-BE49-F238E27FC236}">
                <a16:creationId xmlns:a16="http://schemas.microsoft.com/office/drawing/2014/main" id="{A59D09E2-DFC7-4B51-871C-2A9FFA618461}"/>
              </a:ext>
            </a:extLst>
          </p:cNvPr>
          <p:cNvSpPr>
            <a:spLocks noGrp="1"/>
          </p:cNvSpPr>
          <p:nvPr/>
        </p:nvSpPr>
        <p:spPr>
          <a:xfrm>
            <a:off x="7715250" y="3581400"/>
            <a:ext cx="628650" cy="95"/>
          </a:xfrm>
          <a:custGeom>
            <a:avLst/>
            <a:gdLst/>
            <a:ahLst/>
            <a:cxnLst/>
            <a:rect l="0" t="0" r="0" b="0"/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route-226">
            <a:extLst>
              <a:ext uri="{FF2B5EF4-FFF2-40B4-BE49-F238E27FC236}">
                <a16:creationId xmlns:a16="http://schemas.microsoft.com/office/drawing/2014/main" id="{794D81E0-56FD-4A7E-B9F9-07EFA51D86C3}"/>
              </a:ext>
            </a:extLst>
          </p:cNvPr>
          <p:cNvSpPr>
            <a:spLocks noGrp="1"/>
          </p:cNvSpPr>
          <p:nvPr/>
        </p:nvSpPr>
        <p:spPr>
          <a:xfrm>
            <a:off x="8267700" y="35433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5" name="text-227">
            <a:extLst>
              <a:ext uri="{FF2B5EF4-FFF2-40B4-BE49-F238E27FC236}">
                <a16:creationId xmlns:a16="http://schemas.microsoft.com/office/drawing/2014/main" id="{4382E5E1-4BD5-47A5-B199-8747D9E2DFE1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27241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当前运行形态</a:t>
            </a:r>
          </a:p>
        </p:txBody>
      </p:sp>
      <p:sp>
        <p:nvSpPr>
          <p:cNvPr id="16" name="text-228">
            <a:extLst>
              <a:ext uri="{FF2B5EF4-FFF2-40B4-BE49-F238E27FC236}">
                <a16:creationId xmlns:a16="http://schemas.microsoft.com/office/drawing/2014/main" id="{EC5A9F14-1E3C-44E9-B0A9-F7426783B676}"/>
              </a:ext>
            </a:extLst>
          </p:cNvPr>
          <p:cNvSpPr>
            <a:spLocks noGrp="1"/>
          </p:cNvSpPr>
          <p:nvPr/>
        </p:nvSpPr>
        <p:spPr>
          <a:xfrm>
            <a:off x="3524250" y="4457700"/>
            <a:ext cx="80581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单进程、SQLite、本地文件缓存；真实 BGE 有验证记录</a:t>
            </a:r>
          </a:p>
        </p:txBody>
      </p:sp>
      <p:sp>
        <p:nvSpPr>
          <p:cNvPr id="17" name="text-229">
            <a:extLst>
              <a:ext uri="{FF2B5EF4-FFF2-40B4-BE49-F238E27FC236}">
                <a16:creationId xmlns:a16="http://schemas.microsoft.com/office/drawing/2014/main" id="{920870C8-5717-4327-9131-B522C6394A62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27241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外部配置入口</a:t>
            </a:r>
          </a:p>
        </p:txBody>
      </p:sp>
      <p:sp>
        <p:nvSpPr>
          <p:cNvPr id="18" name="text-230">
            <a:extLst>
              <a:ext uri="{FF2B5EF4-FFF2-40B4-BE49-F238E27FC236}">
                <a16:creationId xmlns:a16="http://schemas.microsoft.com/office/drawing/2014/main" id="{73FCD591-055C-494D-B81B-D90060974693}"/>
              </a:ext>
            </a:extLst>
          </p:cNvPr>
          <p:cNvSpPr>
            <a:spLocks noGrp="1"/>
          </p:cNvSpPr>
          <p:nvPr/>
        </p:nvSpPr>
        <p:spPr>
          <a:xfrm>
            <a:off x="3524250" y="5191125"/>
            <a:ext cx="80581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真实模型、P2，以及可选 Milvus / Redis</a:t>
            </a:r>
          </a:p>
        </p:txBody>
      </p:sp>
      <p:sp>
        <p:nvSpPr>
          <p:cNvPr id="19" name="text-231">
            <a:extLst>
              <a:ext uri="{FF2B5EF4-FFF2-40B4-BE49-F238E27FC236}">
                <a16:creationId xmlns:a16="http://schemas.microsoft.com/office/drawing/2014/main" id="{56CE9021-9B31-4B86-B0D9-D5C76035F560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生产配置检查只是准入条件，真实服务接通与部署效果需另行验证</a:t>
            </a:r>
          </a:p>
        </p:txBody>
      </p:sp>
    </p:spTree>
    <p:extLst>
      <p:ext uri="{BB962C8B-B14F-4D97-AF65-F5344CB8AC3E}">
        <p14:creationId xmlns:p14="http://schemas.microsoft.com/office/powerpoint/2010/main" val="60245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32">
            <a:extLst>
              <a:ext uri="{FF2B5EF4-FFF2-40B4-BE49-F238E27FC236}">
                <a16:creationId xmlns:a16="http://schemas.microsoft.com/office/drawing/2014/main" id="{47737A7F-5893-484C-A9C2-21C0172269ED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33">
            <a:extLst>
              <a:ext uri="{FF2B5EF4-FFF2-40B4-BE49-F238E27FC236}">
                <a16:creationId xmlns:a16="http://schemas.microsoft.com/office/drawing/2014/main" id="{4B78D7A3-80CB-4CC4-9BDD-45D0BD93D92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各模块已实现什么，还需要验证什么</a:t>
            </a:r>
          </a:p>
        </p:txBody>
      </p:sp>
      <p:sp>
        <p:nvSpPr>
          <p:cNvPr id="3" name="text-234">
            <a:extLst>
              <a:ext uri="{FF2B5EF4-FFF2-40B4-BE49-F238E27FC236}">
                <a16:creationId xmlns:a16="http://schemas.microsoft.com/office/drawing/2014/main" id="{4C6204CE-2793-4C54-9975-7F3D2EEA4B0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本地工程证据来自 2026.09.26 整合报告；本次未重跑业务测试</a:t>
            </a:r>
          </a:p>
        </p:txBody>
      </p:sp>
      <p:sp>
        <p:nvSpPr>
          <p:cNvPr id="4" name="route-235">
            <a:extLst>
              <a:ext uri="{FF2B5EF4-FFF2-40B4-BE49-F238E27FC236}">
                <a16:creationId xmlns:a16="http://schemas.microsoft.com/office/drawing/2014/main" id="{9E8A1C0A-5E56-4255-8F59-87054626A7B6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36">
            <a:extLst>
              <a:ext uri="{FF2B5EF4-FFF2-40B4-BE49-F238E27FC236}">
                <a16:creationId xmlns:a16="http://schemas.microsoft.com/office/drawing/2014/main" id="{8D04B2E7-7578-4381-A3CA-68194EFC93D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37">
            <a:extLst>
              <a:ext uri="{FF2B5EF4-FFF2-40B4-BE49-F238E27FC236}">
                <a16:creationId xmlns:a16="http://schemas.microsoft.com/office/drawing/2014/main" id="{715D7B79-E857-4FCC-B5C5-7876F2ECB7EF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1924050"/>
          <a:ext cx="10972800" cy="3790950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已有实现与本地整合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剩余主要验收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保存、文档、加工、版本、更正删除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完整代际索引发布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LLM 的抽取 / 冲突 / 压缩质量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真实对象与索引服务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来源选择、多块聚合、精确正文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预算、复核和历史重取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Milvus / 重排环境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相关性、降级与性能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持续计热、周期衰减、容量等待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原动作恢复、真实缓存进入读取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生产实际调整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目标读回与资源效果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运行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统一身份、共享撤权、持久恢复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日志、健康与运行查询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真实外部身份与租户隔离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部署、规模和整体灾备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-238">
            <a:extLst>
              <a:ext uri="{FF2B5EF4-FFF2-40B4-BE49-F238E27FC236}">
                <a16:creationId xmlns:a16="http://schemas.microsoft.com/office/drawing/2014/main" id="{9527A6B9-8683-49B1-9833-9535543DA587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当前阶段：统一本地服务已形成；完整 MVP 与业务签收尚未完成</a:t>
            </a:r>
          </a:p>
        </p:txBody>
      </p:sp>
    </p:spTree>
    <p:extLst>
      <p:ext uri="{BB962C8B-B14F-4D97-AF65-F5344CB8AC3E}">
        <p14:creationId xmlns:p14="http://schemas.microsoft.com/office/powerpoint/2010/main" val="1854269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52">
            <a:extLst>
              <a:ext uri="{FF2B5EF4-FFF2-40B4-BE49-F238E27FC236}">
                <a16:creationId xmlns:a16="http://schemas.microsoft.com/office/drawing/2014/main" id="{D10E4CBF-6471-4899-8E2A-99DA0FDAC62B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53">
            <a:extLst>
              <a:ext uri="{FF2B5EF4-FFF2-40B4-BE49-F238E27FC236}">
                <a16:creationId xmlns:a16="http://schemas.microsoft.com/office/drawing/2014/main" id="{B21D193C-46D6-4D84-9C74-F7A7CDE006AA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 MVP 的交付范围</a:t>
            </a:r>
          </a:p>
        </p:txBody>
      </p:sp>
      <p:sp>
        <p:nvSpPr>
          <p:cNvPr id="3" name="text-254">
            <a:extLst>
              <a:ext uri="{FF2B5EF4-FFF2-40B4-BE49-F238E27FC236}">
                <a16:creationId xmlns:a16="http://schemas.microsoft.com/office/drawing/2014/main" id="{94414F11-72F6-4ECB-8226-C9AE09A28F1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PRD V1.3：FR01—15、FR17—18 为 P0；本期覆盖基础调度真实执行</a:t>
            </a:r>
          </a:p>
        </p:txBody>
      </p:sp>
      <p:sp>
        <p:nvSpPr>
          <p:cNvPr id="4" name="route-255">
            <a:extLst>
              <a:ext uri="{FF2B5EF4-FFF2-40B4-BE49-F238E27FC236}">
                <a16:creationId xmlns:a16="http://schemas.microsoft.com/office/drawing/2014/main" id="{6EC3DCC2-9FB1-4897-97D1-A33D20F82660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56">
            <a:extLst>
              <a:ext uri="{FF2B5EF4-FFF2-40B4-BE49-F238E27FC236}">
                <a16:creationId xmlns:a16="http://schemas.microsoft.com/office/drawing/2014/main" id="{6AD7DA32-4D0E-4CB4-991C-C4A44F2322F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57">
            <a:extLst>
              <a:ext uri="{FF2B5EF4-FFF2-40B4-BE49-F238E27FC236}">
                <a16:creationId xmlns:a16="http://schemas.microsoft.com/office/drawing/2014/main" id="{1B09F086-A7B4-490B-8063-70CAECCA59D7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1933575"/>
          <a:ext cx="10972800" cy="3667125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交付领域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必须得到的结果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记忆形成与维护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保存事件和文档；形成可追溯记忆；更正、删除和生命周期生效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可信上下文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跨会话取回当前有效材料；来源、冲突、预算与缺失说明准确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内部基础调度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两侧轨迹驱动判断；自动执行、真实核验并更新下一轮状态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隔离与运行保障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真实租户及权限验证；任务可跟进，故障可定位和恢复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质量与完整交接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指标、至少 24h 长稳；可运行版本、资料与业务验收一致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-258">
            <a:extLst>
              <a:ext uri="{FF2B5EF4-FFF2-40B4-BE49-F238E27FC236}">
                <a16:creationId xmlns:a16="http://schemas.microsoft.com/office/drawing/2014/main" id="{D1DFD5A4-0A4D-439E-9A43-BBDFBB72A4FD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FR16 预测预热为后续 P1；Final 的 72h 与正式纳管另列阶段</a:t>
            </a:r>
          </a:p>
        </p:txBody>
      </p:sp>
    </p:spTree>
    <p:extLst>
      <p:ext uri="{BB962C8B-B14F-4D97-AF65-F5344CB8AC3E}">
        <p14:creationId xmlns:p14="http://schemas.microsoft.com/office/powerpoint/2010/main" val="676020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59">
            <a:extLst>
              <a:ext uri="{FF2B5EF4-FFF2-40B4-BE49-F238E27FC236}">
                <a16:creationId xmlns:a16="http://schemas.microsoft.com/office/drawing/2014/main" id="{64BAC425-A4C5-4CD2-87D3-21DAF6EF8A7A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0">
            <a:extLst>
              <a:ext uri="{FF2B5EF4-FFF2-40B4-BE49-F238E27FC236}">
                <a16:creationId xmlns:a16="http://schemas.microsoft.com/office/drawing/2014/main" id="{7978CE46-F4F0-4F61-8609-4EFB05BEFA7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到 12 月 1 日的整体交付安排</a:t>
            </a:r>
          </a:p>
        </p:txBody>
      </p:sp>
      <p:sp>
        <p:nvSpPr>
          <p:cNvPr id="3" name="text-261">
            <a:extLst>
              <a:ext uri="{FF2B5EF4-FFF2-40B4-BE49-F238E27FC236}">
                <a16:creationId xmlns:a16="http://schemas.microsoft.com/office/drawing/2014/main" id="{9E33AEBE-0933-4939-B4DC-E6EC187A65F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修订建议：十月贯通真实链路，11 月预留系统验收、修复复测和业务签收</a:t>
            </a:r>
          </a:p>
        </p:txBody>
      </p:sp>
      <p:sp>
        <p:nvSpPr>
          <p:cNvPr id="4" name="route-262">
            <a:extLst>
              <a:ext uri="{FF2B5EF4-FFF2-40B4-BE49-F238E27FC236}">
                <a16:creationId xmlns:a16="http://schemas.microsoft.com/office/drawing/2014/main" id="{7C98E2A3-5161-4030-98C4-B1F21A114DF2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63">
            <a:extLst>
              <a:ext uri="{FF2B5EF4-FFF2-40B4-BE49-F238E27FC236}">
                <a16:creationId xmlns:a16="http://schemas.microsoft.com/office/drawing/2014/main" id="{D36EDF30-E1D7-4363-9C0C-3F4DD5F01FD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64">
            <a:extLst>
              <a:ext uri="{FF2B5EF4-FFF2-40B4-BE49-F238E27FC236}">
                <a16:creationId xmlns:a16="http://schemas.microsoft.com/office/drawing/2014/main" id="{C23DA963-C843-45B5-9B96-77904B31A6FD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1924050"/>
          <a:ext cx="10972800" cy="383857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修订日期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本阶段交付物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9/30—10/09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最小接口基线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复用现有契约，固定样本与真实环境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10/10—10/23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补齐与真实首链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保存到召回实跑，模型与部署同步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10/24—11/06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完整联合回归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更正、删除、调度、隔离与故障通过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11/07—11/20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系统验收与修复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质量、性能、24h 首验及修复后复测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11/21—11/27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UAT 与交接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应用场景签收，部署恢复演练及接手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11/28—12/01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发布缓冲与交付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版本核对、发布检查和完整交付包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-265">
            <a:extLst>
              <a:ext uri="{FF2B5EF4-FFF2-40B4-BE49-F238E27FC236}">
                <a16:creationId xmlns:a16="http://schemas.microsoft.com/office/drawing/2014/main" id="{0744FAEB-A661-4A64-A023-ABC70850057D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系统验收 14 天，UAT 7 天，发布缓冲 4 天（均为日历窗口）</a:t>
            </a:r>
          </a:p>
        </p:txBody>
      </p:sp>
    </p:spTree>
    <p:extLst>
      <p:ext uri="{BB962C8B-B14F-4D97-AF65-F5344CB8AC3E}">
        <p14:creationId xmlns:p14="http://schemas.microsoft.com/office/powerpoint/2010/main" val="2065027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66">
            <a:extLst>
              <a:ext uri="{FF2B5EF4-FFF2-40B4-BE49-F238E27FC236}">
                <a16:creationId xmlns:a16="http://schemas.microsoft.com/office/drawing/2014/main" id="{EC6720F0-B469-4080-A41B-2A9CB263A3BB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7">
            <a:extLst>
              <a:ext uri="{FF2B5EF4-FFF2-40B4-BE49-F238E27FC236}">
                <a16:creationId xmlns:a16="http://schemas.microsoft.com/office/drawing/2014/main" id="{57884C28-10A9-4227-9F7E-77170B3A5778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功能与模型工作包</a:t>
            </a:r>
          </a:p>
        </p:txBody>
      </p:sp>
      <p:sp>
        <p:nvSpPr>
          <p:cNvPr id="3" name="text-268">
            <a:extLst>
              <a:ext uri="{FF2B5EF4-FFF2-40B4-BE49-F238E27FC236}">
                <a16:creationId xmlns:a16="http://schemas.microsoft.com/office/drawing/2014/main" id="{6DB395F1-565C-482A-B220-4301D4EDE96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10/10—10/23 完成首轮补齐，10/24—11/06 随真实链路完成联合回归</a:t>
            </a:r>
          </a:p>
        </p:txBody>
      </p:sp>
      <p:sp>
        <p:nvSpPr>
          <p:cNvPr id="4" name="route-269">
            <a:extLst>
              <a:ext uri="{FF2B5EF4-FFF2-40B4-BE49-F238E27FC236}">
                <a16:creationId xmlns:a16="http://schemas.microsoft.com/office/drawing/2014/main" id="{D003881A-326D-46C4-AA22-087A6563E18C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70">
            <a:extLst>
              <a:ext uri="{FF2B5EF4-FFF2-40B4-BE49-F238E27FC236}">
                <a16:creationId xmlns:a16="http://schemas.microsoft.com/office/drawing/2014/main" id="{55B036F1-9A3E-4ED4-B4A2-38B1B3363CA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1">
            <a:extLst>
              <a:ext uri="{FF2B5EF4-FFF2-40B4-BE49-F238E27FC236}">
                <a16:creationId xmlns:a16="http://schemas.microsoft.com/office/drawing/2014/main" id="{D938FE7C-D4B8-4B04-B517-BF0F407ABC1C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1943100"/>
          <a:ext cx="10972800" cy="3724275"/>
        </p:xfrm>
        <a:graphic>
          <a:graphicData uri="http://schemas.openxmlformats.org/drawingml/2006/table">
            <a:tbl>
              <a:tblPr/>
              <a:tblGrid>
                <a:gridCol w="225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工作包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交付结果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/ 测试与 P2 对接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文档、事实、压缩、冲突、更正删除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来源与版本可追溯，长期就绪可确认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 / 编码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兼容模型空间、记忆级 Top K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完整正文、整组预算、降级与最终复核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开发待确定 / 肖宇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双侧轨迹、相邻层调整与真实核验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Unknown 恢复、版本受控的地址交接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模型质量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租户和恢复回归；真实模型标注评测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同步修正 PRD、原图与实现差异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实现人由陈凯逐项指定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三流程开发和对应测试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-272">
            <a:extLst>
              <a:ext uri="{FF2B5EF4-FFF2-40B4-BE49-F238E27FC236}">
                <a16:creationId xmlns:a16="http://schemas.microsoft.com/office/drawing/2014/main" id="{BDBB6E54-2454-40D3-B95C-9293FB745296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通过标准：统一样本上的正常、边界与故障结果可复现，有版本和来源证据</a:t>
            </a:r>
          </a:p>
        </p:txBody>
      </p:sp>
    </p:spTree>
    <p:extLst>
      <p:ext uri="{BB962C8B-B14F-4D97-AF65-F5344CB8AC3E}">
        <p14:creationId xmlns:p14="http://schemas.microsoft.com/office/powerpoint/2010/main" val="264382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73">
            <a:extLst>
              <a:ext uri="{FF2B5EF4-FFF2-40B4-BE49-F238E27FC236}">
                <a16:creationId xmlns:a16="http://schemas.microsoft.com/office/drawing/2014/main" id="{7969C222-E481-404C-8F51-CF8B66D63525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74">
            <a:extLst>
              <a:ext uri="{FF2B5EF4-FFF2-40B4-BE49-F238E27FC236}">
                <a16:creationId xmlns:a16="http://schemas.microsoft.com/office/drawing/2014/main" id="{D411EF0C-18F2-42AE-B2AE-A2D71BB3BE7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真实依赖与联合集成工作包</a:t>
            </a:r>
          </a:p>
        </p:txBody>
      </p:sp>
      <p:sp>
        <p:nvSpPr>
          <p:cNvPr id="3" name="text-275">
            <a:extLst>
              <a:ext uri="{FF2B5EF4-FFF2-40B4-BE49-F238E27FC236}">
                <a16:creationId xmlns:a16="http://schemas.microsoft.com/office/drawing/2014/main" id="{46C8E50D-34F0-4D45-BA47-0EA579E08FC4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 接入真实依赖，10/16 检查首链，10/24—11/06 完整联合回归</a:t>
            </a:r>
          </a:p>
        </p:txBody>
      </p:sp>
      <p:sp>
        <p:nvSpPr>
          <p:cNvPr id="4" name="route-276">
            <a:extLst>
              <a:ext uri="{FF2B5EF4-FFF2-40B4-BE49-F238E27FC236}">
                <a16:creationId xmlns:a16="http://schemas.microsoft.com/office/drawing/2014/main" id="{B33D1DA2-6F65-402C-ACC4-0D43233802CA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77">
            <a:extLst>
              <a:ext uri="{FF2B5EF4-FFF2-40B4-BE49-F238E27FC236}">
                <a16:creationId xmlns:a16="http://schemas.microsoft.com/office/drawing/2014/main" id="{7F6DA73C-B66A-4205-A982-F099039A9AA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8">
            <a:extLst>
              <a:ext uri="{FF2B5EF4-FFF2-40B4-BE49-F238E27FC236}">
                <a16:creationId xmlns:a16="http://schemas.microsoft.com/office/drawing/2014/main" id="{A93596EF-870B-495F-93EC-A67B531AFAE9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1962150"/>
          <a:ext cx="10972800" cy="3648075"/>
        </p:xfrm>
        <a:graphic>
          <a:graphicData uri="http://schemas.openxmlformats.org/drawingml/2006/table">
            <a:tbl>
              <a:tblPr/>
              <a:tblGrid>
                <a:gridCol w="23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必须验证的真实结果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对接与关闭责任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对象 / 向量 / 关系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写入、检索、精确读取关联同一版本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跨租户及故障语义一致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肖宇、赵旭东跟进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对应开发 + P2 提供方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约定执行能力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目标/原动作可查询，真实读回可确认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迁移范围与介质在阶段一落实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谭旭梁跟进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+ P2 执行方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模型与身份来源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真实模型可用；身份绑定和撤权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在批准的传播窗口内生效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对应开发 / 测试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身份与模型提供方待落实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/ 首批应用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真实保存、长期化、跨会话召回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更正删除、共享与故障恢复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陈凯组织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接入负责人待落实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-279">
            <a:extLst>
              <a:ext uri="{FF2B5EF4-FFF2-40B4-BE49-F238E27FC236}">
                <a16:creationId xmlns:a16="http://schemas.microsoft.com/office/drawing/2014/main" id="{8F57C557-6038-4809-BBEA-6E7E199AE186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真实环境须支撑十月首链，缺失依赖应重排关键路径，保留验收窗口</a:t>
            </a:r>
          </a:p>
        </p:txBody>
      </p:sp>
    </p:spTree>
    <p:extLst>
      <p:ext uri="{BB962C8B-B14F-4D97-AF65-F5344CB8AC3E}">
        <p14:creationId xmlns:p14="http://schemas.microsoft.com/office/powerpoint/2010/main" val="26785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80">
            <a:extLst>
              <a:ext uri="{FF2B5EF4-FFF2-40B4-BE49-F238E27FC236}">
                <a16:creationId xmlns:a16="http://schemas.microsoft.com/office/drawing/2014/main" id="{AD88D635-D834-4464-9D2E-6DF9B2CD7111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1">
            <a:extLst>
              <a:ext uri="{FF2B5EF4-FFF2-40B4-BE49-F238E27FC236}">
                <a16:creationId xmlns:a16="http://schemas.microsoft.com/office/drawing/2014/main" id="{14F7872B-2402-4B5A-AEE4-D4195028446C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质量、性能与长稳验收</a:t>
            </a:r>
          </a:p>
        </p:txBody>
      </p:sp>
      <p:sp>
        <p:nvSpPr>
          <p:cNvPr id="3" name="text-282">
            <a:extLst>
              <a:ext uri="{FF2B5EF4-FFF2-40B4-BE49-F238E27FC236}">
                <a16:creationId xmlns:a16="http://schemas.microsoft.com/office/drawing/2014/main" id="{2E8AF4DD-5203-43F9-9C3B-8E9161949FF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11/07—11/13 首验，11/14—11/20 修复复测，最终候选重跑受影响项目</a:t>
            </a:r>
          </a:p>
        </p:txBody>
      </p:sp>
      <p:sp>
        <p:nvSpPr>
          <p:cNvPr id="4" name="route-283">
            <a:extLst>
              <a:ext uri="{FF2B5EF4-FFF2-40B4-BE49-F238E27FC236}">
                <a16:creationId xmlns:a16="http://schemas.microsoft.com/office/drawing/2014/main" id="{7AF8CE91-1D32-4E37-BDAE-569236F2B963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84">
            <a:extLst>
              <a:ext uri="{FF2B5EF4-FFF2-40B4-BE49-F238E27FC236}">
                <a16:creationId xmlns:a16="http://schemas.microsoft.com/office/drawing/2014/main" id="{9D98999F-2C63-454D-9883-D724AEA3BBF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85">
            <a:extLst>
              <a:ext uri="{FF2B5EF4-FFF2-40B4-BE49-F238E27FC236}">
                <a16:creationId xmlns:a16="http://schemas.microsoft.com/office/drawing/2014/main" id="{0DA524D4-716B-4A07-A4F3-2831D45C7335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1943100"/>
          <a:ext cx="10972800" cy="3562350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验收项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测量边界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当前记忆核心读写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 &lt; 10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接收有效请求到返回业务结果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语义计算吞吐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2000 条有效内容 / 秒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实际完成计算；排除缓存替代计数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内容压缩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5 倍且质量合格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同批内容实际保存字节；保留关键事实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基础调度规则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正确率 100%，错误降层 0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固定规则、负载和资源条件；另核对生效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持续运行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24 小时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无重大正确性/隔离问题；记录错误与积压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-286">
            <a:extLst>
              <a:ext uri="{FF2B5EF4-FFF2-40B4-BE49-F238E27FC236}">
                <a16:creationId xmlns:a16="http://schemas.microsoft.com/office/drawing/2014/main" id="{8FA6D986-4B81-444F-946E-C9E9792F6DA4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10/12 起准备测量，11/06 前形成联合基线，最终候选连续运行至少 24h</a:t>
            </a:r>
          </a:p>
        </p:txBody>
      </p:sp>
    </p:spTree>
    <p:extLst>
      <p:ext uri="{BB962C8B-B14F-4D97-AF65-F5344CB8AC3E}">
        <p14:creationId xmlns:p14="http://schemas.microsoft.com/office/powerpoint/2010/main" val="1794137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287">
            <a:extLst>
              <a:ext uri="{FF2B5EF4-FFF2-40B4-BE49-F238E27FC236}">
                <a16:creationId xmlns:a16="http://schemas.microsoft.com/office/drawing/2014/main" id="{B90EEF09-5C80-4AE0-B4A5-9D3960F72036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8">
            <a:extLst>
              <a:ext uri="{FF2B5EF4-FFF2-40B4-BE49-F238E27FC236}">
                <a16:creationId xmlns:a16="http://schemas.microsoft.com/office/drawing/2014/main" id="{0FE1DC04-3044-4439-89E0-E1C99BC19339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部署、业务验收与运行交接</a:t>
            </a:r>
          </a:p>
        </p:txBody>
      </p:sp>
      <p:sp>
        <p:nvSpPr>
          <p:cNvPr id="3" name="text-289">
            <a:extLst>
              <a:ext uri="{FF2B5EF4-FFF2-40B4-BE49-F238E27FC236}">
                <a16:creationId xmlns:a16="http://schemas.microsoft.com/office/drawing/2014/main" id="{A80551C2-C3B0-42AF-822D-AA450A7C84A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11/20 前完成候选演练，11/21—11/27 业务 UAT，11/28—12/01 交付缓冲</a:t>
            </a:r>
          </a:p>
        </p:txBody>
      </p:sp>
      <p:sp>
        <p:nvSpPr>
          <p:cNvPr id="4" name="route-290">
            <a:extLst>
              <a:ext uri="{FF2B5EF4-FFF2-40B4-BE49-F238E27FC236}">
                <a16:creationId xmlns:a16="http://schemas.microsoft.com/office/drawing/2014/main" id="{DAAA9D74-4503-47D0-912F-AC61D1D6CD02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91">
            <a:extLst>
              <a:ext uri="{FF2B5EF4-FFF2-40B4-BE49-F238E27FC236}">
                <a16:creationId xmlns:a16="http://schemas.microsoft.com/office/drawing/2014/main" id="{5ACE726C-7C7F-440B-B2F4-4BCC7517163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92">
            <a:extLst>
              <a:ext uri="{FF2B5EF4-FFF2-40B4-BE49-F238E27FC236}">
                <a16:creationId xmlns:a16="http://schemas.microsoft.com/office/drawing/2014/main" id="{5C24B4FB-53BE-4C8A-AF28-B24A24C7C3AB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7" name="text-293">
            <a:extLst>
              <a:ext uri="{FF2B5EF4-FFF2-40B4-BE49-F238E27FC236}">
                <a16:creationId xmlns:a16="http://schemas.microsoft.com/office/drawing/2014/main" id="{E4350373-DD33-4044-8B7C-386459B4E36B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部署可复现</a:t>
            </a:r>
          </a:p>
        </p:txBody>
      </p:sp>
      <p:sp>
        <p:nvSpPr>
          <p:cNvPr id="8" name="text-294">
            <a:extLst>
              <a:ext uri="{FF2B5EF4-FFF2-40B4-BE49-F238E27FC236}">
                <a16:creationId xmlns:a16="http://schemas.microsoft.com/office/drawing/2014/main" id="{B5EDE83D-BEDC-44DB-A0A8-23E0DB73A3AB}"/>
              </a:ext>
            </a:extLst>
          </p:cNvPr>
          <p:cNvSpPr>
            <a:spLocks noGrp="1"/>
          </p:cNvSpPr>
          <p:nvPr/>
        </p:nvSpPr>
        <p:spPr>
          <a:xfrm>
            <a:off x="3190875" y="2028825"/>
            <a:ext cx="839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固定版本、依赖和配置；构建、启动、健康检查与运行限制清楚。</a:t>
            </a:r>
          </a:p>
        </p:txBody>
      </p:sp>
      <p:sp>
        <p:nvSpPr>
          <p:cNvPr id="9" name="route-295">
            <a:extLst>
              <a:ext uri="{FF2B5EF4-FFF2-40B4-BE49-F238E27FC236}">
                <a16:creationId xmlns:a16="http://schemas.microsoft.com/office/drawing/2014/main" id="{14C402EA-7892-4464-80DF-F5C61FA1E5FB}"/>
              </a:ext>
            </a:extLst>
          </p:cNvPr>
          <p:cNvSpPr>
            <a:spLocks noGrp="1"/>
          </p:cNvSpPr>
          <p:nvPr/>
        </p:nvSpPr>
        <p:spPr>
          <a:xfrm>
            <a:off x="3190875" y="3048000"/>
            <a:ext cx="8391525" cy="95"/>
          </a:xfrm>
          <a:custGeom>
            <a:avLst/>
            <a:gdLst/>
            <a:ahLst/>
            <a:cxnLst/>
            <a:rect l="0" t="0" r="0" b="0"/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10" name="text-296">
            <a:extLst>
              <a:ext uri="{FF2B5EF4-FFF2-40B4-BE49-F238E27FC236}">
                <a16:creationId xmlns:a16="http://schemas.microsoft.com/office/drawing/2014/main" id="{4B6E044C-836A-419F-866E-ECB390632F2D}"/>
              </a:ext>
            </a:extLst>
          </p:cNvPr>
          <p:cNvSpPr>
            <a:spLocks noGrp="1"/>
          </p:cNvSpPr>
          <p:nvPr/>
        </p:nvSpPr>
        <p:spPr>
          <a:xfrm>
            <a:off x="609600" y="3171825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恢复可核对</a:t>
            </a:r>
          </a:p>
        </p:txBody>
      </p:sp>
      <p:sp>
        <p:nvSpPr>
          <p:cNvPr id="11" name="text-297">
            <a:extLst>
              <a:ext uri="{FF2B5EF4-FFF2-40B4-BE49-F238E27FC236}">
                <a16:creationId xmlns:a16="http://schemas.microsoft.com/office/drawing/2014/main" id="{E2EEC5B2-17DC-4D5F-B52A-1436B2589C09}"/>
              </a:ext>
            </a:extLst>
          </p:cNvPr>
          <p:cNvSpPr>
            <a:spLocks noGrp="1"/>
          </p:cNvSpPr>
          <p:nvPr/>
        </p:nvSpPr>
        <p:spPr>
          <a:xfrm>
            <a:off x="3190875" y="3171825"/>
            <a:ext cx="839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正文、配置、索引和元数据共同恢复；演练备份、回滚及故障接手。</a:t>
            </a:r>
          </a:p>
        </p:txBody>
      </p:sp>
      <p:sp>
        <p:nvSpPr>
          <p:cNvPr id="12" name="route-298">
            <a:extLst>
              <a:ext uri="{FF2B5EF4-FFF2-40B4-BE49-F238E27FC236}">
                <a16:creationId xmlns:a16="http://schemas.microsoft.com/office/drawing/2014/main" id="{9013D81F-5877-4DF1-830D-A695182B9FF0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8391525" cy="95"/>
          </a:xfrm>
          <a:custGeom>
            <a:avLst/>
            <a:gdLst/>
            <a:ahLst/>
            <a:cxnLst/>
            <a:rect l="0" t="0" r="0" b="0"/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13" name="text-299">
            <a:extLst>
              <a:ext uri="{FF2B5EF4-FFF2-40B4-BE49-F238E27FC236}">
                <a16:creationId xmlns:a16="http://schemas.microsoft.com/office/drawing/2014/main" id="{0C4FFEBC-2113-4AE3-9D9B-5227B4EA33BC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业务可签收</a:t>
            </a:r>
          </a:p>
        </p:txBody>
      </p:sp>
      <p:sp>
        <p:nvSpPr>
          <p:cNvPr id="14" name="text-300">
            <a:extLst>
              <a:ext uri="{FF2B5EF4-FFF2-40B4-BE49-F238E27FC236}">
                <a16:creationId xmlns:a16="http://schemas.microsoft.com/office/drawing/2014/main" id="{70F23685-4243-471E-A374-9A44C0BDB044}"/>
              </a:ext>
            </a:extLst>
          </p:cNvPr>
          <p:cNvSpPr>
            <a:spLocks noGrp="1"/>
          </p:cNvSpPr>
          <p:nvPr/>
        </p:nvSpPr>
        <p:spPr>
          <a:xfrm>
            <a:off x="3190875" y="4314825"/>
            <a:ext cx="839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跨会话、更正删除、冲突预算、隔离、故障和后台动作通过必验 UAT。</a:t>
            </a:r>
          </a:p>
        </p:txBody>
      </p:sp>
      <p:sp>
        <p:nvSpPr>
          <p:cNvPr id="15" name="text-301">
            <a:extLst>
              <a:ext uri="{FF2B5EF4-FFF2-40B4-BE49-F238E27FC236}">
                <a16:creationId xmlns:a16="http://schemas.microsoft.com/office/drawing/2014/main" id="{8038F188-A0A4-4115-B901-8FFCAFA3A0A8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UAT：11/21—24 执行，11/25—27 修复复测与交接，通过后进入发布</a:t>
            </a:r>
          </a:p>
        </p:txBody>
      </p:sp>
    </p:spTree>
    <p:extLst>
      <p:ext uri="{BB962C8B-B14F-4D97-AF65-F5344CB8AC3E}">
        <p14:creationId xmlns:p14="http://schemas.microsoft.com/office/powerpoint/2010/main" val="997831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302">
            <a:extLst>
              <a:ext uri="{FF2B5EF4-FFF2-40B4-BE49-F238E27FC236}">
                <a16:creationId xmlns:a16="http://schemas.microsoft.com/office/drawing/2014/main" id="{48F0AFD0-5D89-4AD0-A816-864BA2A792F7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03">
            <a:extLst>
              <a:ext uri="{FF2B5EF4-FFF2-40B4-BE49-F238E27FC236}">
                <a16:creationId xmlns:a16="http://schemas.microsoft.com/office/drawing/2014/main" id="{5229D469-15B9-4A12-83BE-446106E07E2C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责任分工与关键依赖</a:t>
            </a:r>
          </a:p>
        </p:txBody>
      </p:sp>
      <p:sp>
        <p:nvSpPr>
          <p:cNvPr id="3" name="text-304">
            <a:extLst>
              <a:ext uri="{FF2B5EF4-FFF2-40B4-BE49-F238E27FC236}">
                <a16:creationId xmlns:a16="http://schemas.microsoft.com/office/drawing/2014/main" id="{B23357C8-6668-46EA-9736-D23393897601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 2026.09.23 分工；P2 提供方另行落实，不计入 P3 的 7 人</a:t>
            </a:r>
          </a:p>
        </p:txBody>
      </p:sp>
      <p:sp>
        <p:nvSpPr>
          <p:cNvPr id="4" name="route-305">
            <a:extLst>
              <a:ext uri="{FF2B5EF4-FFF2-40B4-BE49-F238E27FC236}">
                <a16:creationId xmlns:a16="http://schemas.microsoft.com/office/drawing/2014/main" id="{68CB7F55-81CF-4AC8-899F-88CD95FF8FAF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306">
            <a:extLst>
              <a:ext uri="{FF2B5EF4-FFF2-40B4-BE49-F238E27FC236}">
                <a16:creationId xmlns:a16="http://schemas.microsoft.com/office/drawing/2014/main" id="{02F8C066-D11C-4006-BC70-A9B6AD3C829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07">
            <a:extLst>
              <a:ext uri="{FF2B5EF4-FFF2-40B4-BE49-F238E27FC236}">
                <a16:creationId xmlns:a16="http://schemas.microsoft.com/office/drawing/2014/main" id="{91B49241-E292-4319-8E1B-76FD821F80C5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1943100"/>
          <a:ext cx="10972800" cy="3571875"/>
        </p:xfrm>
        <a:graphic>
          <a:graphicData uri="http://schemas.openxmlformats.org/drawingml/2006/table">
            <a:tbl>
              <a:tblPr/>
              <a:tblGrid>
                <a:gridCol w="311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现有人选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还需落实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总体架构 / RF 规则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每项代码任务指定唯一实现人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 / 测试与 P2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 / 肖宇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开发负责人、检索与模型环境日期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开发 / 测试与 P2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对象、索引、模型及样本可用日期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开发 / 测试与 P2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实际执行路径、目标介质及状态查询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 / 业务验收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负责人待指定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环境、身份、应用接入与签收代表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-308">
            <a:extLst>
              <a:ext uri="{FF2B5EF4-FFF2-40B4-BE49-F238E27FC236}">
                <a16:creationId xmlns:a16="http://schemas.microsoft.com/office/drawing/2014/main" id="{DCF11AFF-B5F9-482D-9D63-08B24216D575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阶段一形成责任与依赖日期表；未到位的人员或环境影响相应里程碑</a:t>
            </a:r>
          </a:p>
        </p:txBody>
      </p:sp>
    </p:spTree>
    <p:extLst>
      <p:ext uri="{BB962C8B-B14F-4D97-AF65-F5344CB8AC3E}">
        <p14:creationId xmlns:p14="http://schemas.microsoft.com/office/powerpoint/2010/main" val="1071698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09">
            <a:extLst>
              <a:ext uri="{FF2B5EF4-FFF2-40B4-BE49-F238E27FC236}">
                <a16:creationId xmlns:a16="http://schemas.microsoft.com/office/drawing/2014/main" id="{3A6DD72D-8850-4D0F-950A-C2AD85819D44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10">
            <a:extLst>
              <a:ext uri="{FF2B5EF4-FFF2-40B4-BE49-F238E27FC236}">
                <a16:creationId xmlns:a16="http://schemas.microsoft.com/office/drawing/2014/main" id="{49A2E558-A702-493C-A318-3B1E97CE105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最终交付物与完成标准</a:t>
            </a:r>
          </a:p>
        </p:txBody>
      </p:sp>
      <p:sp>
        <p:nvSpPr>
          <p:cNvPr id="3" name="text-311">
            <a:extLst>
              <a:ext uri="{FF2B5EF4-FFF2-40B4-BE49-F238E27FC236}">
                <a16:creationId xmlns:a16="http://schemas.microsoft.com/office/drawing/2014/main" id="{F26A3A06-2BAC-4E36-93FA-97AA357C388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MVP 交付包与验收记录对应同一发布版本</a:t>
            </a:r>
          </a:p>
        </p:txBody>
      </p:sp>
      <p:sp>
        <p:nvSpPr>
          <p:cNvPr id="4" name="route-312">
            <a:extLst>
              <a:ext uri="{FF2B5EF4-FFF2-40B4-BE49-F238E27FC236}">
                <a16:creationId xmlns:a16="http://schemas.microsoft.com/office/drawing/2014/main" id="{A90F8EB5-9577-433E-828A-E2338A4B91FE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313">
            <a:extLst>
              <a:ext uri="{FF2B5EF4-FFF2-40B4-BE49-F238E27FC236}">
                <a16:creationId xmlns:a16="http://schemas.microsoft.com/office/drawing/2014/main" id="{333E5921-BFED-426C-BFA4-509649FB359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14">
            <a:extLst>
              <a:ext uri="{FF2B5EF4-FFF2-40B4-BE49-F238E27FC236}">
                <a16:creationId xmlns:a16="http://schemas.microsoft.com/office/drawing/2014/main" id="{158E4F47-3066-48CE-8B9E-AA2A6EB0EAE7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  <p:sp>
        <p:nvSpPr>
          <p:cNvPr id="7" name="text-315">
            <a:extLst>
              <a:ext uri="{FF2B5EF4-FFF2-40B4-BE49-F238E27FC236}">
                <a16:creationId xmlns:a16="http://schemas.microsoft.com/office/drawing/2014/main" id="{855FF0B8-D001-40C0-A7C1-E2711D659154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438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最终交付物</a:t>
            </a:r>
          </a:p>
        </p:txBody>
      </p:sp>
      <p:sp>
        <p:nvSpPr>
          <p:cNvPr id="8" name="text-316">
            <a:extLst>
              <a:ext uri="{FF2B5EF4-FFF2-40B4-BE49-F238E27FC236}">
                <a16:creationId xmlns:a16="http://schemas.microsoft.com/office/drawing/2014/main" id="{15839B23-29EF-4A23-AB3E-36F6F878534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5467350" cy="2600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可运行服务、源码与配置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应用接入和连续场景说明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测试、质量性能与 24h 报告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部署、恢复、回滚和监测说明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业务签收、遗留问题与接手记录</a:t>
            </a:r>
          </a:p>
        </p:txBody>
      </p:sp>
      <p:sp>
        <p:nvSpPr>
          <p:cNvPr id="9" name="text-317">
            <a:extLst>
              <a:ext uri="{FF2B5EF4-FFF2-40B4-BE49-F238E27FC236}">
                <a16:creationId xmlns:a16="http://schemas.microsoft.com/office/drawing/2014/main" id="{95AD5C2D-3C65-42F8-B38B-7CB57B191434}"/>
              </a:ext>
            </a:extLst>
          </p:cNvPr>
          <p:cNvSpPr>
            <a:spLocks noGrp="1"/>
          </p:cNvSpPr>
          <p:nvPr/>
        </p:nvSpPr>
        <p:spPr>
          <a:xfrm>
            <a:off x="6819900" y="1990725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</p:txBody>
      </p:sp>
      <p:sp>
        <p:nvSpPr>
          <p:cNvPr id="10" name="text-318">
            <a:extLst>
              <a:ext uri="{FF2B5EF4-FFF2-40B4-BE49-F238E27FC236}">
                <a16:creationId xmlns:a16="http://schemas.microsoft.com/office/drawing/2014/main" id="{04E052A8-437C-4C7A-BC62-D1D3231FD917}"/>
              </a:ext>
            </a:extLst>
          </p:cNvPr>
          <p:cNvSpPr>
            <a:spLocks noGrp="1"/>
          </p:cNvSpPr>
          <p:nvPr/>
        </p:nvSpPr>
        <p:spPr>
          <a:xfrm>
            <a:off x="6819900" y="2647950"/>
            <a:ext cx="4762500" cy="2409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P0 业务与真实联合链路全部通过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质量、性能及 24h 长稳达标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阻断缺陷修复并完成复验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业务签收，运行人员完成接手</a:t>
            </a:r>
          </a:p>
        </p:txBody>
      </p:sp>
      <p:sp>
        <p:nvSpPr>
          <p:cNvPr id="11" name="text-319">
            <a:extLst>
              <a:ext uri="{FF2B5EF4-FFF2-40B4-BE49-F238E27FC236}">
                <a16:creationId xmlns:a16="http://schemas.microsoft.com/office/drawing/2014/main" id="{A129E367-8585-416C-8B5A-1BFBC24FA4FC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12 月 1 日交付：同一发布版本的可运行服务、使用资料与验收证据</a:t>
            </a:r>
          </a:p>
        </p:txBody>
      </p:sp>
    </p:spTree>
    <p:extLst>
      <p:ext uri="{BB962C8B-B14F-4D97-AF65-F5344CB8AC3E}">
        <p14:creationId xmlns:p14="http://schemas.microsoft.com/office/powerpoint/2010/main" val="12186605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5673</Words>
  <Application>Microsoft Office PowerPoint</Application>
  <DocSecurity>0</DocSecurity>
  <PresentationFormat>宽屏</PresentationFormat>
  <Paragraphs>741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sdnk c</cp:lastModifiedBy>
  <cp:revision>1</cp:revision>
  <dcterms:created xsi:type="dcterms:W3CDTF">2026-09-28T04:50:07Z</dcterms:created>
  <dcterms:modified xsi:type="dcterms:W3CDTF">2026-09-29T05:39:52Z</dcterms:modified>
</cp:coreProperties>
</file>