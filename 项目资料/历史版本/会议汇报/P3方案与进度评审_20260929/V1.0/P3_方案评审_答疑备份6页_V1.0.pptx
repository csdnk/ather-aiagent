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40355960d174f2e" /><Relationship Type="http://schemas.openxmlformats.org/officeDocument/2006/relationships/extended-properties" Target="/docProps/app.xml" Id="R2065de84aa4f44ae" /><Relationship Type="http://schemas.openxmlformats.org/officeDocument/2006/relationships/officeDocument" Target="/ppt/presentation.xml" Id="R7ea4d3d064704f2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bc161fd5094ee7"/>
  </p:sldMasterIdLst>
  <p:notesMasterIdLst>
    <p:notesMasterId xmlns:r="http://schemas.openxmlformats.org/officeDocument/2006/relationships" r:id="Rd963643f63454c59"/>
  </p:notesMasterIdLst>
  <p:sldIdLst>
    <p:sldId xmlns:r="http://schemas.openxmlformats.org/officeDocument/2006/relationships" id="256" r:id="R468bf555710e4444"/>
    <p:sldId xmlns:r="http://schemas.openxmlformats.org/officeDocument/2006/relationships" id="257" r:id="Rb301688a0ffe4aa9"/>
    <p:sldId xmlns:r="http://schemas.openxmlformats.org/officeDocument/2006/relationships" id="258" r:id="R1b941abda8624740"/>
    <p:sldId xmlns:r="http://schemas.openxmlformats.org/officeDocument/2006/relationships" id="259" r:id="Rd3093827427f4896"/>
    <p:sldId xmlns:r="http://schemas.openxmlformats.org/officeDocument/2006/relationships" id="260" r:id="R31d76b4b4b0c44ab"/>
    <p:sldId xmlns:r="http://schemas.openxmlformats.org/officeDocument/2006/relationships" id="261" r:id="R1309bb8ac0d3491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b8749c50a55488b" /><Relationship Type="http://schemas.openxmlformats.org/officeDocument/2006/relationships/slideMaster" Target="/ppt/slideMasters/slideMaster1.xml" Id="R75bc161fd5094ee7" /><Relationship Type="http://schemas.openxmlformats.org/officeDocument/2006/relationships/notesMaster" Target="/ppt/notesMasters/notesMaster1.xml" Id="Rd963643f63454c59" /><Relationship Type="http://schemas.openxmlformats.org/officeDocument/2006/relationships/presProps" Target="/ppt/presProps.xml" Id="R5f30fe96b4a64ec7" /><Relationship Type="http://schemas.openxmlformats.org/officeDocument/2006/relationships/tableStyles" Target="/ppt/tableStyles.xml" Id="R4cc66a8b936c4f4c" /><Relationship Type="http://schemas.openxmlformats.org/officeDocument/2006/relationships/slide" Target="/ppt/slides/slide1.xml" Id="R468bf555710e4444" /><Relationship Type="http://schemas.openxmlformats.org/officeDocument/2006/relationships/slide" Target="/ppt/slides/slide2.xml" Id="Rb301688a0ffe4aa9" /><Relationship Type="http://schemas.openxmlformats.org/officeDocument/2006/relationships/slide" Target="/ppt/slides/slide3.xml" Id="R1b941abda8624740" /><Relationship Type="http://schemas.openxmlformats.org/officeDocument/2006/relationships/slide" Target="/ppt/slides/slide4.xml" Id="Rd3093827427f4896" /><Relationship Type="http://schemas.openxmlformats.org/officeDocument/2006/relationships/slide" Target="/ppt/slides/slide5.xml" Id="R31d76b4b4b0c44ab" /><Relationship Type="http://schemas.openxmlformats.org/officeDocument/2006/relationships/slide" Target="/ppt/slides/slide6.xml" Id="R1309bb8ac0d349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00f72a68b9842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154d9018b254677" /><Relationship Type="http://schemas.openxmlformats.org/officeDocument/2006/relationships/notesMaster" Target="/ppt/notesMasters/notesMaster1.xml" Id="Rd451d79c38ff420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8a11c95d59e4e6b" /><Relationship Type="http://schemas.openxmlformats.org/officeDocument/2006/relationships/notesMaster" Target="/ppt/notesMasters/notesMaster1.xml" Id="Rbc86fbbc334b423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9300b38caab4e06" /><Relationship Type="http://schemas.openxmlformats.org/officeDocument/2006/relationships/notesMaster" Target="/ppt/notesMasters/notesMaster1.xml" Id="Rd29b76c91832477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596244aefdf429c" /><Relationship Type="http://schemas.openxmlformats.org/officeDocument/2006/relationships/notesMaster" Target="/ppt/notesMasters/notesMaster1.xml" Id="R2953a1f7590e4c5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903c4ffe7584f01" /><Relationship Type="http://schemas.openxmlformats.org/officeDocument/2006/relationships/notesMaster" Target="/ppt/notesMasters/notesMaster1.xml" Id="Rb2db4614ec4b420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f871f4375a74227" /><Relationship Type="http://schemas.openxmlformats.org/officeDocument/2006/relationships/notesMaster" Target="/ppt/notesMasters/notesMaster1.xml" Id="R2d76b757192f442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答疑备份 1：Remember 详细流程与异常</a:t>
            </a:r>
          </a:p>
          <a:p xmlns:a="http://schemas.openxmlformats.org/drawingml/2006/main">
            <a:r>
              <a:t>核心句：业务事实、后台任务和长期就绪分别确认。</a:t>
            </a:r>
          </a:p>
          <a:p xmlns:a="http://schemas.openxmlformats.org/drawingml/2006/main">
            <a:r>
              <a:t>讲图提示：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围绕图中输入、保存、当前读取、加工、投影与就绪展开。已保存、当前可用、长期就绪是不同维度。真实 LLM 质量与 P2 索引效果仍需验证。更正建新版本，删除先阻断使用，后台提交核对当前版本和权限。重复提交按原操作查询，断线不能制造新业务效果。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</a:t>
            </a:r>
          </a:p>
          <a:p xmlns:a="http://schemas.openxmlformats.org/drawingml/2006/main">
            <a:r>
              <a:t>E:/projects/codex/aether/交付成果/架构设计/P3全景流程_Excalidraw/README.md</a:t>
            </a:r>
          </a:p>
          <a:p xmlns:a="http://schemas.openxmlformats.org/drawingml/2006/main">
            <a:r>
              <a:t>E:/projects/codex/aether/交付成果/ADR版本/ADR-P2P3-001_总体架构决策.md</a:t>
            </a:r>
          </a:p>
          <a:p xmlns:a="http://schemas.openxmlformats.org/drawingml/2006/main">
            <a:r>
              <a:t>E:/projects/codex/aether/交付成果/测试与验收/P3_统一运行整合与验收_20260926.md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状态规则：方案按 PRD V1.3/主 ADR；工程结果引用 2026-09-26 整合报告。2026-09-28 准备汇报时仅作资料和入口核对，未重跑业务测试。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答疑备份 2：Recall 详细流程与交付规则</a:t>
            </a:r>
          </a:p>
          <a:p xmlns:a="http://schemas.openxmlformats.org/drawingml/2006/main">
            <a:r>
              <a:t>核心句：块用于匹配，记忆用于计数，完整关系组用于交付。</a:t>
            </a:r>
          </a:p>
          <a:p xmlns:a="http://schemas.openxmlformats.org/drawingml/2006/main">
            <a:r>
              <a:t>讲图提示：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Working-only 直接读取当前记忆，不调用向量服务。长期查询按兼容模型空间查块，再由 Remember 资格核验，按 memory_id 聚合，精确版本读取正文。候选不足有界补取，随后排序、关系补全、实际 token 预算与最终条件提交。正常预算取舍不自动降级；全部组都放不下不能报正常为空。共享发现、读取和重取均需当前授权。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</a:t>
            </a:r>
          </a:p>
          <a:p xmlns:a="http://schemas.openxmlformats.org/drawingml/2006/main">
            <a:r>
              <a:t>E:/projects/codex/aether/交付成果/架构设计/P3全景流程_Excalidraw/README.md</a:t>
            </a:r>
          </a:p>
          <a:p xmlns:a="http://schemas.openxmlformats.org/drawingml/2006/main">
            <a:r>
              <a:t>E:/projects/codex/aether/交付成果/ADR版本/ADR-P2P3-001_总体架构决策.md</a:t>
            </a:r>
          </a:p>
          <a:p xmlns:a="http://schemas.openxmlformats.org/drawingml/2006/main">
            <a:r>
              <a:t>E:/projects/codex/aether/交付成果/测试与验收/P3_统一运行整合与验收_20260926.md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状态规则：方案按 PRD V1.3/主 ADR；工程结果引用 2026-09-26 整合报告。2026-09-28 准备汇报时仅作资料和入口核对，未重跑业务测试。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答疑备份 3：Operate 详细流程与恢复</a:t>
            </a:r>
          </a:p>
          <a:p xmlns:a="http://schemas.openxmlformats.org/drawingml/2006/main">
            <a:r>
              <a:t>核心句：动作编号、执行证据与当前有效性共同约束结果。</a:t>
            </a:r>
          </a:p>
          <a:p xmlns:a="http://schemas.openxmlformats.org/drawingml/2006/main">
            <a:r>
              <a:t>讲图提示：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存储变化和成功 read 事件驱动热度，packed 不重复计热。定时衰减触发周期检查，策略遵循容量、版本、授权及动作冲突规则。执行结果未知时查询原动作。目标读取确认并按业务边界交接后，真实读取路径才使用准备结果。当前执行为本地文件缓存，生产物理分层待真实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</a:t>
            </a:r>
          </a:p>
          <a:p xmlns:a="http://schemas.openxmlformats.org/drawingml/2006/main">
            <a:r>
              <a:t>E:/projects/codex/aether/交付成果/架构设计/P3全景流程_Excalidraw/README.md</a:t>
            </a:r>
          </a:p>
          <a:p xmlns:a="http://schemas.openxmlformats.org/drawingml/2006/main">
            <a:r>
              <a:t>E:/projects/codex/aether/交付成果/ADR版本/ADR-P2P3-001_总体架构决策.md</a:t>
            </a:r>
          </a:p>
          <a:p xmlns:a="http://schemas.openxmlformats.org/drawingml/2006/main">
            <a:r>
              <a:t>E:/projects/codex/aether/交付成果/测试与验收/P3_统一运行整合与验收_20260926.md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状态规则：方案按 PRD V1.3/主 ADR；工程结果引用 2026-09-26 整合报告。2026-09-28 准备汇报时仅作资料和入口核对，未重跑业务测试。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答疑备份 4：接口与责任分工</a:t>
            </a:r>
          </a:p>
          <a:p xmlns:a="http://schemas.openxmlformats.org/drawingml/2006/main">
            <a:r>
              <a:t>核心句：开发负责实现，对应测试人员负责验证及 P2 对接。</a:t>
            </a:r>
          </a:p>
          <a:p xmlns:a="http://schemas.openxmlformats.org/drawingml/2006/main">
            <a:r>
              <a:t>讲图提示：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分工引用 2026-09-23 表，姓名与时间应在会议确认。陈凯负责总体架构和 RF 规则。Recall/Embedding 开发负责人待确定，测试与 P2 对接为肖宇。Remember 开发杨鹏通，对接赵旭东。Operate 开发沈佳隆，对接谭旭梁。P3 内部接口协作由对应开发负责人承担，陈凯协调。P2 服务能力由 P2 提供方承担，人员不计入上述七人。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</a:t>
            </a:r>
          </a:p>
          <a:p xmlns:a="http://schemas.openxmlformats.org/drawingml/2006/main">
            <a:r>
              <a:t>E:/projects/codex/aether/交付成果/开发协作/13_项目任务分工表_20260923.md</a:t>
            </a:r>
          </a:p>
          <a:p xmlns:a="http://schemas.openxmlformats.org/drawingml/2006/main">
            <a:r>
              <a:t>E:/projects/codex/aether/交付成果/ADR版本/ADR-P2P3-001_总体架构决策.md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状态规则：方案按 PRD V1.3/主 ADR；工程结果引用 2026-09-26 整合报告。2026-09-28 准备汇报时仅作资料和入口核对，未重跑业务测试。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答疑备份 5：工程测试证据与使用边界</a:t>
            </a:r>
          </a:p>
          <a:p xmlns:a="http://schemas.openxmlformats.org/drawingml/2006/main">
            <a:r>
              <a:t>核心句：只引用同一报告支持的层级，重叠测试数量不相加。</a:t>
            </a:r>
          </a:p>
          <a:p xmlns:a="http://schemas.openxmlformats.org/drawingml/2006/main">
            <a:r>
              <a:t>讲图提示：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报告日期 2026-09-26，分支 codex/integrate-continuous-p3，起点提交 32487d0290f6560ebe274c086119316856149cf5，验收对象为当时未提交工作区修改。E01 为 1305 passed，172.87 秒，启用真实 BGE 且排除 Docker 环境项。E02 为 16 passed，41.50 秒，与 E01 重叠，不相加。E03 真实 TCP 服务启动及进程重启验证通过。E05 严格 Mypy 覆盖 356 个源码文件。E07 只证明 Compose 配置解析，未证明镜像构建和容器联调。E06 不同组有重叠，三流程及服务为 227 passed/1 skipped。报告没有新的远端 CI 通过声明，本次未重跑上述业务测试。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</a:t>
            </a:r>
          </a:p>
          <a:p xmlns:a="http://schemas.openxmlformats.org/drawingml/2006/main">
            <a:r>
              <a:t>E:/projects/codex/aether/交付成果/测试与验收/P3_统一运行整合与验收_20260926.md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状态规则：方案按 PRD V1.3/主 ADR；工程结果引用 2026-09-26 整合报告。2026-09-28 准备汇报时仅作资料和入口核对，未重跑业务测试。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答疑备份 6：常见追问与待决事项</a:t>
            </a:r>
          </a:p>
          <a:p xmlns:a="http://schemas.openxmlformats.org/drawingml/2006/main">
            <a:r>
              <a:t>核心句：用已有证据回答，并明确补证任务。</a:t>
            </a:r>
          </a:p>
          <a:p xmlns:a="http://schemas.openxmlformats.org/drawingml/2006/main">
            <a:r>
              <a:t>讲图提示：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整合完成不等于产品签收。真实 BGE 的验证不等于真实大模型的事实提取质量验证。本地文件缓存不等于 P2 生产物理存储迁移。日期依赖环境、接口与人员确认，不沿用旧两周计划作为新的承诺。会上应确定阶段范围、P2 正式能力、样本和指标、A 开发负责人以及运行交接责任。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</a:t>
            </a:r>
          </a:p>
          <a:p xmlns:a="http://schemas.openxmlformats.org/drawingml/2006/main">
            <a:r>
              <a:t>E:/projects/codex/aether/交付成果/ADR版本/ADR-P2P3-001_总体架构决策.md</a:t>
            </a:r>
          </a:p>
          <a:p xmlns:a="http://schemas.openxmlformats.org/drawingml/2006/main">
            <a:r>
              <a:t>E:/projects/codex/aether/交付成果/测试与验收/P3_统一运行整合与验收_20260926.md</a:t>
            </a:r>
          </a:p>
          <a:p xmlns:a="http://schemas.openxmlformats.org/drawingml/2006/main">
            <a:r>
              <a:t>E:/projects/codex/aether/交付成果/部署运行/P3_统一服务运行指南_20260926.md</a:t>
            </a:r>
          </a:p>
          <a:p xmlns:a="http://schemas.openxmlformats.org/drawingml/2006/main">
            <a:r>
              <a:t>E:/projects/codex/aether/交付成果/开发协作/13_项目任务分工表_20260923.md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状态规则：方案按 PRD V1.3/主 ADR；工程结果引用 2026-09-26 整合报告。2026-09-28 准备汇报时仅作资料和入口核对，未重跑业务测试。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2f0e8e30894a1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535130e82a4de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4df69d1697406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5888a9262b41a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8cca06794d4cc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697513ccd644a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D08053F2-7063-4BBB-BE40-74D8CEBE3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6F63BCF-B240-4BA6-B112-6E977ADA4A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EA0B5D30-5EFC-448E-899C-B4418433A71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BBDFBCBE-D1D1-40B1-8F1D-3AC6779A6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D58E8A5-2DAD-4C41-BB56-4C60B406DD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ED4020F8-3D9A-44BB-9C4C-C02E6AFFA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38AA139-C115-40E4-B4D4-F88CBC9C0D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08905662-3016-4DB4-A3D9-009FE95E85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2C2E8B65-0850-44F5-AD5E-1416A5E87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5BD9ACE-9E79-4CAF-8E6B-6151673278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581EF6D-E054-4D00-9BF3-A8FAF7782C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CA9E27C-F0D0-4922-A7FA-148FCBB2D73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CE2886B-3390-4A87-A45F-80EF5AE02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49974CC-218D-4BF8-943F-AF2461AA21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5FE688E-5ED2-418C-BC81-85A37C4E747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ed1f445703545cc" /><Relationship Type="http://schemas.openxmlformats.org/officeDocument/2006/relationships/slideLayout" Target="/ppt/slideLayouts/slideLayout1.xml" Id="Rfe8bc0e0c2904c37" /><Relationship Type="http://schemas.openxmlformats.org/officeDocument/2006/relationships/slideLayout" Target="/ppt/slideLayouts/slideLayout2.xml" Id="R01ac563f5a3e48e3" /><Relationship Type="http://schemas.openxmlformats.org/officeDocument/2006/relationships/slideLayout" Target="/ppt/slideLayouts/slideLayout3.xml" Id="R354df8e3b75046e5" /><Relationship Type="http://schemas.openxmlformats.org/officeDocument/2006/relationships/slideLayout" Target="/ppt/slideLayouts/slideLayout4.xml" Id="R70a0f7053696466f" /><Relationship Type="http://schemas.openxmlformats.org/officeDocument/2006/relationships/slideLayout" Target="/ppt/slideLayouts/slideLayout5.xml" Id="R416c76c080fd4197" /><Relationship Type="http://schemas.openxmlformats.org/officeDocument/2006/relationships/slideLayout" Target="/ppt/slideLayouts/slideLayout6.xml" Id="Re6dab079917b4f2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8bc0e0c2904c37"/>
    <p:sldLayoutId xmlns:r="http://schemas.openxmlformats.org/officeDocument/2006/relationships" id="2147483650" r:id="R01ac563f5a3e48e3"/>
    <p:sldLayoutId xmlns:r="http://schemas.openxmlformats.org/officeDocument/2006/relationships" id="2147483651" r:id="R354df8e3b75046e5"/>
    <p:sldLayoutId xmlns:r="http://schemas.openxmlformats.org/officeDocument/2006/relationships" id="2147483652" r:id="R70a0f7053696466f"/>
    <p:sldLayoutId xmlns:r="http://schemas.openxmlformats.org/officeDocument/2006/relationships" id="2147483653" r:id="R416c76c080fd4197"/>
    <p:sldLayoutId xmlns:r="http://schemas.openxmlformats.org/officeDocument/2006/relationships" id="2147483654" r:id="Re6dab079917b4f2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d84e5d46cc497d" /><Relationship Type="http://schemas.openxmlformats.org/officeDocument/2006/relationships/notesSlide" Target="/ppt/notesSlides/notesSlide1.xml" Id="Ra0cf99a816d14fa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80e7a6f21a4d67" /><Relationship Type="http://schemas.openxmlformats.org/officeDocument/2006/relationships/notesSlide" Target="/ppt/notesSlides/notesSlide2.xml" Id="R7140432d955f40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0399cd3e2d4460" /><Relationship Type="http://schemas.openxmlformats.org/officeDocument/2006/relationships/notesSlide" Target="/ppt/notesSlides/notesSlide3.xml" Id="R842ec2ffce15438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9d5e6bef5d480a" /><Relationship Type="http://schemas.openxmlformats.org/officeDocument/2006/relationships/notesSlide" Target="/ppt/notesSlides/notesSlide4.xml" Id="Rf4fd49561d9541f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7c35f6655f4073" /><Relationship Type="http://schemas.openxmlformats.org/officeDocument/2006/relationships/notesSlide" Target="/ppt/notesSlides/notesSlide5.xml" Id="Ra548da9c3172481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51536808374071" /><Relationship Type="http://schemas.openxmlformats.org/officeDocument/2006/relationships/notesSlide" Target="/ppt/notesSlides/notesSlide6.xml" Id="R30284f19cde144c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315450" y="25241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5D91"/>
            </a:solidFill>
            <a:prstDash val="solid"/>
            <a:tailEnd type="arrow" w="med" len="med"/>
          </a:ln>
        </p:spPr>
      </p:cxnSp>
      <p:cxnSp>
        <p:nvCxnSpPr>
          <p:cNvPr id="1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067550" y="25241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5D91"/>
            </a:solidFill>
            <a:prstDash val="solid"/>
            <a:tailEnd type="arrow" w="med" len="med"/>
          </a:ln>
        </p:spPr>
      </p:cxnSp>
      <p:cxnSp>
        <p:nvCxnSpPr>
          <p:cNvPr id="19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819650" y="25241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5D91"/>
            </a:solidFill>
            <a:prstDash val="solid"/>
            <a:tailEnd type="arrow" w="med" len="med"/>
          </a:ln>
        </p:spPr>
      </p:cxn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571750" y="25241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5D91"/>
            </a:solidFill>
            <a:prstDash val="solid"/>
            <a:tailEnd type="arrow" w="med" len="med"/>
          </a:ln>
        </p:spPr>
      </p:cxnSp>
      <p:sp>
        <p:nvSpPr>
          <p:cNvPr id="21" name="title">
            <a:extLst xmlns:a="http://schemas.openxmlformats.org/drawingml/2006/main">
              <a:ext uri="{FF2B5EF4-FFF2-40B4-BE49-F238E27FC236}">
                <a16:creationId xmlns:a16="http://schemas.microsoft.com/office/drawing/2014/main" id="{69CD4363-375B-4699-BADB-596511375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Remember 详细流程与异常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1B02840-0F29-447B-8BC6-3AD71FC0A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rPr>
              <a:t>答疑备份：正常路径与更正、删除、中断场景</a:t>
            </a:r>
          </a:p>
        </p:txBody>
      </p:sp>
      <p:sp>
        <p:nvSpPr>
          <p:cNvPr id="3" name="divider">
            <a:extLst xmlns:a="http://schemas.openxmlformats.org/drawingml/2006/main">
              <a:ext uri="{FF2B5EF4-FFF2-40B4-BE49-F238E27FC236}">
                <a16:creationId xmlns:a16="http://schemas.microsoft.com/office/drawing/2014/main" id="{5A14014B-2A85-4282-BA14-201861A44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FE7"/>
            </a:solidFill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69321FBC-DCFB-482D-B168-0849FD00F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rPr>
              <a:t>P3 方案评审  2026.09.29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9B0A82F-47F9-4FB9-AA1C-9BBAB54D5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419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rPr>
              <a:t>01 / 6</a:t>
            </a:r>
          </a:p>
        </p:txBody>
      </p:sp>
      <p:sp>
        <p:nvSpPr>
          <p:cNvPr id="6" name="step-0">
            <a:extLst xmlns:a="http://schemas.openxmlformats.org/drawingml/2006/main">
              <a:ext uri="{FF2B5EF4-FFF2-40B4-BE49-F238E27FC236}">
                <a16:creationId xmlns:a16="http://schemas.microsoft.com/office/drawing/2014/main" id="{A89A4E58-1633-46D7-89FF-411ABB812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9621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8"/>
          </a:solidFill>
          <a:ln xmlns:a="http://schemas.openxmlformats.org/drawingml/2006/main" w="11430">
            <a:solidFill>
              <a:srgbClr val="D5DFE7"/>
            </a:solidFill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身份与来源</a:t>
            </a:r>
          </a:p>
          <a:p xmlns:a="http://schemas.openxmlformats.org/drawingml/2006/main">
            <a:pPr algn="ctr">
              <a:def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业务幂等</a:t>
            </a:r>
          </a:p>
        </p:txBody>
      </p:sp>
      <p:sp>
        <p:nvSpPr>
          <p:cNvPr id="7" name="step-1">
            <a:extLst xmlns:a="http://schemas.openxmlformats.org/drawingml/2006/main">
              <a:ext uri="{FF2B5EF4-FFF2-40B4-BE49-F238E27FC236}">
                <a16:creationId xmlns:a16="http://schemas.microsoft.com/office/drawing/2014/main" id="{8E871F5B-2B78-4016-B16B-A36E68B60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00250"/>
            <a:ext cx="19621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8"/>
          </a:solidFill>
          <a:ln xmlns:a="http://schemas.openxmlformats.org/drawingml/2006/main" w="11430">
            <a:solidFill>
              <a:srgbClr val="D5DFE7"/>
            </a:solidFill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可靠保存</a:t>
            </a:r>
          </a:p>
          <a:p xmlns:a="http://schemas.openxmlformats.org/drawingml/2006/main">
            <a:pPr algn="ctr">
              <a:def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正文与记录</a:t>
            </a:r>
          </a:p>
        </p:txBody>
      </p:sp>
      <p:sp>
        <p:nvSpPr>
          <p:cNvPr id="8" name="step-2">
            <a:extLst xmlns:a="http://schemas.openxmlformats.org/drawingml/2006/main">
              <a:ext uri="{FF2B5EF4-FFF2-40B4-BE49-F238E27FC236}">
                <a16:creationId xmlns:a16="http://schemas.microsoft.com/office/drawing/2014/main" id="{658817E8-59E5-446E-872A-2B876F8EE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000250"/>
            <a:ext cx="19621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8"/>
          </a:solidFill>
          <a:ln xmlns:a="http://schemas.openxmlformats.org/drawingml/2006/main" w="11430">
            <a:solidFill>
              <a:srgbClr val="D5DFE7"/>
            </a:solidFill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登记任务</a:t>
            </a:r>
          </a:p>
          <a:p xmlns:a="http://schemas.openxmlformats.org/drawingml/2006/main">
            <a:pPr algn="ctr">
              <a:def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持久化交接</a:t>
            </a:r>
          </a:p>
        </p:txBody>
      </p:sp>
      <p:sp>
        <p:nvSpPr>
          <p:cNvPr id="9" name="step-3">
            <a:extLst xmlns:a="http://schemas.openxmlformats.org/drawingml/2006/main">
              <a:ext uri="{FF2B5EF4-FFF2-40B4-BE49-F238E27FC236}">
                <a16:creationId xmlns:a16="http://schemas.microsoft.com/office/drawing/2014/main" id="{C7E4FCD0-EF1B-412A-98A1-90D51362A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000250"/>
            <a:ext cx="19621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8"/>
          </a:solidFill>
          <a:ln xmlns:a="http://schemas.openxmlformats.org/drawingml/2006/main" w="11430">
            <a:solidFill>
              <a:srgbClr val="D5DFE7"/>
            </a:solidFill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内容加工</a:t>
            </a:r>
          </a:p>
          <a:p xmlns:a="http://schemas.openxmlformats.org/drawingml/2006/main">
            <a:pPr algn="ctr">
              <a:def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证据与版本</a:t>
            </a:r>
          </a:p>
        </p:txBody>
      </p:sp>
      <p:sp>
        <p:nvSpPr>
          <p:cNvPr id="10" name="step-4">
            <a:extLst xmlns:a="http://schemas.openxmlformats.org/drawingml/2006/main">
              <a:ext uri="{FF2B5EF4-FFF2-40B4-BE49-F238E27FC236}">
                <a16:creationId xmlns:a16="http://schemas.microsoft.com/office/drawing/2014/main" id="{CEBEB6B3-A7B1-4FC0-88A2-4C6251DB3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000250"/>
            <a:ext cx="19621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8"/>
          </a:solidFill>
          <a:ln xmlns:a="http://schemas.openxmlformats.org/drawingml/2006/main" w="11430">
            <a:solidFill>
              <a:srgbClr val="D5DFE7"/>
            </a:solidFill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完整投影</a:t>
            </a:r>
          </a:p>
          <a:p xmlns:a="http://schemas.openxmlformats.org/drawingml/2006/main">
            <a:pPr algn="ctr">
              <a:def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核验后就绪</a:t>
            </a:r>
          </a:p>
        </p:txBody>
      </p:sp>
      <p:sp>
        <p:nvSpPr>
          <p:cNvPr id="15" name="working-path">
            <a:extLst xmlns:a="http://schemas.openxmlformats.org/drawingml/2006/main">
              <a:ext uri="{FF2B5EF4-FFF2-40B4-BE49-F238E27FC236}">
                <a16:creationId xmlns:a16="http://schemas.microsoft.com/office/drawing/2014/main" id="{B639260D-CCE6-4714-B8B1-74A99B18F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7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7B78"/>
                </a:solidFill>
                <a:latin typeface="Microsoft YaHei"/>
                <a:ea typeface="Microsoft YaHei"/>
                <a:cs typeface="Microsoft YaHei"/>
              </a:rPr>
              <a:t>当前任务记忆可按规则直接使用，长期加工独立推进</a:t>
            </a:r>
          </a:p>
        </p:txBody>
      </p:sp>
      <p:graphicFrame>
        <p:nvGraphicFramePr>
          <p:cNvPr id="32" name=""/>
          <p:cNvGraphicFramePr/>
          <p:nvPr/>
        </p:nvGraphicFramePr>
        <p:xfrm>
          <a:off xmlns:a="http://schemas.openxmlformats.org/drawingml/2006/main" x="609600" y="3981450"/>
          <a:ext xmlns:a="http://schemas.openxmlformats.org/drawingml/2006/main" cx="10972800" cy="18954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8353425"/>
              </a:tblGrid>
              <a:tr h="4095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场景</a:t>
                      </a:r>
                    </a:p>
                  </a:txBody>
                  <a:tcPr marL="91440" marR="91440" marT="45720" marB="45720" anchor="ctr">
                    <a:solidFill>
                      <a:srgbClr val="132B43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系统必须保持的行为</a:t>
                      </a:r>
                    </a:p>
                  </a:txBody>
                  <a:tcPr marL="91440" marR="91440" marT="45720" marB="45720" anchor="ctr">
                    <a:solidFill>
                      <a:srgbClr val="132B43"/>
                    </a:solidFill>
                  </a:tcPr>
                </a:tc>
              </a:tr>
              <a:tr h="495300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重复 / 中断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复用原操作结果，重启从持久任务恢复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更正 / 删除 / 撤权</a:t>
                      </a:r>
                    </a:p>
                  </a:txBody>
                  <a:tcPr marL="91440" marR="91440" marT="45720" marB="45720" anchor="ctr">
                    <a:solidFill>
                      <a:srgbClr val="F5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当前资格先影响使用，迟到结果提交再次复核</a:t>
                      </a:r>
                    </a:p>
                  </a:txBody>
                  <a:tcPr marL="91440" marR="91440" marT="45720" marB="45720" anchor="ctr">
                    <a:solidFill>
                      <a:srgbClr val="F5F8FA"/>
                    </a:solidFill>
                  </a:tcPr>
                </a:tc>
              </a:tr>
              <a:tr h="495300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加工 / 投影失败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保留已保存事实和合法 Working，长期状态如实未就绪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23509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8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9315450" y="35718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5D91"/>
            </a:solidFill>
            <a:prstDash val="solid"/>
            <a:tailEnd type="arrow" w="med" len="med"/>
          </a:ln>
        </p:spPr>
      </p:cxnSp>
      <p:cxnSp>
        <p:nvCxnSpPr>
          <p:cNvPr id="29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067550" y="35718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5D91"/>
            </a:solidFill>
            <a:prstDash val="solid"/>
            <a:tailEnd type="arrow" w="med" len="med"/>
          </a:ln>
        </p:spPr>
      </p:cxnSp>
      <p:cxnSp>
        <p:nvCxnSpPr>
          <p:cNvPr id="30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4819650" y="35718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5D91"/>
            </a:solidFill>
            <a:prstDash val="solid"/>
            <a:tailEnd type="arrow" w="med" len="med"/>
          </a:ln>
        </p:spPr>
      </p:cxnSp>
      <p:cxnSp>
        <p:nvCxnSpPr>
          <p:cNvPr id="31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2571750" y="35718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5D91"/>
            </a:solidFill>
            <a:prstDash val="solid"/>
            <a:tailEnd type="arrow" w="med" len="med"/>
          </a:ln>
        </p:spPr>
      </p:cxnSp>
      <p:cxnSp>
        <p:nvCxnSpPr>
          <p:cNvPr id="32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315450" y="22574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5D91"/>
            </a:solidFill>
            <a:prstDash val="solid"/>
            <a:tailEnd type="arrow" w="med" len="med"/>
          </a:ln>
        </p:spPr>
      </p:cxnSp>
      <p:cxnSp>
        <p:nvCxnSpPr>
          <p:cNvPr id="33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067550" y="22574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5D91"/>
            </a:solidFill>
            <a:prstDash val="solid"/>
            <a:tailEnd type="arrow" w="med" len="med"/>
          </a:ln>
        </p:spPr>
      </p:cxnSp>
      <p:cxnSp>
        <p:nvCxnSpPr>
          <p:cNvPr id="34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819650" y="22574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5D91"/>
            </a:solidFill>
            <a:prstDash val="solid"/>
            <a:tailEnd type="arrow" w="med" len="med"/>
          </a:ln>
        </p:spPr>
      </p:cxnSp>
      <p:cxnSp>
        <p:nvCxnSpPr>
          <p:cNvPr id="35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571750" y="22574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5D91"/>
            </a:solidFill>
            <a:prstDash val="solid"/>
            <a:tailEnd type="arrow" w="med" len="med"/>
          </a:ln>
        </p:spPr>
      </p:cxnSp>
      <p:sp>
        <p:nvSpPr>
          <p:cNvPr id="36" name="title">
            <a:extLst xmlns:a="http://schemas.openxmlformats.org/drawingml/2006/main">
              <a:ext uri="{FF2B5EF4-FFF2-40B4-BE49-F238E27FC236}">
                <a16:creationId xmlns:a16="http://schemas.microsoft.com/office/drawing/2014/main" id="{BEB3B19B-FA9F-4299-807B-ABEEAFE1D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Recall 详细流程与交付规则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FEDB7A5-BCFF-40CC-9158-35F19DA67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rPr>
              <a:t>答疑备份：候选、正文、关系组与最终交付</a:t>
            </a:r>
          </a:p>
        </p:txBody>
      </p:sp>
      <p:sp>
        <p:nvSpPr>
          <p:cNvPr id="3" name="divider">
            <a:extLst xmlns:a="http://schemas.openxmlformats.org/drawingml/2006/main">
              <a:ext uri="{FF2B5EF4-FFF2-40B4-BE49-F238E27FC236}">
                <a16:creationId xmlns:a16="http://schemas.microsoft.com/office/drawing/2014/main" id="{5DC451BC-ED2D-42D5-9FF7-4E09C534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FE7"/>
            </a:solidFill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ABD4E218-D47F-4B8C-A36D-E0D9ADA5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rPr>
              <a:t>P3 方案评审  2026.09.29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07BE1FA-FCFD-4BCB-9DBD-C4F2A7B61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419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rPr>
              <a:t>02 / 6</a:t>
            </a:r>
          </a:p>
        </p:txBody>
      </p:sp>
      <p:sp>
        <p:nvSpPr>
          <p:cNvPr id="6" name="step-0">
            <a:extLst xmlns:a="http://schemas.openxmlformats.org/drawingml/2006/main">
              <a:ext uri="{FF2B5EF4-FFF2-40B4-BE49-F238E27FC236}">
                <a16:creationId xmlns:a16="http://schemas.microsoft.com/office/drawing/2014/main" id="{0CAA5B14-FBA2-42CB-9B40-6B575F8D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962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8"/>
          </a:solidFill>
          <a:ln xmlns:a="http://schemas.openxmlformats.org/drawingml/2006/main" w="11430">
            <a:solidFill>
              <a:srgbClr val="D5DFE7"/>
            </a:solidFill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来源选择</a:t>
            </a:r>
          </a:p>
        </p:txBody>
      </p:sp>
      <p:sp>
        <p:nvSpPr>
          <p:cNvPr id="7" name="step-1">
            <a:extLst xmlns:a="http://schemas.openxmlformats.org/drawingml/2006/main">
              <a:ext uri="{FF2B5EF4-FFF2-40B4-BE49-F238E27FC236}">
                <a16:creationId xmlns:a16="http://schemas.microsoft.com/office/drawing/2014/main" id="{F32CBD66-50F9-446B-BC4B-DEC273223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05000"/>
            <a:ext cx="1962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8"/>
          </a:solidFill>
          <a:ln xmlns:a="http://schemas.openxmlformats.org/drawingml/2006/main" w="11430">
            <a:solidFill>
              <a:srgbClr val="D5DFE7"/>
            </a:solidFill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命中块检索</a:t>
            </a:r>
          </a:p>
        </p:txBody>
      </p:sp>
      <p:sp>
        <p:nvSpPr>
          <p:cNvPr id="8" name="step-2">
            <a:extLst xmlns:a="http://schemas.openxmlformats.org/drawingml/2006/main">
              <a:ext uri="{FF2B5EF4-FFF2-40B4-BE49-F238E27FC236}">
                <a16:creationId xmlns:a16="http://schemas.microsoft.com/office/drawing/2014/main" id="{556BA00C-946F-45E3-81B6-0FCE3D1A8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905000"/>
            <a:ext cx="1962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8"/>
          </a:solidFill>
          <a:ln xmlns:a="http://schemas.openxmlformats.org/drawingml/2006/main" w="11430">
            <a:solidFill>
              <a:srgbClr val="D5DFE7"/>
            </a:solidFill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B 资格核验</a:t>
            </a:r>
          </a:p>
        </p:txBody>
      </p:sp>
      <p:sp>
        <p:nvSpPr>
          <p:cNvPr id="9" name="step-3">
            <a:extLst xmlns:a="http://schemas.openxmlformats.org/drawingml/2006/main">
              <a:ext uri="{FF2B5EF4-FFF2-40B4-BE49-F238E27FC236}">
                <a16:creationId xmlns:a16="http://schemas.microsoft.com/office/drawing/2014/main" id="{C8CD1103-7669-44D5-A1C4-EE9320899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905000"/>
            <a:ext cx="1962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8"/>
          </a:solidFill>
          <a:ln xmlns:a="http://schemas.openxmlformats.org/drawingml/2006/main" w="11430">
            <a:solidFill>
              <a:srgbClr val="D5DFE7"/>
            </a:solidFill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按记忆聚合</a:t>
            </a:r>
          </a:p>
        </p:txBody>
      </p:sp>
      <p:sp>
        <p:nvSpPr>
          <p:cNvPr id="10" name="step-4">
            <a:extLst xmlns:a="http://schemas.openxmlformats.org/drawingml/2006/main">
              <a:ext uri="{FF2B5EF4-FFF2-40B4-BE49-F238E27FC236}">
                <a16:creationId xmlns:a16="http://schemas.microsoft.com/office/drawing/2014/main" id="{6449B44A-8F3B-44D6-809A-B4D5C35AC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905000"/>
            <a:ext cx="1962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8"/>
          </a:solidFill>
          <a:ln xmlns:a="http://schemas.openxmlformats.org/drawingml/2006/main" w="11430">
            <a:solidFill>
              <a:srgbClr val="D5DFE7"/>
            </a:solidFill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精确正文读取</a:t>
            </a:r>
          </a:p>
        </p:txBody>
      </p:sp>
      <p:sp>
        <p:nvSpPr>
          <p:cNvPr id="15" name="step-0">
            <a:extLst xmlns:a="http://schemas.openxmlformats.org/drawingml/2006/main">
              <a:ext uri="{FF2B5EF4-FFF2-40B4-BE49-F238E27FC236}">
                <a16:creationId xmlns:a16="http://schemas.microsoft.com/office/drawing/2014/main" id="{F7C62029-957E-4F21-950D-671235A89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1962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3"/>
          </a:solidFill>
          <a:ln xmlns:a="http://schemas.openxmlformats.org/drawingml/2006/main" w="11430">
            <a:solidFill>
              <a:srgbClr val="D5DFE7"/>
            </a:solidFill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有界补取</a:t>
            </a:r>
          </a:p>
        </p:txBody>
      </p:sp>
      <p:sp>
        <p:nvSpPr>
          <p:cNvPr id="16" name="step-1">
            <a:extLst xmlns:a="http://schemas.openxmlformats.org/drawingml/2006/main">
              <a:ext uri="{FF2B5EF4-FFF2-40B4-BE49-F238E27FC236}">
                <a16:creationId xmlns:a16="http://schemas.microsoft.com/office/drawing/2014/main" id="{C4DDA985-AD47-4671-A7D0-CA10EB760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19450"/>
            <a:ext cx="1962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3"/>
          </a:solidFill>
          <a:ln xmlns:a="http://schemas.openxmlformats.org/drawingml/2006/main" w="11430">
            <a:solidFill>
              <a:srgbClr val="D5DFE7"/>
            </a:solidFill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记忆层排序</a:t>
            </a:r>
          </a:p>
        </p:txBody>
      </p:sp>
      <p:sp>
        <p:nvSpPr>
          <p:cNvPr id="17" name="step-2">
            <a:extLst xmlns:a="http://schemas.openxmlformats.org/drawingml/2006/main">
              <a:ext uri="{FF2B5EF4-FFF2-40B4-BE49-F238E27FC236}">
                <a16:creationId xmlns:a16="http://schemas.microsoft.com/office/drawing/2014/main" id="{888BB785-EC69-4817-996B-902330C01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219450"/>
            <a:ext cx="1962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3"/>
          </a:solidFill>
          <a:ln xmlns:a="http://schemas.openxmlformats.org/drawingml/2006/main" w="11430">
            <a:solidFill>
              <a:srgbClr val="D5DFE7"/>
            </a:solidFill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必需关系补全</a:t>
            </a:r>
          </a:p>
        </p:txBody>
      </p:sp>
      <p:sp>
        <p:nvSpPr>
          <p:cNvPr id="18" name="step-3">
            <a:extLst xmlns:a="http://schemas.openxmlformats.org/drawingml/2006/main">
              <a:ext uri="{FF2B5EF4-FFF2-40B4-BE49-F238E27FC236}">
                <a16:creationId xmlns:a16="http://schemas.microsoft.com/office/drawing/2014/main" id="{C5CD36C3-9572-4D71-9BFD-EF659C839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219450"/>
            <a:ext cx="1962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3"/>
          </a:solidFill>
          <a:ln xmlns:a="http://schemas.openxmlformats.org/drawingml/2006/main" w="11430">
            <a:solidFill>
              <a:srgbClr val="D5DFE7"/>
            </a:solidFill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完整组预算</a:t>
            </a:r>
          </a:p>
        </p:txBody>
      </p:sp>
      <p:sp>
        <p:nvSpPr>
          <p:cNvPr id="19" name="step-4">
            <a:extLst xmlns:a="http://schemas.openxmlformats.org/drawingml/2006/main">
              <a:ext uri="{FF2B5EF4-FFF2-40B4-BE49-F238E27FC236}">
                <a16:creationId xmlns:a16="http://schemas.microsoft.com/office/drawing/2014/main" id="{A587288D-B3FB-41AF-8FF4-020AFBBA8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219450"/>
            <a:ext cx="1962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3"/>
          </a:solidFill>
          <a:ln xmlns:a="http://schemas.openxmlformats.org/drawingml/2006/main" w="11430">
            <a:solidFill>
              <a:srgbClr val="D5DFE7"/>
            </a:solidFill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最终条件提交</a:t>
            </a:r>
          </a:p>
        </p:txBody>
      </p:sp>
      <p:sp>
        <p:nvSpPr>
          <p:cNvPr id="24" name="ordering">
            <a:extLst xmlns:a="http://schemas.openxmlformats.org/drawingml/2006/main">
              <a:ext uri="{FF2B5EF4-FFF2-40B4-BE49-F238E27FC236}">
                <a16:creationId xmlns:a16="http://schemas.microsoft.com/office/drawing/2014/main" id="{4DE0F198-69E9-4FD8-9F0E-A1783228E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527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rPr>
              <a:t>第一行形成候选及正文；必要时补取，再进入第二行组包</a:t>
            </a:r>
          </a:p>
        </p:txBody>
      </p:sp>
      <p:sp>
        <p:nvSpPr>
          <p:cNvPr id="25" name="rule1">
            <a:extLst xmlns:a="http://schemas.openxmlformats.org/drawingml/2006/main">
              <a:ext uri="{FF2B5EF4-FFF2-40B4-BE49-F238E27FC236}">
                <a16:creationId xmlns:a16="http://schemas.microsoft.com/office/drawing/2014/main" id="{581FF34D-60F4-4224-A166-FE787C784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910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5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5D91"/>
                </a:solidFill>
                <a:latin typeface="Microsoft YaHei"/>
                <a:ea typeface="Microsoft YaHei"/>
                <a:cs typeface="Microsoft YaHei"/>
              </a:rPr>
              <a:t>Top K 按记忆 ID 计数；Working-only 直接读取当前记忆</a:t>
            </a:r>
          </a:p>
        </p:txBody>
      </p:sp>
      <p:sp>
        <p:nvSpPr>
          <p:cNvPr id="26" name="rule2">
            <a:extLst xmlns:a="http://schemas.openxmlformats.org/drawingml/2006/main">
              <a:ext uri="{FF2B5EF4-FFF2-40B4-BE49-F238E27FC236}">
                <a16:creationId xmlns:a16="http://schemas.microsoft.com/office/drawing/2014/main" id="{989EB05B-1ADA-4058-BC1C-8D7275D39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672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命中块不代替全文；冲突组完整表达；预算不足按完整组取舍</a:t>
            </a:r>
          </a:p>
        </p:txBody>
      </p:sp>
      <p:sp>
        <p:nvSpPr>
          <p:cNvPr id="27" name="rule3">
            <a:extLst xmlns:a="http://schemas.openxmlformats.org/drawingml/2006/main">
              <a:ext uri="{FF2B5EF4-FFF2-40B4-BE49-F238E27FC236}">
                <a16:creationId xmlns:a16="http://schemas.microsoft.com/office/drawing/2014/main" id="{B6FA5478-F8BA-4F7B-8234-D244710BC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435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旧结果重取仍核验当前权限、版本与关系，来源故障如实表达</a:t>
            </a:r>
          </a:p>
        </p:txBody>
      </p:sp>
    </p:spTree>
    <p:extLst>
      <p:ext uri="{BB962C8B-B14F-4D97-AF65-F5344CB8AC3E}">
        <p14:creationId xmlns:p14="http://schemas.microsoft.com/office/powerpoint/2010/main" val="4252071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315450" y="253365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5D91"/>
            </a:solidFill>
            <a:prstDash val="solid"/>
            <a:tailEnd type="arrow" w="med" len="med"/>
          </a:ln>
        </p:spPr>
      </p:cxnSp>
      <p:cxnSp>
        <p:nvCxnSpPr>
          <p:cNvPr id="1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067550" y="253365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5D91"/>
            </a:solidFill>
            <a:prstDash val="solid"/>
            <a:tailEnd type="arrow" w="med" len="med"/>
          </a:ln>
        </p:spPr>
      </p:cxnSp>
      <p:cxnSp>
        <p:nvCxnSpPr>
          <p:cNvPr id="1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819650" y="253365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5D91"/>
            </a:solidFill>
            <a:prstDash val="solid"/>
            <a:tailEnd type="arrow" w="med" len="med"/>
          </a:ln>
        </p:spPr>
      </p:cxnSp>
      <p:cxnSp>
        <p:nvCxnSpPr>
          <p:cNvPr id="19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571750" y="253365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5D91"/>
            </a:solidFill>
            <a:prstDash val="solid"/>
            <a:tailEnd type="arrow" w="med" len="med"/>
          </a:ln>
        </p:spPr>
      </p:cxnSp>
      <p:sp>
        <p:nvSpPr>
          <p:cNvPr id="20" name="title">
            <a:extLst xmlns:a="http://schemas.openxmlformats.org/drawingml/2006/main">
              <a:ext uri="{FF2B5EF4-FFF2-40B4-BE49-F238E27FC236}">
                <a16:creationId xmlns:a16="http://schemas.microsoft.com/office/drawing/2014/main" id="{1608C0BC-9234-4DBA-A6AA-7E56E5F91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Operate 详细流程与恢复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0B8CF23-13DF-4D9C-B58C-50FC52837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rPr>
              <a:t>答疑备份：成功读事件、容量暂缓、原动作查询和读回核验</a:t>
            </a:r>
          </a:p>
        </p:txBody>
      </p:sp>
      <p:sp>
        <p:nvSpPr>
          <p:cNvPr id="3" name="divider">
            <a:extLst xmlns:a="http://schemas.openxmlformats.org/drawingml/2006/main">
              <a:ext uri="{FF2B5EF4-FFF2-40B4-BE49-F238E27FC236}">
                <a16:creationId xmlns:a16="http://schemas.microsoft.com/office/drawing/2014/main" id="{25A299C3-F5B2-480E-9A22-0FF4818CF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FE7"/>
            </a:solidFill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9F2292E8-187B-4F8E-96F1-E3A31EF39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rPr>
              <a:t>P3 方案评审  2026.09.29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02550D4-83A2-4B44-9F07-EDDAA70B6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419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rPr>
              <a:t>03 / 6</a:t>
            </a:r>
          </a:p>
        </p:txBody>
      </p:sp>
      <p:sp>
        <p:nvSpPr>
          <p:cNvPr id="6" name="step-0">
            <a:extLst xmlns:a="http://schemas.openxmlformats.org/drawingml/2006/main">
              <a:ext uri="{FF2B5EF4-FFF2-40B4-BE49-F238E27FC236}">
                <a16:creationId xmlns:a16="http://schemas.microsoft.com/office/drawing/2014/main" id="{35E62190-D142-4C35-88A4-D9B1F6821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962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3"/>
          </a:solidFill>
          <a:ln xmlns:a="http://schemas.openxmlformats.org/drawingml/2006/main" w="11430">
            <a:solidFill>
              <a:srgbClr val="D5DFE7"/>
            </a:solidFill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事件去重</a:t>
            </a:r>
          </a:p>
          <a:p xmlns:a="http://schemas.openxmlformats.org/drawingml/2006/main">
            <a:pPr algn="ctr">
              <a:def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定时衰减</a:t>
            </a:r>
          </a:p>
        </p:txBody>
      </p:sp>
      <p:sp>
        <p:nvSpPr>
          <p:cNvPr id="7" name="step-1">
            <a:extLst xmlns:a="http://schemas.openxmlformats.org/drawingml/2006/main">
              <a:ext uri="{FF2B5EF4-FFF2-40B4-BE49-F238E27FC236}">
                <a16:creationId xmlns:a16="http://schemas.microsoft.com/office/drawing/2014/main" id="{802DC130-3AE1-4959-9A49-4F965D1A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00250"/>
            <a:ext cx="1962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3"/>
          </a:solidFill>
          <a:ln xmlns:a="http://schemas.openxmlformats.org/drawingml/2006/main" w="11430">
            <a:solidFill>
              <a:srgbClr val="D5DFE7"/>
            </a:solidFill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策略与准入</a:t>
            </a:r>
          </a:p>
          <a:p xmlns:a="http://schemas.openxmlformats.org/drawingml/2006/main">
            <a:pPr algn="ctr">
              <a:def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版本 / 容量</a:t>
            </a:r>
          </a:p>
        </p:txBody>
      </p:sp>
      <p:sp>
        <p:nvSpPr>
          <p:cNvPr id="8" name="step-2">
            <a:extLst xmlns:a="http://schemas.openxmlformats.org/drawingml/2006/main">
              <a:ext uri="{FF2B5EF4-FFF2-40B4-BE49-F238E27FC236}">
                <a16:creationId xmlns:a16="http://schemas.microsoft.com/office/drawing/2014/main" id="{E8794B42-33A7-44C2-871F-00E53CB1F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000250"/>
            <a:ext cx="1962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3"/>
          </a:solidFill>
          <a:ln xmlns:a="http://schemas.openxmlformats.org/drawingml/2006/main" w="11430">
            <a:solidFill>
              <a:srgbClr val="D5DFE7"/>
            </a:solidFill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持久动作</a:t>
            </a:r>
          </a:p>
          <a:p xmlns:a="http://schemas.openxmlformats.org/drawingml/2006/main">
            <a:pPr algn="ctr">
              <a:def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提交执行</a:t>
            </a:r>
          </a:p>
        </p:txBody>
      </p:sp>
      <p:sp>
        <p:nvSpPr>
          <p:cNvPr id="9" name="step-3">
            <a:extLst xmlns:a="http://schemas.openxmlformats.org/drawingml/2006/main">
              <a:ext uri="{FF2B5EF4-FFF2-40B4-BE49-F238E27FC236}">
                <a16:creationId xmlns:a16="http://schemas.microsoft.com/office/drawing/2014/main" id="{30A34530-2F85-4B46-974A-BE4B6BE6D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000250"/>
            <a:ext cx="1962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3"/>
          </a:solidFill>
          <a:ln xmlns:a="http://schemas.openxmlformats.org/drawingml/2006/main" w="11430">
            <a:solidFill>
              <a:srgbClr val="D5DFE7"/>
            </a:solidFill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原动作查询</a:t>
            </a:r>
          </a:p>
          <a:p xmlns:a="http://schemas.openxmlformats.org/drawingml/2006/main">
            <a:pPr algn="ctr">
              <a:def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状态核对</a:t>
            </a:r>
          </a:p>
        </p:txBody>
      </p:sp>
      <p:sp>
        <p:nvSpPr>
          <p:cNvPr id="10" name="step-4">
            <a:extLst xmlns:a="http://schemas.openxmlformats.org/drawingml/2006/main">
              <a:ext uri="{FF2B5EF4-FFF2-40B4-BE49-F238E27FC236}">
                <a16:creationId xmlns:a16="http://schemas.microsoft.com/office/drawing/2014/main" id="{2D2CBF4A-135E-4CC3-8103-5F110075A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000250"/>
            <a:ext cx="1962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3"/>
          </a:solidFill>
          <a:ln xmlns:a="http://schemas.openxmlformats.org/drawingml/2006/main" w="11430">
            <a:solidFill>
              <a:srgbClr val="D5DFE7"/>
            </a:solidFill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目标读回</a:t>
            </a:r>
          </a:p>
          <a:p xmlns:a="http://schemas.openxmlformats.org/drawingml/2006/main">
            <a:pPr algn="ctr">
              <a:def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交接与反馈</a:t>
            </a:r>
          </a:p>
        </p:txBody>
      </p:sp>
      <p:graphicFrame>
        <p:nvGraphicFramePr>
          <p:cNvPr id="30" name=""/>
          <p:cNvGraphicFramePr/>
          <p:nvPr/>
        </p:nvGraphicFramePr>
        <p:xfrm>
          <a:off xmlns:a="http://schemas.openxmlformats.org/drawingml/2006/main" x="609600" y="3533775"/>
          <a:ext xmlns:a="http://schemas.openxmlformats.org/drawingml/2006/main" cx="1097280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8305800"/>
              </a:tblGrid>
              <a:tr h="419100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情况</a:t>
                      </a:r>
                    </a:p>
                  </a:txBody>
                  <a:tcPr marL="91440" marR="91440" marT="45720" marB="45720" anchor="ctr">
                    <a:solidFill>
                      <a:srgbClr val="132B43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处理规则</a:t>
                      </a:r>
                    </a:p>
                  </a:txBody>
                  <a:tcPr marL="91440" marR="91440" marT="45720" marB="45720" anchor="ctr">
                    <a:solidFill>
                      <a:srgbClr val="132B43"/>
                    </a:solidFill>
                  </a:tcPr>
                </a:tc>
              </a:tr>
              <a:tr h="514350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容量不足 / 条件不满足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暂缓并记录原因，按计划再次检查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执行后响应丢失</a:t>
                      </a:r>
                    </a:p>
                  </a:txBody>
                  <a:tcPr marL="91440" marR="91440" marT="45720" marB="45720" anchor="ctr">
                    <a:solidFill>
                      <a:srgbClr val="F5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保持 Unknown，查询同一动作，避免重复冲突副作用</a:t>
                      </a:r>
                    </a:p>
                  </a:txBody>
                  <a:tcPr marL="91440" marR="91440" marT="45720" marB="45720" anchor="ctr">
                    <a:solidFill>
                      <a:srgbClr val="F5F8FA"/>
                    </a:solidFill>
                  </a:tcPr>
                </a:tc>
              </a:tr>
              <a:tr h="514350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目标核验 / 资格变化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核验当前版本和权限，确认后才交接有效读取路径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访问计数 / 当前范围</a:t>
                      </a:r>
                    </a:p>
                  </a:txBody>
                  <a:tcPr marL="91440" marR="91440" marT="45720" marB="45720" anchor="ctr">
                    <a:solidFill>
                      <a:srgbClr val="F5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成功 read 才计热；当前本地文件缓存，真实物理层待验证</a:t>
                      </a:r>
                    </a:p>
                  </a:txBody>
                  <a:tcPr marL="91440" marR="91440" marT="45720" marB="45720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78342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246BC080-B40C-4CE9-8100-B99431E6F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接口与责任分工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86619AD-974E-485E-A7DD-4AD7A9DF5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rPr>
              <a:t>依据 2026.09.23 分工表；姓名与排期在会议中复核</a:t>
            </a:r>
          </a:p>
        </p:txBody>
      </p:sp>
      <p:sp>
        <p:nvSpPr>
          <p:cNvPr id="3" name="divider">
            <a:extLst xmlns:a="http://schemas.openxmlformats.org/drawingml/2006/main">
              <a:ext uri="{FF2B5EF4-FFF2-40B4-BE49-F238E27FC236}">
                <a16:creationId xmlns:a16="http://schemas.microsoft.com/office/drawing/2014/main" id="{F13E7690-67C3-4F32-8BC9-EC1A74FFC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FE7"/>
            </a:solidFill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DC1E8AD6-D8AD-4816-9794-5B46A4C37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rPr>
              <a:t>P3 方案评审  2026.09.29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F7AA98A-E061-4A7C-AC6B-466E44F8D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419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rPr>
              <a:t>04 / 6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47900"/>
                <a:gridCol w="2447925"/>
                <a:gridCol w="2257425"/>
                <a:gridCol w="4019550"/>
              </a:tblGrid>
              <a:tr h="457200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边界</a:t>
                      </a:r>
                    </a:p>
                  </a:txBody>
                  <a:tcPr marL="91440" marR="91440" marT="45720" marB="45720" anchor="ctr">
                    <a:solidFill>
                      <a:srgbClr val="132B43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开发 / 规则负责人</a:t>
                      </a:r>
                    </a:p>
                  </a:txBody>
                  <a:tcPr marL="91440" marR="91440" marT="45720" marB="45720" anchor="ctr">
                    <a:solidFill>
                      <a:srgbClr val="132B43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测试与对接</a:t>
                      </a:r>
                    </a:p>
                  </a:txBody>
                  <a:tcPr marL="91440" marR="91440" marT="45720" marB="45720" anchor="ctr">
                    <a:solidFill>
                      <a:srgbClr val="132B43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交换能力 / 输出</a:t>
                      </a:r>
                    </a:p>
                  </a:txBody>
                  <a:tcPr marL="91440" marR="91440" marT="45720" marB="45720" anchor="ctr">
                    <a:solidFill>
                      <a:srgbClr val="132B43"/>
                    </a:solidFill>
                  </a:tcPr>
                </a:tc>
              </a:tr>
              <a:tr h="685800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  Recall / 编码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开发负责人待确定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肖宇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Query / Passage 编码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只读检索、候选与上下文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  Remember</a:t>
                      </a:r>
                    </a:p>
                  </a:txBody>
                  <a:tcPr marL="91440" marR="91440" marT="45720" marB="45720" anchor="ctr">
                    <a:solidFill>
                      <a:srgbClr val="F5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杨鹏通</a:t>
                      </a:r>
                    </a:p>
                  </a:txBody>
                  <a:tcPr marL="91440" marR="91440" marT="45720" marB="45720" anchor="ctr">
                    <a:solidFill>
                      <a:srgbClr val="F5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赵旭东</a:t>
                      </a:r>
                    </a:p>
                  </a:txBody>
                  <a:tcPr marL="91440" marR="91440" marT="45720" marB="45720" anchor="ctr">
                    <a:solidFill>
                      <a:srgbClr val="F5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事实资格、精确正文、关系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索引写入、核验与发布</a:t>
                      </a:r>
                    </a:p>
                  </a:txBody>
                  <a:tcPr marL="91440" marR="91440" marT="45720" marB="45720" anchor="ctr">
                    <a:solidFill>
                      <a:srgbClr val="F5F8FA"/>
                    </a:solidFill>
                  </a:tcPr>
                </a:tc>
              </a:tr>
              <a:tr h="685800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  Operate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沈佳隆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谭旭梁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事件、计划、动作查询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执行核验与地址交接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总体 / RF</a:t>
                      </a:r>
                    </a:p>
                  </a:txBody>
                  <a:tcPr marL="91440" marR="91440" marT="45720" marB="45720" anchor="ctr">
                    <a:solidFill>
                      <a:srgbClr val="F5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陈凯</a:t>
                      </a:r>
                    </a:p>
                  </a:txBody>
                  <a:tcPr marL="91440" marR="91440" marT="45720" marB="45720" anchor="ctr">
                    <a:solidFill>
                      <a:srgbClr val="F5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各流程共同验证</a:t>
                      </a:r>
                    </a:p>
                  </a:txBody>
                  <a:tcPr marL="91440" marR="91440" marT="45720" marB="45720" anchor="ctr">
                    <a:solidFill>
                      <a:srgbClr val="F5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公共事务、任务、事件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授权与恢复规则</a:t>
                      </a:r>
                    </a:p>
                  </a:txBody>
                  <a:tcPr marL="91440" marR="91440" marT="45720" marB="45720" anchor="ctr">
                    <a:solidFill>
                      <a:srgbClr val="F5F8FA"/>
                    </a:solidFill>
                  </a:tcPr>
                </a:tc>
              </a:tr>
              <a:tr h="685800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P2 提供方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P2 对应负责人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 A / B / C 对接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真实对象、向量、关系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及双方约定执行能力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akeaway">
            <a:extLst xmlns:a="http://schemas.openxmlformats.org/drawingml/2006/main">
              <a:ext uri="{FF2B5EF4-FFF2-40B4-BE49-F238E27FC236}">
                <a16:creationId xmlns:a16="http://schemas.microsoft.com/office/drawing/2014/main" id="{7B10E5D4-73E9-4698-BFE5-C05B09CCD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rPr>
              <a:t>P3 内部接口由开发负责人协作；三位测试人员分别牵头 P2 对接</a:t>
            </a:r>
          </a:p>
        </p:txBody>
      </p:sp>
    </p:spTree>
    <p:extLst>
      <p:ext uri="{BB962C8B-B14F-4D97-AF65-F5344CB8AC3E}">
        <p14:creationId xmlns:p14="http://schemas.microsoft.com/office/powerpoint/2010/main" val="11581859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8F75B7E6-8ACA-471A-9FF7-C36B198CC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工程测试证据与使用边界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5C8CC03-A285-404E-A452-8CE7BA9C8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rPr>
              <a:t>报告日期 2026.09.26；本次仅引用既有记录，未重跑业务测试</a:t>
            </a:r>
          </a:p>
        </p:txBody>
      </p:sp>
      <p:sp>
        <p:nvSpPr>
          <p:cNvPr id="3" name="divider">
            <a:extLst xmlns:a="http://schemas.openxmlformats.org/drawingml/2006/main">
              <a:ext uri="{FF2B5EF4-FFF2-40B4-BE49-F238E27FC236}">
                <a16:creationId xmlns:a16="http://schemas.microsoft.com/office/drawing/2014/main" id="{8B62706F-559B-4614-BE53-D41FB71EF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FE7"/>
            </a:solidFill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7F37EA8B-544C-43CF-A295-ACA2538B9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rPr>
              <a:t>P3 方案评审  2026.09.29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25D830C-578D-439E-A930-302E34295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419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rPr>
              <a:t>05 / 6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8195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38250"/>
                <a:gridCol w="4572000"/>
                <a:gridCol w="5162550"/>
              </a:tblGrid>
              <a:tr h="4476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编号</a:t>
                      </a:r>
                    </a:p>
                  </a:txBody>
                  <a:tcPr marL="91440" marR="91440" marT="45720" marB="45720" anchor="ctr">
                    <a:solidFill>
                      <a:srgbClr val="132B43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报告中的结果</a:t>
                      </a:r>
                    </a:p>
                  </a:txBody>
                  <a:tcPr marL="91440" marR="91440" marT="45720" marB="45720" anchor="ctr">
                    <a:solidFill>
                      <a:srgbClr val="132B43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范围与限制</a:t>
                      </a:r>
                    </a:p>
                  </a:txBody>
                  <a:tcPr marL="91440" marR="91440" marT="45720" marB="45720" anchor="ctr">
                    <a:solidFill>
                      <a:srgbClr val="132B43"/>
                    </a:solidFill>
                  </a:tcPr>
                </a:tc>
              </a:tr>
              <a:tr h="5619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E01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1305 passed，172.87 秒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全仓 Python，真 BGE，排除 Docker 环境项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E02</a:t>
                      </a:r>
                    </a:p>
                  </a:txBody>
                  <a:tcPr marL="91440" marR="91440" marT="45720" marB="45720" anchor="ctr">
                    <a:solidFill>
                      <a:srgbClr val="F5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 passed，41.50 秒</a:t>
                      </a:r>
                    </a:p>
                  </a:txBody>
                  <a:tcPr marL="91440" marR="91440" marT="45720" marB="45720" anchor="ctr">
                    <a:solidFill>
                      <a:srgbClr val="F5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HTTP 收尾回归，与 E01 重叠，不相加</a:t>
                      </a:r>
                    </a:p>
                  </a:txBody>
                  <a:tcPr marL="91440" marR="91440" marT="45720" marB="45720" anchor="ctr">
                    <a:solidFill>
                      <a:srgbClr val="F5F8FA"/>
                    </a:solidFill>
                  </a:tcPr>
                </a:tc>
              </a:tr>
              <a:tr h="5619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E03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TCP 启动与独立进程重启通过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保存、长期化、召回、原 Recall ID 重取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E04 / E05</a:t>
                      </a:r>
                    </a:p>
                  </a:txBody>
                  <a:tcPr marL="91440" marR="91440" marT="45720" marB="45720" anchor="ctr">
                    <a:solidFill>
                      <a:srgbClr val="F5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Ruff 通过；Mypy 356 文件通过</a:t>
                      </a:r>
                    </a:p>
                  </a:txBody>
                  <a:tcPr marL="91440" marR="91440" marT="45720" marB="45720" anchor="ctr">
                    <a:solidFill>
                      <a:srgbClr val="F5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静态工程检查，不能替代产品行为验收</a:t>
                      </a:r>
                    </a:p>
                  </a:txBody>
                  <a:tcPr marL="91440" marR="91440" marT="45720" marB="45720" anchor="ctr">
                    <a:solidFill>
                      <a:srgbClr val="F5F8FA"/>
                    </a:solidFill>
                  </a:tcPr>
                </a:tc>
              </a:tr>
              <a:tr h="5619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E06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三流程与服务 227 passed / 1 skipped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另有 RF / 契约等组；各组有重叠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E07</a:t>
                      </a:r>
                    </a:p>
                  </a:txBody>
                  <a:tcPr marL="91440" marR="91440" marT="45720" marB="45720" anchor="ctr">
                    <a:solidFill>
                      <a:srgbClr val="F5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 Compose 配置解析通过</a:t>
                      </a:r>
                    </a:p>
                  </a:txBody>
                  <a:tcPr marL="91440" marR="91440" marT="45720" marB="45720" anchor="ctr">
                    <a:solidFill>
                      <a:srgbClr val="F5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镜像构建与容器完整联调未验证</a:t>
                      </a:r>
                    </a:p>
                  </a:txBody>
                  <a:tcPr marL="91440" marR="91440" marT="45720" marB="45720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7" name="takeaway">
            <a:extLst xmlns:a="http://schemas.openxmlformats.org/drawingml/2006/main">
              <a:ext uri="{FF2B5EF4-FFF2-40B4-BE49-F238E27FC236}">
                <a16:creationId xmlns:a16="http://schemas.microsoft.com/office/drawing/2014/main" id="{17EA7DA3-C46A-4F57-8D73-AC65F2C54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B64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9B6423"/>
                </a:solidFill>
                <a:latin typeface="Microsoft YaHei"/>
                <a:ea typeface="Microsoft YaHei"/>
                <a:cs typeface="Microsoft YaHei"/>
              </a:rPr>
              <a:t>验收对象为当时未提交的整合修改；没有新的远端 CI 通过声明</a:t>
            </a:r>
          </a:p>
        </p:txBody>
      </p:sp>
    </p:spTree>
    <p:extLst>
      <p:ext uri="{BB962C8B-B14F-4D97-AF65-F5344CB8AC3E}">
        <p14:creationId xmlns:p14="http://schemas.microsoft.com/office/powerpoint/2010/main" val="21099088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13458CF1-BEB6-4A16-B538-AACA9875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常见追问与待决事项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2CDC99C-04BA-4F30-839E-85CB12471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rPr>
              <a:t>依据现有证据回答，未完成事项落实到验证任务</a:t>
            </a:r>
          </a:p>
        </p:txBody>
      </p:sp>
      <p:sp>
        <p:nvSpPr>
          <p:cNvPr id="3" name="divider">
            <a:extLst xmlns:a="http://schemas.openxmlformats.org/drawingml/2006/main">
              <a:ext uri="{FF2B5EF4-FFF2-40B4-BE49-F238E27FC236}">
                <a16:creationId xmlns:a16="http://schemas.microsoft.com/office/drawing/2014/main" id="{C6FDC2CD-A5D8-4731-9BD6-F5A28BC55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FE7"/>
            </a:solidFill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C1092659-76AA-43FA-ABBE-AD2BC913D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rPr>
              <a:t>P3 方案评审  2026.09.29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67BE489-C06B-4BC0-8909-5128F13C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419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rPr>
              <a:t>06 / 6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314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05200"/>
                <a:gridCol w="7467600"/>
              </a:tblGrid>
              <a:tr h="457200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可能的追问</a:t>
                      </a:r>
                    </a:p>
                  </a:txBody>
                  <a:tcPr marL="91440" marR="91440" marT="45720" marB="45720" anchor="ctr">
                    <a:solidFill>
                      <a:srgbClr val="132B43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建议回答</a:t>
                      </a:r>
                    </a:p>
                  </a:txBody>
                  <a:tcPr marL="91440" marR="91440" marT="45720" marB="45720" anchor="ctr">
                    <a:solidFill>
                      <a:srgbClr val="132B43"/>
                    </a:solidFill>
                  </a:tcPr>
                </a:tc>
              </a:tr>
              <a:tr h="77152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现在是否能交付完整产品？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本地持续服务整合已有证据；真实依赖与产品验收仍待完成。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用了真实模型，质量是否达标？</a:t>
                      </a:r>
                    </a:p>
                  </a:txBody>
                  <a:tcPr marL="91440" marR="91440" marT="45720" marB="45720" anchor="ctr">
                    <a:solidFill>
                      <a:srgbClr val="F5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 BGE 有记录；真实 LLM 抽取、冲突和压缩质量需样本评测。</a:t>
                      </a:r>
                    </a:p>
                  </a:txBody>
                  <a:tcPr marL="91440" marR="91440" marT="45720" marB="45720" anchor="ctr">
                    <a:solidFill>
                      <a:srgbClr val="F5F8FA"/>
                    </a:solidFill>
                  </a:tcPr>
                </a:tc>
              </a:tr>
              <a:tr h="77152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冷热分层是否已经完成？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本地缓存准备已进入读取路径；生产物理存储迁移待联合验收。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下一阶段需要多长时间？</a:t>
                      </a:r>
                    </a:p>
                  </a:txBody>
                  <a:tcPr marL="91440" marR="91440" marT="45720" marB="45720" anchor="ctr">
                    <a:solidFill>
                      <a:srgbClr val="F5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先确认接口、环境和人员，再给各里程碑日历日期及验收标准。</a:t>
                      </a:r>
                    </a:p>
                  </a:txBody>
                  <a:tcPr marL="91440" marR="91440" marT="45720" marB="45720" anchor="ctr">
                    <a:solidFill>
                      <a:srgbClr val="F5F8FA"/>
                    </a:solidFill>
                  </a:tcPr>
                </a:tc>
              </a:tr>
              <a:tr h="77152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今天必须落实哪些事情？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阶段范围、A 开发负责人、P2 环境、指标、部署交接与责任日期。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48191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2026-09-28T04:14:42.2360000Z</dcterms:created>
  <dcterms:modified xsi:type="dcterms:W3CDTF">2026-09-28T04:14:42.2360000Z</dcterms:modified>
</coreProperties>
</file>