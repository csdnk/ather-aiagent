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87389a23f04034" /><Relationship Type="http://schemas.openxmlformats.org/officeDocument/2006/relationships/extended-properties" Target="/docProps/app.xml" Id="R04945c0d8d384187" /><Relationship Type="http://schemas.openxmlformats.org/officeDocument/2006/relationships/officeDocument" Target="/ppt/presentation.xml" Id="R3d8942d012cc4e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c5e25fc5e241fd"/>
  </p:sldMasterIdLst>
  <p:notesMasterIdLst>
    <p:notesMasterId xmlns:r="http://schemas.openxmlformats.org/officeDocument/2006/relationships" r:id="R3f3f94ea9904480b"/>
  </p:notesMasterIdLst>
  <p:sldIdLst>
    <p:sldId xmlns:r="http://schemas.openxmlformats.org/officeDocument/2006/relationships" id="256" r:id="Rd8c7c3b10d8e4890"/>
    <p:sldId xmlns:r="http://schemas.openxmlformats.org/officeDocument/2006/relationships" id="257" r:id="Rb72601969ad64ba7"/>
    <p:sldId xmlns:r="http://schemas.openxmlformats.org/officeDocument/2006/relationships" id="258" r:id="R2ca6ae718d30404b"/>
    <p:sldId xmlns:r="http://schemas.openxmlformats.org/officeDocument/2006/relationships" id="259" r:id="R8e65927139664305"/>
    <p:sldId xmlns:r="http://schemas.openxmlformats.org/officeDocument/2006/relationships" id="260" r:id="R6612766fa4a347a8"/>
    <p:sldId xmlns:r="http://schemas.openxmlformats.org/officeDocument/2006/relationships" id="261" r:id="R68d92057a8204599"/>
    <p:sldId xmlns:r="http://schemas.openxmlformats.org/officeDocument/2006/relationships" id="262" r:id="R1536e900d5ac4fc5"/>
    <p:sldId xmlns:r="http://schemas.openxmlformats.org/officeDocument/2006/relationships" id="263" r:id="R2d76b847df2c493d"/>
    <p:sldId xmlns:r="http://schemas.openxmlformats.org/officeDocument/2006/relationships" id="264" r:id="R51bd2e6139e94019"/>
    <p:sldId xmlns:r="http://schemas.openxmlformats.org/officeDocument/2006/relationships" id="265" r:id="R1a1c61ed9c904918"/>
    <p:sldId xmlns:r="http://schemas.openxmlformats.org/officeDocument/2006/relationships" id="266" r:id="R758fd3298d104201"/>
    <p:sldId xmlns:r="http://schemas.openxmlformats.org/officeDocument/2006/relationships" id="267" r:id="R237970e73cea45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142e77c9024753" /><Relationship Type="http://schemas.openxmlformats.org/officeDocument/2006/relationships/slideMaster" Target="/ppt/slideMasters/slideMaster1.xml" Id="Rdec5e25fc5e241fd" /><Relationship Type="http://schemas.openxmlformats.org/officeDocument/2006/relationships/notesMaster" Target="/ppt/notesMasters/notesMaster1.xml" Id="R3f3f94ea9904480b" /><Relationship Type="http://schemas.openxmlformats.org/officeDocument/2006/relationships/presProps" Target="/ppt/presProps.xml" Id="R5170e2db85bb4c94" /><Relationship Type="http://schemas.openxmlformats.org/officeDocument/2006/relationships/tableStyles" Target="/ppt/tableStyles.xml" Id="Rd934afbd8dcc4c9b" /><Relationship Type="http://schemas.openxmlformats.org/officeDocument/2006/relationships/slide" Target="/ppt/slides/slide1.xml" Id="Rd8c7c3b10d8e4890" /><Relationship Type="http://schemas.openxmlformats.org/officeDocument/2006/relationships/slide" Target="/ppt/slides/slide2.xml" Id="Rb72601969ad64ba7" /><Relationship Type="http://schemas.openxmlformats.org/officeDocument/2006/relationships/slide" Target="/ppt/slides/slide3.xml" Id="R2ca6ae718d30404b" /><Relationship Type="http://schemas.openxmlformats.org/officeDocument/2006/relationships/slide" Target="/ppt/slides/slide4.xml" Id="R8e65927139664305" /><Relationship Type="http://schemas.openxmlformats.org/officeDocument/2006/relationships/slide" Target="/ppt/slides/slide5.xml" Id="R6612766fa4a347a8" /><Relationship Type="http://schemas.openxmlformats.org/officeDocument/2006/relationships/slide" Target="/ppt/slides/slide6.xml" Id="R68d92057a8204599" /><Relationship Type="http://schemas.openxmlformats.org/officeDocument/2006/relationships/slide" Target="/ppt/slides/slide7.xml" Id="R1536e900d5ac4fc5" /><Relationship Type="http://schemas.openxmlformats.org/officeDocument/2006/relationships/slide" Target="/ppt/slides/slide8.xml" Id="R2d76b847df2c493d" /><Relationship Type="http://schemas.openxmlformats.org/officeDocument/2006/relationships/slide" Target="/ppt/slides/slide9.xml" Id="R51bd2e6139e94019" /><Relationship Type="http://schemas.openxmlformats.org/officeDocument/2006/relationships/slide" Target="/ppt/slides/slide10.xml" Id="R1a1c61ed9c904918" /><Relationship Type="http://schemas.openxmlformats.org/officeDocument/2006/relationships/slide" Target="/ppt/slides/slide11.xml" Id="R758fd3298d104201" /><Relationship Type="http://schemas.openxmlformats.org/officeDocument/2006/relationships/slide" Target="/ppt/slides/slide12.xml" Id="R237970e73cea45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a77d6e57e844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2b6551c2324b55" /><Relationship Type="http://schemas.openxmlformats.org/officeDocument/2006/relationships/notesMaster" Target="/ppt/notesMasters/notesMaster1.xml" Id="Rcaa88d38b92b4b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793e2096dd4d74" /><Relationship Type="http://schemas.openxmlformats.org/officeDocument/2006/relationships/notesMaster" Target="/ppt/notesMasters/notesMaster1.xml" Id="R8a97447e35c644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b81393a1414ebe" /><Relationship Type="http://schemas.openxmlformats.org/officeDocument/2006/relationships/notesMaster" Target="/ppt/notesMasters/notesMaster1.xml" Id="R3559c0302ad943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7cb6e18b4b4794" /><Relationship Type="http://schemas.openxmlformats.org/officeDocument/2006/relationships/notesMaster" Target="/ppt/notesMasters/notesMaster1.xml" Id="R3d10e44efe4d42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34021018d04433" /><Relationship Type="http://schemas.openxmlformats.org/officeDocument/2006/relationships/notesMaster" Target="/ppt/notesMasters/notesMaster1.xml" Id="R05e8653b6e4247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a87dc8e96542bc" /><Relationship Type="http://schemas.openxmlformats.org/officeDocument/2006/relationships/notesMaster" Target="/ppt/notesMasters/notesMaster1.xml" Id="R74a1864e692445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29c2730cb64b19" /><Relationship Type="http://schemas.openxmlformats.org/officeDocument/2006/relationships/notesMaster" Target="/ppt/notesMasters/notesMaster1.xml" Id="Rd3fd48733a2949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afabeb5a0e4d8b" /><Relationship Type="http://schemas.openxmlformats.org/officeDocument/2006/relationships/notesMaster" Target="/ppt/notesMasters/notesMaster1.xml" Id="R288cdc7a0e2447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bd7c21de754cb2" /><Relationship Type="http://schemas.openxmlformats.org/officeDocument/2006/relationships/notesMaster" Target="/ppt/notesMasters/notesMaster1.xml" Id="R8d7be4bb376741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23c1a83ae84c52" /><Relationship Type="http://schemas.openxmlformats.org/officeDocument/2006/relationships/notesMaster" Target="/ppt/notesMasters/notesMaster1.xml" Id="Rfcc5b06bd30a48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e71725b59042ed" /><Relationship Type="http://schemas.openxmlformats.org/officeDocument/2006/relationships/notesMaster" Target="/ppt/notesMasters/notesMaster1.xml" Id="R80d6ef00987b43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cbb8fd45ab4e69" /><Relationship Type="http://schemas.openxmlformats.org/officeDocument/2006/relationships/notesMaster" Target="/ppt/notesMasters/notesMaster1.xml" Id="Rfcabfeb2ca5844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1：P3 方案与阶段进展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核心句：形成对方向、状态和下一阶段工作的共同判断。</a:t>
            </a:r>
          </a:p>
          <a:p xmlns:a="http://schemas.openxmlformats.org/drawingml/2006/main">
            <a:r>
              <a:t>讲图提示：停留在封面，不急于展开技术名词。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今天我会先用一个具体场景讲清 P3 怎样工作，再解释关键设计和选择理由，最后说明已有成果、验证缺口与后续安排。希望会议结束时，大家能对项目方向、当前阶段和下一阶段优先级形成明确意见。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这次汇报大约二十五分钟。前半部分讲项目目标和业务流程，中间讲架构及关键取舍，最后讲进度、风险和计划。方案部分按当前 PRD V1.3 与主 ADR 展开。进度采用九月二十六日统一整合报告，今天准备材料时核对了启动入口，但没有重新运行业务测试。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大家可以带着两个角度来听：从业务上，这些行为是否满足实际需要；从工程上，已有证据是否足以支撑当前判断。具体模块和测试细节放在单独的答疑备份里。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过渡：先用一页明确 P3 为谁服务，以及我们承诺交付什么。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2：P3 的目标与边界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核心句：让应用跨会话复用当前有效、有来源、符合权限的记忆。</a:t>
            </a:r>
          </a:p>
          <a:p xmlns:a="http://schemas.openxmlformats.org/drawingml/2006/main">
            <a:r>
              <a:t>讲图提示：先指出应用与 P3 的边界，再指出两个对外功能和内部调度。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P3 服务的直接对象是应用、Agent 和 P4 接入方。终端用户通过这些应用使用记忆能力。应用把对话、任务事件或文档交给 P3，后续需要历史时，再请求 P3 提供相关材料。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我们要解决的具体问题包括：保存了内容却无法再次找到，更正之后仍取出旧事实，缺少来源而难以核实，以及权限变化后旧结果仍可继续使用。所以 P3 的目标是可靠复用记忆，让调用方拿到当前有效、有来源、符合权限的内容。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对外有两个核心功能。Remember 负责存储和维护记忆，Recall 负责按本次请求交付上下文。上层应用负责根据这些材料生成回答、调用工具或继续任务。Operate 是内部持续运行的机制，它根据存储和读取历史准备访问资源，普通调用方不需要额外触发一次调度。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本阶段包括基础自动调度及执行确认。预测预热属于后续优先级 P1。身份接入、真实底层存储和物理执行要与相应团队明确边界。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过渡：下面用预算更正的例子，把这几个职责放进同一段业务里。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E:/projects/codex/aether/交付成果/部署运行/P3_统一服务运行指南_20260926.md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3：一个完整的业务场景</a:t>
            </a:r>
          </a:p>
          <a:p xmlns:a="http://schemas.openxmlformats.org/drawingml/2006/main">
            <a:r>
              <a:t>建议 2 分钟</a:t>
            </a:r>
          </a:p>
          <a:p xmlns:a="http://schemas.openxmlformats.org/drawingml/2006/main">
            <a:r>
              <a:t>核心句：同一条预算记忆贯穿保存、使用、更正和删除。</a:t>
            </a:r>
          </a:p>
          <a:p xmlns:a="http://schemas.openxmlformats.org/drawingml/2006/main">
            <a:r>
              <a:t>讲图提示：沿上排再下排讲业务，最后指出底部的持续调度。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假设项目助手收到一条信息：项目预算上限是二十万元。应用提交后，P3 可靠保存内容和来源，适用的信息进入当前任务记忆。用户接着问项目安排时，应用就能召回当前预算，不需要等待全部长期加工结束。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后台继续处理会议记录，完成适用的提取、分块和索引核验。只有当前版本的正文可准确读取、长期索引可查询，记忆才获得长期检索资格。此后即使换一个会话，应用仍可请求相关预算材料。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后来预算更正为十五万元。Remember 维护新版本，Recall 在候选检查和最终交付时遵循当前版本。旧索引即使暂时存在，也不能使二十万元继续冒充当前预算。已经形成的旧结果再次获取时，也需要复核。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如果用户删除来源，后续使用先被阻断，相关正文、投影和缓存再按规则清理。晚到的后台任务不能重新启用已失效内容。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这些保存和实际读取持续产生事件，Operate 在旁边独立判断访问准备，不要求每次召回都等待调度完成。这里展示的是目标业务规则，具体实现和验证程度稍后统一说明。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过渡：先看这段故事的起点：Remember 怎样把一次输入变成可管理的记忆。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4：Remember：记忆如何形成和维护</a:t>
            </a:r>
          </a:p>
          <a:p xmlns:a="http://schemas.openxmlformats.org/drawingml/2006/main">
            <a:r>
              <a:t>建议 3 分钟</a:t>
            </a:r>
          </a:p>
          <a:p xmlns:a="http://schemas.openxmlformats.org/drawingml/2006/main">
            <a:r>
              <a:t>核心句：已保存、当前可用、长期就绪有各自的完成条件。</a:t>
            </a:r>
          </a:p>
          <a:p xmlns:a="http://schemas.openxmlformats.org/drawingml/2006/main">
            <a:r>
              <a:t>讲图提示：从左侧输入到保存，再分别走当前读取与后台加工两条分支。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Remember 接收对话、任务状态、事件和文档。第一步要确认调用者身份、资源范围、来源版本以及重复请求身份。重复提交同一操作应复用原结果，同一编号换了内容不能悄悄变成另一笔业务。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接下来可靠保存正文、来源和记忆记录，并登记后续待办。这一步回答的是内容是否已经保存。适用的当前任务信息可以进入 Working，也就是当前任务记忆，供后续请求立即使用。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长期化由后台任务推进。长文先按固定版本获取、解析和分块，再执行适用的提取、摘要或压缩。并非每条内容都必须走完所有加工。模型给出的是候选，正式事实仍需要来源支持、版本与权限检查，模型不能自行决定归属或跳过提交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之后使用兼容的向量模型生成表示，写入并核验完整索引批次。Remember 同时检查正文可读、版本一致和投影完整，才授予长期就绪资格。可以把三个状态理解为：东西已经存住、当前任务能够用、后续长期检索能够用。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区分决定了故障行为。向量服务失败时，已保存事实仍可保留，合法的当前记忆仍可使用，但长期状态必须如实显示未就绪。更正或删除发生后，后台任务提交前必须重新检查，旧任务不能覆盖新版本或复活已删除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当前统一服务已接通这些处理接口和任务链路。真实模型的事实提取与压缩质量，以及真实 P2 的存储与索引效果，需要各自的验证证据。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过渡：有了可管理的记忆，Recall 还要决定这一次请求能拿到哪些材料。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E:/projects/codex/aether/交付成果/架构设计/P3全景流程_Excalidraw/README.md</a:t>
            </a:r>
          </a:p>
          <a:p xmlns:a="http://schemas.openxmlformats.org/drawingml/2006/main">
            <a:r>
              <a:t>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5：Recall：怎样交付可信记忆</a:t>
            </a:r>
          </a:p>
          <a:p xmlns:a="http://schemas.openxmlformats.org/drawingml/2006/main">
            <a:r>
              <a:t>建议 3 分钟</a:t>
            </a:r>
          </a:p>
          <a:p xmlns:a="http://schemas.openxmlformats.org/drawingml/2006/main">
            <a:r>
              <a:t>核心句：相关性、使用资格、正文完整性和长度预算共同决定交付。</a:t>
            </a:r>
          </a:p>
          <a:p xmlns:a="http://schemas.openxmlformats.org/drawingml/2006/main">
            <a:r>
              <a:t>讲图提示：按六个节点依次解释，最后落到四种结果状态。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Recall 的输入包括问题、调用范围、来源选择和长度预算。它先决定查询当前任务记忆、长期记忆，还是两者一起查询。用户明确指定来源时，系统要遵守这个范围。只查 Working 的请求不需要进入向量检索。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长期检索先把问题编码为向量，再从兼容的索引中查找命中块。这里的块用于匹配，最终的候选名额按记忆 ID 计算。同一篇记忆命中多个块，不能重复占据多个名额。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候选要交给 Remember 检查当前版本、授权、删除状态和索引资格。通过检查后，Recall 按精确版本读取正文。匹配到的短块不能直接当作完整正文。原始候选不足时可以有界补取，不能无限扩展直到耗尽资源。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随后进行记忆层面的排序、去重和必要关系补全。如果存在尚未裁决的有效冲突，必须完整表达所需关系组，避免只拿出其中一边使结果失真。上下文预算按实际 tokenizer 计量，放不下时按完整组取舍。预算选择不会自动意味着降级。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在真正提交结果前，还要复核权限、版本和关系是否发生变化。例如检索期间撤销了共享许可，即使正文已经读到，也不能继续交付。历史结果再次获取同样遵守当前资格。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最后向调用方区分完整可用、正常为空、降级可用和不可用。来源故障不能伪装成正常没有材料。P3 返回可信上下文与来源，上层应用再决定如何回答。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过渡：保存和读取还会持续产生运行历史，下面看内部调度怎样使用它们。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E:/projects/codex/aether/交付成果/架构设计/P3全景流程_Excalidraw/README.md</a:t>
            </a:r>
          </a:p>
          <a:p xmlns:a="http://schemas.openxmlformats.org/drawingml/2006/main">
            <a:r>
              <a:t>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6：Operate：内部如何持续调度</a:t>
            </a:r>
          </a:p>
          <a:p xmlns:a="http://schemas.openxmlformats.org/drawingml/2006/main">
            <a:r>
              <a:t>建议 2 分钟</a:t>
            </a:r>
          </a:p>
          <a:p xmlns:a="http://schemas.openxmlformats.org/drawingml/2006/main">
            <a:r>
              <a:t>核心句：持续判断、执行和核验，让访问准备反映真实结果。</a:t>
            </a:r>
          </a:p>
          <a:p xmlns:a="http://schemas.openxmlformats.org/drawingml/2006/main">
            <a:r>
              <a:t>讲图提示：沿闭环讲一圈，再解释回执丢失分支。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Operate 的输入来自记忆变化、成功读取以及定时检查。它对重复事件去重，形成当前访问热度与状态，再结合容量、权限和版本判断是否需要调整访问准备。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条件不足，例如目标容量不够，动作可以暂缓，并保留原因与后续检查时间。条件满足时，系统持久化动作编号，提交执行，然后核对目标内容是否真的可读、版本是否仍有效。执行返回受理，只代表对方收到请求，实际效果需要后续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举个异常：文件已经复制，但响应丢失。系统此时保持结果未知，继续查询原动作，而不是立刻换一个编号重复执行。核验成功后，实际读取路径才使用准备好的结果。删除、撤权或版本变化也会约束执行与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这里要分清两个维度。Working、事件记忆和稳定事实描述记住的内容，热温冷描述访问准备程度。频繁访问不会自动把一条事件变成稳定事实，降温也不等于删除。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九月二十六日已经有本地持续调度、真实文件缓存及读取路径验证。生产物理存储层迁移仍需真实 P2 或约定执行端的联合验收。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过渡：现在把三条流程放回一张架构图，看看它们怎样协作。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7：总体架构与协作边界</a:t>
            </a:r>
          </a:p>
          <a:p xmlns:a="http://schemas.openxmlformats.org/drawingml/2006/main">
            <a:r>
              <a:t>建议 2 分钟</a:t>
            </a:r>
          </a:p>
          <a:p xmlns:a="http://schemas.openxmlformats.org/drawingml/2006/main">
            <a:r>
              <a:t>核心句：每个结果有明确的责任方，公共底座负责可靠协作。</a:t>
            </a:r>
          </a:p>
          <a:p xmlns:a="http://schemas.openxmlformats.org/drawingml/2006/main">
            <a:r>
              <a:t>讲图提示：先讲层次，再讲跨模块交换的数据，避免逐框念名称。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最上层是应用、Agent 和 P4。统一接入处理身份、范围和请求。对外的存储与召回进入 Remember、Recall 两个业务入口。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Remember 拥有记忆事实、来源、版本、生命周期和使用资格。Recall 持有本次查询与结果记录，通过接口读取 Remember 的权威资格、正文和关系。Operate 消费业务事件，维护热度、计划和动作，通过既定接口完成执行与交接。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三者共享 RF 公共运行底座，RF 提供事务、持久任务、可靠事件、授权复核与恢复。它保证业务变化与后续待办能够可靠衔接，日志和 Trace 则帮助定位过程。任务执行完成与业务目标完成仍需分别判断。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底层通过 Provider 接口连接正文、向量、关系和约定执行能力。P3 决定业务上能否使用，P2 或相应执行端提供真实存储与执行证据。远程副作用无法自动纳入一个本地事务，需要原操作查询和核对。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当前三流程按单机统一服务装配，逻辑模块不要求各自独立部署。图中外部依赖表示目标边界，真实接通程度按进度页和证据报告判断。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过渡：这个结构带来了额外规则，下面解释我们为什么接受这些成本。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E:/projects/codex/aether/交付成果/部署运行/P3_统一服务运行指南_20260926.md</a:t>
            </a:r>
          </a:p>
          <a:p xmlns:a="http://schemas.openxmlformats.org/drawingml/2006/main">
            <a:r>
              <a:t>E:/projects/codex/aether/交付成果/测试与验收/P3_统一运行整合与验收_20260926.md</a:t>
            </a:r>
          </a:p>
          <a:p xmlns:a="http://schemas.openxmlformats.org/drawingml/2006/main">
            <a:r>
              <a:t>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8：关键设计选择与代价</a:t>
            </a:r>
          </a:p>
          <a:p xmlns:a="http://schemas.openxmlformats.org/drawingml/2006/main">
            <a:r>
              <a:t>建议 2.5 分钟</a:t>
            </a:r>
          </a:p>
          <a:p xmlns:a="http://schemas.openxmlformats.org/drawingml/2006/main">
            <a:r>
              <a:t>核心句：每项设计都对应业务约束，并承担明确的工程成本。</a:t>
            </a:r>
          </a:p>
          <a:p xmlns:a="http://schemas.openxmlformats.org/drawingml/2006/main">
            <a:r>
              <a:t>讲图提示：逐行讲问题、选择、代价、验证，不逐项介绍库。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第一项是事实与索引分开。索引可能更新滞后，但更正、删除和撤权必须影响后续使用，所以由 Remember 维护当前事实和资格，索引只提供候选。代价是召回增加资格检查和精确读取。验证时要故意保留旧索引，再测试更正、删除和在途召回，确认旧内容无法交付。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项是前台保存与后台加工分开。长文、模型和向量服务耗时且会失败，当前会话不应该一直等待。我们先可靠保存并登记任务，后台再推进长期化。代价是引入持久任务、阶段状态和恢复逻辑。验证重点是保存后立刻退出进程，重启后待办能否恢复，迟到结果是否遵守当前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项是三个业务流程共享可靠底座。这样各流程可以集中表达业务，而事务、任务、事件与授权采用统一规则。代价是公共模块需要维护稳定契约，并成为需要重点验证的依赖。测试要覆盖重复投递、任务租约、权限变化以及外部执行结果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当前采用单机 Python、SQLite 和可替换 Provider，优先验证业务一致性。扩展到多节点时，要重新验证并发领取、恢复和数据迁移。BGE 已有真实模型接入记录，但真实大模型处理质量仍需单独评测。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 ADR 当前标记为待联合评审。这一页请大家评价这些取舍与本阶段约束是否匹配，我们会把异议转化为明确的验证任务。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过渡：设计解释了预期行为，下面按证据层级看实现进展。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9：当前进度与已有证据</a:t>
            </a:r>
          </a:p>
          <a:p xmlns:a="http://schemas.openxmlformats.org/drawingml/2006/main">
            <a:r>
              <a:t>建议 2.5 分钟</a:t>
            </a:r>
          </a:p>
          <a:p xmlns:a="http://schemas.openxmlformats.org/drawingml/2006/main">
            <a:r>
              <a:t>核心句：已完成本地持续服务整合，真实依赖与产品验收仍有缺口。</a:t>
            </a:r>
          </a:p>
          <a:p xmlns:a="http://schemas.openxmlformats.org/drawingml/2006/main">
            <a:r>
              <a:t>讲图提示：按四层状态表讲，强调每行的证据边界。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目前最重要的阶段成果，是已有统一入口下可启动、持续处理任务、持久化恢复的本地服务。Remember、Generation Recall、RF 和内部 Operate 已装配到一起。正常启动就会运行后台处理，不需要用户手动推进每个任务。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这里按四层看。方案层已有 PRD、架构、流程和接口材料，正式评审结论单独记录。实现与本地集成层，已有真实 HTTP、SQLite、文件缓存和 BGE 模型的验证记录。报告还覆盖了进程重启后原查询结果再次获取、共享撤权、租户停用与部分生命周期竞争。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真实依赖层需要分别判断。真实 BGE 编码已经测试，模型 HTTP、Milvus 和部分 P2 适配的协议替身测试只能证明适配行为。真实 LLM 的抽取、冲突和压缩质量，真实 P2、Milvus 集群，以及生产存储层迁移仍需实际环境验证。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产品验收层还缺质量和性能指标、二十四或七十二小时长稳、完整灾备与业务签收。因此当前能够支持的结论是本地持续服务整合已经有证据，完整 P3 产品验收尚未完成。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本页引用九月二十六日报告，材料整理日期是九月二十八日。本次没有重跑业务测试，也不把旧的远端 CI 结果移用到当前未提交的整合修改。详细测试数量、范围和排除项放在备份页。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过渡：接下来把这些边界转成影响判断的具体缺口。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E:/projects/codex/aether/交付成果/测试与验收/P3_统一运行整合与验收_20260926.md</a:t>
            </a:r>
          </a:p>
          <a:p xmlns:a="http://schemas.openxmlformats.org/drawingml/2006/main">
            <a:r>
              <a:t>E:/projects/codex/aether/交付成果/部署运行/P3_统一服务运行指南_20260926.md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10：当前缺口及其影响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核心句：优先补齐决定真实可用性、内容质量与交付条件的证据。</a:t>
            </a:r>
          </a:p>
          <a:p xmlns:a="http://schemas.openxmlformats.org/drawingml/2006/main">
            <a:r>
              <a:t>讲图提示：每行只讲缺口、影响、关闭办法和协作方。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第一类是真实依赖与物理执行。P2 的对象、索引、关系和动作接口需要按约定范围联调，Milvus 等具体提供者也要确认正式部署路径。缺少这部分证据，就无法判断真实环境中是否完整走通，以及执行效果是否可信。P3 负责消费接口和适配，P2 负责其服务能力，双方共同关闭问题。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第二类是真实模型质量。接口调用成功不等于抽取或压缩正确。要准备包含否定、数字、条件、更正、冲突和来源的样本，衡量错误，并验证失败时如何保留原内容和如实表达状态。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第三类是部署与运行。容器构建、真实环境故障恢复、长稳、性能及完整备份回滚仍需验证。这决定能否进入业务验收和运行交接。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这些工作要有明确责任人与关闭标准。现有分工表中 A 流程开发负责人仍待确定，需要会上落实。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过渡：因此下一阶段按四个里程碑推进，每一步都有交付物和通过标准。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E:/projects/codex/aether/交付成果/测试与验收/P3_统一运行整合与验收_20260926.md</a:t>
            </a:r>
          </a:p>
          <a:p xmlns:a="http://schemas.openxmlformats.org/drawingml/2006/main">
            <a:r>
              <a:t>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11：下一阶段交付计划</a:t>
            </a:r>
          </a:p>
          <a:p xmlns:a="http://schemas.openxmlformats.org/drawingml/2006/main">
            <a:r>
              <a:t>建议 2.5 分钟</a:t>
            </a:r>
          </a:p>
          <a:p xmlns:a="http://schemas.openxmlformats.org/drawingml/2006/main">
            <a:r>
              <a:t>核心句：以可复现交付和验收证据推进，日期由会议落实。</a:t>
            </a:r>
          </a:p>
          <a:p xmlns:a="http://schemas.openxmlformats.org/drawingml/2006/main">
            <a:r>
              <a:t>讲图提示：按四行说明顺序，角色与外部依赖一起看。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第一步固定联调基线。明确统一代码版本、配置、启动方式、接口约定和样例数据。陈凯协调公共规则，各流程开发和对应测试对接人员共同确认，让不同成员能复现同一套服务。这里还要落实 A 开发负责人，以及真实 P2 环境和联系人。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第二步验证真实业务闭环。建议优先走通保存、长期化、召回、更正和删除，再覆盖约定调度动作与异常恢复。各流程开发负责实现，肖宇、赵旭东、谭旭梁按各自流程负责测试与 P2 对接，P2 提供方负责底层能力。通过标准是实际环境中结果可核对，故障状态可解释，关键用例有证据。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步验证质量与运行指标。完成模型样本评测、性能和长稳测试，修复阻断问题。准备工作可以提前进行，但正式验收必须使用明确的候选版本、环境与负载。数值阈值从需求和评审结论确定，不能临时选择容易通过的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第四步完成交付准备。落实部署、监控、备份恢复、回滚、UAT 和运行交接。单独备份 RF 数据库还不能代表全部正文、索引和配置可恢复。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表是建议推进顺序。日历日期需要根据外部环境可用性、人员和实际工作量在会上确认。每项任务都要落到交付物、责任人、依赖、预计日期和验收标准；发现阻塞时保留缺口，不把替身结果改称真实联调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过渡：最后请把讨论聚焦到今天需要形成的几项决定。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E:/projects/codex/aether/交付成果/测试与验收/P3_统一运行整合与验收_20260926.md</a:t>
            </a:r>
          </a:p>
          <a:p xmlns:a="http://schemas.openxmlformats.org/drawingml/2006/main">
            <a:r>
              <a:t>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12：本次会议需要形成的结论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核心句：把分歧落实为责任明确、可以验证的下一步行动。</a:t>
            </a:r>
          </a:p>
          <a:p xmlns:a="http://schemas.openxmlformats.org/drawingml/2006/main">
            <a:r>
              <a:t>讲图提示：按四个议题收集结论，不以“有没有问题”结束。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今天希望形成四类结论。第一，P3 的业务目标和本阶段范围是否确认，特别是基础调度、实际执行和后续预测的边界。第二，当前事实管理、上下文交付和公共底座的设计是否适合这个阶段，需要补充哪些验证才能接受相关取舍。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第三，下一阶段优先打通哪条真实链路，P2、模型和部署环境由谁提供，接口或能力缺口如何处理。第四，各项工作由谁负责、何时交付，以及用哪些用例和指标判断完成。现有分工中的空缺也需要一起落实。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建议每项结论留下五个字段：决议、责任人、交付日期、验收证据和未决依赖。不能现场决定的事项，明确补充什么材料、由谁补充、何时再评审。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我们现在有了本地可持续运行的整合成果。后续要把这些能力放到真实依赖、真实数据和实际运行条件下验证。希望今天的讨论能够客观确定继续推进的方向、优先级和完成标准。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过渡：进入讨论，按目标范围、设计、联调和交付安排逐项记录。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E:/projects/codex/aether/交付成果/开发协作/13_项目任务分工表_20260923.md</a:t>
            </a:r>
          </a:p>
          <a:p xmlns:a="http://schemas.openxmlformats.org/drawingml/2006/main">
            <a:r>
              <a:t>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状态规则：方案按 PRD V1.3/主 ADR；工程结果引用 2026-09-26 整合报告。2026-09-28 准备汇报时仅作资料和入口核对，未重跑业务测试。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565c94961c49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74d6d0fdb49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03261bb7047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9b041c0dc4b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b4628c5934b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8aae5eace42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0F98D52-707D-4460-96FD-CD7F5076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954E31-51CC-4410-8846-4B1EE5FDC5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DCC1138-FC7E-452C-A1E7-31EDE8C651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78892B6-D0F0-4214-9A14-35C7DCC1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6CD934-E453-4FEA-AC12-D769409524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F88267B-F7EB-4D60-B115-EAED559F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03D460-3D46-4402-84B0-FE54F2C0D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F889D71-897D-4101-8EB1-9B5559AD0F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8D35F6A-DEF8-4CD4-8D13-2D4A75B9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B135FB3-3F67-44CB-8404-61A311D32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F5A3EB-6565-4122-8C1E-74EF79DD8D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5A9692-302E-4D7D-8A5F-F37E0A2226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8BF8E3F-1B3E-4423-AE12-12FCB17A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5A3359C-A210-4190-8439-97F059E166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4489F8-C884-4437-90DF-2B4439B563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0c49fe99e74f3f" /><Relationship Type="http://schemas.openxmlformats.org/officeDocument/2006/relationships/slideLayout" Target="/ppt/slideLayouts/slideLayout1.xml" Id="R1440feb1775e43bb" /><Relationship Type="http://schemas.openxmlformats.org/officeDocument/2006/relationships/slideLayout" Target="/ppt/slideLayouts/slideLayout2.xml" Id="R3080149776234f41" /><Relationship Type="http://schemas.openxmlformats.org/officeDocument/2006/relationships/slideLayout" Target="/ppt/slideLayouts/slideLayout3.xml" Id="R0315f7af9477451a" /><Relationship Type="http://schemas.openxmlformats.org/officeDocument/2006/relationships/slideLayout" Target="/ppt/slideLayouts/slideLayout4.xml" Id="Ra466636f69df4d2f" /><Relationship Type="http://schemas.openxmlformats.org/officeDocument/2006/relationships/slideLayout" Target="/ppt/slideLayouts/slideLayout5.xml" Id="R0c9ee5916a154b16" /><Relationship Type="http://schemas.openxmlformats.org/officeDocument/2006/relationships/slideLayout" Target="/ppt/slideLayouts/slideLayout6.xml" Id="R21a857bda9744f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40feb1775e43bb"/>
    <p:sldLayoutId xmlns:r="http://schemas.openxmlformats.org/officeDocument/2006/relationships" id="2147483650" r:id="R3080149776234f41"/>
    <p:sldLayoutId xmlns:r="http://schemas.openxmlformats.org/officeDocument/2006/relationships" id="2147483651" r:id="R0315f7af9477451a"/>
    <p:sldLayoutId xmlns:r="http://schemas.openxmlformats.org/officeDocument/2006/relationships" id="2147483652" r:id="Ra466636f69df4d2f"/>
    <p:sldLayoutId xmlns:r="http://schemas.openxmlformats.org/officeDocument/2006/relationships" id="2147483653" r:id="R0c9ee5916a154b16"/>
    <p:sldLayoutId xmlns:r="http://schemas.openxmlformats.org/officeDocument/2006/relationships" id="2147483654" r:id="R21a857bda9744f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bbdb1e54ea45ef" /><Relationship Type="http://schemas.openxmlformats.org/officeDocument/2006/relationships/notesSlide" Target="/ppt/notesSlides/notesSlide1.xml" Id="R33d60f7d7c454d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31e2669a8401a" /><Relationship Type="http://schemas.openxmlformats.org/officeDocument/2006/relationships/notesSlide" Target="/ppt/notesSlides/notesSlide2.xml" Id="R662856828a0742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a5831e4cd4d79" /><Relationship Type="http://schemas.openxmlformats.org/officeDocument/2006/relationships/notesSlide" Target="/ppt/notesSlides/notesSlide3.xml" Id="R0cba08f5d52940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659c835e0a4101" /><Relationship Type="http://schemas.openxmlformats.org/officeDocument/2006/relationships/notesSlide" Target="/ppt/notesSlides/notesSlide4.xml" Id="R4fb45a429eef43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a6f7fc7d10448f" /><Relationship Type="http://schemas.openxmlformats.org/officeDocument/2006/relationships/notesSlide" Target="/ppt/notesSlides/notesSlide5.xml" Id="Ref91a4520c214f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2a49d382a47b8" /><Relationship Type="http://schemas.openxmlformats.org/officeDocument/2006/relationships/notesSlide" Target="/ppt/notesSlides/notesSlide6.xml" Id="R8419eb2f5ac346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eb9e0de024612" /><Relationship Type="http://schemas.openxmlformats.org/officeDocument/2006/relationships/notesSlide" Target="/ppt/notesSlides/notesSlide7.xml" Id="Ree7d40c0b89547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153bfaedd44d26" /><Relationship Type="http://schemas.openxmlformats.org/officeDocument/2006/relationships/notesSlide" Target="/ppt/notesSlides/notesSlide8.xml" Id="Rb512b528f0fa4f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30656208d441d" /><Relationship Type="http://schemas.openxmlformats.org/officeDocument/2006/relationships/notesSlide" Target="/ppt/notesSlides/notesSlide9.xml" Id="R1f716347a71d4a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2e8ed6447d4b9d" /><Relationship Type="http://schemas.openxmlformats.org/officeDocument/2006/relationships/notesSlide" Target="/ppt/notesSlides/notesSlide10.xml" Id="R9a58da295c1644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ec8bfa4fd74fca" /><Relationship Type="http://schemas.openxmlformats.org/officeDocument/2006/relationships/notesSlide" Target="/ppt/notesSlides/notesSlide11.xml" Id="R4b411d714ff541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657f186d044c36" /><Relationship Type="http://schemas.openxmlformats.org/officeDocument/2006/relationships/notesSlide" Target="/ppt/notesSlides/notesSlide12.xml" Id="Rc010d05807d443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label">
            <a:extLst xmlns:a="http://schemas.openxmlformats.org/drawingml/2006/main">
              <a:ext uri="{FF2B5EF4-FFF2-40B4-BE49-F238E27FC236}">
                <a16:creationId xmlns:a16="http://schemas.microsoft.com/office/drawing/2014/main" id="{C32DEB1D-7AD4-49FC-970D-243DA42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90C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90C9D2"/>
                </a:solidFill>
                <a:latin typeface="Microsoft YaHei"/>
                <a:ea typeface="Microsoft YaHei"/>
                <a:cs typeface="Microsoft YaHei"/>
              </a:rPr>
              <a:t>AetherBrain P3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80DE8E6-BBFB-4B1A-BA0A-C5ABAD0A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P3 方案与阶段进展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CC84D00-1309-4333-8A39-C63CB9F6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D8E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8E4EE"/>
                </a:solidFill>
                <a:latin typeface="Microsoft YaHei"/>
                <a:ea typeface="Microsoft YaHei"/>
                <a:cs typeface="Microsoft YaHei"/>
              </a:rPr>
              <a:t>业务流程、设计取舍与下一阶段交付</a:t>
            </a:r>
          </a:p>
        </p:txBody>
      </p:sp>
      <p:sp>
        <p:nvSpPr>
          <p:cNvPr id="4" name="meeting-goal">
            <a:extLst xmlns:a="http://schemas.openxmlformats.org/drawingml/2006/main">
              <a:ext uri="{FF2B5EF4-FFF2-40B4-BE49-F238E27FC236}">
                <a16:creationId xmlns:a16="http://schemas.microsoft.com/office/drawing/2014/main" id="{9C03CBD7-BD2A-4002-94D4-204EBE56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8286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理解整体方案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判断当前状态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明确下一阶段优先级</a:t>
            </a:r>
          </a:p>
        </p:txBody>
      </p:sp>
      <p:sp>
        <p:nvSpPr>
          <p:cNvPr id="5" name="meeting-date">
            <a:extLst xmlns:a="http://schemas.openxmlformats.org/drawingml/2006/main">
              <a:ext uri="{FF2B5EF4-FFF2-40B4-BE49-F238E27FC236}">
                <a16:creationId xmlns:a16="http://schemas.microsoft.com/office/drawing/2014/main" id="{E915309E-B174-4343-B134-0A755168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rPr>
              <a:t>2026 年 9 月 29 日</a:t>
            </a:r>
          </a:p>
        </p:txBody>
      </p:sp>
      <p:sp>
        <p:nvSpPr>
          <p:cNvPr id="6" name="meeting-time">
            <a:extLst xmlns:a="http://schemas.openxmlformats.org/drawingml/2006/main">
              <a:ext uri="{FF2B5EF4-FFF2-40B4-BE49-F238E27FC236}">
                <a16:creationId xmlns:a16="http://schemas.microsoft.com/office/drawing/2014/main" id="{41EFBCDC-3CB7-467E-90DE-9A6AAA07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096000"/>
            <a:ext cx="451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5C5D4"/>
                </a:solidFill>
                <a:latin typeface="Microsoft YaHei"/>
                <a:ea typeface="Microsoft YaHei"/>
                <a:cs typeface="Microsoft YaHei"/>
              </a:rPr>
              <a:t>25 分钟主讲  /  10—15 分钟讨论</a:t>
            </a:r>
          </a:p>
        </p:txBody>
      </p:sp>
    </p:spTree>
    <p:extLst>
      <p:ext uri="{BB962C8B-B14F-4D97-AF65-F5344CB8AC3E}">
        <p14:creationId xmlns:p14="http://schemas.microsoft.com/office/powerpoint/2010/main" val="2042296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EB0BE947-D31A-421C-AF05-3F3735C3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P3 的目标与边界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E4C37D-058A-4D56-9898-644B6736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服务对象：应用、Agent 与 P4 接入方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C6BF2DFD-916F-4022-AB9C-8F0806A5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0C0CC24-4E7C-4EFA-A8B0-716EA2D5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1AA8229-8E66-4B49-995A-F30E9C2D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  <p:sp>
        <p:nvSpPr>
          <p:cNvPr id="6" name="value">
            <a:extLst xmlns:a="http://schemas.openxmlformats.org/drawingml/2006/main">
              <a:ext uri="{FF2B5EF4-FFF2-40B4-BE49-F238E27FC236}">
                <a16:creationId xmlns:a16="http://schemas.microsoft.com/office/drawing/2014/main" id="{6E1A4CA6-E261-4F98-9288-6A3BFD7F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857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跨会话复用</a:t>
            </a:r>
          </a:p>
          <a:p xmlns:a="http://schemas.openxmlformats.org/drawingml/2006/main">
            <a:pPr algn="l">
              <a:defRPr sz="345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当前有效的记忆</a:t>
            </a:r>
          </a:p>
        </p:txBody>
      </p:sp>
      <p:sp>
        <p:nvSpPr>
          <p:cNvPr id="7" name="qualities">
            <a:extLst xmlns:a="http://schemas.openxmlformats.org/drawingml/2006/main">
              <a:ext uri="{FF2B5EF4-FFF2-40B4-BE49-F238E27FC236}">
                <a16:creationId xmlns:a16="http://schemas.microsoft.com/office/drawing/2014/main" id="{86EA0984-66C3-4BB4-8392-CE9AF041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05225"/>
            <a:ext cx="4667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有来源可核查</a:t>
            </a:r>
          </a:p>
          <a:p xmlns:a="http://schemas.openxmlformats.org/drawingml/2006/main">
            <a:pPr algn="l">
              <a:defRPr sz="21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按当前权限交付</a:t>
            </a:r>
          </a:p>
          <a:p xmlns:a="http://schemas.openxmlformats.org/drawingml/2006/main">
            <a:pPr algn="l">
              <a:defRPr sz="21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更正与删除影响后续使用</a:t>
            </a:r>
          </a:p>
        </p:txBody>
      </p:sp>
      <p:sp>
        <p:nvSpPr>
          <p:cNvPr id="8" name="remember-label">
            <a:extLst xmlns:a="http://schemas.openxmlformats.org/drawingml/2006/main">
              <a:ext uri="{FF2B5EF4-FFF2-40B4-BE49-F238E27FC236}">
                <a16:creationId xmlns:a16="http://schemas.microsoft.com/office/drawing/2014/main" id="{092D590E-3BB7-49A4-B8D4-2CC588FD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33575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存储记忆  Remember</a:t>
            </a:r>
          </a:p>
        </p:txBody>
      </p:sp>
      <p:sp>
        <p:nvSpPr>
          <p:cNvPr id="9" name="remember-detail">
            <a:extLst xmlns:a="http://schemas.openxmlformats.org/drawingml/2006/main">
              <a:ext uri="{FF2B5EF4-FFF2-40B4-BE49-F238E27FC236}">
                <a16:creationId xmlns:a16="http://schemas.microsoft.com/office/drawing/2014/main" id="{41431CCA-837D-40FE-A4B8-F43874D5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518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保存来源，维护事实、版本和生命周期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EF422A38-B32C-4E4F-A5B3-00635192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518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11" name="recall-label">
            <a:extLst xmlns:a="http://schemas.openxmlformats.org/drawingml/2006/main">
              <a:ext uri="{FF2B5EF4-FFF2-40B4-BE49-F238E27FC236}">
                <a16:creationId xmlns:a16="http://schemas.microsoft.com/office/drawing/2014/main" id="{F334E720-F567-4AF5-A7E4-EE0D99E3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86150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召回记忆  Recall</a:t>
            </a:r>
          </a:p>
        </p:txBody>
      </p:sp>
      <p:sp>
        <p:nvSpPr>
          <p:cNvPr id="12" name="recall-detail">
            <a:extLst xmlns:a="http://schemas.openxmlformats.org/drawingml/2006/main">
              <a:ext uri="{FF2B5EF4-FFF2-40B4-BE49-F238E27FC236}">
                <a16:creationId xmlns:a16="http://schemas.microsoft.com/office/drawing/2014/main" id="{8B7FF865-8AA2-4EFB-9F6C-951FA981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29075"/>
            <a:ext cx="518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交付可信上下文，由上层应用生成回答</a:t>
            </a:r>
          </a:p>
        </p:txBody>
      </p:sp>
      <p:sp>
        <p:nvSpPr>
          <p:cNvPr id="13" name="internal">
            <a:extLst xmlns:a="http://schemas.openxmlformats.org/drawingml/2006/main">
              <a:ext uri="{FF2B5EF4-FFF2-40B4-BE49-F238E27FC236}">
                <a16:creationId xmlns:a16="http://schemas.microsoft.com/office/drawing/2014/main" id="{EC13E100-1EB5-4B56-941A-F80A095B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10150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7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B78"/>
                </a:solidFill>
                <a:latin typeface="Microsoft YaHei"/>
                <a:ea typeface="Microsoft YaHei"/>
                <a:cs typeface="Microsoft YaHei"/>
              </a:rPr>
              <a:t>内部 Operate 持续调度访问准备</a:t>
            </a:r>
          </a:p>
        </p:txBody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482B84BC-5DFF-480F-BFF5-3560CDFA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本阶段包含基础自动调度与执行确认；预测预热列为后续 P1</a:t>
            </a:r>
          </a:p>
        </p:txBody>
      </p:sp>
    </p:spTree>
    <p:extLst>
      <p:ext uri="{BB962C8B-B14F-4D97-AF65-F5344CB8AC3E}">
        <p14:creationId xmlns:p14="http://schemas.microsoft.com/office/powerpoint/2010/main" val="2947244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772400" y="53197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B78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105400" y="53197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B78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705975" y="2819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48600" y="2819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91225" y="2819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33850" y="2819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76475" y="2819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sp>
        <p:nvSpPr>
          <p:cNvPr id="33" name="title">
            <a:extLst xmlns:a="http://schemas.openxmlformats.org/drawingml/2006/main">
              <a:ext uri="{FF2B5EF4-FFF2-40B4-BE49-F238E27FC236}">
                <a16:creationId xmlns:a16="http://schemas.microsoft.com/office/drawing/2014/main" id="{7ED7BEEA-4B10-4AB1-BAED-B023648B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一个完整的业务场景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01B4D5-155B-411C-80BE-D7CE17F6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项目助手：预算从 20 万元更正为 15 万元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D48A006F-09AA-4541-9372-AAE2D394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5D803EB-05F3-4600-AC0D-64AB470D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3C93A78-9FDA-465B-A66D-49854A7D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  <p:sp>
        <p:nvSpPr>
          <p:cNvPr id="6" name="step-0">
            <a:extLst xmlns:a="http://schemas.openxmlformats.org/drawingml/2006/main">
              <a:ext uri="{FF2B5EF4-FFF2-40B4-BE49-F238E27FC236}">
                <a16:creationId xmlns:a16="http://schemas.microsoft.com/office/drawing/2014/main" id="{A6B27050-75F3-49AE-9987-2C058820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保存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预算 20 万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F7AE77C3-E165-4F62-943E-5F136E27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2479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当前任务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立即可用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2D33FBFF-5822-4820-8B34-709ACA3F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479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后台加工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长期就绪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9D9CBF10-835D-4CB6-81C1-5E78DF25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跨会话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召回预算</a:t>
            </a:r>
          </a:p>
        </p:txBody>
      </p:sp>
      <p:sp>
        <p:nvSpPr>
          <p:cNvPr id="10" name="step-4">
            <a:extLst xmlns:a="http://schemas.openxmlformats.org/drawingml/2006/main">
              <a:ext uri="{FF2B5EF4-FFF2-40B4-BE49-F238E27FC236}">
                <a16:creationId xmlns:a16="http://schemas.microsoft.com/office/drawing/2014/main" id="{823FE8BE-70F6-4167-A89B-E30B1DAC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479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更正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预算 15 万</a:t>
            </a:r>
          </a:p>
        </p:txBody>
      </p:sp>
      <p:sp>
        <p:nvSpPr>
          <p:cNvPr id="11" name="step-5">
            <a:extLst xmlns:a="http://schemas.openxmlformats.org/drawingml/2006/main">
              <a:ext uri="{FF2B5EF4-FFF2-40B4-BE49-F238E27FC236}">
                <a16:creationId xmlns:a16="http://schemas.microsoft.com/office/drawing/2014/main" id="{CAAA79D9-FE06-4D45-A7A4-1DC5AB7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479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删除来源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阻断使用</a:t>
            </a:r>
          </a:p>
        </p:txBody>
      </p:sp>
      <p:sp>
        <p:nvSpPr>
          <p:cNvPr id="17" name="scene1">
            <a:extLst xmlns:a="http://schemas.openxmlformats.org/drawingml/2006/main">
              <a:ext uri="{FF2B5EF4-FFF2-40B4-BE49-F238E27FC236}">
                <a16:creationId xmlns:a16="http://schemas.microsoft.com/office/drawing/2014/main" id="{FF2C794A-1337-4B04-9300-D99E20EE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更正后：旧索引与旧结果遵守当前版本</a:t>
            </a:r>
          </a:p>
        </p:txBody>
      </p:sp>
      <p:sp>
        <p:nvSpPr>
          <p:cNvPr id="18" name="scene2">
            <a:extLst xmlns:a="http://schemas.openxmlformats.org/drawingml/2006/main">
              <a:ext uri="{FF2B5EF4-FFF2-40B4-BE49-F238E27FC236}">
                <a16:creationId xmlns:a16="http://schemas.microsoft.com/office/drawing/2014/main" id="{33C0DCA0-EC21-45FE-9EA7-2E2E5F05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删除后：先停止交付，再清理内容和派生产物</a:t>
            </a:r>
          </a:p>
        </p:txBody>
      </p:sp>
      <p:sp>
        <p:nvSpPr>
          <p:cNvPr id="19" name="cycle-label">
            <a:extLst xmlns:a="http://schemas.openxmlformats.org/drawingml/2006/main">
              <a:ext uri="{FF2B5EF4-FFF2-40B4-BE49-F238E27FC236}">
                <a16:creationId xmlns:a16="http://schemas.microsoft.com/office/drawing/2014/main" id="{533E1FF6-C389-444C-9E72-3FC7248F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7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B78"/>
                </a:solidFill>
                <a:latin typeface="Microsoft YaHei"/>
                <a:ea typeface="Microsoft YaHei"/>
                <a:cs typeface="Microsoft YaHei"/>
              </a:rPr>
              <a:t>内部持续调度</a:t>
            </a:r>
          </a:p>
        </p:txBody>
      </p:sp>
      <p:sp>
        <p:nvSpPr>
          <p:cNvPr id="20" name="event-input">
            <a:extLst xmlns:a="http://schemas.openxmlformats.org/drawingml/2006/main">
              <a:ext uri="{FF2B5EF4-FFF2-40B4-BE49-F238E27FC236}">
                <a16:creationId xmlns:a16="http://schemas.microsoft.com/office/drawing/2014/main" id="{99B5250B-CCCC-4BAC-A15A-B478246C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10150"/>
            <a:ext cx="2286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存储 / 读取事件</a:t>
            </a:r>
          </a:p>
        </p:txBody>
      </p:sp>
      <p:sp>
        <p:nvSpPr>
          <p:cNvPr id="21" name="policy">
            <a:extLst xmlns:a="http://schemas.openxmlformats.org/drawingml/2006/main">
              <a:ext uri="{FF2B5EF4-FFF2-40B4-BE49-F238E27FC236}">
                <a16:creationId xmlns:a16="http://schemas.microsoft.com/office/drawing/2014/main" id="{AA0E503B-8B69-46E7-8D62-6E06160B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10150"/>
            <a:ext cx="2286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判断与执行</a:t>
            </a:r>
          </a:p>
        </p:txBody>
      </p:sp>
      <p:sp>
        <p:nvSpPr>
          <p:cNvPr id="22" name="feedback">
            <a:extLst xmlns:a="http://schemas.openxmlformats.org/drawingml/2006/main">
              <a:ext uri="{FF2B5EF4-FFF2-40B4-BE49-F238E27FC236}">
                <a16:creationId xmlns:a16="http://schemas.microsoft.com/office/drawing/2014/main" id="{56B7AC82-5198-4496-A5D3-844B855C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10150"/>
            <a:ext cx="295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核验与访问准备</a:t>
            </a:r>
          </a:p>
        </p:txBody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F88FFCF0-D623-4ADF-9F6A-3CAC657C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图示为业务规则；具体实现和证据范围见第 9 页</a:t>
            </a:r>
          </a:p>
        </p:txBody>
      </p:sp>
    </p:spTree>
    <p:extLst>
      <p:ext uri="{BB962C8B-B14F-4D97-AF65-F5344CB8AC3E}">
        <p14:creationId xmlns:p14="http://schemas.microsoft.com/office/powerpoint/2010/main" val="1958103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39175" y="43815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91225" y="43815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4657725" y="3009900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91225" y="2514600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47975" y="2514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sp>
        <p:nvSpPr>
          <p:cNvPr id="25" name="title">
            <a:extLst xmlns:a="http://schemas.openxmlformats.org/drawingml/2006/main">
              <a:ext uri="{FF2B5EF4-FFF2-40B4-BE49-F238E27FC236}">
                <a16:creationId xmlns:a16="http://schemas.microsoft.com/office/drawing/2014/main" id="{E2E9D3A2-3839-4CBA-8C1A-64300C49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Remember：记忆如何形成和维护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134D14-F5B0-4343-88FA-31D7DAF3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输入：对话、任务事件、文档，以及更正和删除请求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88797C09-032D-4CDD-B2AD-160C60B1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43EE830-8503-48F0-879D-D92347D8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59C9A24-3489-4A63-B42E-2C5BC54D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  <p:sp>
        <p:nvSpPr>
          <p:cNvPr id="6" name="input">
            <a:extLst xmlns:a="http://schemas.openxmlformats.org/drawingml/2006/main">
              <a:ext uri="{FF2B5EF4-FFF2-40B4-BE49-F238E27FC236}">
                <a16:creationId xmlns:a16="http://schemas.microsoft.com/office/drawing/2014/main" id="{7EDB4E64-A372-41EC-8021-11CE582C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238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身份、范围</a:t>
            </a:r>
          </a:p>
          <a:p xmlns:a="http://schemas.openxmlformats.org/drawingml/2006/main">
            <a:pPr algn="ctr">
              <a:defRPr sz="195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来源与幂等校验</a:t>
            </a:r>
          </a:p>
        </p:txBody>
      </p:sp>
      <p:sp>
        <p:nvSpPr>
          <p:cNvPr id="7" name="saved">
            <a:extLst xmlns:a="http://schemas.openxmlformats.org/drawingml/2006/main">
              <a:ext uri="{FF2B5EF4-FFF2-40B4-BE49-F238E27FC236}">
                <a16:creationId xmlns:a16="http://schemas.microsoft.com/office/drawing/2014/main" id="{26406563-4083-4B91-8682-22E6480D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1930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可靠保存</a:t>
            </a:r>
          </a:p>
          <a:p xmlns:a="http://schemas.openxmlformats.org/drawingml/2006/main">
            <a:pPr algn="ctr">
              <a:def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正文、来源、记忆</a:t>
            </a:r>
          </a:p>
        </p:txBody>
      </p:sp>
      <p:sp>
        <p:nvSpPr>
          <p:cNvPr id="8" name="working">
            <a:extLst xmlns:a="http://schemas.openxmlformats.org/drawingml/2006/main">
              <a:ext uri="{FF2B5EF4-FFF2-40B4-BE49-F238E27FC236}">
                <a16:creationId xmlns:a16="http://schemas.microsoft.com/office/drawing/2014/main" id="{41278831-3C57-468B-8D03-12CD5112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19300"/>
            <a:ext cx="41243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当前任务可用</a:t>
            </a:r>
          </a:p>
          <a:p xmlns:a="http://schemas.openxmlformats.org/drawingml/2006/main">
            <a:pPr algn="ctr">
              <a:def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适用内容进入 Working</a:t>
            </a:r>
          </a:p>
        </p:txBody>
      </p:sp>
      <p:sp>
        <p:nvSpPr>
          <p:cNvPr id="11" name="saved-caption">
            <a:extLst xmlns:a="http://schemas.openxmlformats.org/drawingml/2006/main">
              <a:ext uri="{FF2B5EF4-FFF2-40B4-BE49-F238E27FC236}">
                <a16:creationId xmlns:a16="http://schemas.microsoft.com/office/drawing/2014/main" id="{F4390355-9FF7-4982-9264-1D3A8AF4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914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当前可用与长期就绪分别确认</a:t>
            </a:r>
          </a:p>
        </p:txBody>
      </p:sp>
      <p:sp>
        <p:nvSpPr>
          <p:cNvPr id="12" name="task">
            <a:extLst xmlns:a="http://schemas.openxmlformats.org/drawingml/2006/main">
              <a:ext uri="{FF2B5EF4-FFF2-40B4-BE49-F238E27FC236}">
                <a16:creationId xmlns:a16="http://schemas.microsoft.com/office/drawing/2014/main" id="{9D852F52-42BC-4C7C-88CE-819C0DF2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85762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持久后台任务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按当前版本推进</a:t>
            </a:r>
          </a:p>
        </p:txBody>
      </p:sp>
      <p:sp>
        <p:nvSpPr>
          <p:cNvPr id="13" name="processing">
            <a:extLst xmlns:a="http://schemas.openxmlformats.org/drawingml/2006/main">
              <a:ext uri="{FF2B5EF4-FFF2-40B4-BE49-F238E27FC236}">
                <a16:creationId xmlns:a16="http://schemas.microsoft.com/office/drawing/2014/main" id="{5C1CF427-B472-423C-ACA6-BACD3C31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57625"/>
            <a:ext cx="2428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适用加工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提取、分块、压缩</a:t>
            </a:r>
          </a:p>
        </p:txBody>
      </p:sp>
      <p:sp>
        <p:nvSpPr>
          <p:cNvPr id="14" name="ready">
            <a:extLst xmlns:a="http://schemas.openxmlformats.org/drawingml/2006/main">
              <a:ext uri="{FF2B5EF4-FFF2-40B4-BE49-F238E27FC236}">
                <a16:creationId xmlns:a16="http://schemas.microsoft.com/office/drawing/2014/main" id="{F76D0E40-6ED1-4B48-85D2-6B410E0A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2438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长期检索就绪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正文与完整索引核验</a:t>
            </a:r>
          </a:p>
        </p:txBody>
      </p:sp>
      <p:sp>
        <p:nvSpPr>
          <p:cNvPr id="18" name="lifecycle">
            <a:extLst xmlns:a="http://schemas.openxmlformats.org/drawingml/2006/main">
              <a:ext uri="{FF2B5EF4-FFF2-40B4-BE49-F238E27FC236}">
                <a16:creationId xmlns:a16="http://schemas.microsoft.com/office/drawing/2014/main" id="{99504D12-F5BD-4238-8D4E-84625C3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64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B6423"/>
                </a:solidFill>
                <a:latin typeface="Microsoft YaHei"/>
                <a:ea typeface="Microsoft YaHei"/>
                <a:cs typeface="Microsoft YaHei"/>
              </a:rPr>
              <a:t>更正 / 删除 / 撤权：改变使用资格，后台提交再次复核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B28C797B-FC53-4272-88C7-79C84437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加工失败保留已保存事实；长期未就绪必须如实表达</a:t>
            </a:r>
          </a:p>
        </p:txBody>
      </p:sp>
    </p:spTree>
    <p:extLst>
      <p:ext uri="{BB962C8B-B14F-4D97-AF65-F5344CB8AC3E}">
        <p14:creationId xmlns:p14="http://schemas.microsoft.com/office/powerpoint/2010/main" val="79128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705975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486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91225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338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76475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24C1095A-3FE3-4A3B-98ED-46C63D47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Recall：怎样交付可信记忆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CF4BF7-2B2D-4FE1-932B-7C44B236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输入：问题、授权范围、来源选择与上下文长度预算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DF57DC1F-56FA-4125-8F14-F150E977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6609690-5A5A-43DA-8455-3E8E6C87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F4A748F-1FDC-4434-A5D1-B7B42D48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  <p:sp>
        <p:nvSpPr>
          <p:cNvPr id="6" name="step-0">
            <a:extLst xmlns:a="http://schemas.openxmlformats.org/drawingml/2006/main">
              <a:ext uri="{FF2B5EF4-FFF2-40B4-BE49-F238E27FC236}">
                <a16:creationId xmlns:a16="http://schemas.microsoft.com/office/drawing/2014/main" id="{4E52B519-F861-43E7-8148-82F7ED59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6668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选择来源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当前 / 长期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34928922-5EA3-48DD-8088-ECF5535D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038350"/>
            <a:ext cx="16668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检索候选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向量命中块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6A65045D-86AA-4E5C-AAE3-822C6AA7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16668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资格检查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版本与授权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44E646AE-D703-4101-A8C6-0EC529AF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38350"/>
            <a:ext cx="16668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精确读取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完整正文</a:t>
            </a:r>
          </a:p>
        </p:txBody>
      </p:sp>
      <p:sp>
        <p:nvSpPr>
          <p:cNvPr id="10" name="step-4">
            <a:extLst xmlns:a="http://schemas.openxmlformats.org/drawingml/2006/main">
              <a:ext uri="{FF2B5EF4-FFF2-40B4-BE49-F238E27FC236}">
                <a16:creationId xmlns:a16="http://schemas.microsoft.com/office/drawing/2014/main" id="{9D0ECCB2-2A8B-497D-A2D5-333FA013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38350"/>
            <a:ext cx="16668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排序与预算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完整关系组</a:t>
            </a:r>
          </a:p>
        </p:txBody>
      </p:sp>
      <p:sp>
        <p:nvSpPr>
          <p:cNvPr id="11" name="step-5">
            <a:extLst xmlns:a="http://schemas.openxmlformats.org/drawingml/2006/main">
              <a:ext uri="{FF2B5EF4-FFF2-40B4-BE49-F238E27FC236}">
                <a16:creationId xmlns:a16="http://schemas.microsoft.com/office/drawing/2014/main" id="{DD1A26AF-1611-43B1-A5BB-E7E2BC9B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038350"/>
            <a:ext cx="16668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最终复核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提交上下文</a:t>
            </a:r>
          </a:p>
        </p:txBody>
      </p:sp>
      <p:sp>
        <p:nvSpPr>
          <p:cNvPr id="17" name="working-only">
            <a:extLst xmlns:a="http://schemas.openxmlformats.org/drawingml/2006/main">
              <a:ext uri="{FF2B5EF4-FFF2-40B4-BE49-F238E27FC236}">
                <a16:creationId xmlns:a16="http://schemas.microsoft.com/office/drawing/2014/main" id="{1684A5CD-4166-4668-B7C3-C0E69B2E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仅查当前任务记忆时，直接读取 Working</a:t>
            </a:r>
          </a:p>
        </p:txBody>
      </p:sp>
      <p:sp>
        <p:nvSpPr>
          <p:cNvPr id="18" name="revalidate">
            <a:extLst xmlns:a="http://schemas.openxmlformats.org/drawingml/2006/main">
              <a:ext uri="{FF2B5EF4-FFF2-40B4-BE49-F238E27FC236}">
                <a16:creationId xmlns:a16="http://schemas.microsoft.com/office/drawing/2014/main" id="{8AA34AF1-B9E3-42E4-BB3A-E850A9A2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更正、删除或撤权发生在处理中，也必须影响最终交付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609600" y="4543425"/>
          <a:ext xmlns:a="http://schemas.openxmlformats.org/drawingml/2006/main" cx="10972800" cy="1181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38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完整可用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正常为空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降级可用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不可用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</a:tr>
              <a:tr h="7429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必需来源完整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有可信材料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来源完成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无合格内容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存在缺失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仍有可信材料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安全阻断或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无法可信交付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3564B69F-793A-41A3-B140-F6408C5F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交付上下文与来源，上层应用负责生成回答</a:t>
            </a:r>
          </a:p>
        </p:txBody>
      </p:sp>
    </p:spTree>
    <p:extLst>
      <p:ext uri="{BB962C8B-B14F-4D97-AF65-F5344CB8AC3E}">
        <p14:creationId xmlns:p14="http://schemas.microsoft.com/office/powerpoint/2010/main" val="545239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15375" y="262413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76925" y="262413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38475" y="262413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3C9E9CC8-B7B7-4680-9F8C-1690C360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Operate：内部如何持续调度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37804B-A674-4733-AA3D-8AFF1E06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触发：记忆变化、成功读取与定时检查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637BBBA4-533C-4DEE-B1A3-B19032FA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0ABE40E-1B11-41F7-880A-6AC83C88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2502774-7C04-41E5-97CA-0E31CE6E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  <p:sp>
        <p:nvSpPr>
          <p:cNvPr id="6" name="step-0">
            <a:extLst xmlns:a="http://schemas.openxmlformats.org/drawingml/2006/main">
              <a:ext uri="{FF2B5EF4-FFF2-40B4-BE49-F238E27FC236}">
                <a16:creationId xmlns:a16="http://schemas.microsoft.com/office/drawing/2014/main" id="{56D0B8F3-016E-4D87-AEE7-150DF54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4288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事件去重</a:t>
            </a:r>
          </a:p>
          <a:p xmlns:a="http://schemas.openxmlformats.org/drawingml/2006/main">
            <a:pPr algn="ctr">
              <a:def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热度与当前状态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27106589-1C65-4502-A74E-0FCAD5D7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24288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策略与条件</a:t>
            </a:r>
          </a:p>
          <a:p xmlns:a="http://schemas.openxmlformats.org/drawingml/2006/main">
            <a:pPr algn="ctr">
              <a:def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容量、权限、版本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CF5C58BC-E342-40DA-A495-2D85FCE9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24288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持久动作</a:t>
            </a:r>
          </a:p>
          <a:p xmlns:a="http://schemas.openxmlformats.org/drawingml/2006/main">
            <a:pPr algn="ctr">
              <a:def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执行访问准备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86D6AA01-75FB-4C7F-8B36-97A6A143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24288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核验与交接</a:t>
            </a:r>
          </a:p>
          <a:p xmlns:a="http://schemas.openxmlformats.org/drawingml/2006/main">
            <a:pPr algn="ctr">
              <a:def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影响实际读取</a:t>
            </a:r>
          </a:p>
        </p:txBody>
      </p:sp>
      <p:sp>
        <p:nvSpPr>
          <p:cNvPr id="14" name="loop-label">
            <a:extLst xmlns:a="http://schemas.openxmlformats.org/drawingml/2006/main">
              <a:ext uri="{FF2B5EF4-FFF2-40B4-BE49-F238E27FC236}">
                <a16:creationId xmlns:a16="http://schemas.microsoft.com/office/drawing/2014/main" id="{4A4293AB-EBA8-4FA6-BBA6-160CBBD0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7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B78"/>
                </a:solidFill>
                <a:latin typeface="Microsoft YaHei"/>
                <a:ea typeface="Microsoft YaHei"/>
                <a:cs typeface="Microsoft YaHei"/>
              </a:rPr>
              <a:t>持续检查实际状态，更新下一轮判断依据</a:t>
            </a:r>
          </a:p>
        </p:txBody>
      </p:sp>
      <p:sp>
        <p:nvSpPr>
          <p:cNvPr id="15" name="unknown-title">
            <a:extLst xmlns:a="http://schemas.openxmlformats.org/drawingml/2006/main">
              <a:ext uri="{FF2B5EF4-FFF2-40B4-BE49-F238E27FC236}">
                <a16:creationId xmlns:a16="http://schemas.microsoft.com/office/drawing/2014/main" id="{DC8CEEAC-C366-4ADA-8589-FCB03B70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回执丢失：保留结果未知，查询原动作</a:t>
            </a:r>
          </a:p>
        </p:txBody>
      </p:sp>
      <p:sp>
        <p:nvSpPr>
          <p:cNvPr id="16" name="unknown-body">
            <a:extLst xmlns:a="http://schemas.openxmlformats.org/drawingml/2006/main">
              <a:ext uri="{FF2B5EF4-FFF2-40B4-BE49-F238E27FC236}">
                <a16:creationId xmlns:a16="http://schemas.microsoft.com/office/drawing/2014/main" id="{33759DD1-1EC0-476D-A0DD-8C038D3B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核对目标内容可读及版本有效后，再确认执行结果</a:t>
            </a:r>
          </a:p>
        </p:txBody>
      </p:sp>
      <p:sp>
        <p:nvSpPr>
          <p:cNvPr id="17" name="types">
            <a:extLst xmlns:a="http://schemas.openxmlformats.org/drawingml/2006/main">
              <a:ext uri="{FF2B5EF4-FFF2-40B4-BE49-F238E27FC236}">
                <a16:creationId xmlns:a16="http://schemas.microsoft.com/office/drawing/2014/main" id="{20755E42-B024-40D5-81FC-257D4D3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记忆类型说明内容含义；热、温、冷说明访问准备程度</a:t>
            </a:r>
          </a:p>
        </p:txBody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E36E92FE-8868-4089-9CA2-CEF34D4A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B64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B6423"/>
                </a:solidFill>
                <a:latin typeface="Microsoft YaHei"/>
                <a:ea typeface="Microsoft YaHei"/>
                <a:cs typeface="Microsoft YaHei"/>
              </a:rPr>
              <a:t>当前验证为本地文件缓存；生产物理存储迁移待真实联调</a:t>
            </a:r>
          </a:p>
        </p:txBody>
      </p:sp>
      <p:sp>
        <p:nvSpPr>
          <p:cNvPr id="24" name="operate-return-right">
            <a:extLst xmlns:a="http://schemas.openxmlformats.org/drawingml/2006/main">
              <a:ext uri="{FF2B5EF4-FFF2-40B4-BE49-F238E27FC236}">
                <a16:creationId xmlns:a16="http://schemas.microsoft.com/office/drawing/2014/main" id="{EC542D76-F597-4341-AD5E-BF3A3F9A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388" y="317182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B78"/>
            </a:solidFill>
            <a:prstDash val="dash"/>
          </a:ln>
        </p:spPr>
      </p:sp>
      <p:sp>
        <p:nvSpPr>
          <p:cNvPr id="25" name="operate-return-horizontal">
            <a:extLst xmlns:a="http://schemas.openxmlformats.org/drawingml/2006/main">
              <a:ext uri="{FF2B5EF4-FFF2-40B4-BE49-F238E27FC236}">
                <a16:creationId xmlns:a16="http://schemas.microsoft.com/office/drawing/2014/main" id="{6E38AFE4-3023-4C5A-8694-0B2B6EC1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038" y="3324225"/>
            <a:ext cx="851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B78"/>
            </a:solidFill>
            <a:prstDash val="dash"/>
          </a:ln>
        </p:spPr>
      </p:sp>
      <p:sp>
        <p:nvSpPr>
          <p:cNvPr id="26" name="operate-return-corner">
            <a:extLst xmlns:a="http://schemas.openxmlformats.org/drawingml/2006/main">
              <a:ext uri="{FF2B5EF4-FFF2-40B4-BE49-F238E27FC236}">
                <a16:creationId xmlns:a16="http://schemas.microsoft.com/office/drawing/2014/main" id="{D008F238-00C5-455A-A5FE-F0923D1E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561" y="33237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" name=""/>
          <p:cNvCxnSpPr>
            <a:stCxn xmlns:a="http://schemas.openxmlformats.org/drawingml/2006/main" id="26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824038" y="3171825"/>
            <a:ext cx="0" cy="15192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B78"/>
            </a:solidFill>
            <a:prstDash val="dash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634535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/>
          <p:cNvCxnSpPr>
            <a:stCxn xmlns:a="http://schemas.openxmlformats.org/drawingml/2006/main" id="15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9925050" y="4048125"/>
            <a:ext cx="0" cy="1857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B78"/>
            </a:solidFill>
            <a:prstDash val="dash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252663" y="4238626"/>
            <a:ext cx="766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B78"/>
            </a:solidFill>
            <a:prstDash val="dash"/>
          </a:ln>
        </p:spPr>
      </p:cxnSp>
      <p:cxnSp>
        <p:nvCxnSpPr>
          <p:cNvPr id="25" name=""/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2247900" y="4048125"/>
            <a:ext cx="0" cy="1857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B78"/>
            </a:solidFill>
            <a:prstDash val="dash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15250" y="34813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B78"/>
            </a:solidFill>
            <a:prstDash val="dash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86200" y="34813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BA7B57C2-227B-4303-8C85-992EEB16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总体架构与协作边界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3EB9F3-9873-48F4-B229-A8C28BA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逻辑责任与目标依赖；当前按单机统一服务装配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46A995EF-A857-4596-ABAD-3FAEFDCC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2442E91-FFCE-417F-A235-8004BEDC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3D7A517-1A3B-4EF4-B7B7-97828815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  <p:sp>
        <p:nvSpPr>
          <p:cNvPr id="6" name="entry">
            <a:extLst xmlns:a="http://schemas.openxmlformats.org/drawingml/2006/main">
              <a:ext uri="{FF2B5EF4-FFF2-40B4-BE49-F238E27FC236}">
                <a16:creationId xmlns:a16="http://schemas.microsoft.com/office/drawing/2014/main" id="{6101C78C-F58E-4E2C-AD83-752971EB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应用 / Agent / P4    ·    统一身份、范围与业务接入</a:t>
            </a:r>
          </a:p>
        </p:txBody>
      </p:sp>
      <p:sp>
        <p:nvSpPr>
          <p:cNvPr id="7" name="remember-domain">
            <a:extLst xmlns:a="http://schemas.openxmlformats.org/drawingml/2006/main">
              <a:ext uri="{FF2B5EF4-FFF2-40B4-BE49-F238E27FC236}">
                <a16:creationId xmlns:a16="http://schemas.microsoft.com/office/drawing/2014/main" id="{2D24FC8F-67E1-4416-B758-89DB9B26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2766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Remember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事实、来源与版本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生命周期与使用资格</a:t>
            </a:r>
          </a:p>
        </p:txBody>
      </p:sp>
      <p:sp>
        <p:nvSpPr>
          <p:cNvPr id="8" name="recall-domain">
            <a:extLst xmlns:a="http://schemas.openxmlformats.org/drawingml/2006/main">
              <a:ext uri="{FF2B5EF4-FFF2-40B4-BE49-F238E27FC236}">
                <a16:creationId xmlns:a16="http://schemas.microsoft.com/office/drawing/2014/main" id="{174653D8-0B6D-4177-9DC3-C43B4C92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32766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候选核验与精确读取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上下文交付</a:t>
            </a:r>
          </a:p>
        </p:txBody>
      </p:sp>
      <p:sp>
        <p:nvSpPr>
          <p:cNvPr id="9" name="operate-domain">
            <a:extLst xmlns:a="http://schemas.openxmlformats.org/drawingml/2006/main">
              <a:ext uri="{FF2B5EF4-FFF2-40B4-BE49-F238E27FC236}">
                <a16:creationId xmlns:a16="http://schemas.microsoft.com/office/drawing/2014/main" id="{C3C18E19-4580-4E92-8C2E-E8D48379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3314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Operate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存储 / 读取事件</a:t>
            </a:r>
          </a:p>
          <a:p xmlns:a="http://schemas.openxmlformats.org/drawingml/2006/main">
            <a:pPr algn="ctr">
              <a:def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热度、计划与动作</a:t>
            </a:r>
          </a:p>
        </p:txBody>
      </p:sp>
      <p:sp>
        <p:nvSpPr>
          <p:cNvPr id="14" name="event-route-from">
            <a:extLst xmlns:a="http://schemas.openxmlformats.org/drawingml/2006/main">
              <a:ext uri="{FF2B5EF4-FFF2-40B4-BE49-F238E27FC236}">
                <a16:creationId xmlns:a16="http://schemas.microsoft.com/office/drawing/2014/main" id="{A24C9BAF-6AB1-4CB8-A75C-58724C17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8" y="4233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event-route-to">
            <a:extLst xmlns:a="http://schemas.openxmlformats.org/drawingml/2006/main">
              <a:ext uri="{FF2B5EF4-FFF2-40B4-BE49-F238E27FC236}">
                <a16:creationId xmlns:a16="http://schemas.microsoft.com/office/drawing/2014/main" id="{BBAC61EB-7D28-4E66-BB37-6AEC29B1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4233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event-label">
            <a:extLst xmlns:a="http://schemas.openxmlformats.org/drawingml/2006/main">
              <a:ext uri="{FF2B5EF4-FFF2-40B4-BE49-F238E27FC236}">
                <a16:creationId xmlns:a16="http://schemas.microsoft.com/office/drawing/2014/main" id="{D52D5008-A694-4E14-A459-EFA5219D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7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7B78"/>
                </a:solidFill>
                <a:latin typeface="Microsoft YaHei"/>
                <a:ea typeface="Microsoft YaHei"/>
                <a:cs typeface="Microsoft YaHei"/>
              </a:rPr>
              <a:t>存储事件</a:t>
            </a:r>
          </a:p>
        </p:txBody>
      </p:sp>
      <p:sp>
        <p:nvSpPr>
          <p:cNvPr id="20" name="rf">
            <a:extLst xmlns:a="http://schemas.openxmlformats.org/drawingml/2006/main">
              <a:ext uri="{FF2B5EF4-FFF2-40B4-BE49-F238E27FC236}">
                <a16:creationId xmlns:a16="http://schemas.microsoft.com/office/drawing/2014/main" id="{74A3B722-98AA-4375-AF76-21B8CE71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5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RF 公共底座：事务、持久任务、可靠事件、授权、恢复与追踪</a:t>
            </a:r>
          </a:p>
        </p:txBody>
      </p:sp>
      <p:sp>
        <p:nvSpPr>
          <p:cNvPr id="21" name="provider">
            <a:extLst xmlns:a="http://schemas.openxmlformats.org/drawingml/2006/main">
              <a:ext uri="{FF2B5EF4-FFF2-40B4-BE49-F238E27FC236}">
                <a16:creationId xmlns:a16="http://schemas.microsoft.com/office/drawing/2014/main" id="{62EBCB0D-61D7-4D8A-B71A-CF830C44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FE7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Provider 边界：正文 / 向量 / 关系 / 约定执行能力，由 P2 等提供</a:t>
            </a:r>
          </a:p>
        </p:txBody>
      </p:sp>
      <p:sp>
        <p:nvSpPr>
          <p:cNvPr id="22" name="arch-limit">
            <a:extLst xmlns:a="http://schemas.openxmlformats.org/drawingml/2006/main">
              <a:ext uri="{FF2B5EF4-FFF2-40B4-BE49-F238E27FC236}">
                <a16:creationId xmlns:a16="http://schemas.microsoft.com/office/drawing/2014/main" id="{99C78897-5BCD-4308-9803-335000E7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决定业务使用资格；P2 / 执行端提供真实存储和执行证据</a:t>
            </a:r>
          </a:p>
        </p:txBody>
      </p:sp>
      <p:sp>
        <p:nvSpPr>
          <p:cNvPr id="31" name="header-branch-origin">
            <a:extLst xmlns:a="http://schemas.openxmlformats.org/drawingml/2006/main">
              <a:ext uri="{FF2B5EF4-FFF2-40B4-BE49-F238E27FC236}">
                <a16:creationId xmlns:a16="http://schemas.microsoft.com/office/drawing/2014/main" id="{EE461226-E757-4A27-B614-6897D96B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474" y="23902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header-left-horizontal">
            <a:extLst xmlns:a="http://schemas.openxmlformats.org/drawingml/2006/main">
              <a:ext uri="{FF2B5EF4-FFF2-40B4-BE49-F238E27FC236}">
                <a16:creationId xmlns:a16="http://schemas.microsoft.com/office/drawing/2014/main" id="{95DAEE38-5BA3-460A-89DA-115EA05A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52713"/>
            <a:ext cx="382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5D91"/>
            </a:solidFill>
            <a:prstDash val="solid"/>
          </a:ln>
        </p:spPr>
      </p:sp>
      <p:sp>
        <p:nvSpPr>
          <p:cNvPr id="34" name="header-left-corner">
            <a:extLst xmlns:a="http://schemas.openxmlformats.org/drawingml/2006/main">
              <a:ext uri="{FF2B5EF4-FFF2-40B4-BE49-F238E27FC236}">
                <a16:creationId xmlns:a16="http://schemas.microsoft.com/office/drawing/2014/main" id="{226F726D-F657-4298-BB9F-2552A7DD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424" y="265223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" name=""/>
          <p:cNvCxnSpPr>
            <a:stCxn xmlns:a="http://schemas.openxmlformats.org/drawingml/2006/main" id="3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247900" y="2653189"/>
            <a:ext cx="0" cy="26146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31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6076950" y="2391252"/>
            <a:ext cx="0" cy="52339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5D91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789208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270B7C1-A4AA-4ABD-B822-513597F2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关键设计选择与代价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02FF1F-AA5A-4578-AA24-B814DB51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主 ADR 状态：Proposed，待联合评审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717E6B02-B543-40CD-9009-3618BE76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B63A433-96A9-4F1F-8BD7-2AAD4694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73652C9-F139-4F95-98CC-15CAB11D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819400"/>
                <a:gridCol w="2476500"/>
                <a:gridCol w="3438525"/>
              </a:tblGrid>
              <a:tr h="5524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业务约束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当前选择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工程代价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验证方法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</a:tr>
              <a:tr h="10477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更正与删除</a:t>
                      </a:r>
                    </a:p>
                    <a:p>
                      <a:pPr algn="l"/>
                      <a:r>
                        <a:rPr sz="187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及时影响使用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事实与索引分开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 管资格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增加资格检查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与精确读取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保留旧索引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测试更正、删除、撤权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当前任务使用</a:t>
                      </a:r>
                    </a:p>
                    <a:p>
                      <a:pPr algn="l"/>
                      <a:r>
                        <a:rPr sz="187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不等待长文加工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前台可靠保存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后台持久加工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维护任务状态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租约与恢复规则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保存后中断 / 重启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迟到结果再复核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  <a:tr h="10477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跨流程协作</a:t>
                      </a:r>
                    </a:p>
                    <a:p>
                      <a:pPr algn="l"/>
                      <a:r>
                        <a:rPr sz="187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需要统一规则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三流程共享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可靠运行底座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公共契约维护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及系统回归成本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重复投递、竞争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原动作结果未知时核对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eployment-choice">
            <a:extLst xmlns:a="http://schemas.openxmlformats.org/drawingml/2006/main">
              <a:ext uri="{FF2B5EF4-FFF2-40B4-BE49-F238E27FC236}">
                <a16:creationId xmlns:a16="http://schemas.microsoft.com/office/drawing/2014/main" id="{988B64E0-4382-4979-8FB1-A4356867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当前以单机 Python / SQLite 验证一致性，多节点扩展另行验证</a:t>
            </a:r>
          </a:p>
        </p:txBody>
      </p:sp>
    </p:spTree>
    <p:extLst>
      <p:ext uri="{BB962C8B-B14F-4D97-AF65-F5344CB8AC3E}">
        <p14:creationId xmlns:p14="http://schemas.microsoft.com/office/powerpoint/2010/main" val="859370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1CC8324-1990-484B-9D3C-32405602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当前进度与已有证据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CFD1CF-3545-453F-A748-9FC3BA4D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证据截至 2026.09.26；本次汇报准备未重跑业务测试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FC27B739-53A5-43B7-BA49-0BA472C2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7134B81-18D1-4DC0-861B-3D58BC6F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914B5ED-DF9A-47B2-B98A-C8A76194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  <p:sp>
        <p:nvSpPr>
          <p:cNvPr id="6" name="status-headline">
            <a:extLst xmlns:a="http://schemas.openxmlformats.org/drawingml/2006/main">
              <a:ext uri="{FF2B5EF4-FFF2-40B4-BE49-F238E27FC236}">
                <a16:creationId xmlns:a16="http://schemas.microsoft.com/office/drawing/2014/main" id="{22A21EA7-BD8C-4ECD-81A6-43AE344C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已形成统一入口下可持续运行的本地服务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371725"/>
          <a:ext xmlns:a="http://schemas.openxmlformats.org/drawingml/2006/main" cx="109728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4257675"/>
                <a:gridCol w="4572000"/>
              </a:tblGrid>
              <a:tr h="4953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已有成果 / 记录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边界与剩余工作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方案设计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PRD、架构、流程与接口材料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 ADR 待联合评审，正式结论另记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实现与本地集成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统一服务、持续任务、恢复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HTTP / SQLite / 文件缓存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本地整合有证据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不能换算为完整产品验收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  <a:tr h="7620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真实依赖集成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BGE 有验证记录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外部适配有协议测试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LLM / P2 / Milvus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及生产物理执行待验证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产品验收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已有用例和工程证据基础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模型质量、性能、长稳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完整灾备与业务签收待完成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evidence-foot">
            <a:extLst xmlns:a="http://schemas.openxmlformats.org/drawingml/2006/main">
              <a:ext uri="{FF2B5EF4-FFF2-40B4-BE49-F238E27FC236}">
                <a16:creationId xmlns:a16="http://schemas.microsoft.com/office/drawing/2014/main" id="{3ABBC08D-E5C0-4CF2-B309-E1B99ABE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来源：9 月 26 日统一运行整合报告；未形成新的远端 CI 通过声明</a:t>
            </a:r>
          </a:p>
        </p:txBody>
      </p:sp>
    </p:spTree>
    <p:extLst>
      <p:ext uri="{BB962C8B-B14F-4D97-AF65-F5344CB8AC3E}">
        <p14:creationId xmlns:p14="http://schemas.microsoft.com/office/powerpoint/2010/main" val="15524426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4C914F0F-0F6D-4344-9C68-278A9A55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当前缺口及其影响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8696E5-530E-4B14-B0E1-358CF90D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按影响与关闭办法推进，外部依赖和内部实现分别负责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DB8112F4-7B7B-47BD-9A45-E2AF53EC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4D203F0-CD10-49E4-94A4-0BD60E44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772261-AEB6-46FE-99BC-B1803235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  <p:sp>
        <p:nvSpPr>
          <p:cNvPr id="6" name="risk-no-0">
            <a:extLst xmlns:a="http://schemas.openxmlformats.org/drawingml/2006/main">
              <a:ext uri="{FF2B5EF4-FFF2-40B4-BE49-F238E27FC236}">
                <a16:creationId xmlns:a16="http://schemas.microsoft.com/office/drawing/2014/main" id="{2833B8DA-A591-479C-922E-8C9D9BE4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81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risk-title-0">
            <a:extLst xmlns:a="http://schemas.openxmlformats.org/drawingml/2006/main">
              <a:ext uri="{FF2B5EF4-FFF2-40B4-BE49-F238E27FC236}">
                <a16:creationId xmlns:a16="http://schemas.microsoft.com/office/drawing/2014/main" id="{A233F805-4817-40EA-9113-29374BFA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28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真实依赖与物理执行</a:t>
            </a:r>
          </a:p>
        </p:txBody>
      </p:sp>
      <p:sp>
        <p:nvSpPr>
          <p:cNvPr id="8" name="risk-impact-0">
            <a:extLst xmlns:a="http://schemas.openxmlformats.org/drawingml/2006/main">
              <a:ext uri="{FF2B5EF4-FFF2-40B4-BE49-F238E27FC236}">
                <a16:creationId xmlns:a16="http://schemas.microsoft.com/office/drawing/2014/main" id="{B6307FE7-DB86-4923-B6FF-A74C4D40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6695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影响：真实环境完整性与执行效果尚缺证据</a:t>
            </a:r>
          </a:p>
        </p:txBody>
      </p:sp>
      <p:sp>
        <p:nvSpPr>
          <p:cNvPr id="9" name="risk-close-0">
            <a:extLst xmlns:a="http://schemas.openxmlformats.org/drawingml/2006/main">
              <a:ext uri="{FF2B5EF4-FFF2-40B4-BE49-F238E27FC236}">
                <a16:creationId xmlns:a16="http://schemas.microsoft.com/office/drawing/2014/main" id="{74B8F46D-1575-4787-89C8-CB44CC80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关闭：P3 适配 + P2 提供方联合用例及故障验证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6EE7C199-34B6-404B-ABD9-80CE48A8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38475"/>
            <a:ext cx="1002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11" name="risk-no-1">
            <a:extLst xmlns:a="http://schemas.openxmlformats.org/drawingml/2006/main">
              <a:ext uri="{FF2B5EF4-FFF2-40B4-BE49-F238E27FC236}">
                <a16:creationId xmlns:a16="http://schemas.microsoft.com/office/drawing/2014/main" id="{8AED4C0B-FD43-4E0F-BBA0-DD212B22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81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isk-title-1">
            <a:extLst xmlns:a="http://schemas.openxmlformats.org/drawingml/2006/main">
              <a:ext uri="{FF2B5EF4-FFF2-40B4-BE49-F238E27FC236}">
                <a16:creationId xmlns:a16="http://schemas.microsoft.com/office/drawing/2014/main" id="{4696C7B9-2444-474F-B7B7-13717AFC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真实模型质量</a:t>
            </a:r>
          </a:p>
        </p:txBody>
      </p:sp>
      <p:sp>
        <p:nvSpPr>
          <p:cNvPr id="13" name="risk-impact-1">
            <a:extLst xmlns:a="http://schemas.openxmlformats.org/drawingml/2006/main">
              <a:ext uri="{FF2B5EF4-FFF2-40B4-BE49-F238E27FC236}">
                <a16:creationId xmlns:a16="http://schemas.microsoft.com/office/drawing/2014/main" id="{09AA1F1F-1E29-4A30-8DE0-F726578D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2425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影响：抽取、冲突判断和压缩效果尚未验收</a:t>
            </a:r>
          </a:p>
        </p:txBody>
      </p:sp>
      <p:sp>
        <p:nvSpPr>
          <p:cNvPr id="14" name="risk-close-1">
            <a:extLst xmlns:a="http://schemas.openxmlformats.org/drawingml/2006/main">
              <a:ext uri="{FF2B5EF4-FFF2-40B4-BE49-F238E27FC236}">
                <a16:creationId xmlns:a16="http://schemas.microsoft.com/office/drawing/2014/main" id="{55AB9EF5-5CD8-446D-9268-2F57D873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862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关闭：流程开发与测试共同完成样本评测和缺陷回归</a:t>
            </a:r>
          </a:p>
        </p:txBody>
      </p:sp>
      <p:sp>
        <p:nvSpPr>
          <p:cNvPr id="15" name="divider">
            <a:extLst xmlns:a="http://schemas.openxmlformats.org/drawingml/2006/main">
              <a:ext uri="{FF2B5EF4-FFF2-40B4-BE49-F238E27FC236}">
                <a16:creationId xmlns:a16="http://schemas.microsoft.com/office/drawing/2014/main" id="{3D710E91-7079-4322-8659-CA57E7F4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95775"/>
            <a:ext cx="1002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16" name="risk-no-2">
            <a:extLst xmlns:a="http://schemas.openxmlformats.org/drawingml/2006/main">
              <a:ext uri="{FF2B5EF4-FFF2-40B4-BE49-F238E27FC236}">
                <a16:creationId xmlns:a16="http://schemas.microsoft.com/office/drawing/2014/main" id="{3D15375E-C543-4E87-95E5-993139DE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81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isk-title-2">
            <a:extLst xmlns:a="http://schemas.openxmlformats.org/drawingml/2006/main">
              <a:ext uri="{FF2B5EF4-FFF2-40B4-BE49-F238E27FC236}">
                <a16:creationId xmlns:a16="http://schemas.microsoft.com/office/drawing/2014/main" id="{F12424D5-3133-4904-B575-AD1E2AF7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部署、长稳与灾备</a:t>
            </a:r>
          </a:p>
        </p:txBody>
      </p:sp>
      <p:sp>
        <p:nvSpPr>
          <p:cNvPr id="18" name="risk-impact-2">
            <a:extLst xmlns:a="http://schemas.openxmlformats.org/drawingml/2006/main">
              <a:ext uri="{FF2B5EF4-FFF2-40B4-BE49-F238E27FC236}">
                <a16:creationId xmlns:a16="http://schemas.microsoft.com/office/drawing/2014/main" id="{76C03570-4AB6-4E8F-A179-822A931C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8155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影响：尚不能判断正式交付与运行条件达标</a:t>
            </a:r>
          </a:p>
        </p:txBody>
      </p:sp>
      <p:sp>
        <p:nvSpPr>
          <p:cNvPr id="19" name="risk-close-2">
            <a:extLst xmlns:a="http://schemas.openxmlformats.org/drawingml/2006/main">
              <a:ext uri="{FF2B5EF4-FFF2-40B4-BE49-F238E27FC236}">
                <a16:creationId xmlns:a16="http://schemas.microsoft.com/office/drawing/2014/main" id="{46E6AB54-C531-45B9-ADED-CD6C7D6C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435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关闭：部署负责人、测试与依赖方完成环境演练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6723A8E6-CA1D-4B59-ADBD-84CE4F80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B64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B6423"/>
                </a:solidFill>
                <a:latin typeface="Microsoft YaHei"/>
                <a:ea typeface="Microsoft YaHei"/>
                <a:cs typeface="Microsoft YaHei"/>
              </a:rPr>
              <a:t>会上落实：A 流程开发负责人、P2 环境与联系人、部署交接责任</a:t>
            </a:r>
          </a:p>
        </p:txBody>
      </p:sp>
    </p:spTree>
    <p:extLst>
      <p:ext uri="{BB962C8B-B14F-4D97-AF65-F5344CB8AC3E}">
        <p14:creationId xmlns:p14="http://schemas.microsoft.com/office/powerpoint/2010/main" val="540407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11F98F9-792C-463B-8B10-BE8331D3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下一阶段交付计划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D9267A-AEAE-42D4-A867-46B8C8CD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建议顺序；每项日历日期在会议中确认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05AC8779-3518-4585-BCCC-EB386410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2DC448-760E-4F15-BB89-F36E9956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0C8DBF-C3A6-42EB-8D4E-F0A8C5B1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971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781300"/>
                <a:gridCol w="2343150"/>
                <a:gridCol w="3181350"/>
              </a:tblGrid>
              <a:tr h="5048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阶段与交付物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牵头与协作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关键依赖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solidFill>
                      <a:srgbClr val="132B43"/>
                    </a:solidFill>
                  </a:tcPr>
                </a:tc>
              </a:tr>
              <a:tr h="866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 固定联调基线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版本、配置与样例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陈凯协调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各流程开发及测试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人员到位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接口与环境确认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成员可复现同一服务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依赖和缺口清楚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 真实业务闭环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保存到删除及调度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各流程开发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对应测试与 P2 方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真实模型与 P2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约定执行能力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正常及故障用例有证据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结果和恢复可核对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  <a:tr h="866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 质量与运行指标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评测和缺陷报告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测试牵头执行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开发修复问题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样本、负载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指标及候选版本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达到确认后的阈值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阻断问题关闭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 交付准备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部署、灾备与 UAT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 / 交付协调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部署、测试及调用方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前三阶段证据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正式运行环境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演练通过并业务签收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3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落实运行接手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189FCA68-5E01-4D4F-819B-CF8B9F0D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逐项记录：交付物、责任人、依赖、预计日期、验收标准</a:t>
            </a:r>
          </a:p>
        </p:txBody>
      </p:sp>
    </p:spTree>
    <p:extLst>
      <p:ext uri="{BB962C8B-B14F-4D97-AF65-F5344CB8AC3E}">
        <p14:creationId xmlns:p14="http://schemas.microsoft.com/office/powerpoint/2010/main" val="14052472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F1D21E9E-AAC8-42D0-B42D-31AB82CE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本次会议需要形成的结论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B8E4FC-BD8A-4ED9-88C6-21176185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讨论建议 10—15 分钟，逐项留下明确记录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55252791-F787-4467-8EA4-AE6D14BD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D859B1C-04E7-4D36-ABFF-C4DFD4B3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P3 方案评审  2026.09.29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A11BF3F-FB09-42F6-9CAA-62037475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E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sp>
        <p:nvSpPr>
          <p:cNvPr id="6" name="decision-no-0">
            <a:extLst xmlns:a="http://schemas.openxmlformats.org/drawingml/2006/main">
              <a:ext uri="{FF2B5EF4-FFF2-40B4-BE49-F238E27FC236}">
                <a16:creationId xmlns:a16="http://schemas.microsoft.com/office/drawing/2014/main" id="{F0433063-CAF4-4CB3-B9E4-8A1C5D6C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8286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decision-title-0">
            <a:extLst xmlns:a="http://schemas.openxmlformats.org/drawingml/2006/main">
              <a:ext uri="{FF2B5EF4-FFF2-40B4-BE49-F238E27FC236}">
                <a16:creationId xmlns:a16="http://schemas.microsoft.com/office/drawing/2014/main" id="{FDC1A17B-5BF1-4828-ACDD-2E4BD7E5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9070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目标与阶段范围</a:t>
            </a:r>
          </a:p>
        </p:txBody>
      </p:sp>
      <p:sp>
        <p:nvSpPr>
          <p:cNvPr id="8" name="decision-detail-0">
            <a:extLst xmlns:a="http://schemas.openxmlformats.org/drawingml/2006/main">
              <a:ext uri="{FF2B5EF4-FFF2-40B4-BE49-F238E27FC236}">
                <a16:creationId xmlns:a16="http://schemas.microsoft.com/office/drawing/2014/main" id="{3C304641-FC57-405E-B163-5795926B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907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确认基础调度和执行边界，明确后续能力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7C46274B-C1A7-439B-BC29-836D16E0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6222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10" name="decision-no-1">
            <a:extLst xmlns:a="http://schemas.openxmlformats.org/drawingml/2006/main">
              <a:ext uri="{FF2B5EF4-FFF2-40B4-BE49-F238E27FC236}">
                <a16:creationId xmlns:a16="http://schemas.microsoft.com/office/drawing/2014/main" id="{80833D1D-1BAD-43EE-B9B2-588FC09E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8286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decision-title-1">
            <a:extLst xmlns:a="http://schemas.openxmlformats.org/drawingml/2006/main">
              <a:ext uri="{FF2B5EF4-FFF2-40B4-BE49-F238E27FC236}">
                <a16:creationId xmlns:a16="http://schemas.microsoft.com/office/drawing/2014/main" id="{880018E1-3B2D-452D-986B-8B19062E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95575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方案与验证要求</a:t>
            </a:r>
          </a:p>
        </p:txBody>
      </p:sp>
      <p:sp>
        <p:nvSpPr>
          <p:cNvPr id="12" name="decision-detail-1">
            <a:extLst xmlns:a="http://schemas.openxmlformats.org/drawingml/2006/main">
              <a:ext uri="{FF2B5EF4-FFF2-40B4-BE49-F238E27FC236}">
                <a16:creationId xmlns:a16="http://schemas.microsoft.com/office/drawing/2014/main" id="{5FE4DD1C-E3A2-4408-85DA-0EF2ED5F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95575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记录设计取舍的结论、异议和补证任务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4ECF7A8B-BC80-45D9-995A-A2AFC2B8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67100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14" name="decision-no-2">
            <a:extLst xmlns:a="http://schemas.openxmlformats.org/drawingml/2006/main">
              <a:ext uri="{FF2B5EF4-FFF2-40B4-BE49-F238E27FC236}">
                <a16:creationId xmlns:a16="http://schemas.microsoft.com/office/drawing/2014/main" id="{59424B19-B4EF-402F-A4BB-6C10F22E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8286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decision-title-2">
            <a:extLst xmlns:a="http://schemas.openxmlformats.org/drawingml/2006/main">
              <a:ext uri="{FF2B5EF4-FFF2-40B4-BE49-F238E27FC236}">
                <a16:creationId xmlns:a16="http://schemas.microsoft.com/office/drawing/2014/main" id="{61DDCA70-3B58-4A2F-AF94-DDEFB3EC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045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真实联调优先级</a:t>
            </a:r>
          </a:p>
        </p:txBody>
      </p:sp>
      <p:sp>
        <p:nvSpPr>
          <p:cNvPr id="16" name="decision-detail-2">
            <a:extLst xmlns:a="http://schemas.openxmlformats.org/drawingml/2006/main">
              <a:ext uri="{FF2B5EF4-FFF2-40B4-BE49-F238E27FC236}">
                <a16:creationId xmlns:a16="http://schemas.microsoft.com/office/drawing/2014/main" id="{5B757D39-ED7A-4C84-94DE-BDBB8D8E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004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确定第一条链路、依赖提供方和接口缺口</a:t>
            </a:r>
          </a:p>
        </p:txBody>
      </p:sp>
      <p:sp>
        <p:nvSpPr>
          <p:cNvPr id="17" name="divider">
            <a:extLst xmlns:a="http://schemas.openxmlformats.org/drawingml/2006/main">
              <a:ext uri="{FF2B5EF4-FFF2-40B4-BE49-F238E27FC236}">
                <a16:creationId xmlns:a16="http://schemas.microsoft.com/office/drawing/2014/main" id="{070C6A72-5B6C-457E-9CA6-030D049A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7197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E7"/>
            </a:solidFill>
          </a:ln>
        </p:spPr>
      </p:sp>
      <p:sp>
        <p:nvSpPr>
          <p:cNvPr id="18" name="decision-no-3">
            <a:extLst xmlns:a="http://schemas.openxmlformats.org/drawingml/2006/main">
              <a:ext uri="{FF2B5EF4-FFF2-40B4-BE49-F238E27FC236}">
                <a16:creationId xmlns:a16="http://schemas.microsoft.com/office/drawing/2014/main" id="{A7D77203-9752-4EC3-A924-35832F8E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8286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5D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decision-title-3">
            <a:extLst xmlns:a="http://schemas.openxmlformats.org/drawingml/2006/main">
              <a:ext uri="{FF2B5EF4-FFF2-40B4-BE49-F238E27FC236}">
                <a16:creationId xmlns:a16="http://schemas.microsoft.com/office/drawing/2014/main" id="{FFBDA692-3580-45C6-AFB4-8E624E11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05325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责任、日期与验收</a:t>
            </a:r>
          </a:p>
        </p:txBody>
      </p:sp>
      <p:sp>
        <p:nvSpPr>
          <p:cNvPr id="20" name="decision-detail-3">
            <a:extLst xmlns:a="http://schemas.openxmlformats.org/drawingml/2006/main">
              <a:ext uri="{FF2B5EF4-FFF2-40B4-BE49-F238E27FC236}">
                <a16:creationId xmlns:a16="http://schemas.microsoft.com/office/drawing/2014/main" id="{B5D6327E-3152-4683-8547-8A1134E5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05325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32B43"/>
                </a:solidFill>
                <a:latin typeface="Microsoft YaHei"/>
                <a:ea typeface="Microsoft YaHei"/>
                <a:cs typeface="Microsoft YaHei"/>
              </a:rPr>
              <a:t>落实负责人、交付日期和通过标准</a:t>
            </a:r>
          </a:p>
        </p:txBody>
      </p:sp>
      <p:sp>
        <p:nvSpPr>
          <p:cNvPr id="21" name="takeaway">
            <a:extLst xmlns:a="http://schemas.openxmlformats.org/drawingml/2006/main">
              <a:ext uri="{FF2B5EF4-FFF2-40B4-BE49-F238E27FC236}">
                <a16:creationId xmlns:a16="http://schemas.microsoft.com/office/drawing/2014/main" id="{B9FC9CCB-6823-48C9-829B-93C1965C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7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B78"/>
                </a:solidFill>
                <a:latin typeface="Microsoft YaHei"/>
                <a:ea typeface="Microsoft YaHei"/>
                <a:cs typeface="Microsoft YaHei"/>
              </a:rPr>
              <a:t>会议记录：决议、责任人、交付日期、验收证据、未决依赖</a:t>
            </a:r>
          </a:p>
        </p:txBody>
      </p:sp>
    </p:spTree>
    <p:extLst>
      <p:ext uri="{BB962C8B-B14F-4D97-AF65-F5344CB8AC3E}">
        <p14:creationId xmlns:p14="http://schemas.microsoft.com/office/powerpoint/2010/main" val="30007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2026-09-28T04:14:36.8230000Z</dcterms:created>
  <dcterms:modified xsi:type="dcterms:W3CDTF">2026-09-28T04:14:36.8230000Z</dcterms:modified>
</coreProperties>
</file>