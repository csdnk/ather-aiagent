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998f7c3874fb3" /><Relationship Type="http://schemas.openxmlformats.org/officeDocument/2006/relationships/extended-properties" Target="/docProps/app.xml" Id="R6f280b0f53e643d1" /><Relationship Type="http://schemas.openxmlformats.org/officeDocument/2006/relationships/officeDocument" Target="/ppt/presentation.xml" Id="R0b2bdf9f573e44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f2ca9aa4c141b5"/>
  </p:sldMasterIdLst>
  <p:notesMasterIdLst>
    <p:notesMasterId xmlns:r="http://schemas.openxmlformats.org/officeDocument/2006/relationships" r:id="Rac103333a5014c50"/>
  </p:notesMasterIdLst>
  <p:sldIdLst>
    <p:sldId xmlns:r="http://schemas.openxmlformats.org/officeDocument/2006/relationships" id="256" r:id="R749366d0182a448b"/>
    <p:sldId xmlns:r="http://schemas.openxmlformats.org/officeDocument/2006/relationships" id="257" r:id="R709fc103caae4fcd"/>
    <p:sldId xmlns:r="http://schemas.openxmlformats.org/officeDocument/2006/relationships" id="258" r:id="R0b9707fea45c4c49"/>
    <p:sldId xmlns:r="http://schemas.openxmlformats.org/officeDocument/2006/relationships" id="259" r:id="Rc5ac4667e1684681"/>
    <p:sldId xmlns:r="http://schemas.openxmlformats.org/officeDocument/2006/relationships" id="260" r:id="Re838edb4e6b14cb6"/>
    <p:sldId xmlns:r="http://schemas.openxmlformats.org/officeDocument/2006/relationships" id="261" r:id="R775d2c659b6d4093"/>
    <p:sldId xmlns:r="http://schemas.openxmlformats.org/officeDocument/2006/relationships" id="262" r:id="R66ea831fb310417b"/>
    <p:sldId xmlns:r="http://schemas.openxmlformats.org/officeDocument/2006/relationships" id="263" r:id="R64bd9cc775404aff"/>
    <p:sldId xmlns:r="http://schemas.openxmlformats.org/officeDocument/2006/relationships" id="264" r:id="R4a00bf7add88497e"/>
    <p:sldId xmlns:r="http://schemas.openxmlformats.org/officeDocument/2006/relationships" id="265" r:id="R395d584a6fef43bd"/>
    <p:sldId xmlns:r="http://schemas.openxmlformats.org/officeDocument/2006/relationships" id="266" r:id="R4828d8f5d739480e"/>
    <p:sldId xmlns:r="http://schemas.openxmlformats.org/officeDocument/2006/relationships" id="267" r:id="Rc455c87d48c74b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bb90c886564050" /><Relationship Type="http://schemas.openxmlformats.org/officeDocument/2006/relationships/slideMaster" Target="/ppt/slideMasters/slideMaster1.xml" Id="Rc2f2ca9aa4c141b5" /><Relationship Type="http://schemas.openxmlformats.org/officeDocument/2006/relationships/notesMaster" Target="/ppt/notesMasters/notesMaster1.xml" Id="Rac103333a5014c50" /><Relationship Type="http://schemas.openxmlformats.org/officeDocument/2006/relationships/presProps" Target="/ppt/presProps.xml" Id="R7800a883ddc746e6" /><Relationship Type="http://schemas.openxmlformats.org/officeDocument/2006/relationships/tableStyles" Target="/ppt/tableStyles.xml" Id="Rc88e055bc77b401d" /><Relationship Type="http://schemas.openxmlformats.org/officeDocument/2006/relationships/slide" Target="/ppt/slides/slide1.xml" Id="R749366d0182a448b" /><Relationship Type="http://schemas.openxmlformats.org/officeDocument/2006/relationships/slide" Target="/ppt/slides/slide2.xml" Id="R709fc103caae4fcd" /><Relationship Type="http://schemas.openxmlformats.org/officeDocument/2006/relationships/slide" Target="/ppt/slides/slide3.xml" Id="R0b9707fea45c4c49" /><Relationship Type="http://schemas.openxmlformats.org/officeDocument/2006/relationships/slide" Target="/ppt/slides/slide4.xml" Id="Rc5ac4667e1684681" /><Relationship Type="http://schemas.openxmlformats.org/officeDocument/2006/relationships/slide" Target="/ppt/slides/slide5.xml" Id="Re838edb4e6b14cb6" /><Relationship Type="http://schemas.openxmlformats.org/officeDocument/2006/relationships/slide" Target="/ppt/slides/slide6.xml" Id="R775d2c659b6d4093" /><Relationship Type="http://schemas.openxmlformats.org/officeDocument/2006/relationships/slide" Target="/ppt/slides/slide7.xml" Id="R66ea831fb310417b" /><Relationship Type="http://schemas.openxmlformats.org/officeDocument/2006/relationships/slide" Target="/ppt/slides/slide8.xml" Id="R64bd9cc775404aff" /><Relationship Type="http://schemas.openxmlformats.org/officeDocument/2006/relationships/slide" Target="/ppt/slides/slide9.xml" Id="R4a00bf7add88497e" /><Relationship Type="http://schemas.openxmlformats.org/officeDocument/2006/relationships/slide" Target="/ppt/slides/slide10.xml" Id="R395d584a6fef43bd" /><Relationship Type="http://schemas.openxmlformats.org/officeDocument/2006/relationships/slide" Target="/ppt/slides/slide11.xml" Id="R4828d8f5d739480e" /><Relationship Type="http://schemas.openxmlformats.org/officeDocument/2006/relationships/slide" Target="/ppt/slides/slide12.xml" Id="Rc455c87d48c74b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8e5699cc2b42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66e3fc9b664a8b" /><Relationship Type="http://schemas.openxmlformats.org/officeDocument/2006/relationships/notesMaster" Target="/ppt/notesMasters/notesMaster1.xml" Id="R74b5505205a441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2f20539dd449d" /><Relationship Type="http://schemas.openxmlformats.org/officeDocument/2006/relationships/notesMaster" Target="/ppt/notesMasters/notesMaster1.xml" Id="R276d2fb4176c49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858a876324725" /><Relationship Type="http://schemas.openxmlformats.org/officeDocument/2006/relationships/notesMaster" Target="/ppt/notesMasters/notesMaster1.xml" Id="R86e5f85558474f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15bd8a624345b4" /><Relationship Type="http://schemas.openxmlformats.org/officeDocument/2006/relationships/notesMaster" Target="/ppt/notesMasters/notesMaster1.xml" Id="Rb80431cf7c89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8e0759743c4811" /><Relationship Type="http://schemas.openxmlformats.org/officeDocument/2006/relationships/notesMaster" Target="/ppt/notesMasters/notesMaster1.xml" Id="Rf4e2f6f44b294a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d3fe14d15c48f8" /><Relationship Type="http://schemas.openxmlformats.org/officeDocument/2006/relationships/notesMaster" Target="/ppt/notesMasters/notesMaster1.xml" Id="R9fabeaa17e7f4e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571f0aee55468f" /><Relationship Type="http://schemas.openxmlformats.org/officeDocument/2006/relationships/notesMaster" Target="/ppt/notesMasters/notesMaster1.xml" Id="R5f0003fe7dd648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c8d5fd5a904ea2" /><Relationship Type="http://schemas.openxmlformats.org/officeDocument/2006/relationships/notesMaster" Target="/ppt/notesMasters/notesMaster1.xml" Id="R6d1ab15c0d7d41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28b92329644595" /><Relationship Type="http://schemas.openxmlformats.org/officeDocument/2006/relationships/notesMaster" Target="/ppt/notesMasters/notesMaster1.xml" Id="Ra11dd792074346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9e8f6d15f14f0d" /><Relationship Type="http://schemas.openxmlformats.org/officeDocument/2006/relationships/notesMaster" Target="/ppt/notesMasters/notesMaster1.xml" Id="R04d7d1dd437b4b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22d1ad3ecf43ba" /><Relationship Type="http://schemas.openxmlformats.org/officeDocument/2006/relationships/notesMaster" Target="/ppt/notesMasters/notesMaster1.xml" Id="R23464094a3a942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19a743af7d4905" /><Relationship Type="http://schemas.openxmlformats.org/officeDocument/2006/relationships/notesMaster" Target="/ppt/notesMasters/notesMaster1.xml" Id="Ra0d2bc84982040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1分钟。先分别讲P2和P3为谁解决什么问题。P2聚焦E1/E2/E3，E4至E6仅调研。P3为调用方提供Remember与统一Recall，Operate内部运行。两周整改不是承诺全部生产开发完成。</a:t>
            </a:r>
          </a:p>
          <a:p xmlns:a="http://schemas.openxmlformats.org/drawingml/2006/main">
            <a:r>
              <a:t>来源（项目根目录相对路径）：项目总览/项目目标与范围.md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1分钟。用户是应用、Agent与P4接入方。没有独立业务页面不影响Mock：使用接入方替身展示请求和结果。对方看到的价值是跨会话可靠复用，而不是数据库字段本身。</a:t>
            </a:r>
          </a:p>
          <a:p xmlns:a="http://schemas.openxmlformats.org/drawingml/2006/main">
            <a:r>
              <a:t>来源（项目根目录相对路径）：EPIC/EP-P3-01.md；EPIC/EP-P3-03.md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1分钟。说明saved和ready，以及accepted和succeeded分别属于不同状态。选择预算更正与回执丢失作为两个异常例子。</a:t>
            </a:r>
          </a:p>
          <a:p xmlns:a="http://schemas.openxmlformats.org/drawingml/2006/main">
            <a:r>
              <a:t>来源（项目根目录相对路径）：架构设计/总体架构与流程.md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2分钟。图中为目标能力关系，不是已联通拓扑。当前P3通过SQLite和本地Executor运行，真实P2尚未接入。Graph/Fusion远程服务挂载存在缺口。P1提供约定持久与物理执行能力，冷热范围需联合决议。</a:t>
            </a:r>
          </a:p>
          <a:p xmlns:a="http://schemas.openxmlformats.org/drawingml/2006/main">
            <a:r>
              <a:t>来源（项目根目录相对路径）：架构设计/总体架构与流程.md；AgentJYS-main/docs/p3/README.md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1分钟。这些是逻辑模块，不必等于独立微服务。跨模块消费能力，不直接共享内部表的所有权。角色不评价人员能力。</a:t>
            </a:r>
          </a:p>
          <a:p xmlns:a="http://schemas.openxmlformats.org/drawingml/2006/main">
            <a:r>
              <a:t>来源（项目根目录相对路径）：架构设计/总体架构与流程.md；ADR版本/ADR-P2P3-001_总体架构决策.md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1分钟。评审聚合为14项，保留原28个工作Epic映射。预测是P1后续，原型和实现未完成，不算本轮关键Epic完成。可以随机点开EP-P3-03，用TC-P3-04/05/09追到代码与证据。</a:t>
            </a:r>
          </a:p>
          <a:p xmlns:a="http://schemas.openxmlformats.org/drawingml/2006/main">
            <a:r>
              <a:t>来源（项目根目录相对路径）：EPIC/README.md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1分钟。不报虚假的整体完成百分比。SQLite逐条向量检索不是P2 ANN。本地文件目录分层不是物理介质效果。旧Web不算已经接通新Host。</a:t>
            </a:r>
          </a:p>
          <a:p xmlns:a="http://schemas.openxmlformats.org/drawingml/2006/main">
            <a:r>
              <a:t>来源（项目根目录相对路径）：测试与验收/代码核查_2026-09-19/当前实现程度.md；测试与验收/TCR当前证据.md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2分钟。可压缩为S01和S06各一条主线，其余供抽查。S08完整冲突组是设计目标，后端目前尚未实现。Mock按字符预算，后端按字节，目标模型tokenizer另测。</a:t>
            </a:r>
          </a:p>
          <a:p xmlns:a="http://schemas.openxmlformats.org/drawingml/2006/main">
            <a:r>
              <a:t>来源（项目根目录相对路径）：原型Mock/index.html；原型Mock/p2.html；测试与验收/TCR当前证据.md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1分钟。性能后置符合当前先搭系统的工程顺序，但不代表可以跳过G4。阈值从合同与批准需求确认，当前未冻结的不能凭空给数。</a:t>
            </a:r>
          </a:p>
          <a:p xmlns:a="http://schemas.openxmlformats.org/drawingml/2006/main">
            <a:r>
              <a:t>来源（项目根目录相对路径）：测试与验收/TC目录.md；测试与验收/UAT计划与记录.md；测试与验收/TCR当前证据.md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1分钟。建议两周展示已验证本地协议闭环，同时准备物理最小路径联调与工作量。是否包含真实物理层和收益指标由联合评审批准，不能把提案当已变更。</a:t>
            </a:r>
          </a:p>
          <a:p xmlns:a="http://schemas.openxmlformats.org/drawingml/2006/main">
            <a:r>
              <a:t>来源（项目根目录相对路径）：甲方整改答复/冷热分层范围决策单.md；ADR版本/ADR-P2P3-001_总体架构决策.md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1分钟。当前G1/G2材料已补但未获联合Review通过。G3仅有P3本地部分证据，G4/G5未完成。工程批次编号与甲方Gate不同，不直接换算。</a:t>
            </a:r>
          </a:p>
          <a:p xmlns:a="http://schemas.openxmlformats.org/drawingml/2006/main">
            <a:r>
              <a:t>来源（项目根目录相对路径）：里程碑与交付/Gate与两周计划.md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1分钟。十个相对工作单元需团队排入日历，不单方面修改原MVP日期。本次已补齐评审材料和本地检查，联合评审与剩余工程按证据推进。</a:t>
            </a:r>
          </a:p>
          <a:p xmlns:a="http://schemas.openxmlformats.org/drawingml/2006/main">
            <a:r>
              <a:t>来源（项目根目录相对路径）：里程碑与交付/Gate与两周计划.md；甲方整改答复/整改答复与关闭台账.md</a:t>
            </a:r>
          </a:p>
          <a:p xmlns:a="http://schemas.openxmlformats.org/drawingml/2006/main">
            <a:r>
              <a:t>甲方依据：南信大_P2_P3_项目阶段评审及两周整改要求.docx，2026-09-17。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9a00d4da641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a83f9f2a474740" /><Relationship Type="http://schemas.openxmlformats.org/officeDocument/2006/relationships/slideLayout" Target="/ppt/slideLayouts/slideLayout1.xml" Id="Ra6403f08b2cd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403f08b2cd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5ed9a3a8c4822" /><Relationship Type="http://schemas.openxmlformats.org/officeDocument/2006/relationships/notesSlide" Target="/ppt/notesSlides/notesSlide1.xml" Id="R30776a2f10d045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81488f576479d" /><Relationship Type="http://schemas.openxmlformats.org/officeDocument/2006/relationships/notesSlide" Target="/ppt/notesSlides/notesSlide2.xml" Id="Rb24efb7282b2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f37976f784371" /><Relationship Type="http://schemas.openxmlformats.org/officeDocument/2006/relationships/notesSlide" Target="/ppt/notesSlides/notesSlide3.xml" Id="Rfdec23ff37bb48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0907a1b234909" /><Relationship Type="http://schemas.openxmlformats.org/officeDocument/2006/relationships/notesSlide" Target="/ppt/notesSlides/notesSlide4.xml" Id="R0506d75307774f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78be0ac094d4f" /><Relationship Type="http://schemas.openxmlformats.org/officeDocument/2006/relationships/notesSlide" Target="/ppt/notesSlides/notesSlide5.xml" Id="Rebd3b38824f542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c7c0d94b64cc5" /><Relationship Type="http://schemas.openxmlformats.org/officeDocument/2006/relationships/notesSlide" Target="/ppt/notesSlides/notesSlide6.xml" Id="R4bd3cf66a0e743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3c0038d38409b" /><Relationship Type="http://schemas.openxmlformats.org/officeDocument/2006/relationships/notesSlide" Target="/ppt/notesSlides/notesSlide7.xml" Id="Re181a203b41647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19c8433c74f08" /><Relationship Type="http://schemas.openxmlformats.org/officeDocument/2006/relationships/notesSlide" Target="/ppt/notesSlides/notesSlide8.xml" Id="R0c522b9a863149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7fd3aae714c08" /><Relationship Type="http://schemas.openxmlformats.org/officeDocument/2006/relationships/notesSlide" Target="/ppt/notesSlides/notesSlide9.xml" Id="R478360378e0a4b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555e1200d4b95" /><Relationship Type="http://schemas.openxmlformats.org/officeDocument/2006/relationships/notesSlide" Target="/ppt/notesSlides/notesSlide10.xml" Id="Rda410921240e49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5747715a94462" /><Relationship Type="http://schemas.openxmlformats.org/officeDocument/2006/relationships/notesSlide" Target="/ppt/notesSlides/notesSlide11.xml" Id="R469a315b837642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c7f8db3624875" /><Relationship Type="http://schemas.openxmlformats.org/officeDocument/2006/relationships/notesSlide" Target="/ppt/notesSlides/notesSlide12.xml" Id="Rdec193123a8f45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4BA2B-D2C1-4357-9DB4-6C82D2FF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47318-FF45-44BE-A29E-78261124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P2 / P3 项目目标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4F74F-4AEF-418F-9A9F-977EBCD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可靠保存、准确取用、可追溯执行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802BF-667A-4D8A-ADF2-C82E6196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ED9FF-8569-496B-8C87-F9F360EA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P2 为应用提供对象、向量与图的统一能力边界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24C0C-B0A3-44A9-91FE-F3F8A481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804C4-CA4E-4211-964F-149AAEBB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P3 让 Agent 跨会话使用有效记忆，处理更正、删除与故障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6982B-3939-4331-940B-C075DEAE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CE148-C968-4640-A4B6-A8D44110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本次交付：统一评审体系和现有运行证据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4D419-29E8-4F46-A0CA-71E6409A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8F707-79C5-4157-A448-87DD10AA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当前状态：联合评审稿，未取得 Gate 通过或 UAT 签收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B03EE-F7E1-4FF6-8564-0BE77A78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0111A-3C9D-4119-B11E-BF9BEE08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487608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7A3EF-2137-4366-80F6-76AFAC1E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E5467-9E60-41AA-8E85-0BF16361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用户及业务场景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2C77D-0D39-456A-AEB9-555B561F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预算从 20 万元更正为 15 万元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50283-F588-4A55-8901-6B90DE1E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334CB-1AE2-4236-83B6-A2857DEC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会话一保存预算与每周五汇报安排，立即查看当前记忆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A225E-1A6E-4DDF-B57B-CFA397B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532EF-38D1-46C0-A33E-D32DFB75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后台完成加工后，会话二可以召回同一约束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12821-FC78-4ADE-A1DE-5A1E425C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AAB9B-2A75-41C3-AAA8-321B45D6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更正后使用新预算，旧候选和旧结果都需要复核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9114B-75D2-49F6-9558-022FF4E2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00FCE-6681-416D-9FE1-037457CB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撤回来源后，迟到任务不能重新生成可交付的旧事实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B0088-96CF-4074-A5D2-3DDF07CA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E2BD6-046E-4A4F-8EB9-C20512A5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080999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4F54C-CA86-410E-8F54-591EB2EC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67678-E10F-46BE-A5EE-A1009E1D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整体业务流程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F8F6B-248F-44B9-B45E-99B3DF83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事实、检索资格和执行结果分别确认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34689-C4EA-4D32-9A94-D8584F4D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7A400-2EDF-46BF-A014-058B66BD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Remember：可靠保存，后台加工与投影，再授予长期资格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69212-EE60-4851-85B8-CB26B28D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13E27-E88B-4CA2-B166-52EFE431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Recall：选择来源，核验候选与正文，按预算交付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BE74B-F746-4340-87CF-72533D3C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F5C8F-96EE-4A95-BFE0-146CACD7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Operate：消费事件，判断动作，核对效果，记录当前观测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DEAD3-622D-48BB-875F-ED02FCA8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EE263-8048-489A-AAE0-57EA3250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异常：保存与就绪分开，空与故障分开，Unknown 查询原动作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8EA31-23DA-4E1B-B9DD-CB857A5A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835FF-152B-42F4-8E6A-0D5EC1A6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042716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F1644-2FEA-4619-978F-3A476748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A993-4C55-4267-9E3F-E58526C2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总体技术架构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0575E-C46A-4048-9949-3DB80A04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P3 管理业务资格，P2 提供三态与控制能力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A3B4E-2BB0-46B3-BD82-155778CA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3"/>
          </a:solidFill>
          <a:ln xmlns:a="http://schemas.openxmlformats.org/drawingml/2006/main" w="9525">
            <a:solidFill>
              <a:srgbClr val="7F9A8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82ED3-A84B-494F-B27D-D4D247C2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应用 / Agent / P4：可信请求与业务结果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26F67-6A3E-4140-A7F6-3F7F713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194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DED91-13A9-470E-BF84-AD89F75C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3528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3"/>
          </a:solidFill>
          <a:ln xmlns:a="http://schemas.openxmlformats.org/drawingml/2006/main" w="9525">
            <a:solidFill>
              <a:srgbClr val="7F9A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DCCD4-A0C1-46BD-AE33-0934247D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304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Remember</a:t>
            </a:r>
          </a:p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事实、版本、就绪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BB2F5-3B0F-420F-8BF3-ADD54D6E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81350"/>
            <a:ext cx="33528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3"/>
          </a:solidFill>
          <a:ln xmlns:a="http://schemas.openxmlformats.org/drawingml/2006/main" w="9525">
            <a:solidFill>
              <a:srgbClr val="7F9A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B76B2-EF23-4286-901B-5102BF9E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304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候选核验、Context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32A57-BFB3-4B7A-AD6C-19631836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33528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3"/>
          </a:solidFill>
          <a:ln xmlns:a="http://schemas.openxmlformats.org/drawingml/2006/main" w="9525">
            <a:solidFill>
              <a:srgbClr val="7F9A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610AA-7144-4C6C-94D1-BC932943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304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Operate</a:t>
            </a:r>
          </a:p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事件、动作、核对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2E0C3-D9C4-4AFA-AE66-5CB06680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公共基础：事务、任务、授权、Trace、恢复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72FA2-5536-435E-8864-F28DC65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86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8602B"/>
                </a:solidFill>
                <a:latin typeface="Microsoft YaHei"/>
                <a:ea typeface="Microsoft YaHei"/>
                <a:cs typeface="Microsoft YaHei"/>
              </a:rPr>
              <a:t>↓ Provider 适配与能力交接（真实链路待联调）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47BB0-1199-43A0-A8CD-CDB125CB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3"/>
          </a:solidFill>
          <a:ln xmlns:a="http://schemas.openxmlformats.org/drawingml/2006/main" w="9525">
            <a:solidFill>
              <a:srgbClr val="7F9A8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39539-ECD1-4527-ABC8-25DA1D64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P2：E2 对象  /  E1 向量  /  E3 图  /  控制与内省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A8FBC-1387-4C2A-964B-513DCF02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P1：持久底座与约定物理执行能力；当前本地替身不证明物理分层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C0469-FCC6-4CD1-8A15-FA0D72D8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9B57A-14D8-4859-B3FA-DFE42CA0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294176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BFF78-B928-4574-A9D6-EC2B811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F4F98-4E7B-4828-83B8-ED84000B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模块与服务关系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C83C8-9A02-4A5C-818B-8D3417C6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每个结果有明确的权威来源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C4BBA-8932-4EDD-9574-0D94C0B6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7DD00-7876-4FCC-9A06-73ED3290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Remember / B：事实、来源、版本、生命周期和就绪资格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E2B5F-8FE4-4CBB-AB8B-59DADA83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500C0-E9E5-40FB-9DED-BEFA0BE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Recall / A：查询、真实向量、候选核验与 Context 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C77C0-3B75-41FB-8E4A-311D575F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72EF8-AE15-4082-8888-CFFF7F7D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Operate / C：事件、热度、计划、动作与 Unknown 收敛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F6DBF-7B68-44D3-94C3-143A664D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B3ECC-5CD8-4FEA-809A-FF067D2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公共基础 / RF：事务、持久任务、授权、Trace 与恢复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A0C0B-2051-47E7-9CF3-039C2360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545A7-F3AE-4A85-87BF-B084CF2E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P2：对象正文、索引候选、图关系、Segment 与路由观测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5B425-1097-4E35-8D3C-7B5DC2B6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BE425-085F-4AF6-9E2E-98CC3FFC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186210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DDC7F-89DD-4909-A92A-1035C282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EDA4D-AE84-4E9E-B221-FC3EEFF6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Epic 全景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083E1-8939-408B-A842-E55A8905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从关键业务追到五件套和测试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914AC-7BA3-4C1B-985A-6F86DD7F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BDBA9-D5DF-47C4-BCB4-2997E6FB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P3 01–03：可靠入口、加工就绪、更正与生命周期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6ADE-715A-4298-AEDE-35CA91FF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21244-119A-4C73-97DC-CBC25C94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P3 04–06：统一检索、Context、隔离追踪与恢复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6F26A-6F9D-4E2C-998B-ACDA304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A31B4-5BA5-4039-B2A5-9136C590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P3 07–10：基础调度、执行确认、后续预测、集成交付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82AB3-3344-4F57-BEB1-2E2C736C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E67B9-5D9D-4BDE-A013-86A73535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P2 01–04：对象、向量、图、控制与恢复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7F3CF-1269-41F7-990B-94305DEE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997DF-C4DF-491E-BF97-A7B2F2C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每个 Epic 链接 Story / Mock / Flow / Architecture /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51FF9-9B9A-4AE2-9CF9-8828EABE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B83A2-8785-41E8-B61A-D2587F58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548377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16924-5F48-45B8-BDD9-3994041B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98B36-7962-4E3B-923C-E4B78799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当前完成情况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5A026-E8C5-4569-B923-863B16AC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P3 已形成可运行的本地后端原型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20B49-2AF0-4B1A-B5B5-CC41E850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35E25-C960-4E21-AFA6-DE6CB74C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已有：持久基础、三流程、状态核验、隔离、Trace 和重启恢复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F285E-0534-49FB-B10A-4431CD7D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39B68-4727-4001-BF97-2C501284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真实 BGE ONNX 已有独立推理与模型绑定验证记录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7B816-71DA-4BE3-AB5B-6CF93CD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827AC-5D33-482D-A1B1-42DDBB7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待补：语义提取、文档压缩、冲突组、目标 tokenizer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E6164-BA4D-4710-B737-B899D54D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3F5BB-0EE9-4354-850A-040DD4FA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待联调：新 HTTP 入口、真实 P2 Provider、P1 物理执行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F09A4-B4ED-4ADC-93FE-05C7477E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DF6D6-71F8-43C0-BF67-D6A133D0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P2 有三态与 WAL 源码，本机未完成编译和现场实测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FF7E3-AA5C-4859-89EB-FDABC473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B23C3-2C66-4A08-B49F-F26EC250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543967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8B737-9DDF-4C2D-9DEA-80CA102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3B1AB-B5E7-429B-90C1-35EA845A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Demo 走查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3DAAC-E8EB-483F-9533-7138EFF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先看行为，再查实际证据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AB41D-CB7D-45CA-ADF1-9DAF5870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5E604-565C-4CEB-B624-B5C659EE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S01 保存与就绪：保存成功后，什么时间可以跨会话使用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F10E7-E22F-4A06-991B-F7128298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73E1D-3FD1-4933-82C7-66B64F52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S02 / S05 更正与删除：旧候选、旧 Context、迟到任务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DB26B-25E0-4990-9D47-C312062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76E31-327F-4B4F-B9BC-8453AF7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S04 / S08 故障与预算：不把故障当空，不隐去冲突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7518D-DEEE-4BA0-89A8-AEA0C92B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A308F-0BD6-4561-AC6C-0269B17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S06 / P204 执行超时：查询原动作，不重复提交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9AE87-8E35-4B1D-B239-B839BFBA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3BAF1-D1D8-473E-8BF4-64BE9F0E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页面是离线 Mock；真实后端报告与原型演示分开出示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EE0FA-051B-4991-A9D4-FF9AFF4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BC9D1-FCFD-46AE-ACF1-471AFF0E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61109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550BA-FEF3-4B82-B5BA-D45EFAA0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2591E-E46C-4196-A826-3CC7A725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测试与质量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D389E-3E2A-4918-9524-C8E71AD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计划、模拟和实测分别留证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C9F13-B59B-46C5-B80A-C615F62F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AE9BB-4275-4836-8AFB-B0D28AE8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功能 TC：数据、操作、预期与实际测试函数逐项对应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4DAEE-800E-4F9E-9D38-AD9E2B20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9A303-5522-4C13-AFEB-C2F595D2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本地后端与契约测试结果见本次 TCR 和逐项运行附件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A1755-C360-4EF7-8BE4-BD711383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A9BAB-EECD-4383-A588-E3AC02CB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集成：P2 三态、精确版本、授权、删除与动作恢复待测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37D9D-861B-4005-B61F-386DBA6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FBD1B-B13F-4701-94EC-4BC06456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G4 前补齐经确认负载下的质量、性能和恢复报告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102DC-B191-482A-BF88-ED6636B0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F2D3B-3E84-41A8-8E83-FB75E66B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UAT 已定义业务场景与准入退出，当前全部未执行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D23A6-B122-42AA-AC5D-5AB9BECB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F8802-7374-4032-B4DD-1D51793D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653242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BFA08-4CAB-404B-92A2-D010194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A9177-8E0D-459B-932E-03FC6B0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当前风险与待决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99BD5-769E-4FB4-8795-0C320E49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先解决范围和接口上的分歧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2B5C0-C96E-4C89-910B-54AF12E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F0E4D-120D-4CC3-B33B-367D9A53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冷热分层：会议待确认，PRD FR13/14 仍列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035C8-7C5C-4715-9071-2E9EDC6A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7D2E4-073B-43C9-850F-D8125730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正式 Provider：P2 路径与 Milvus 适配目标需联合定界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3BF94-5A50-499B-8237-CA1CAC07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5DB4B-4DB7-450D-B5C9-2E61FC49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功能差距：真实智能加工与 Context 目标能力尚未齐备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C6EB6-EBBD-4911-A06E-846EEA26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CE16C-A67E-4A3F-8773-0355F43D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工程差距：P2/P1 环境、远程图接口、真实演示接入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647AE-30F8-477F-9D23-D72A1E9E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C1609-B663-4845-A79C-4B594C6F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决策单列出方案、证据、依赖和工期输入，尚未批准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553E8-AF50-4006-AC2B-24BD6D6C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8214B-6E93-4E72-83B8-D9B7291A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4343117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85891-F7A9-44FC-AF33-C58A4FF5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8E700-465D-4CF8-9357-DE57B8FB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阶段里程碑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DA9C8-F1D5-4646-A525-D69E875D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Gate 用证据判断，不按文档数量通过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72262-47D4-49F4-870A-28E28BF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8AA86-3805-4926-BC7C-1854B80F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G1 需求冻结：目标、PRD、Mock Review 与范围结论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44E9C-05C0-4FFA-9C19-952538F7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00481-5B70-4D18-9D24-F515C03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G2 设计冻结：架构、主 ADR、接口失败语义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C2F92-4961-4275-98DA-0E13AB84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82FA6-6B88-4C61-BED7-D9759759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G3 MVP：冻结范围内核心真实运行，关键 TC 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F634B-E7F3-4EFD-9799-AE2EC3C3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49501-EE3F-4E33-9471-E3627DCC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G4 UAT Ready：功能、集成、质量性能和环境就绪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68FBC-AC65-4D81-9F2D-78B40D65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9FFA0-5D8A-41EC-AADC-EF3F117E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G5 Release Ready：UAT 签收，发布、回滚与运行准备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3A73F-E480-4C6E-94F0-47D9CBC7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C5F6A-1893-43C8-A474-327DBA32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778532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83D62-7647-4732-90F2-A7EE3B4A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E60"/>
                </a:solidFill>
                <a:latin typeface="Microsoft YaHei"/>
                <a:ea typeface="Microsoft YaHei"/>
                <a:cs typeface="Microsoft YaHei"/>
              </a:rPr>
              <a:t>AETHER    P2 / P3    项目阶段评审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8DF99-28AF-423C-8C54-B413B237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3"/>
                </a:solidFill>
                <a:latin typeface="Microsoft YaHei"/>
                <a:ea typeface="Microsoft YaHei"/>
                <a:cs typeface="Microsoft YaHei"/>
              </a:rPr>
              <a:t>下一阶段交付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85BE5-1770-4F03-B3CE-04D49DCE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416651"/>
                </a:solidFill>
                <a:latin typeface="Microsoft YaHei"/>
                <a:ea typeface="Microsoft YaHei"/>
                <a:cs typeface="Microsoft YaHei"/>
              </a:rPr>
              <a:t>围绕一条真实链路收敛剩余工作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097D6-7A18-4B40-B1FF-64677A23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05ADD-DA0C-40EA-B242-88D81B9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确认目标范围、主 ADR 和正式 Provider 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1BBE6-22CD-4DD1-A2CF-B2E720D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0EA72-8497-498B-9580-ACB05E48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为新 Host 接入真实演示，补关键产品功能切片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5F62E-6579-46BD-8C80-CD67AE8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EB28D-7B6E-45E0-9DD9-ED1DFE5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运行 P2/P3 真实联调与异常用例，更新 TCR 和问题台账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0500F-DB38-4EED-906C-9689787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BAF7C-12CE-4400-B683-87E39E3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冻结质量性能口径，准备 UAT 候选环境与发布演练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E8815-22F6-42AD-9633-99BF6D59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490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14DB4-B8CE-436E-A98A-F1E71FB8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B37"/>
                </a:solidFill>
                <a:latin typeface="Microsoft YaHei"/>
                <a:ea typeface="Microsoft YaHei"/>
                <a:cs typeface="Microsoft YaHei"/>
              </a:rPr>
              <a:t>两周评审抽查：一条 Epic、一项决策、一份执行证据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012E9-C577-45CC-93E0-652223C9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2026.09.19    联合评审稿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C298B-9AE3-4419-906D-A59019C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76B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813422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2026-09-19T08:47:03.3350000Z</dcterms:created>
  <dcterms:modified xsi:type="dcterms:W3CDTF">2026-09-19T08:47:03.3350000Z</dcterms:modified>
</coreProperties>
</file>